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395" r:id="rId2"/>
    <p:sldId id="522" r:id="rId3"/>
    <p:sldId id="397" r:id="rId4"/>
    <p:sldId id="499" r:id="rId5"/>
    <p:sldId id="506" r:id="rId6"/>
    <p:sldId id="404" r:id="rId7"/>
    <p:sldId id="512" r:id="rId8"/>
    <p:sldId id="514" r:id="rId9"/>
    <p:sldId id="520" r:id="rId10"/>
    <p:sldId id="489" r:id="rId11"/>
    <p:sldId id="440" r:id="rId12"/>
    <p:sldId id="533" r:id="rId13"/>
    <p:sldId id="411" r:id="rId14"/>
    <p:sldId id="412" r:id="rId15"/>
    <p:sldId id="413" r:id="rId16"/>
    <p:sldId id="444" r:id="rId17"/>
    <p:sldId id="447" r:id="rId18"/>
    <p:sldId id="535" r:id="rId19"/>
    <p:sldId id="448" r:id="rId20"/>
    <p:sldId id="449" r:id="rId21"/>
    <p:sldId id="451" r:id="rId22"/>
    <p:sldId id="453" r:id="rId23"/>
    <p:sldId id="538" r:id="rId24"/>
    <p:sldId id="537" r:id="rId25"/>
    <p:sldId id="462" r:id="rId26"/>
    <p:sldId id="461" r:id="rId27"/>
    <p:sldId id="425" r:id="rId28"/>
    <p:sldId id="467" r:id="rId29"/>
    <p:sldId id="469" r:id="rId30"/>
    <p:sldId id="474" r:id="rId31"/>
    <p:sldId id="478" r:id="rId32"/>
    <p:sldId id="430" r:id="rId33"/>
    <p:sldId id="431" r:id="rId34"/>
    <p:sldId id="435" r:id="rId35"/>
    <p:sldId id="432" r:id="rId36"/>
    <p:sldId id="433" r:id="rId37"/>
    <p:sldId id="481" r:id="rId38"/>
    <p:sldId id="484" r:id="rId39"/>
    <p:sldId id="486" r:id="rId40"/>
    <p:sldId id="43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994" autoAdjust="0"/>
  </p:normalViewPr>
  <p:slideViewPr>
    <p:cSldViewPr snapToGrid="0" snapToObjects="1">
      <p:cViewPr varScale="1">
        <p:scale>
          <a:sx n="69" d="100"/>
          <a:sy n="69" d="100"/>
        </p:scale>
        <p:origin x="317"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7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Font typeface="Arial"/>
              <a:buNone/>
            </a:pPr>
            <a:r>
              <a:rPr lang="en-US" b="1" dirty="0"/>
              <a:t>Good morning everyone. Today we're going to look at how to build enterprise RAG applications with</a:t>
            </a:r>
          </a:p>
          <a:p>
            <a:pPr marL="0" indent="0">
              <a:buFont typeface="Arial"/>
              <a:buNone/>
            </a:pPr>
            <a:r>
              <a:rPr lang="en-US" b="1" dirty="0"/>
              <a:t>.NET — not just the theory, but what it takes to move from a simple prototype to something we can</a:t>
            </a:r>
          </a:p>
          <a:p>
            <a:pPr marL="0" indent="0">
              <a:buFont typeface="Arial"/>
              <a:buNone/>
            </a:pPr>
            <a:r>
              <a:rPr lang="en-US" b="1" dirty="0"/>
              <a:t>actually run in production. We'll start with why RAG exists, walk through the retrieval pipeline, look at the</a:t>
            </a:r>
          </a:p>
          <a:p>
            <a:pPr marL="0" indent="0">
              <a:buFont typeface="Arial"/>
              <a:buNone/>
            </a:pPr>
            <a:r>
              <a:rPr lang="en-US" b="1" dirty="0"/>
              <a:t>production concerns, then see how the architecture maps into .NET. And we'll finish by running the same</a:t>
            </a:r>
          </a:p>
          <a:p>
            <a:pPr marL="0" indent="0">
              <a:buFont typeface="Arial"/>
              <a:buNone/>
            </a:pPr>
            <a:r>
              <a:rPr lang="en-US" b="1" dirty="0"/>
              <a:t>flow live.</a:t>
            </a:r>
          </a:p>
          <a:p>
            <a:pPr marL="0" indent="0">
              <a:buFont typeface="Arial"/>
              <a:buNone/>
            </a:pPr>
            <a:endParaRPr lang="en-US" b="1" dirty="0"/>
          </a:p>
          <a:p>
            <a:pPr marL="0" indent="0">
              <a:buFont typeface="Arial"/>
              <a:buNone/>
            </a:pPr>
            <a:r>
              <a:rPr lang="en-US" b="1" dirty="0"/>
              <a:t>TRANSITION / CUE</a:t>
            </a:r>
          </a:p>
          <a:p>
            <a:pPr marL="0" indent="0">
              <a:buFont typeface="Arial"/>
              <a:buNone/>
            </a:pPr>
            <a:r>
              <a:rPr lang="en-US" b="1" dirty="0"/>
              <a:t>Transition: “Before we get into RAG, let me quickly show you where we're going.</a:t>
            </a:r>
          </a:p>
          <a:p>
            <a:pPr marL="0" indent="0">
              <a:buNone/>
            </a:pPr>
            <a:endParaRPr lang="en-US" dirty="0"/>
          </a:p>
          <a:p>
            <a:pPr marL="0" indent="0">
              <a:buNone/>
            </a:pPr>
            <a:r>
              <a:rPr lang="en-US" b="1" dirty="0"/>
              <a:t>NARRATION</a:t>
            </a:r>
          </a:p>
          <a:p>
            <a:pPr marL="0" indent="0">
              <a:buNone/>
            </a:pPr>
            <a:r>
              <a:rPr lang="en-US" dirty="0"/>
              <a:t>Good morning everyone. Today we're going to look at how to build enterprise RAG applications with .NET — not just the theory, but what it takes to move from a simple prototype to something we can actually run in production. We'll start with why RAG exists, walk through the retrieval pipeline, look at the production concerns, then see how the architecture maps into .NET. And we'll finish by running the same flow live.</a:t>
            </a:r>
          </a:p>
          <a:p>
            <a:pPr marL="0" indent="0">
              <a:buNone/>
            </a:pPr>
            <a:r>
              <a:rPr lang="en-US" i="1" dirty="0"/>
              <a:t>Transition: “Before we get into RAG, let me quickly show you where we're going.”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Font typeface="Arial"/>
              <a:buNone/>
            </a:pPr>
            <a:endParaRPr lang="en-US" b="1" dirty="0"/>
          </a:p>
          <a:p>
            <a:pPr marL="0" indent="0">
              <a:buNone/>
            </a:pPr>
            <a:endParaRPr lang="en-US" dirty="0"/>
          </a:p>
          <a:p>
            <a:pPr marL="0" indent="0">
              <a:buNone/>
            </a:pPr>
            <a:r>
              <a:rPr lang="en-US" b="1" dirty="0"/>
              <a:t>NARRATION</a:t>
            </a:r>
          </a:p>
          <a:p>
            <a:pPr marL="0" indent="0">
              <a:buNone/>
            </a:pPr>
            <a:r>
              <a:rPr lang="en-US" dirty="0"/>
              <a:t>Here's the journey for the next hour. We'll start with LLM foundations and why RAG is needed, then go into the RAG architecture — indexing, chunking, embeddings, retrieval and prompting. After that we'll cover production engineering, then my .NET implementation, and finally the live demo.</a:t>
            </a:r>
          </a:p>
          <a:p>
            <a:pPr marL="0" indent="0">
              <a:buNone/>
            </a:pPr>
            <a:r>
              <a:rPr lang="en-US" i="1" dirty="0"/>
              <a:t>Attention challenge intro: “One small challenge before we start. At the end, I'll randomly select five questions from what we discuss today. Each question gets 45 seconds. Raise your hand if you know the answer; if you answer correctly, you get a protein bar. If nobody answers, or the answer is incorrect, the bar goes to the judges. So every answer you need is somewhere in this presentation.”</a:t>
            </a:r>
          </a:p>
          <a:p>
            <a:pPr marL="0" indent="0">
              <a:buNone/>
            </a:pPr>
            <a:r>
              <a:rPr lang="en-US" i="1" dirty="0"/>
              <a:t>Game setup: keep the five questions hidden. Tell the audience that every answer will be covered during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Font typeface="Arial"/>
              <a:buNone/>
            </a:pPr>
            <a:endParaRPr lang="en-US" b="1" dirty="0"/>
          </a:p>
          <a:p>
            <a:pPr marL="0" indent="0">
              <a:buNone/>
            </a:pPr>
            <a:r>
              <a:rPr lang="en-US" dirty="0"/>
              <a:t>Let's begin with the foundation. Before talking about vector databases or embeddings, we need to understand the limitation we're trying to solve. The key question is: an LLM can generate an answer, but where does the information come from?</a:t>
            </a:r>
          </a:p>
          <a:p>
            <a:pPr marL="0" indent="0">
              <a:buNone/>
            </a:pPr>
            <a:r>
              <a:rPr lang="en-US" i="1" dirty="0"/>
              <a:t>Transition: “That takes us to the model itself.”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endParaRPr lang="en-US" b="1" dirty="0"/>
          </a:p>
          <a:p>
            <a:pPr marL="0" indent="0">
              <a:buNone/>
            </a:pPr>
            <a:r>
              <a:rPr lang="en-US" dirty="0"/>
              <a:t>This is the landscape we're working in: AI, machine learning, deep learning, generative AI, large language models, and finally RAG. </a:t>
            </a:r>
          </a:p>
          <a:p>
            <a:pPr marL="0" indent="0">
              <a:buNone/>
            </a:pPr>
            <a:endParaRPr lang="en-US" dirty="0"/>
          </a:p>
          <a:p>
            <a:pPr marL="0" indent="0">
              <a:buNone/>
            </a:pPr>
            <a:r>
              <a:rPr lang="en-US" dirty="0"/>
              <a:t>RAG isn't a new kind of model; it's an engineering pattern around a model. </a:t>
            </a:r>
          </a:p>
          <a:p>
            <a:pPr marL="0" indent="0">
              <a:buNone/>
            </a:pPr>
            <a:endParaRPr lang="en-US" dirty="0"/>
          </a:p>
          <a:p>
            <a:pPr marL="0" indent="0">
              <a:buNone/>
            </a:pPr>
            <a:r>
              <a:rPr lang="en-US" dirty="0"/>
              <a:t>The model generates, while RAG helps provide the knowledge it should use.</a:t>
            </a:r>
          </a:p>
          <a:p>
            <a:pPr marL="0" indent="0">
              <a:buNone/>
            </a:pPr>
            <a:endParaRPr lang="en-US" i="1" dirty="0"/>
          </a:p>
          <a:p>
            <a:pPr marL="0" indent="0">
              <a:buNone/>
            </a:pPr>
            <a:r>
              <a:rPr lang="en-US" i="1" dirty="0"/>
              <a:t>Transition: “So what exactly is an LLM doing?”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At a high level, a language model predicts the next token based on the tokens that came before it. Scale, training data and model architecture make that simple objective produce surprisingly capable behavior. But that does not automatically mean the model has access to our company's private or current information.</a:t>
            </a:r>
          </a:p>
          <a:p>
            <a:pPr marL="0" indent="0">
              <a:buNone/>
            </a:pPr>
            <a:endParaRPr lang="en-US" dirty="0"/>
          </a:p>
          <a:p>
            <a:pPr marL="0" indent="0">
              <a:buNone/>
            </a:pPr>
            <a:r>
              <a:rPr lang="en-US" i="1" dirty="0"/>
              <a:t>Transition: “And there is another practical constraint: context.”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Everything we send to the model is represented as tokens. The context window is a finite budget shared by the input and output, so we cannot assume we can keep adding documents forever. This becomes important when we try to give the model enterprise knowledge.</a:t>
            </a:r>
          </a:p>
          <a:p>
            <a:pPr marL="0" indent="0">
              <a:buNone/>
            </a:pPr>
            <a:endParaRPr lang="en-US" dirty="0"/>
          </a:p>
          <a:p>
            <a:pPr marL="0" indent="0">
              <a:buNone/>
            </a:pPr>
            <a:r>
              <a:rPr lang="en-US" i="1" dirty="0"/>
              <a:t>Transition: “So why not just put the entire knowledge base into the prompt?”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buNone/>
            </a:pPr>
            <a:r>
              <a:rPr lang="en-US" dirty="0"/>
              <a:t>There are several problems: context limits, token cost, latency, the lost-in-the-middle effect, and context dilution. Even if a model can technically accept a lot of text, giving it everything is not the same as giving it the right information. Retrieval is about narrowing the information before generation.</a:t>
            </a:r>
          </a:p>
          <a:p>
            <a:pPr marL="0" indent="0">
              <a:buNone/>
            </a:pPr>
            <a:endParaRPr lang="en-US" dirty="0"/>
          </a:p>
          <a:p>
            <a:pPr marL="0" indent="0">
              <a:buNone/>
            </a:pPr>
            <a:r>
              <a:rPr lang="en-US" i="1" dirty="0"/>
              <a:t>Transition: “Let's make that concrete with a company-specific question.”</a:t>
            </a:r>
          </a:p>
        </p:txBody>
      </p:sp>
    </p:spTree>
    <p:extLst>
      <p:ext uri="{BB962C8B-B14F-4D97-AF65-F5344CB8AC3E}">
        <p14:creationId xmlns:p14="http://schemas.microsoft.com/office/powerpoint/2010/main" val="3187809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Imagine I ask, 'What is our company's leave policy?' A general-purpose model may know what leave policies usually look like, but it doesn't automatically know our internal policy. This is the enterprise knowledge gap — private, changing and organization-specific information has to come from somewhere we control.</a:t>
            </a:r>
          </a:p>
          <a:p>
            <a:pPr marL="0" indent="0">
              <a:buNone/>
            </a:pPr>
            <a:endParaRPr lang="en-US" dirty="0"/>
          </a:p>
          <a:p>
            <a:pPr marL="0" indent="0">
              <a:buNone/>
            </a:pPr>
            <a:r>
              <a:rPr lang="en-US" i="1" dirty="0"/>
              <a:t>Transition: “When the model doesn't have the right knowledge, what happens?”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 model can produce an answer that sounds confident even when the required information is missing, outdated or ambiguous. Many enterprise hallucinations are knowledge-grounding problems. So instead of treating hallucination as something mysterious, we can ask a practical engineering question: did we provide the model with the right evidence?</a:t>
            </a:r>
          </a:p>
          <a:p>
            <a:pPr marL="0" indent="0">
              <a:buNone/>
            </a:pPr>
            <a:endParaRPr lang="en-US" dirty="0"/>
          </a:p>
          <a:p>
            <a:pPr marL="0" indent="0">
              <a:buNone/>
            </a:pPr>
            <a:r>
              <a:rPr lang="en-US" i="1" dirty="0"/>
              <a:t>Transition: “That is exactly where RAG comes 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RAG has three stages: Retrieval, Augmentation and Generation. First we retrieve relevant information, then we put that information into the model's context, and finally the LLM generates the answer. RAG doesn't make the model smarter; it makes the model better-informed for the question we're asking.</a:t>
            </a:r>
          </a:p>
          <a:p>
            <a:pPr marL="0" indent="0">
              <a:buNone/>
            </a:pPr>
            <a:endParaRPr lang="en-US" dirty="0"/>
          </a:p>
          <a:p>
            <a:pPr marL="0" indent="0">
              <a:buNone/>
            </a:pPr>
            <a:r>
              <a:rPr lang="en-US" i="1" dirty="0"/>
              <a:t>Transition: “Now let's look at why that matters specifically for enterprise systems.”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Enterprise systems need answers grounded in private and changing knowledge. RAG gives us a way to connect the model to controlled information sources, include relevant context, and link answers back to evidence. That improves our ability to build systems that people can inspect and operate.</a:t>
            </a:r>
          </a:p>
          <a:p>
            <a:pPr marL="0" indent="0">
              <a:buNone/>
            </a:pPr>
            <a:endParaRPr lang="en-US" dirty="0"/>
          </a:p>
          <a:p>
            <a:pPr marL="0" indent="0">
              <a:buNone/>
            </a:pPr>
            <a:r>
              <a:rPr lang="en-US" i="1" dirty="0"/>
              <a:t>Transition: “And this pattern applies across many enterprise workflows.”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buNone/>
            </a:pPr>
            <a:r>
              <a:rPr lang="en-US" dirty="0"/>
              <a:t>The same pattern appears in HR assistants, support knowledge bases, technical documentation, operations and many other internal workflows. The common thread is not the UI; it is that the answer depends on a knowledge base the general model does not reliably have in its prompt.</a:t>
            </a:r>
          </a:p>
          <a:p>
            <a:pPr marL="0" indent="0">
              <a:buNone/>
            </a:pPr>
            <a:endParaRPr lang="en-US" dirty="0"/>
          </a:p>
          <a:p>
            <a:pPr marL="0" indent="0">
              <a:buNone/>
            </a:pPr>
            <a:r>
              <a:rPr lang="en-US" i="1" dirty="0"/>
              <a:t>Transition: “Now that we know why RAG exists, let's look at what actually happens inside the pipeline.”</a:t>
            </a:r>
          </a:p>
        </p:txBody>
      </p:sp>
    </p:spTree>
    <p:extLst>
      <p:ext uri="{BB962C8B-B14F-4D97-AF65-F5344CB8AC3E}">
        <p14:creationId xmlns:p14="http://schemas.microsoft.com/office/powerpoint/2010/main" val="3143259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Now we move from the problem to the engineering. We'll separate the system into ingestion and retrieval, then drill into chunking, embeddings, vector storage, search, reranking and prompting. The important point is that RAG quality comes from the whole pipeline, not from one magic component.</a:t>
            </a:r>
          </a:p>
          <a:p>
            <a:pPr marL="0" indent="0">
              <a:buNone/>
            </a:pPr>
            <a:endParaRPr lang="en-US" dirty="0"/>
          </a:p>
          <a:p>
            <a:pPr marL="0" indent="0">
              <a:buNone/>
            </a:pPr>
            <a:r>
              <a:rPr lang="en-US" i="1" dirty="0"/>
              <a:t>Transition: “Let's start with the complete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buNone/>
            </a:pPr>
            <a:r>
              <a:rPr lang="en-US" dirty="0"/>
              <a:t>Think of RAG as two major paths. The ingestion path prepares knowledge before users ask questions; the retrieval path takes a question and finds the evidence needed to answer it. Almost every engineering decision we'll discuss belongs to one of these two paths.</a:t>
            </a:r>
          </a:p>
          <a:p>
            <a:pPr marL="0" indent="0">
              <a:buNone/>
            </a:pPr>
            <a:endParaRPr lang="en-US" dirty="0"/>
          </a:p>
          <a:p>
            <a:pPr marL="0" indent="0">
              <a:buNone/>
            </a:pPr>
            <a:r>
              <a:rPr lang="en-US" i="1" dirty="0"/>
              <a:t>Transition: “First, let's follow a document through ingestion.”</a:t>
            </a:r>
          </a:p>
        </p:txBody>
      </p:sp>
    </p:spTree>
    <p:extLst>
      <p:ext uri="{BB962C8B-B14F-4D97-AF65-F5344CB8AC3E}">
        <p14:creationId xmlns:p14="http://schemas.microsoft.com/office/powerpoint/2010/main" val="318225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 document is uploaded, parsed and cleaned. We attach useful metadata, split the content into chunks, generate embeddings, and store the chunks and vectors in our index. The quality of everything downstream depends heavily on how well we preserve structure and metadata here.</a:t>
            </a:r>
          </a:p>
          <a:p>
            <a:pPr marL="0" indent="0">
              <a:buNone/>
            </a:pPr>
            <a:endParaRPr lang="en-US" dirty="0"/>
          </a:p>
          <a:p>
            <a:pPr marL="0" indent="0">
              <a:buNone/>
            </a:pPr>
            <a:r>
              <a:rPr lang="en-US" i="1" dirty="0"/>
              <a:t>Transition: “One of the most important choices in that pipeline is chunking.”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There isn't one universally correct chunking strategy. Fixed-size chunks are simple, recursive chunking respects document structure, semantic chunking tries to keep meaning together, sliding windows add overlap, and parent-child separates search precision from final context. The right choice depends on the document types and query patterns we actually have.</a:t>
            </a:r>
          </a:p>
          <a:p>
            <a:pPr marL="0" indent="0">
              <a:buNone/>
            </a:pPr>
            <a:endParaRPr lang="en-US" dirty="0"/>
          </a:p>
          <a:p>
            <a:pPr marL="0" indent="0">
              <a:buNone/>
            </a:pPr>
            <a:r>
              <a:rPr lang="en-US" i="1" dirty="0"/>
              <a:t>Transition: “Let's look more closely at parent-child chunking.”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There isn't one universally correct chunking strategy. Fixed-size chunks are simple, recursive chunking respects document structure, semantic chunking tries to keep meaning together, sliding windows add overlap, and parent-child separates search precision from final context. The right choice depends on the document types and query patterns we actually have.</a:t>
            </a:r>
          </a:p>
          <a:p>
            <a:pPr marL="0" indent="0">
              <a:buNone/>
            </a:pPr>
            <a:endParaRPr lang="en-US" dirty="0"/>
          </a:p>
          <a:p>
            <a:pPr marL="0" indent="0">
              <a:buNone/>
            </a:pPr>
            <a:r>
              <a:rPr lang="en-US" i="1" dirty="0"/>
              <a:t>Transition: “Let's look more closely at parent-child chunking.”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An embedding converts text into a vector representation that captures semantic characteristics. Similar meanings tend to be represented closer together in the vector space. That allows us to search for relevant content even when the user's wording doesn't exactly match the wording in the document.</a:t>
            </a:r>
          </a:p>
          <a:p>
            <a:pPr marL="0" indent="0">
              <a:buNone/>
            </a:pPr>
            <a:endParaRPr lang="en-US" dirty="0"/>
          </a:p>
          <a:p>
            <a:pPr marL="0" indent="0">
              <a:buNone/>
            </a:pPr>
            <a:r>
              <a:rPr lang="en-US" i="1" dirty="0"/>
              <a:t>Transition: “There are many embedding models, so how should we think about choosing 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buNone/>
            </a:pPr>
            <a:r>
              <a:rPr lang="en-US" dirty="0"/>
              <a:t>There are several viable embedding families and model sizes, including managed and open-weight options. The important engineering point is not to choose purely from a leaderboard or dimension count. Evaluate the model against our actual corpus and query set, because retrieval quality depends on the language and patterns in our data.</a:t>
            </a:r>
          </a:p>
          <a:p>
            <a:pPr marL="0" indent="0">
              <a:buNone/>
            </a:pPr>
            <a:endParaRPr lang="en-US" dirty="0"/>
          </a:p>
          <a:p>
            <a:pPr marL="0" indent="0">
              <a:buNone/>
            </a:pPr>
            <a:r>
              <a:rPr lang="en-US" i="1" dirty="0"/>
              <a:t>Transition: “Once text becomes vectors, we also need a way to compare them.”</a:t>
            </a:r>
          </a:p>
        </p:txBody>
      </p:sp>
    </p:spTree>
    <p:extLst>
      <p:ext uri="{BB962C8B-B14F-4D97-AF65-F5344CB8AC3E}">
        <p14:creationId xmlns:p14="http://schemas.microsoft.com/office/powerpoint/2010/main" val="3861561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Common similarity or distance choices include cosine similarity, dot product and Euclidean distance. The key is consistency: the metric should match the embedding model and the index configuration. In this project we're using cosine similarity.</a:t>
            </a:r>
          </a:p>
          <a:p>
            <a:pPr marL="0" indent="0">
              <a:buNone/>
            </a:pPr>
            <a:endParaRPr lang="en-US" dirty="0"/>
          </a:p>
          <a:p>
            <a:pPr marL="0" indent="0">
              <a:buNone/>
            </a:pPr>
            <a:r>
              <a:rPr lang="en-US" i="1" dirty="0"/>
              <a:t>Transition: “Those vectors need to live somewhere searchable.”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There are many options in the vector database landscape — pgvector, Pinecone, Qdrant, Weaviate, Azure AI Search, Milvus, Chroma and FAISS, among others. The decision is an architecture decision, not a popularity contest. Look at operational fit, existing infrastructure, search capabilities, scale and cost.</a:t>
            </a:r>
          </a:p>
          <a:p>
            <a:pPr marL="0" indent="0">
              <a:buNone/>
            </a:pPr>
            <a:endParaRPr lang="en-US" dirty="0"/>
          </a:p>
          <a:p>
            <a:pPr marL="0" indent="0">
              <a:buNone/>
            </a:pPr>
            <a:r>
              <a:rPr lang="en-US" i="1" dirty="0"/>
              <a:t>Transition: “For this project, we chose pgvector. Here's why.”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 reason for pgvector here is architectural simplicity. We can keep vector data alongside our PostgreSQL data, use production-grade indexing such as HNSW, query it with SQL, and avoid introducing another database just for vectors. It is a project choice based on the surrounding stack, not a universal recommendation.</a:t>
            </a:r>
          </a:p>
          <a:p>
            <a:pPr marL="0" indent="0">
              <a:buNone/>
            </a:pPr>
            <a:endParaRPr lang="en-US" dirty="0"/>
          </a:p>
          <a:p>
            <a:pPr marL="0" indent="0">
              <a:buNone/>
            </a:pPr>
            <a:r>
              <a:rPr lang="en-US" i="1" dirty="0"/>
              <a:t>Transition: “Now we reach the part where RAG quality is often won or lost: retrieval.”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 retrieval toolbox includes similarity search, Top-K selection, metadata filtering, keyword search such as Full-text search, hybrid retrieval, reranking and techniques such as MMR. These are not checkboxes that every system must use. They are tools we can combine based on the failure modes we see in evaluation.</a:t>
            </a:r>
          </a:p>
          <a:p>
            <a:pPr marL="0" indent="0">
              <a:buNone/>
            </a:pPr>
            <a:endParaRPr lang="en-US" dirty="0"/>
          </a:p>
          <a:p>
            <a:pPr marL="0" indent="0">
              <a:buNone/>
            </a:pPr>
            <a:r>
              <a:rPr lang="en-US" i="1" dirty="0"/>
              <a:t>Transition: “Here's the production retrieval flow used in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 flow is: query processing, hybrid search using vector and Full-text search, RRF fusion, Cohere reranking, then the final context Top-K that goes to the LLM. Hybrid search helps combine semantic and exact-term matches; RRF brings the ranked lists together; reranking then refines relevance. Cohere reranking can improve relevance after hybrid retrieval, but we should measure the quality gain against its latency and cost. Not every RAG system needs every stage.</a:t>
            </a:r>
          </a:p>
          <a:p>
            <a:pPr marL="0" indent="0">
              <a:buNone/>
            </a:pPr>
            <a:endParaRPr lang="en-US" dirty="0"/>
          </a:p>
          <a:p>
            <a:pPr marL="0" indent="0">
              <a:buNone/>
            </a:pPr>
            <a:r>
              <a:rPr lang="en-US" i="1" dirty="0"/>
              <a:t>Transition: “Once we have the right context, we still have to tell the model how to use it.”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 good RAG prompt typically contains system instructions, retrieved context, the user's question, citation requirements and guardrails. The retrieved content should be clearly separated from instructions, because retrieved documents are data — not trusted instructions. The goal is to make the model's job explicit: answer from the provided evidence and be honest when the evidence is insufficient.</a:t>
            </a:r>
          </a:p>
          <a:p>
            <a:pPr marL="0" indent="0">
              <a:buNone/>
            </a:pPr>
            <a:endParaRPr lang="en-US" dirty="0"/>
          </a:p>
          <a:p>
            <a:pPr marL="0" indent="0">
              <a:buNone/>
            </a:pPr>
            <a:r>
              <a:rPr lang="en-US" i="1" dirty="0"/>
              <a:t>Transition: “Let's see what that looks like with the leave-policy example.”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Here the user asks a company-specific question. Instead of asking the model to invent an answer, we provide the relevant retrieved policy text and tell it to answer from that context and cite the source. If the context is insufficient, the system can be instructed to say that rather than fabricate a policy.</a:t>
            </a:r>
          </a:p>
          <a:p>
            <a:pPr marL="0" indent="0">
              <a:buNone/>
            </a:pPr>
            <a:endParaRPr lang="en-US" dirty="0"/>
          </a:p>
          <a:p>
            <a:pPr marL="0" indent="0">
              <a:buNone/>
            </a:pPr>
            <a:r>
              <a:rPr lang="en-US" i="1" dirty="0"/>
              <a:t>Transition: “At this point we can build a working RAG system. But production introduces a different set of problems.”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 prototype proves that RAG works. Production engineering proves that it can be trusted, operated and scaled. Now we'll look beyond retrieval quality at security, evaluation, observability, reliability and cost.</a:t>
            </a:r>
          </a:p>
          <a:p>
            <a:pPr marL="0" indent="0">
              <a:buNone/>
            </a:pPr>
            <a:endParaRPr lang="en-US" dirty="0"/>
          </a:p>
          <a:p>
            <a:pPr marL="0" indent="0">
              <a:buNone/>
            </a:pPr>
            <a:r>
              <a:rPr lang="en-US" i="1" dirty="0"/>
              <a:t>Transition: “Let's group the enterprise concerns.”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Production RAG involves authentication and authorization, caching, monitoring, tracing, rate limiting, security, versioning, cost optimization, evaluation, feedback, scaling and multi-tenancy. The important shift is to treat RAG as a distributed production system rather than a single LLM call.</a:t>
            </a:r>
          </a:p>
          <a:p>
            <a:pPr marL="0" indent="0">
              <a:buNone/>
            </a:pPr>
            <a:endParaRPr lang="en-US" dirty="0"/>
          </a:p>
          <a:p>
            <a:pPr marL="0" indent="0">
              <a:buNone/>
            </a:pPr>
            <a:r>
              <a:rPr lang="en-US" i="1" dirty="0"/>
              <a:t>Transition: “But how do we know whether the system is actually good?”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We need more than a few impressive demo answers. Useful dimensions include groundedness or faithfulness, context precision, context recall, answer relevance and citation accuracy. The goal is to create a repeatable evaluation set so that changes to chunking, embeddings or retrieval can be measured rather than judged by intuition.</a:t>
            </a:r>
          </a:p>
          <a:p>
            <a:pPr marL="0" indent="0">
              <a:buNone/>
            </a:pPr>
            <a:endParaRPr lang="en-US" dirty="0"/>
          </a:p>
          <a:p>
            <a:pPr marL="0" indent="0">
              <a:buNone/>
            </a:pPr>
            <a:r>
              <a:rPr lang="en-US" i="1" dirty="0"/>
              <a:t>Transition: “And in enterprise systems, correctness also includes access control.”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 security risks include prompt injection, indirect prompt injection, PII exposure, cross-tenant leakage, RBAC failures and secrets management. The key architecture principle is Authorization → Retrieval → Generation. Enforce access boundaries before any context reaches the LLM; don't retrieve everything and try to filter unauthorized content afterward. Also log what was asked, what was retrieved and what was generated in an appropriate audit trail.</a:t>
            </a:r>
          </a:p>
          <a:p>
            <a:pPr marL="0" indent="0">
              <a:buNone/>
            </a:pPr>
            <a:endParaRPr lang="en-US" dirty="0"/>
          </a:p>
          <a:p>
            <a:pPr marL="0" indent="0">
              <a:buNone/>
            </a:pPr>
            <a:r>
              <a:rPr lang="en-US" i="1" dirty="0"/>
              <a:t>Transition: “Let's look at the mistakes that commonly create these problems.”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Common mistakes include chunks that are too large or too small, mismatched embedding models, duplicate documents, missing metadata, prompt overflow, ignoring latency and assuming hallucination is simply unavoidable. The practical lesson is to debug the pipeline stage by stage: ingestion, retrieval, context construction and generation.</a:t>
            </a:r>
          </a:p>
          <a:p>
            <a:pPr marL="0" indent="0">
              <a:buNone/>
            </a:pPr>
            <a:endParaRPr lang="en-US" dirty="0"/>
          </a:p>
          <a:p>
            <a:pPr marL="0" indent="0">
              <a:buNone/>
            </a:pPr>
            <a:r>
              <a:rPr lang="en-US" i="1" dirty="0"/>
              <a:t>Transition: “Now let's map all of this into the .NET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Now we move from architecture to implementation. I'll show how the same concepts map into a .NET solution using Clean Architecture, CQRS, Semantic Kernel, PostgreSQL and pgvector. The goal is separation of concerns so that the RAG pipeline remains testable and replaceable.</a:t>
            </a:r>
          </a:p>
          <a:p>
            <a:pPr marL="0" indent="0">
              <a:buNone/>
            </a:pPr>
            <a:endParaRPr lang="en-US" dirty="0"/>
          </a:p>
          <a:p>
            <a:pPr marL="0" indent="0">
              <a:buNone/>
            </a:pPr>
            <a:r>
              <a:rPr lang="en-US" i="1" dirty="0"/>
              <a:t>Transition: “Let's start with the solution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At the front we have the React or Next.js presentation layer and an ASP.NET Core API. The Application layer owns orchestration such as CQRS handlers and validation; the Domain layer contains business rules and interfaces; and Infrastructure handles EF Core, Semantic Kernel and repository concerns. PostgreSQL with pgvector is the data side, while the AI services are external dependencies. The important boundary is that the application flow should not become tightly coupled to a specific model provider.</a:t>
            </a:r>
          </a:p>
          <a:p>
            <a:pPr marL="0" indent="0">
              <a:buNone/>
            </a:pPr>
            <a:endParaRPr lang="en-US" dirty="0"/>
          </a:p>
          <a:p>
            <a:pPr marL="0" indent="0">
              <a:buNone/>
            </a:pPr>
            <a:r>
              <a:rPr lang="en-US" i="1" dirty="0"/>
              <a:t>Transition: “Ingestion is also a good candidate for asynchronous processing.”</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For the demo, watch for the same two paths we discussed. On ingestion: upload, parse, chunk, embed and store. On the question path: query processing, hybrid search, RRF, Cohere reranking, final context, LLM and cited answer. The important thing is that this isn't a separate demo architecture — it is the same architecture we've just walked through.</a:t>
            </a:r>
          </a:p>
          <a:p>
            <a:pPr marL="0" indent="0">
              <a:buNone/>
            </a:pPr>
            <a:endParaRPr lang="en-US" dirty="0"/>
          </a:p>
          <a:p>
            <a:pPr marL="0" indent="0">
              <a:buNone/>
            </a:pPr>
            <a:r>
              <a:rPr lang="en-US" i="1" dirty="0"/>
              <a:t>Demo cue: Keep the demo focused on one reliable document and 1–2 prepared questions. If anything fails, narrate the pipeline and continue rather than debugging live for several minutes.</a:t>
            </a:r>
          </a:p>
          <a:p>
            <a:pPr marL="0" indent="0">
              <a:buNone/>
            </a:pPr>
            <a:endParaRPr lang="en-US" dirty="0"/>
          </a:p>
          <a:p>
            <a:pPr marL="0" indent="0">
              <a:buNone/>
            </a:pPr>
            <a:r>
              <a:rPr lang="en-US" i="1" dirty="0"/>
              <a:t>Demo discipline: Use a known-good document and prepared questions. The objective is to demonstrate the architecture, not to debug infrastructure live.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Document ingestion can involve parsing, chunking, embedding generation and persistence, which can take time and may involve external services. Treating this as an asynchronous workflow keeps the user-facing API responsive and lets us retry or monitor individual stages. It also gives us a cleaner boundary for scaling ingestion independently from query traffic.</a:t>
            </a:r>
          </a:p>
          <a:p>
            <a:pPr marL="0" indent="0">
              <a:buNone/>
            </a:pPr>
            <a:endParaRPr lang="en-US" dirty="0"/>
          </a:p>
          <a:p>
            <a:pPr marL="0" indent="0">
              <a:buNone/>
            </a:pPr>
            <a:r>
              <a:rPr lang="en-US" i="1" dirty="0"/>
              <a:t>Transition: “Now let's compare the retrieval strategies implemented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At runtime, the user's question moves through query processing and retrieval before the final context is passed to the LLM. This is where the conceptual pipeline from earlier becomes actual application code. Keep the stages observable so we can see whether a poor answer came from query processing, search, reranking, context construction or generation.</a:t>
            </a:r>
          </a:p>
          <a:p>
            <a:pPr marL="0" indent="0">
              <a:buNone/>
            </a:pPr>
            <a:endParaRPr lang="en-US" dirty="0"/>
          </a:p>
          <a:p>
            <a:pPr marL="0" indent="0">
              <a:buNone/>
            </a:pPr>
            <a:r>
              <a:rPr lang="en-US" i="1" dirty="0"/>
              <a:t>Transition: “There is more than one way to implement retrieval, and each adds cost and complexity.”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basic strategy embeds the query and performs pgvector cosine search. The project default is hybrid retrieval, combining vector search with PostgreSQL full-text search and RRF fusion. Multi-query strategies use an LLM to generate alternative query formulations and can help vague questions, but they add model, embedding and database calls. The rule is simple: add complexity when evaluation data shows that the extra cost is justified.</a:t>
            </a:r>
          </a:p>
          <a:p>
            <a:pPr marL="0" indent="0">
              <a:buNone/>
            </a:pPr>
            <a:endParaRPr lang="en-US" dirty="0"/>
          </a:p>
          <a:p>
            <a:pPr marL="0" indent="0">
              <a:buNone/>
            </a:pPr>
            <a:r>
              <a:rPr lang="en-US" i="1" dirty="0"/>
              <a:t>Transition: “We've now seen the architecture on slides. Let's stop talking about it and run it.”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The next step is not simply 'more vector search.' We are seeing patterns such as GraphRAG for structured relationships and multi-hop retrieval, Agentic RAG for iterative retrieval and tool use, and Multimodal RAG across text, images, audio and video. These are extensions of the same basic question: how do we retrieve the right evidence and use it reliably?</a:t>
            </a:r>
          </a:p>
          <a:p>
            <a:pPr marL="0" indent="0">
              <a:buNone/>
            </a:pPr>
            <a:endParaRPr lang="en-US" dirty="0"/>
          </a:p>
          <a:p>
            <a:pPr marL="0" indent="0">
              <a:buNone/>
            </a:pPr>
            <a:r>
              <a:rPr lang="en-US" i="1" dirty="0"/>
              <a:t>Attention Challenge: Run the five-question spinner here, before the final thank-you. 45 seconds per question; correct answer gets the protein bar; incorrect or unanswered goes to the judges.</a:t>
            </a:r>
          </a:p>
          <a:p>
            <a:pPr marL="0" indent="0">
              <a:buNone/>
            </a:pP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en-US" dirty="0"/>
              <a:t>Let me leave you with three takeaways. First, RAG is an end-to-end engineering pipeline, not just embeddings plus a vector database. Second, retrieval quality strongly influences answer quality, so measure it. Third, production RAG requires security, evaluation, observability, reliability and cost control alongside the model. Thank you — happy to take your questions.</a:t>
            </a:r>
          </a:p>
          <a:p>
            <a:pPr marL="0" indent="0">
              <a:buNone/>
            </a:pPr>
            <a:endParaRPr lang="en-US" dirty="0"/>
          </a:p>
          <a:p>
            <a:pPr marL="0" indent="0">
              <a:buNone/>
            </a:pPr>
            <a:r>
              <a:rPr lang="en-US" i="1" dirty="0"/>
              <a:t>Optional closing: “And if you remember only one thing: retrieve the right evidence before asking the model to generate the answer.”</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9AAE2-F154-D693-4283-504B9AA90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5587B-24C4-58A3-382B-5A3C5688710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DC35B3E-0F5D-9AE2-FD1C-D663BEB019AE}"/>
              </a:ext>
            </a:extLst>
          </p:cNvPr>
          <p:cNvSpPr>
            <a:spLocks noGrp="1"/>
          </p:cNvSpPr>
          <p:nvPr>
            <p:ph type="body" sz="quarter" idx="3"/>
          </p:nvPr>
        </p:nvSpPr>
        <p:spPr/>
        <p:txBody>
          <a:bodyPr/>
          <a:lstStyle/>
          <a:p>
            <a:pPr marL="0" indent="0">
              <a:buNone/>
            </a:pPr>
            <a:r>
              <a:rPr lang="en-US" dirty="0"/>
              <a:t>Let me leave you with three takeaways. First, RAG is an end-to-end engineering pipeline, not just embeddings plus a vector database. Second, retrieval quality strongly influences answer quality, so measure it. Third, production RAG requires security, evaluation, observability, reliability and cost control alongside the model. Thank you — happy to take your questions.</a:t>
            </a:r>
          </a:p>
          <a:p>
            <a:pPr marL="0" indent="0">
              <a:buNone/>
            </a:pPr>
            <a:endParaRPr lang="en-US" dirty="0"/>
          </a:p>
          <a:p>
            <a:pPr marL="0" indent="0">
              <a:buNone/>
            </a:pPr>
            <a:r>
              <a:rPr lang="en-US" i="1" dirty="0"/>
              <a:t>Optional closing: “And if you remember only one thing: retrieve the right evidence before asking the model to generate the answer.”</a:t>
            </a:r>
          </a:p>
        </p:txBody>
      </p:sp>
      <p:sp>
        <p:nvSpPr>
          <p:cNvPr id="4" name="Slide Number Placeholder 3">
            <a:extLst>
              <a:ext uri="{FF2B5EF4-FFF2-40B4-BE49-F238E27FC236}">
                <a16:creationId xmlns:a16="http://schemas.microsoft.com/office/drawing/2014/main" id="{30EF2496-8BCD-41EB-C688-085ACD568D99}"/>
              </a:ext>
            </a:extLst>
          </p:cNvPr>
          <p:cNvSpPr>
            <a:spLocks noGrp="1"/>
          </p:cNvSpPr>
          <p:nvPr>
            <p:ph type="sldNum" sz="quarter" idx="5"/>
          </p:nvPr>
        </p:nvSpPr>
        <p:spPr/>
      </p:sp>
    </p:spTree>
    <p:extLst>
      <p:ext uri="{BB962C8B-B14F-4D97-AF65-F5344CB8AC3E}">
        <p14:creationId xmlns:p14="http://schemas.microsoft.com/office/powerpoint/2010/main" val="1934448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11.svg"/><Relationship Id="rId4" Type="http://schemas.openxmlformats.org/officeDocument/2006/relationships/image" Target="../media/image28.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371600" y="3931920"/>
            <a:ext cx="15544800" cy="41148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822960"/>
            <a:ext cx="2377440" cy="41148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200" b="1">
                <a:solidFill>
                  <a:srgbClr val="2DD4BF"/>
                </a:solidFill>
                <a:latin typeface="Segoe UI"/>
              </a:rPr>
              <a:t>TAAZAA X TALK</a:t>
            </a:r>
          </a:p>
        </p:txBody>
      </p:sp>
      <p:sp>
        <p:nvSpPr>
          <p:cNvPr id="4" name="TextBox 3"/>
          <p:cNvSpPr txBox="1"/>
          <p:nvPr/>
        </p:nvSpPr>
        <p:spPr>
          <a:xfrm>
            <a:off x="777240" y="1417320"/>
            <a:ext cx="10607040" cy="1828800"/>
          </a:xfrm>
          <a:prstGeom prst="rect">
            <a:avLst/>
          </a:prstGeom>
          <a:noFill/>
        </p:spPr>
        <p:txBody>
          <a:bodyPr wrap="square" lIns="0" tIns="0" rIns="0" bIns="0" anchor="t">
            <a:spAutoFit/>
          </a:bodyPr>
          <a:lstStyle/>
          <a:p>
            <a:pPr algn="l"/>
            <a:r>
              <a:rPr sz="4200" b="1" i="0">
                <a:solidFill>
                  <a:srgbClr val="F1F5F9"/>
                </a:solidFill>
                <a:latin typeface="Segoe UI"/>
              </a:rPr>
              <a:t>Building Enterprise RAG</a:t>
            </a:r>
          </a:p>
          <a:p>
            <a:pPr algn="l"/>
            <a:r>
              <a:rPr sz="4200" b="1" i="0">
                <a:solidFill>
                  <a:srgbClr val="F1F5F9"/>
                </a:solidFill>
                <a:latin typeface="Segoe UI"/>
              </a:rPr>
              <a:t>Applications with .NET</a:t>
            </a:r>
          </a:p>
        </p:txBody>
      </p:sp>
      <p:sp>
        <p:nvSpPr>
          <p:cNvPr id="5" name="TextBox 4"/>
          <p:cNvSpPr txBox="1"/>
          <p:nvPr/>
        </p:nvSpPr>
        <p:spPr>
          <a:xfrm>
            <a:off x="822960" y="3246120"/>
            <a:ext cx="10058400" cy="548640"/>
          </a:xfrm>
          <a:prstGeom prst="rect">
            <a:avLst/>
          </a:prstGeom>
          <a:noFill/>
        </p:spPr>
        <p:txBody>
          <a:bodyPr wrap="square" lIns="0" tIns="0" rIns="0" bIns="0" anchor="t">
            <a:spAutoFit/>
          </a:bodyPr>
          <a:lstStyle/>
          <a:p>
            <a:pPr algn="l"/>
            <a:r>
              <a:rPr sz="2000" b="0" i="1">
                <a:solidFill>
                  <a:srgbClr val="2DD4BF"/>
                </a:solidFill>
                <a:latin typeface="Segoe UI"/>
              </a:rPr>
              <a:t>From Theory to Production</a:t>
            </a:r>
          </a:p>
        </p:txBody>
      </p:sp>
      <p:sp>
        <p:nvSpPr>
          <p:cNvPr id="7" name="Rounded Rectangle 6"/>
          <p:cNvSpPr/>
          <p:nvPr/>
        </p:nvSpPr>
        <p:spPr>
          <a:xfrm>
            <a:off x="822960" y="5029200"/>
            <a:ext cx="10515600" cy="1234440"/>
          </a:xfrm>
          <a:prstGeom prst="roundRect">
            <a:avLst>
              <a:gd name="adj" fmla="val 8000"/>
            </a:avLst>
          </a:prstGeom>
          <a:solidFill>
            <a:srgbClr val="131C31"/>
          </a:solidFill>
          <a:ln w="12700">
            <a:solidFill>
              <a:srgbClr val="2A37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5166360"/>
            <a:ext cx="2377440" cy="320040"/>
          </a:xfrm>
          <a:prstGeom prst="rect">
            <a:avLst/>
          </a:prstGeom>
          <a:noFill/>
        </p:spPr>
        <p:txBody>
          <a:bodyPr wrap="square" lIns="0" tIns="0" rIns="0" bIns="0" anchor="t">
            <a:spAutoFit/>
          </a:bodyPr>
          <a:lstStyle/>
          <a:p>
            <a:pPr algn="l"/>
            <a:r>
              <a:rPr sz="1050" b="1" i="0">
                <a:solidFill>
                  <a:srgbClr val="2DD4BF"/>
                </a:solidFill>
                <a:latin typeface="Segoe UI"/>
              </a:rPr>
              <a:t>SPEAKER</a:t>
            </a:r>
          </a:p>
        </p:txBody>
      </p:sp>
      <p:sp>
        <p:nvSpPr>
          <p:cNvPr id="9" name="TextBox 8"/>
          <p:cNvSpPr txBox="1"/>
          <p:nvPr/>
        </p:nvSpPr>
        <p:spPr>
          <a:xfrm>
            <a:off x="1051560" y="5468112"/>
            <a:ext cx="4114800" cy="365760"/>
          </a:xfrm>
          <a:prstGeom prst="rect">
            <a:avLst/>
          </a:prstGeom>
          <a:noFill/>
        </p:spPr>
        <p:txBody>
          <a:bodyPr wrap="square" lIns="0" tIns="0" rIns="0" bIns="0" anchor="t">
            <a:spAutoFit/>
          </a:bodyPr>
          <a:lstStyle/>
          <a:p>
            <a:pPr algn="l"/>
            <a:r>
              <a:rPr sz="1600" b="1" i="0">
                <a:solidFill>
                  <a:srgbClr val="F1F5F9"/>
                </a:solidFill>
                <a:latin typeface="Segoe UI"/>
              </a:rPr>
              <a:t>Rohit Kumar Pandit</a:t>
            </a:r>
          </a:p>
        </p:txBody>
      </p:sp>
      <p:sp>
        <p:nvSpPr>
          <p:cNvPr id="10" name="TextBox 9"/>
          <p:cNvSpPr txBox="1"/>
          <p:nvPr/>
        </p:nvSpPr>
        <p:spPr>
          <a:xfrm>
            <a:off x="1051560" y="5806440"/>
            <a:ext cx="5486400" cy="365760"/>
          </a:xfrm>
          <a:prstGeom prst="rect">
            <a:avLst/>
          </a:prstGeom>
          <a:noFill/>
        </p:spPr>
        <p:txBody>
          <a:bodyPr wrap="square" lIns="0" tIns="0" rIns="0" bIns="0" anchor="t">
            <a:spAutoFit/>
          </a:bodyPr>
          <a:lstStyle/>
          <a:p>
            <a:pPr algn="l"/>
            <a:r>
              <a:rPr sz="1150" b="0" i="0">
                <a:solidFill>
                  <a:srgbClr val="94A3B8"/>
                </a:solidFill>
                <a:latin typeface="Segoe UI"/>
              </a:rPr>
              <a:t>Technical Architect  ·  Taazaa</a:t>
            </a:r>
          </a:p>
        </p:txBody>
      </p:sp>
      <p:sp>
        <p:nvSpPr>
          <p:cNvPr id="11" name="TextBox 10"/>
          <p:cNvSpPr txBox="1"/>
          <p:nvPr/>
        </p:nvSpPr>
        <p:spPr>
          <a:xfrm>
            <a:off x="6309360" y="5429250"/>
            <a:ext cx="3931920" cy="1005840"/>
          </a:xfrm>
          <a:prstGeom prst="rect">
            <a:avLst/>
          </a:prstGeom>
          <a:noFill/>
        </p:spPr>
        <p:txBody>
          <a:bodyPr wrap="square" lIns="0" tIns="0" rIns="0" bIns="0" anchor="t">
            <a:spAutoFit/>
          </a:bodyPr>
          <a:lstStyle/>
          <a:p>
            <a:pPr algn="l"/>
            <a:r>
              <a:rPr sz="1150" b="0" i="1" dirty="0">
                <a:solidFill>
                  <a:srgbClr val="94A3B8"/>
                </a:solidFill>
                <a:latin typeface="Segoe UI"/>
              </a:rPr>
              <a:t>Building production AI systems with Clean Architecture, Semantic Kernel, and </a:t>
            </a:r>
            <a:r>
              <a:rPr sz="1150" b="0" i="1" dirty="0" err="1">
                <a:solidFill>
                  <a:srgbClr val="94A3B8"/>
                </a:solidFill>
                <a:latin typeface="Segoe UI"/>
              </a:rPr>
              <a:t>pgvector</a:t>
            </a:r>
            <a:r>
              <a:rPr sz="1150" b="0" i="1" dirty="0">
                <a:solidFill>
                  <a:srgbClr val="94A3B8"/>
                </a:solidFill>
                <a:latin typeface="Segoe UI"/>
              </a:rPr>
              <a:t>.</a:t>
            </a:r>
          </a:p>
        </p:txBody>
      </p:sp>
      <p:sp>
        <p:nvSpPr>
          <p:cNvPr id="12" name="TextBox 11"/>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13" name="TextBox 12"/>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a:t>
            </a:r>
          </a:p>
        </p:txBody>
      </p:sp>
    </p:spTree>
    <p:extLst>
      <p:ext uri="{BB962C8B-B14F-4D97-AF65-F5344CB8AC3E}">
        <p14:creationId xmlns:p14="http://schemas.microsoft.com/office/powerpoint/2010/main" val="271795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3AB28563-19F8-4FBA-9678-9413252F7E46}"/>
              </a:ext>
            </a:extLst>
          </p:cNvPr>
          <p:cNvCxnSpPr/>
          <p:nvPr/>
        </p:nvCxnSpPr>
        <p:spPr>
          <a:xfrm>
            <a:off x="927100" y="1625600"/>
            <a:ext cx="0" cy="4267200"/>
          </a:xfrm>
          <a:prstGeom prst="straightConnector1">
            <a:avLst/>
          </a:prstGeom>
          <a:ln w="25400" cap="flat" cmpd="sng" algn="ctr">
            <a:solidFill>
              <a:srgbClr val="334155"/>
            </a:solidFill>
            <a:prstDash val="solid"/>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640080" y="320040"/>
            <a:ext cx="9144000" cy="184666"/>
          </a:xfrm>
          <a:prstGeom prst="rect">
            <a:avLst/>
          </a:prstGeom>
          <a:noFill/>
        </p:spPr>
        <p:txBody>
          <a:bodyPr wrap="square" lIns="0" tIns="0" rIns="0" bIns="0" anchor="t">
            <a:spAutoFit/>
          </a:bodyPr>
          <a:lstStyle/>
          <a:p>
            <a:pPr algn="l"/>
            <a:r>
              <a:rPr sz="1200" b="1" i="0" dirty="0">
                <a:solidFill>
                  <a:srgbClr val="2DD4BF"/>
                </a:solidFill>
                <a:latin typeface="Segoe UI"/>
              </a:rPr>
              <a:t>AGENDA  </a:t>
            </a:r>
          </a:p>
        </p:txBody>
      </p:sp>
      <p:sp>
        <p:nvSpPr>
          <p:cNvPr id="3" name="TextBox 2"/>
          <p:cNvSpPr txBox="1"/>
          <p:nvPr/>
        </p:nvSpPr>
        <p:spPr>
          <a:xfrm>
            <a:off x="640080" y="566928"/>
            <a:ext cx="10881360" cy="640080"/>
          </a:xfrm>
          <a:prstGeom prst="rect">
            <a:avLst/>
          </a:prstGeom>
          <a:noFill/>
        </p:spPr>
        <p:txBody>
          <a:bodyPr wrap="square" lIns="0" tIns="0" rIns="0" bIns="0" anchor="t">
            <a:spAutoFit/>
          </a:bodyPr>
          <a:lstStyle/>
          <a:p>
            <a:pPr algn="l"/>
            <a:r>
              <a:rPr sz="2500" b="1" i="0" dirty="0">
                <a:solidFill>
                  <a:srgbClr val="F1F5F9"/>
                </a:solidFill>
                <a:latin typeface="Segoe UI"/>
              </a:rPr>
              <a:t>Where we're headed</a:t>
            </a:r>
          </a:p>
        </p:txBody>
      </p:sp>
      <p:cxnSp>
        <p:nvCxnSpPr>
          <p:cNvPr id="4" name="Connector 3"/>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0" name="TextBox 29"/>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a:t>
            </a:r>
          </a:p>
        </p:txBody>
      </p:sp>
      <p:sp>
        <p:nvSpPr>
          <p:cNvPr id="12" name="Rectangle: Rounded Corners 11">
            <a:extLst>
              <a:ext uri="{FF2B5EF4-FFF2-40B4-BE49-F238E27FC236}">
                <a16:creationId xmlns:a16="http://schemas.microsoft.com/office/drawing/2014/main" id="{88698263-40FB-4547-91EC-CF06D37573CF}"/>
              </a:ext>
            </a:extLst>
          </p:cNvPr>
          <p:cNvSpPr/>
          <p:nvPr/>
        </p:nvSpPr>
        <p:spPr>
          <a:xfrm>
            <a:off x="1320800" y="1397000"/>
            <a:ext cx="10223500" cy="609600"/>
          </a:xfrm>
          <a:prstGeom prst="roundRect">
            <a:avLst>
              <a:gd name="adj" fmla="val 1666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6" name="Oval 15">
            <a:extLst>
              <a:ext uri="{FF2B5EF4-FFF2-40B4-BE49-F238E27FC236}">
                <a16:creationId xmlns:a16="http://schemas.microsoft.com/office/drawing/2014/main" id="{49EA37B6-7188-4595-8562-5B90D5DB7623}"/>
              </a:ext>
            </a:extLst>
          </p:cNvPr>
          <p:cNvSpPr/>
          <p:nvPr/>
        </p:nvSpPr>
        <p:spPr>
          <a:xfrm>
            <a:off x="698500" y="1536700"/>
            <a:ext cx="457200" cy="457200"/>
          </a:xfrm>
          <a:prstGeom prst="ellipse">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200" b="1">
                <a:solidFill>
                  <a:srgbClr val="2DD4BF"/>
                </a:solidFill>
                <a:latin typeface="Segoe UI"/>
                <a:cs typeface="Segoe UI"/>
              </a:rPr>
              <a:t>I</a:t>
            </a:r>
          </a:p>
        </p:txBody>
      </p:sp>
      <p:sp>
        <p:nvSpPr>
          <p:cNvPr id="20" name="TextBox 19">
            <a:extLst>
              <a:ext uri="{FF2B5EF4-FFF2-40B4-BE49-F238E27FC236}">
                <a16:creationId xmlns:a16="http://schemas.microsoft.com/office/drawing/2014/main" id="{C63D3CCE-8B70-4614-AD31-104925267BCC}"/>
              </a:ext>
            </a:extLst>
          </p:cNvPr>
          <p:cNvSpPr txBox="1"/>
          <p:nvPr/>
        </p:nvSpPr>
        <p:spPr>
          <a:xfrm>
            <a:off x="1574800" y="1397000"/>
            <a:ext cx="3810000" cy="609600"/>
          </a:xfrm>
          <a:prstGeom prst="rect">
            <a:avLst/>
          </a:prstGeom>
          <a:noFill/>
        </p:spPr>
        <p:txBody>
          <a:bodyPr vertOverflow="overflow" vert="horz" wrap="square" lIns="0" tIns="0" rIns="0" bIns="0" rtlCol="0" anchor="ctr" anchorCtr="0">
            <a:noAutofit/>
          </a:bodyPr>
          <a:lstStyle/>
          <a:p>
            <a:r>
              <a:rPr lang="en-IN" sz="1700" b="1">
                <a:solidFill>
                  <a:srgbClr val="F1F5F9"/>
                </a:solidFill>
                <a:latin typeface="Segoe UI"/>
                <a:cs typeface="Segoe UI"/>
              </a:rPr>
              <a:t>Foundations</a:t>
            </a:r>
          </a:p>
        </p:txBody>
      </p:sp>
      <p:sp>
        <p:nvSpPr>
          <p:cNvPr id="24" name="TextBox 23">
            <a:extLst>
              <a:ext uri="{FF2B5EF4-FFF2-40B4-BE49-F238E27FC236}">
                <a16:creationId xmlns:a16="http://schemas.microsoft.com/office/drawing/2014/main" id="{0EC859A8-2065-43D8-A661-475AD4AA6937}"/>
              </a:ext>
            </a:extLst>
          </p:cNvPr>
          <p:cNvSpPr txBox="1"/>
          <p:nvPr/>
        </p:nvSpPr>
        <p:spPr>
          <a:xfrm>
            <a:off x="5588000" y="1397000"/>
            <a:ext cx="5715000" cy="609600"/>
          </a:xfrm>
          <a:prstGeom prst="rect">
            <a:avLst/>
          </a:prstGeom>
          <a:noFill/>
        </p:spPr>
        <p:txBody>
          <a:bodyPr vertOverflow="overflow" vert="horz" wrap="square" lIns="0" tIns="0" rIns="0" bIns="0" rtlCol="0" anchor="ctr" anchorCtr="0">
            <a:noAutofit/>
          </a:bodyPr>
          <a:lstStyle/>
          <a:p>
            <a:r>
              <a:rPr lang="en-US" sz="1400">
                <a:solidFill>
                  <a:srgbClr val="B8C2D3"/>
                </a:solidFill>
                <a:latin typeface="Segoe UI"/>
                <a:cs typeface="Segoe UI"/>
              </a:rPr>
              <a:t>LLMs, tokens &amp; context windows, hallucination, why RAG</a:t>
            </a:r>
            <a:endParaRPr lang="en-IN" sz="1400">
              <a:solidFill>
                <a:srgbClr val="B8C2D3"/>
              </a:solidFill>
              <a:latin typeface="Segoe UI"/>
              <a:cs typeface="Segoe UI"/>
            </a:endParaRPr>
          </a:p>
        </p:txBody>
      </p:sp>
      <p:sp>
        <p:nvSpPr>
          <p:cNvPr id="28" name="Rectangle: Rounded Corners 27">
            <a:extLst>
              <a:ext uri="{FF2B5EF4-FFF2-40B4-BE49-F238E27FC236}">
                <a16:creationId xmlns:a16="http://schemas.microsoft.com/office/drawing/2014/main" id="{69911E48-DBEF-4845-9C15-69A389ADD390}"/>
              </a:ext>
            </a:extLst>
          </p:cNvPr>
          <p:cNvSpPr/>
          <p:nvPr/>
        </p:nvSpPr>
        <p:spPr>
          <a:xfrm>
            <a:off x="1320800" y="2235200"/>
            <a:ext cx="10223500" cy="609600"/>
          </a:xfrm>
          <a:prstGeom prst="roundRect">
            <a:avLst>
              <a:gd name="adj" fmla="val 1666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1" name="Oval 30">
            <a:extLst>
              <a:ext uri="{FF2B5EF4-FFF2-40B4-BE49-F238E27FC236}">
                <a16:creationId xmlns:a16="http://schemas.microsoft.com/office/drawing/2014/main" id="{74EDB67B-A084-467A-9045-5A1F79CF7E08}"/>
              </a:ext>
            </a:extLst>
          </p:cNvPr>
          <p:cNvSpPr/>
          <p:nvPr/>
        </p:nvSpPr>
        <p:spPr>
          <a:xfrm>
            <a:off x="698500" y="2374900"/>
            <a:ext cx="457200" cy="457200"/>
          </a:xfrm>
          <a:prstGeom prst="ellipse">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200" b="1">
                <a:solidFill>
                  <a:srgbClr val="2DD4BF"/>
                </a:solidFill>
                <a:latin typeface="Segoe UI"/>
                <a:cs typeface="Segoe UI"/>
              </a:rPr>
              <a:t>II</a:t>
            </a:r>
          </a:p>
        </p:txBody>
      </p:sp>
      <p:sp>
        <p:nvSpPr>
          <p:cNvPr id="32" name="TextBox 31">
            <a:extLst>
              <a:ext uri="{FF2B5EF4-FFF2-40B4-BE49-F238E27FC236}">
                <a16:creationId xmlns:a16="http://schemas.microsoft.com/office/drawing/2014/main" id="{4CD40661-CD62-41BD-8C8D-1A26EAACC6AB}"/>
              </a:ext>
            </a:extLst>
          </p:cNvPr>
          <p:cNvSpPr txBox="1"/>
          <p:nvPr/>
        </p:nvSpPr>
        <p:spPr>
          <a:xfrm>
            <a:off x="1574800" y="2235200"/>
            <a:ext cx="3810000" cy="609600"/>
          </a:xfrm>
          <a:prstGeom prst="rect">
            <a:avLst/>
          </a:prstGeom>
          <a:noFill/>
        </p:spPr>
        <p:txBody>
          <a:bodyPr vertOverflow="overflow" vert="horz" wrap="square" lIns="0" tIns="0" rIns="0" bIns="0" rtlCol="0" anchor="ctr" anchorCtr="0">
            <a:noAutofit/>
          </a:bodyPr>
          <a:lstStyle/>
          <a:p>
            <a:r>
              <a:rPr lang="en-IN" sz="1700" b="1">
                <a:solidFill>
                  <a:srgbClr val="F1F5F9"/>
                </a:solidFill>
                <a:latin typeface="Segoe UI"/>
                <a:cs typeface="Segoe UI"/>
              </a:rPr>
              <a:t>How RAG Works</a:t>
            </a:r>
          </a:p>
        </p:txBody>
      </p:sp>
      <p:sp>
        <p:nvSpPr>
          <p:cNvPr id="33" name="TextBox 32">
            <a:extLst>
              <a:ext uri="{FF2B5EF4-FFF2-40B4-BE49-F238E27FC236}">
                <a16:creationId xmlns:a16="http://schemas.microsoft.com/office/drawing/2014/main" id="{164A9CB1-93E4-47EE-B550-02218584D749}"/>
              </a:ext>
            </a:extLst>
          </p:cNvPr>
          <p:cNvSpPr txBox="1"/>
          <p:nvPr/>
        </p:nvSpPr>
        <p:spPr>
          <a:xfrm>
            <a:off x="5588000" y="2235200"/>
            <a:ext cx="5715000" cy="609600"/>
          </a:xfrm>
          <a:prstGeom prst="rect">
            <a:avLst/>
          </a:prstGeom>
          <a:noFill/>
        </p:spPr>
        <p:txBody>
          <a:bodyPr vertOverflow="overflow" vert="horz" wrap="square" lIns="0" tIns="0" rIns="0" bIns="0" rtlCol="0" anchor="ctr" anchorCtr="0">
            <a:noAutofit/>
          </a:bodyPr>
          <a:lstStyle/>
          <a:p>
            <a:r>
              <a:rPr lang="en-IN" sz="1400">
                <a:solidFill>
                  <a:srgbClr val="B8C2D3"/>
                </a:solidFill>
                <a:latin typeface="Segoe UI"/>
                <a:cs typeface="Segoe UI"/>
              </a:rPr>
              <a:t>Chunking, embeddings, vector DBs, retrieval, prompting</a:t>
            </a:r>
          </a:p>
        </p:txBody>
      </p:sp>
      <p:sp>
        <p:nvSpPr>
          <p:cNvPr id="34" name="Rectangle: Rounded Corners 33">
            <a:extLst>
              <a:ext uri="{FF2B5EF4-FFF2-40B4-BE49-F238E27FC236}">
                <a16:creationId xmlns:a16="http://schemas.microsoft.com/office/drawing/2014/main" id="{679B08A0-BEF3-473D-B775-9D8CBE6B02DA}"/>
              </a:ext>
            </a:extLst>
          </p:cNvPr>
          <p:cNvSpPr/>
          <p:nvPr/>
        </p:nvSpPr>
        <p:spPr>
          <a:xfrm>
            <a:off x="1320800" y="3073400"/>
            <a:ext cx="10223500" cy="609600"/>
          </a:xfrm>
          <a:prstGeom prst="roundRect">
            <a:avLst>
              <a:gd name="adj" fmla="val 1666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5" name="Oval 34">
            <a:extLst>
              <a:ext uri="{FF2B5EF4-FFF2-40B4-BE49-F238E27FC236}">
                <a16:creationId xmlns:a16="http://schemas.microsoft.com/office/drawing/2014/main" id="{F6F88CD1-3992-47A9-86BD-F369CF113C69}"/>
              </a:ext>
            </a:extLst>
          </p:cNvPr>
          <p:cNvSpPr/>
          <p:nvPr/>
        </p:nvSpPr>
        <p:spPr>
          <a:xfrm>
            <a:off x="698500" y="3213100"/>
            <a:ext cx="457200" cy="457200"/>
          </a:xfrm>
          <a:prstGeom prst="ellipse">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050" b="1">
                <a:solidFill>
                  <a:srgbClr val="2DD4BF"/>
                </a:solidFill>
                <a:latin typeface="Segoe UI"/>
                <a:cs typeface="Segoe UI"/>
              </a:rPr>
              <a:t>III</a:t>
            </a:r>
          </a:p>
        </p:txBody>
      </p:sp>
      <p:sp>
        <p:nvSpPr>
          <p:cNvPr id="36" name="TextBox 35">
            <a:extLst>
              <a:ext uri="{FF2B5EF4-FFF2-40B4-BE49-F238E27FC236}">
                <a16:creationId xmlns:a16="http://schemas.microsoft.com/office/drawing/2014/main" id="{36F58DFF-9898-43A9-86E4-77EB4324E1DD}"/>
              </a:ext>
            </a:extLst>
          </p:cNvPr>
          <p:cNvSpPr txBox="1"/>
          <p:nvPr/>
        </p:nvSpPr>
        <p:spPr>
          <a:xfrm>
            <a:off x="1574800" y="3073400"/>
            <a:ext cx="3810000" cy="609600"/>
          </a:xfrm>
          <a:prstGeom prst="rect">
            <a:avLst/>
          </a:prstGeom>
          <a:noFill/>
        </p:spPr>
        <p:txBody>
          <a:bodyPr vertOverflow="overflow" vert="horz" wrap="square" lIns="0" tIns="0" rIns="0" bIns="0" rtlCol="0" anchor="ctr" anchorCtr="0">
            <a:noAutofit/>
          </a:bodyPr>
          <a:lstStyle/>
          <a:p>
            <a:r>
              <a:rPr lang="en-US" sz="1700" b="1">
                <a:solidFill>
                  <a:srgbClr val="F1F5F9"/>
                </a:solidFill>
                <a:latin typeface="Segoe UI"/>
                <a:cs typeface="Segoe UI"/>
              </a:rPr>
              <a:t>Production Engineering</a:t>
            </a:r>
            <a:endParaRPr lang="en-IN" sz="1700" b="1">
              <a:solidFill>
                <a:srgbClr val="F1F5F9"/>
              </a:solidFill>
              <a:latin typeface="Segoe UI"/>
              <a:cs typeface="Segoe UI"/>
            </a:endParaRPr>
          </a:p>
        </p:txBody>
      </p:sp>
      <p:sp>
        <p:nvSpPr>
          <p:cNvPr id="37" name="TextBox 36">
            <a:extLst>
              <a:ext uri="{FF2B5EF4-FFF2-40B4-BE49-F238E27FC236}">
                <a16:creationId xmlns:a16="http://schemas.microsoft.com/office/drawing/2014/main" id="{4463EA3F-FC0A-44E6-A2C0-68F67F722223}"/>
              </a:ext>
            </a:extLst>
          </p:cNvPr>
          <p:cNvSpPr txBox="1"/>
          <p:nvPr/>
        </p:nvSpPr>
        <p:spPr>
          <a:xfrm>
            <a:off x="5588000" y="3073400"/>
            <a:ext cx="5715000" cy="609600"/>
          </a:xfrm>
          <a:prstGeom prst="rect">
            <a:avLst/>
          </a:prstGeom>
          <a:noFill/>
        </p:spPr>
        <p:txBody>
          <a:bodyPr vertOverflow="overflow" vert="horz" wrap="square" lIns="0" tIns="0" rIns="0" bIns="0" rtlCol="0" anchor="ctr" anchorCtr="0">
            <a:noAutofit/>
          </a:bodyPr>
          <a:lstStyle/>
          <a:p>
            <a:r>
              <a:rPr lang="en-US" sz="1400">
                <a:solidFill>
                  <a:srgbClr val="B8C2D3"/>
                </a:solidFill>
                <a:latin typeface="Segoe UI"/>
                <a:cs typeface="Segoe UI"/>
              </a:rPr>
              <a:t>Security, evaluation, observability, common mistakes</a:t>
            </a:r>
            <a:endParaRPr lang="en-IN" sz="1400">
              <a:solidFill>
                <a:srgbClr val="B8C2D3"/>
              </a:solidFill>
              <a:latin typeface="Segoe UI"/>
              <a:cs typeface="Segoe UI"/>
            </a:endParaRPr>
          </a:p>
        </p:txBody>
      </p:sp>
      <p:sp>
        <p:nvSpPr>
          <p:cNvPr id="38" name="Rectangle: Rounded Corners 37">
            <a:extLst>
              <a:ext uri="{FF2B5EF4-FFF2-40B4-BE49-F238E27FC236}">
                <a16:creationId xmlns:a16="http://schemas.microsoft.com/office/drawing/2014/main" id="{B1F26ED1-1F37-45AD-8A6B-ED2D55BEEE09}"/>
              </a:ext>
            </a:extLst>
          </p:cNvPr>
          <p:cNvSpPr/>
          <p:nvPr/>
        </p:nvSpPr>
        <p:spPr>
          <a:xfrm>
            <a:off x="1320800" y="3911600"/>
            <a:ext cx="10223500" cy="609600"/>
          </a:xfrm>
          <a:prstGeom prst="roundRect">
            <a:avLst>
              <a:gd name="adj" fmla="val 1666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9" name="Oval 38">
            <a:extLst>
              <a:ext uri="{FF2B5EF4-FFF2-40B4-BE49-F238E27FC236}">
                <a16:creationId xmlns:a16="http://schemas.microsoft.com/office/drawing/2014/main" id="{D3FAF189-B0AE-4E42-BFCA-5994C73DAE23}"/>
              </a:ext>
            </a:extLst>
          </p:cNvPr>
          <p:cNvSpPr/>
          <p:nvPr/>
        </p:nvSpPr>
        <p:spPr>
          <a:xfrm>
            <a:off x="698500" y="4051300"/>
            <a:ext cx="457200" cy="457200"/>
          </a:xfrm>
          <a:prstGeom prst="ellipse">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200" b="1">
                <a:solidFill>
                  <a:srgbClr val="2DD4BF"/>
                </a:solidFill>
                <a:latin typeface="Segoe UI"/>
                <a:cs typeface="Segoe UI"/>
              </a:rPr>
              <a:t>IV</a:t>
            </a:r>
          </a:p>
        </p:txBody>
      </p:sp>
      <p:sp>
        <p:nvSpPr>
          <p:cNvPr id="43" name="TextBox 42">
            <a:extLst>
              <a:ext uri="{FF2B5EF4-FFF2-40B4-BE49-F238E27FC236}">
                <a16:creationId xmlns:a16="http://schemas.microsoft.com/office/drawing/2014/main" id="{C21EC5E5-B484-4EB8-B077-B64563028FD4}"/>
              </a:ext>
            </a:extLst>
          </p:cNvPr>
          <p:cNvSpPr txBox="1"/>
          <p:nvPr/>
        </p:nvSpPr>
        <p:spPr>
          <a:xfrm>
            <a:off x="1574800" y="3911600"/>
            <a:ext cx="3810000" cy="609600"/>
          </a:xfrm>
          <a:prstGeom prst="rect">
            <a:avLst/>
          </a:prstGeom>
          <a:noFill/>
        </p:spPr>
        <p:txBody>
          <a:bodyPr vertOverflow="overflow" vert="horz" wrap="square" lIns="0" tIns="0" rIns="0" bIns="0" rtlCol="0" anchor="ctr" anchorCtr="0">
            <a:noAutofit/>
          </a:bodyPr>
          <a:lstStyle/>
          <a:p>
            <a:r>
              <a:rPr lang="en-IN" sz="1700" b="1">
                <a:solidFill>
                  <a:srgbClr val="F1F5F9"/>
                </a:solidFill>
                <a:latin typeface="Segoe UI"/>
                <a:cs typeface="Segoe UI"/>
              </a:rPr>
              <a:t>This .NET Implementation</a:t>
            </a:r>
          </a:p>
        </p:txBody>
      </p:sp>
      <p:sp>
        <p:nvSpPr>
          <p:cNvPr id="44" name="TextBox 43">
            <a:extLst>
              <a:ext uri="{FF2B5EF4-FFF2-40B4-BE49-F238E27FC236}">
                <a16:creationId xmlns:a16="http://schemas.microsoft.com/office/drawing/2014/main" id="{D72BAD4D-B73F-4289-AA5D-8B321A85E25C}"/>
              </a:ext>
            </a:extLst>
          </p:cNvPr>
          <p:cNvSpPr txBox="1"/>
          <p:nvPr/>
        </p:nvSpPr>
        <p:spPr>
          <a:xfrm>
            <a:off x="5588000" y="3911600"/>
            <a:ext cx="5715000" cy="609600"/>
          </a:xfrm>
          <a:prstGeom prst="rect">
            <a:avLst/>
          </a:prstGeom>
          <a:noFill/>
        </p:spPr>
        <p:txBody>
          <a:bodyPr vertOverflow="overflow" vert="horz" wrap="square" lIns="0" tIns="0" rIns="0" bIns="0" rtlCol="0" anchor="ctr" anchorCtr="0">
            <a:noAutofit/>
          </a:bodyPr>
          <a:lstStyle/>
          <a:p>
            <a:r>
              <a:rPr lang="en-US" sz="1400">
                <a:solidFill>
                  <a:srgbClr val="B8C2D3"/>
                </a:solidFill>
                <a:latin typeface="Segoe UI"/>
                <a:cs typeface="Segoe UI"/>
              </a:rPr>
              <a:t>Clean Architecture, CQRS, Semantic Kernel, pgvector</a:t>
            </a:r>
            <a:endParaRPr lang="en-IN" sz="1400">
              <a:solidFill>
                <a:srgbClr val="B8C2D3"/>
              </a:solidFill>
              <a:latin typeface="Segoe UI"/>
              <a:cs typeface="Segoe UI"/>
            </a:endParaRPr>
          </a:p>
        </p:txBody>
      </p:sp>
      <p:sp>
        <p:nvSpPr>
          <p:cNvPr id="49" name="Rectangle: Rounded Corners 48">
            <a:extLst>
              <a:ext uri="{FF2B5EF4-FFF2-40B4-BE49-F238E27FC236}">
                <a16:creationId xmlns:a16="http://schemas.microsoft.com/office/drawing/2014/main" id="{85C4924C-E407-43F9-9AFE-F0D1F64AF113}"/>
              </a:ext>
            </a:extLst>
          </p:cNvPr>
          <p:cNvSpPr/>
          <p:nvPr/>
        </p:nvSpPr>
        <p:spPr>
          <a:xfrm>
            <a:off x="1320800" y="4749800"/>
            <a:ext cx="10223500" cy="609600"/>
          </a:xfrm>
          <a:prstGeom prst="roundRect">
            <a:avLst>
              <a:gd name="adj" fmla="val 16667"/>
            </a:avLst>
          </a:prstGeom>
          <a:solidFill>
            <a:srgbClr val="0F2A30"/>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0" name="Oval 49">
            <a:extLst>
              <a:ext uri="{FF2B5EF4-FFF2-40B4-BE49-F238E27FC236}">
                <a16:creationId xmlns:a16="http://schemas.microsoft.com/office/drawing/2014/main" id="{15394C5E-2184-4983-9C88-422CC9CB9C78}"/>
              </a:ext>
            </a:extLst>
          </p:cNvPr>
          <p:cNvSpPr/>
          <p:nvPr/>
        </p:nvSpPr>
        <p:spPr>
          <a:xfrm>
            <a:off x="698500" y="4889500"/>
            <a:ext cx="457200" cy="457200"/>
          </a:xfrm>
          <a:prstGeom prst="ellipse">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200" b="1">
                <a:solidFill>
                  <a:srgbClr val="0A0F1E"/>
                </a:solidFill>
                <a:latin typeface="Segoe UI"/>
                <a:cs typeface="Segoe UI"/>
              </a:rPr>
              <a:t>V</a:t>
            </a:r>
          </a:p>
        </p:txBody>
      </p:sp>
      <p:sp>
        <p:nvSpPr>
          <p:cNvPr id="51" name="TextBox 50">
            <a:extLst>
              <a:ext uri="{FF2B5EF4-FFF2-40B4-BE49-F238E27FC236}">
                <a16:creationId xmlns:a16="http://schemas.microsoft.com/office/drawing/2014/main" id="{0FC0D14F-5571-4573-B510-88BE5264E614}"/>
              </a:ext>
            </a:extLst>
          </p:cNvPr>
          <p:cNvSpPr txBox="1"/>
          <p:nvPr/>
        </p:nvSpPr>
        <p:spPr>
          <a:xfrm>
            <a:off x="1574800" y="4749800"/>
            <a:ext cx="3810000" cy="609600"/>
          </a:xfrm>
          <a:prstGeom prst="rect">
            <a:avLst/>
          </a:prstGeom>
          <a:noFill/>
        </p:spPr>
        <p:txBody>
          <a:bodyPr vertOverflow="overflow" vert="horz" wrap="square" lIns="0" tIns="0" rIns="0" bIns="0" rtlCol="0" anchor="ctr" anchorCtr="0">
            <a:noAutofit/>
          </a:bodyPr>
          <a:lstStyle/>
          <a:p>
            <a:r>
              <a:rPr lang="en-IN" sz="1700" b="1">
                <a:solidFill>
                  <a:srgbClr val="F1F5F9"/>
                </a:solidFill>
                <a:latin typeface="Segoe UI"/>
                <a:cs typeface="Segoe UI"/>
              </a:rPr>
              <a:t>Live Demo</a:t>
            </a:r>
          </a:p>
        </p:txBody>
      </p:sp>
      <p:sp>
        <p:nvSpPr>
          <p:cNvPr id="52" name="TextBox 51">
            <a:extLst>
              <a:ext uri="{FF2B5EF4-FFF2-40B4-BE49-F238E27FC236}">
                <a16:creationId xmlns:a16="http://schemas.microsoft.com/office/drawing/2014/main" id="{07A225B5-D6A2-491E-9707-76A2A2EA80AD}"/>
              </a:ext>
            </a:extLst>
          </p:cNvPr>
          <p:cNvSpPr txBox="1"/>
          <p:nvPr/>
        </p:nvSpPr>
        <p:spPr>
          <a:xfrm>
            <a:off x="5588000" y="4749800"/>
            <a:ext cx="4572000" cy="609600"/>
          </a:xfrm>
          <a:prstGeom prst="rect">
            <a:avLst/>
          </a:prstGeom>
          <a:noFill/>
        </p:spPr>
        <p:txBody>
          <a:bodyPr vertOverflow="overflow" vert="horz" wrap="square" lIns="0" tIns="0" rIns="0" bIns="0" rtlCol="0" anchor="ctr" anchorCtr="0">
            <a:noAutofit/>
          </a:bodyPr>
          <a:lstStyle/>
          <a:p>
            <a:r>
              <a:rPr lang="en-IN" sz="1400">
                <a:solidFill>
                  <a:srgbClr val="E2E8F0"/>
                </a:solidFill>
                <a:latin typeface="Segoe UI"/>
                <a:cs typeface="Segoe UI"/>
              </a:rPr>
              <a:t>Upload → index → ask → retrieve → cite</a:t>
            </a:r>
          </a:p>
        </p:txBody>
      </p:sp>
      <p:sp>
        <p:nvSpPr>
          <p:cNvPr id="53" name="Rectangle: Rounded Corners 52">
            <a:extLst>
              <a:ext uri="{FF2B5EF4-FFF2-40B4-BE49-F238E27FC236}">
                <a16:creationId xmlns:a16="http://schemas.microsoft.com/office/drawing/2014/main" id="{03E2E9A4-6C36-41E7-8279-FEE11CB78F24}"/>
              </a:ext>
            </a:extLst>
          </p:cNvPr>
          <p:cNvSpPr/>
          <p:nvPr/>
        </p:nvSpPr>
        <p:spPr>
          <a:xfrm>
            <a:off x="10350500" y="4991100"/>
            <a:ext cx="965200" cy="254000"/>
          </a:xfrm>
          <a:prstGeom prst="roundRect">
            <a:avLst>
              <a:gd name="adj" fmla="val 50000"/>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050" b="1">
                <a:solidFill>
                  <a:srgbClr val="0A0F1E"/>
                </a:solidFill>
                <a:latin typeface="Segoe UI"/>
                <a:cs typeface="Segoe UI"/>
              </a:rPr>
              <a:t>LIVE</a:t>
            </a:r>
          </a:p>
        </p:txBody>
      </p:sp>
      <p:sp>
        <p:nvSpPr>
          <p:cNvPr id="54" name="Rectangle: Rounded Corners 53">
            <a:extLst>
              <a:ext uri="{FF2B5EF4-FFF2-40B4-BE49-F238E27FC236}">
                <a16:creationId xmlns:a16="http://schemas.microsoft.com/office/drawing/2014/main" id="{B400F786-E1FD-401D-9845-8FFE393D2392}"/>
              </a:ext>
            </a:extLst>
          </p:cNvPr>
          <p:cNvSpPr/>
          <p:nvPr/>
        </p:nvSpPr>
        <p:spPr>
          <a:xfrm>
            <a:off x="1320800" y="5588000"/>
            <a:ext cx="10223500" cy="609600"/>
          </a:xfrm>
          <a:prstGeom prst="roundRect">
            <a:avLst>
              <a:gd name="adj" fmla="val 1666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5" name="Oval 54">
            <a:extLst>
              <a:ext uri="{FF2B5EF4-FFF2-40B4-BE49-F238E27FC236}">
                <a16:creationId xmlns:a16="http://schemas.microsoft.com/office/drawing/2014/main" id="{C00E0393-8AA7-43A7-AD9D-97753AC7F9B9}"/>
              </a:ext>
            </a:extLst>
          </p:cNvPr>
          <p:cNvSpPr/>
          <p:nvPr/>
        </p:nvSpPr>
        <p:spPr>
          <a:xfrm>
            <a:off x="698500" y="5727700"/>
            <a:ext cx="457200" cy="457200"/>
          </a:xfrm>
          <a:prstGeom prst="ellipse">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050" b="1">
                <a:solidFill>
                  <a:srgbClr val="2DD4BF"/>
                </a:solidFill>
                <a:latin typeface="Segoe UI"/>
                <a:cs typeface="Segoe UI"/>
              </a:rPr>
              <a:t>VI</a:t>
            </a:r>
          </a:p>
        </p:txBody>
      </p:sp>
      <p:sp>
        <p:nvSpPr>
          <p:cNvPr id="56" name="TextBox 55">
            <a:extLst>
              <a:ext uri="{FF2B5EF4-FFF2-40B4-BE49-F238E27FC236}">
                <a16:creationId xmlns:a16="http://schemas.microsoft.com/office/drawing/2014/main" id="{83A03A81-8065-4DB4-BEC8-01DBFD4E6024}"/>
              </a:ext>
            </a:extLst>
          </p:cNvPr>
          <p:cNvSpPr txBox="1"/>
          <p:nvPr/>
        </p:nvSpPr>
        <p:spPr>
          <a:xfrm>
            <a:off x="1574800" y="5588000"/>
            <a:ext cx="3810000" cy="609600"/>
          </a:xfrm>
          <a:prstGeom prst="rect">
            <a:avLst/>
          </a:prstGeom>
          <a:noFill/>
        </p:spPr>
        <p:txBody>
          <a:bodyPr vertOverflow="overflow" vert="horz" wrap="square" lIns="0" tIns="0" rIns="0" bIns="0" rtlCol="0" anchor="ctr" anchorCtr="0">
            <a:noAutofit/>
          </a:bodyPr>
          <a:lstStyle/>
          <a:p>
            <a:r>
              <a:rPr lang="en-IN" sz="1700" b="1">
                <a:solidFill>
                  <a:srgbClr val="F1F5F9"/>
                </a:solidFill>
                <a:latin typeface="Segoe UI"/>
                <a:cs typeface="Segoe UI"/>
              </a:rPr>
              <a:t>What's Next</a:t>
            </a:r>
          </a:p>
        </p:txBody>
      </p:sp>
      <p:sp>
        <p:nvSpPr>
          <p:cNvPr id="57" name="TextBox 56">
            <a:extLst>
              <a:ext uri="{FF2B5EF4-FFF2-40B4-BE49-F238E27FC236}">
                <a16:creationId xmlns:a16="http://schemas.microsoft.com/office/drawing/2014/main" id="{070F0246-9352-4417-9B83-40B592E670D0}"/>
              </a:ext>
            </a:extLst>
          </p:cNvPr>
          <p:cNvSpPr txBox="1"/>
          <p:nvPr/>
        </p:nvSpPr>
        <p:spPr>
          <a:xfrm>
            <a:off x="5588000" y="5588000"/>
            <a:ext cx="5715000" cy="609600"/>
          </a:xfrm>
          <a:prstGeom prst="rect">
            <a:avLst/>
          </a:prstGeom>
          <a:noFill/>
        </p:spPr>
        <p:txBody>
          <a:bodyPr vertOverflow="overflow" vert="horz" wrap="square" lIns="0" tIns="0" rIns="0" bIns="0" rtlCol="0" anchor="ctr" anchorCtr="0">
            <a:noAutofit/>
          </a:bodyPr>
          <a:lstStyle/>
          <a:p>
            <a:r>
              <a:rPr lang="en-US" sz="1400">
                <a:solidFill>
                  <a:srgbClr val="B8C2D3"/>
                </a:solidFill>
                <a:latin typeface="Segoe UI"/>
                <a:cs typeface="Segoe UI"/>
              </a:rPr>
              <a:t>Future of RAG, audience quiz, Q&amp;A</a:t>
            </a:r>
            <a:endParaRPr lang="en-IN" sz="1400">
              <a:solidFill>
                <a:srgbClr val="B8C2D3"/>
              </a:solidFill>
              <a:latin typeface="Segoe UI"/>
              <a:cs typeface="Segoe UI"/>
            </a:endParaRPr>
          </a:p>
        </p:txBody>
      </p:sp>
    </p:spTree>
    <p:extLst>
      <p:ext uri="{BB962C8B-B14F-4D97-AF65-F5344CB8AC3E}">
        <p14:creationId xmlns:p14="http://schemas.microsoft.com/office/powerpoint/2010/main" val="2300875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828800" y="-2286000"/>
            <a:ext cx="9144000" cy="91440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2286000"/>
            <a:ext cx="1554480" cy="54864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800" b="1">
                <a:solidFill>
                  <a:srgbClr val="2DD4BF"/>
                </a:solidFill>
                <a:latin typeface="Segoe UI"/>
              </a:rPr>
              <a:t>PART I</a:t>
            </a:r>
          </a:p>
        </p:txBody>
      </p:sp>
      <p:sp>
        <p:nvSpPr>
          <p:cNvPr id="5" name="TextBox 4"/>
          <p:cNvSpPr txBox="1"/>
          <p:nvPr/>
        </p:nvSpPr>
        <p:spPr>
          <a:xfrm>
            <a:off x="777240" y="3017520"/>
            <a:ext cx="10058400" cy="1005840"/>
          </a:xfrm>
          <a:prstGeom prst="rect">
            <a:avLst/>
          </a:prstGeom>
          <a:noFill/>
        </p:spPr>
        <p:txBody>
          <a:bodyPr wrap="square" lIns="0" tIns="0" rIns="0" bIns="0" anchor="t">
            <a:spAutoFit/>
          </a:bodyPr>
          <a:lstStyle/>
          <a:p>
            <a:pPr algn="l"/>
            <a:r>
              <a:rPr sz="3600" b="1" i="0">
                <a:solidFill>
                  <a:srgbClr val="F1F5F9"/>
                </a:solidFill>
                <a:latin typeface="Segoe UI"/>
              </a:rPr>
              <a:t>Foundations</a:t>
            </a:r>
          </a:p>
        </p:txBody>
      </p:sp>
      <p:sp>
        <p:nvSpPr>
          <p:cNvPr id="6" name="TextBox 5"/>
          <p:cNvSpPr txBox="1"/>
          <p:nvPr/>
        </p:nvSpPr>
        <p:spPr>
          <a:xfrm>
            <a:off x="822960" y="3977639"/>
            <a:ext cx="9418320" cy="640080"/>
          </a:xfrm>
          <a:prstGeom prst="rect">
            <a:avLst/>
          </a:prstGeom>
          <a:noFill/>
        </p:spPr>
        <p:txBody>
          <a:bodyPr wrap="square" lIns="0" tIns="0" rIns="0" bIns="0" anchor="t">
            <a:spAutoFit/>
          </a:bodyPr>
          <a:lstStyle/>
          <a:p>
            <a:pPr algn="l"/>
            <a:r>
              <a:rPr sz="1500" b="0" i="0">
                <a:solidFill>
                  <a:srgbClr val="94A3B8"/>
                </a:solidFill>
                <a:latin typeface="Segoe UI"/>
              </a:rPr>
              <a:t>What an LLM actually is, why it hallucinates, and why RAG exists</a:t>
            </a:r>
          </a:p>
        </p:txBody>
      </p:sp>
      <p:sp>
        <p:nvSpPr>
          <p:cNvPr id="7" name="TextBox 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a:t>
            </a:r>
          </a:p>
        </p:txBody>
      </p:sp>
    </p:spTree>
    <p:extLst>
      <p:ext uri="{BB962C8B-B14F-4D97-AF65-F5344CB8AC3E}">
        <p14:creationId xmlns:p14="http://schemas.microsoft.com/office/powerpoint/2010/main" val="1331219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UNDERSTANDING LLMS</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Where RAG fits in the AI landscape</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00" name="Level 700"/>
          <p:cNvSpPr/>
          <p:nvPr/>
        </p:nvSpPr>
        <p:spPr>
          <a:xfrm>
            <a:off x="635000" y="1371600"/>
            <a:ext cx="6604000" cy="5003800"/>
          </a:xfrm>
          <a:prstGeom prst="roundRect">
            <a:avLst>
              <a:gd name="adj" fmla="val 3500"/>
            </a:avLst>
          </a:prstGeom>
          <a:solidFill>
            <a:srgbClr val="0E1527"/>
          </a:solidFill>
          <a:ln w="9525">
            <a:solidFill>
              <a:srgbClr val="2A3650"/>
            </a:solidFill>
          </a:ln>
        </p:spPr>
        <p:txBody>
          <a:bodyPr/>
          <a:lstStyle/>
          <a:p>
            <a:endParaRPr lang="en-US"/>
          </a:p>
        </p:txBody>
      </p:sp>
      <p:sp>
        <p:nvSpPr>
          <p:cNvPr id="701" name="Label 701"/>
          <p:cNvSpPr txBox="1"/>
          <p:nvPr/>
        </p:nvSpPr>
        <p:spPr>
          <a:xfrm>
            <a:off x="812800" y="1460500"/>
            <a:ext cx="6248400" cy="457200"/>
          </a:xfrm>
          <a:prstGeom prst="rect">
            <a:avLst/>
          </a:prstGeom>
          <a:noFill/>
        </p:spPr>
        <p:txBody>
          <a:bodyPr wrap="square" lIns="0" tIns="0" rIns="0" bIns="0">
            <a:noAutofit/>
          </a:bodyPr>
          <a:lstStyle/>
          <a:p>
            <a:pPr algn="l"/>
            <a:r>
              <a:rPr lang="en-US" sz="1400" b="1" dirty="0">
                <a:solidFill>
                  <a:srgbClr val="F1F5F9"/>
                </a:solidFill>
                <a:latin typeface="Segoe UI"/>
              </a:rPr>
              <a:t>Artificial Intelligence</a:t>
            </a:r>
          </a:p>
          <a:p>
            <a:pPr algn="l"/>
            <a:r>
              <a:rPr lang="en-US" sz="1200" b="0" dirty="0">
                <a:solidFill>
                  <a:srgbClr val="94A3B8"/>
                </a:solidFill>
                <a:latin typeface="Segoe UI"/>
              </a:rPr>
              <a:t>Any system that performs tasks requiring human-like intelligence</a:t>
            </a:r>
          </a:p>
        </p:txBody>
      </p:sp>
      <p:sp>
        <p:nvSpPr>
          <p:cNvPr id="702" name="Level 702"/>
          <p:cNvSpPr/>
          <p:nvPr/>
        </p:nvSpPr>
        <p:spPr>
          <a:xfrm>
            <a:off x="838200" y="1930400"/>
            <a:ext cx="6197600" cy="4292600"/>
          </a:xfrm>
          <a:prstGeom prst="roundRect">
            <a:avLst>
              <a:gd name="adj" fmla="val 3500"/>
            </a:avLst>
          </a:prstGeom>
          <a:solidFill>
            <a:srgbClr val="121B30"/>
          </a:solidFill>
          <a:ln w="9525">
            <a:solidFill>
              <a:srgbClr val="2A3650"/>
            </a:solidFill>
          </a:ln>
        </p:spPr>
        <p:txBody>
          <a:bodyPr/>
          <a:lstStyle/>
          <a:p>
            <a:endParaRPr lang="en-US"/>
          </a:p>
        </p:txBody>
      </p:sp>
      <p:sp>
        <p:nvSpPr>
          <p:cNvPr id="703" name="Label 703"/>
          <p:cNvSpPr txBox="1"/>
          <p:nvPr/>
        </p:nvSpPr>
        <p:spPr>
          <a:xfrm>
            <a:off x="1016000" y="2019300"/>
            <a:ext cx="5842000" cy="457200"/>
          </a:xfrm>
          <a:prstGeom prst="rect">
            <a:avLst/>
          </a:prstGeom>
          <a:noFill/>
        </p:spPr>
        <p:txBody>
          <a:bodyPr wrap="square" lIns="0" tIns="0" rIns="0" bIns="0">
            <a:noAutofit/>
          </a:bodyPr>
          <a:lstStyle/>
          <a:p>
            <a:pPr algn="l"/>
            <a:r>
              <a:rPr lang="en-US" sz="1400" b="1" dirty="0">
                <a:solidFill>
                  <a:srgbClr val="F1F5F9"/>
                </a:solidFill>
                <a:latin typeface="Segoe UI"/>
              </a:rPr>
              <a:t>Machine Learning</a:t>
            </a:r>
          </a:p>
          <a:p>
            <a:pPr algn="l"/>
            <a:r>
              <a:rPr lang="en-US" sz="1200" b="0" dirty="0">
                <a:solidFill>
                  <a:srgbClr val="94A3B8"/>
                </a:solidFill>
                <a:latin typeface="Segoe UI"/>
              </a:rPr>
              <a:t>Systems that improve from data instead of hand-coded rules</a:t>
            </a:r>
          </a:p>
        </p:txBody>
      </p:sp>
      <p:sp>
        <p:nvSpPr>
          <p:cNvPr id="704" name="Level 704"/>
          <p:cNvSpPr/>
          <p:nvPr/>
        </p:nvSpPr>
        <p:spPr>
          <a:xfrm>
            <a:off x="1041400" y="2489200"/>
            <a:ext cx="5791200" cy="3581400"/>
          </a:xfrm>
          <a:prstGeom prst="roundRect">
            <a:avLst>
              <a:gd name="adj" fmla="val 3500"/>
            </a:avLst>
          </a:prstGeom>
          <a:solidFill>
            <a:srgbClr val="162138"/>
          </a:solidFill>
          <a:ln w="9525">
            <a:solidFill>
              <a:srgbClr val="2A3650"/>
            </a:solidFill>
          </a:ln>
        </p:spPr>
        <p:txBody>
          <a:bodyPr/>
          <a:lstStyle/>
          <a:p>
            <a:endParaRPr lang="en-US"/>
          </a:p>
        </p:txBody>
      </p:sp>
      <p:sp>
        <p:nvSpPr>
          <p:cNvPr id="705" name="Label 705"/>
          <p:cNvSpPr txBox="1"/>
          <p:nvPr/>
        </p:nvSpPr>
        <p:spPr>
          <a:xfrm>
            <a:off x="1219200" y="2578100"/>
            <a:ext cx="5435600" cy="457200"/>
          </a:xfrm>
          <a:prstGeom prst="rect">
            <a:avLst/>
          </a:prstGeom>
          <a:noFill/>
        </p:spPr>
        <p:txBody>
          <a:bodyPr wrap="square" lIns="0" tIns="0" rIns="0" bIns="0">
            <a:noAutofit/>
          </a:bodyPr>
          <a:lstStyle/>
          <a:p>
            <a:pPr algn="l"/>
            <a:r>
              <a:rPr lang="en-US" sz="1400" b="1" dirty="0">
                <a:solidFill>
                  <a:srgbClr val="F1F5F9"/>
                </a:solidFill>
                <a:latin typeface="Segoe UI"/>
              </a:rPr>
              <a:t>Deep Learning</a:t>
            </a:r>
          </a:p>
          <a:p>
            <a:pPr algn="l"/>
            <a:r>
              <a:rPr lang="en-US" sz="1200" b="0" dirty="0">
                <a:solidFill>
                  <a:srgbClr val="94A3B8"/>
                </a:solidFill>
                <a:latin typeface="Segoe UI"/>
              </a:rPr>
              <a:t>ML using multi-layer neural networks</a:t>
            </a:r>
          </a:p>
        </p:txBody>
      </p:sp>
      <p:sp>
        <p:nvSpPr>
          <p:cNvPr id="706" name="Level 706"/>
          <p:cNvSpPr/>
          <p:nvPr/>
        </p:nvSpPr>
        <p:spPr>
          <a:xfrm>
            <a:off x="1244600" y="3048000"/>
            <a:ext cx="5384800" cy="2870200"/>
          </a:xfrm>
          <a:prstGeom prst="roundRect">
            <a:avLst>
              <a:gd name="adj" fmla="val 3500"/>
            </a:avLst>
          </a:prstGeom>
          <a:solidFill>
            <a:srgbClr val="1A2741"/>
          </a:solidFill>
          <a:ln w="9525">
            <a:solidFill>
              <a:srgbClr val="2A3650"/>
            </a:solidFill>
          </a:ln>
        </p:spPr>
        <p:txBody>
          <a:bodyPr/>
          <a:lstStyle/>
          <a:p>
            <a:endParaRPr lang="en-US"/>
          </a:p>
        </p:txBody>
      </p:sp>
      <p:sp>
        <p:nvSpPr>
          <p:cNvPr id="707" name="Label 707"/>
          <p:cNvSpPr txBox="1"/>
          <p:nvPr/>
        </p:nvSpPr>
        <p:spPr>
          <a:xfrm>
            <a:off x="1422400" y="3136900"/>
            <a:ext cx="5029200" cy="457200"/>
          </a:xfrm>
          <a:prstGeom prst="rect">
            <a:avLst/>
          </a:prstGeom>
          <a:noFill/>
        </p:spPr>
        <p:txBody>
          <a:bodyPr wrap="square" lIns="0" tIns="0" rIns="0" bIns="0">
            <a:noAutofit/>
          </a:bodyPr>
          <a:lstStyle/>
          <a:p>
            <a:pPr algn="l"/>
            <a:r>
              <a:rPr lang="en-US" sz="1400" b="1" dirty="0">
                <a:solidFill>
                  <a:srgbClr val="F1F5F9"/>
                </a:solidFill>
                <a:latin typeface="Segoe UI"/>
              </a:rPr>
              <a:t>Generative AI</a:t>
            </a:r>
          </a:p>
          <a:p>
            <a:pPr algn="l"/>
            <a:r>
              <a:rPr lang="en-US" sz="1200" b="0" dirty="0">
                <a:solidFill>
                  <a:srgbClr val="94A3B8"/>
                </a:solidFill>
                <a:latin typeface="Segoe UI"/>
              </a:rPr>
              <a:t>Models that produce new content: text, images, audio, code</a:t>
            </a:r>
          </a:p>
        </p:txBody>
      </p:sp>
      <p:sp>
        <p:nvSpPr>
          <p:cNvPr id="708" name="Level 708"/>
          <p:cNvSpPr/>
          <p:nvPr/>
        </p:nvSpPr>
        <p:spPr>
          <a:xfrm>
            <a:off x="1447800" y="3606800"/>
            <a:ext cx="4978400" cy="2159000"/>
          </a:xfrm>
          <a:prstGeom prst="roundRect">
            <a:avLst>
              <a:gd name="adj" fmla="val 6000"/>
            </a:avLst>
          </a:prstGeom>
          <a:solidFill>
            <a:srgbClr val="1E2D4A"/>
          </a:solidFill>
          <a:ln w="15875">
            <a:solidFill>
              <a:srgbClr val="1F5F5A"/>
            </a:solidFill>
          </a:ln>
        </p:spPr>
        <p:txBody>
          <a:bodyPr/>
          <a:lstStyle/>
          <a:p>
            <a:endParaRPr lang="en-US"/>
          </a:p>
        </p:txBody>
      </p:sp>
      <p:sp>
        <p:nvSpPr>
          <p:cNvPr id="709" name="Label 709"/>
          <p:cNvSpPr txBox="1"/>
          <p:nvPr/>
        </p:nvSpPr>
        <p:spPr>
          <a:xfrm>
            <a:off x="1625600" y="3695700"/>
            <a:ext cx="4622800" cy="457200"/>
          </a:xfrm>
          <a:prstGeom prst="rect">
            <a:avLst/>
          </a:prstGeom>
          <a:noFill/>
        </p:spPr>
        <p:txBody>
          <a:bodyPr wrap="square" lIns="0" tIns="0" rIns="0" bIns="0">
            <a:noAutofit/>
          </a:bodyPr>
          <a:lstStyle/>
          <a:p>
            <a:pPr algn="l"/>
            <a:r>
              <a:rPr lang="en-US" sz="1400" b="1" dirty="0">
                <a:solidFill>
                  <a:srgbClr val="2DD4BF"/>
                </a:solidFill>
                <a:latin typeface="Segoe UI"/>
              </a:rPr>
              <a:t>Large Language Models</a:t>
            </a:r>
          </a:p>
          <a:p>
            <a:pPr algn="l"/>
            <a:r>
              <a:rPr lang="en-US" sz="1200" b="0" dirty="0">
                <a:solidFill>
                  <a:srgbClr val="94A3B8"/>
                </a:solidFill>
                <a:latin typeface="Segoe UI"/>
              </a:rPr>
              <a:t>Generative AI specialized for text, trained on next-token prediction</a:t>
            </a:r>
          </a:p>
        </p:txBody>
      </p:sp>
      <p:sp>
        <p:nvSpPr>
          <p:cNvPr id="720" name="Label 720"/>
          <p:cNvSpPr txBox="1"/>
          <p:nvPr/>
        </p:nvSpPr>
        <p:spPr>
          <a:xfrm>
            <a:off x="1676400" y="4394200"/>
            <a:ext cx="3810000" cy="228600"/>
          </a:xfrm>
          <a:prstGeom prst="rect">
            <a:avLst/>
          </a:prstGeom>
          <a:noFill/>
        </p:spPr>
        <p:txBody>
          <a:bodyPr wrap="square" lIns="0" tIns="0" rIns="0" bIns="0">
            <a:noAutofit/>
          </a:bodyPr>
          <a:lstStyle/>
          <a:p>
            <a:pPr algn="l"/>
            <a:r>
              <a:rPr lang="en-US" sz="1000" b="1" dirty="0">
                <a:solidFill>
                  <a:srgbClr val="94A3B8"/>
                </a:solidFill>
                <a:latin typeface="Segoe UI"/>
              </a:rPr>
              <a:t>PREDICTS THE NEXT TOKEN</a:t>
            </a:r>
          </a:p>
        </p:txBody>
      </p:sp>
      <p:sp>
        <p:nvSpPr>
          <p:cNvPr id="721" name="Label 721"/>
          <p:cNvSpPr txBox="1"/>
          <p:nvPr/>
        </p:nvSpPr>
        <p:spPr>
          <a:xfrm>
            <a:off x="7289800" y="5791200"/>
            <a:ext cx="889000" cy="228600"/>
          </a:xfrm>
          <a:prstGeom prst="rect">
            <a:avLst/>
          </a:prstGeom>
          <a:noFill/>
        </p:spPr>
        <p:txBody>
          <a:bodyPr wrap="square" lIns="0" tIns="0" rIns="0" bIns="0">
            <a:noAutofit/>
          </a:bodyPr>
          <a:lstStyle/>
          <a:p>
            <a:pPr algn="r"/>
            <a:r>
              <a:rPr lang="en-US" sz="1100" b="1" dirty="0">
                <a:solidFill>
                  <a:srgbClr val="2DD4BF"/>
                </a:solidFill>
                <a:latin typeface="Segoe UI"/>
              </a:rPr>
              <a:t>same model</a:t>
            </a:r>
          </a:p>
        </p:txBody>
      </p:sp>
      <p:sp>
        <p:nvSpPr>
          <p:cNvPr id="722" name="Label 722"/>
          <p:cNvSpPr txBox="1"/>
          <p:nvPr/>
        </p:nvSpPr>
        <p:spPr>
          <a:xfrm>
            <a:off x="8255000" y="1473200"/>
            <a:ext cx="3289300" cy="889000"/>
          </a:xfrm>
          <a:prstGeom prst="rect">
            <a:avLst/>
          </a:prstGeom>
          <a:noFill/>
        </p:spPr>
        <p:txBody>
          <a:bodyPr wrap="square" lIns="0" tIns="0" rIns="0" bIns="0">
            <a:noAutofit/>
          </a:bodyPr>
          <a:lstStyle/>
          <a:p>
            <a:pPr algn="l"/>
            <a:r>
              <a:rPr lang="en-US" sz="2000" b="1" dirty="0">
                <a:solidFill>
                  <a:srgbClr val="F1F5F9"/>
                </a:solidFill>
                <a:latin typeface="Segoe UI"/>
              </a:rPr>
              <a:t>RAG isn’t a new kind of model.</a:t>
            </a:r>
          </a:p>
        </p:txBody>
      </p:sp>
      <p:sp>
        <p:nvSpPr>
          <p:cNvPr id="723" name="Label 723"/>
          <p:cNvSpPr txBox="1"/>
          <p:nvPr/>
        </p:nvSpPr>
        <p:spPr>
          <a:xfrm>
            <a:off x="8255000" y="2260600"/>
            <a:ext cx="3289300" cy="558800"/>
          </a:xfrm>
          <a:prstGeom prst="rect">
            <a:avLst/>
          </a:prstGeom>
          <a:noFill/>
        </p:spPr>
        <p:txBody>
          <a:bodyPr wrap="square" lIns="0" tIns="0" rIns="0" bIns="0">
            <a:noAutofit/>
          </a:bodyPr>
          <a:lstStyle/>
          <a:p>
            <a:pPr algn="l"/>
            <a:r>
              <a:rPr lang="en-US" sz="1400" b="0" dirty="0">
                <a:solidFill>
                  <a:srgbClr val="B8C2D3"/>
                </a:solidFill>
                <a:latin typeface="Segoe UI"/>
              </a:rPr>
              <a:t>It’s an engineering pattern layered on top of the LLM at the center of this stack.</a:t>
            </a:r>
          </a:p>
        </p:txBody>
      </p:sp>
      <p:sp>
        <p:nvSpPr>
          <p:cNvPr id="740" name="Shape 740"/>
          <p:cNvSpPr/>
          <p:nvPr/>
        </p:nvSpPr>
        <p:spPr>
          <a:xfrm>
            <a:off x="1676400" y="4724400"/>
            <a:ext cx="508000" cy="381000"/>
          </a:xfrm>
          <a:prstGeom prst="roundRect">
            <a:avLst>
              <a:gd name="adj" fmla="val 20000"/>
            </a:avLst>
          </a:prstGeom>
          <a:solidFill>
            <a:srgbClr val="0B1222"/>
          </a:solidFill>
          <a:ln w="12700">
            <a:solidFill>
              <a:srgbClr val="2A3650"/>
            </a:solidFill>
          </a:ln>
        </p:spPr>
        <p:txBody>
          <a:bodyPr/>
          <a:lstStyle/>
          <a:p>
            <a:endParaRPr lang="en-US"/>
          </a:p>
        </p:txBody>
      </p:sp>
      <p:sp>
        <p:nvSpPr>
          <p:cNvPr id="741" name="Label 741"/>
          <p:cNvSpPr txBox="1"/>
          <p:nvPr/>
        </p:nvSpPr>
        <p:spPr>
          <a:xfrm>
            <a:off x="1676400" y="4724400"/>
            <a:ext cx="508000" cy="381000"/>
          </a:xfrm>
          <a:prstGeom prst="rect">
            <a:avLst/>
          </a:prstGeom>
          <a:noFill/>
        </p:spPr>
        <p:txBody>
          <a:bodyPr wrap="square" lIns="0" tIns="0" rIns="0" bIns="0" anchor="ctr">
            <a:noAutofit/>
          </a:bodyPr>
          <a:lstStyle/>
          <a:p>
            <a:pPr algn="ctr"/>
            <a:r>
              <a:rPr lang="en-US" sz="1200" b="0" dirty="0">
                <a:solidFill>
                  <a:srgbClr val="E2E8F0"/>
                </a:solidFill>
                <a:latin typeface="Consolas"/>
              </a:rPr>
              <a:t>Up</a:t>
            </a:r>
          </a:p>
        </p:txBody>
      </p:sp>
      <p:sp>
        <p:nvSpPr>
          <p:cNvPr id="742" name="Shape 742"/>
          <p:cNvSpPr/>
          <p:nvPr/>
        </p:nvSpPr>
        <p:spPr>
          <a:xfrm>
            <a:off x="2260600" y="4724400"/>
            <a:ext cx="508000" cy="381000"/>
          </a:xfrm>
          <a:prstGeom prst="roundRect">
            <a:avLst>
              <a:gd name="adj" fmla="val 20000"/>
            </a:avLst>
          </a:prstGeom>
          <a:solidFill>
            <a:srgbClr val="0B1222"/>
          </a:solidFill>
          <a:ln w="12700">
            <a:solidFill>
              <a:srgbClr val="2A3650"/>
            </a:solidFill>
          </a:ln>
        </p:spPr>
        <p:txBody>
          <a:bodyPr/>
          <a:lstStyle/>
          <a:p>
            <a:endParaRPr lang="en-US"/>
          </a:p>
        </p:txBody>
      </p:sp>
      <p:sp>
        <p:nvSpPr>
          <p:cNvPr id="743" name="Label 743"/>
          <p:cNvSpPr txBox="1"/>
          <p:nvPr/>
        </p:nvSpPr>
        <p:spPr>
          <a:xfrm>
            <a:off x="2260600" y="4724400"/>
            <a:ext cx="508000" cy="381000"/>
          </a:xfrm>
          <a:prstGeom prst="rect">
            <a:avLst/>
          </a:prstGeom>
          <a:noFill/>
        </p:spPr>
        <p:txBody>
          <a:bodyPr wrap="square" lIns="0" tIns="0" rIns="0" bIns="0" anchor="ctr">
            <a:noAutofit/>
          </a:bodyPr>
          <a:lstStyle/>
          <a:p>
            <a:pPr algn="ctr"/>
            <a:r>
              <a:rPr lang="en-US" sz="1200" b="0" dirty="0">
                <a:solidFill>
                  <a:srgbClr val="E2E8F0"/>
                </a:solidFill>
                <a:latin typeface="Consolas"/>
              </a:rPr>
              <a:t>to</a:t>
            </a:r>
          </a:p>
        </p:txBody>
      </p:sp>
      <p:sp>
        <p:nvSpPr>
          <p:cNvPr id="744" name="Shape 744"/>
          <p:cNvSpPr/>
          <p:nvPr/>
        </p:nvSpPr>
        <p:spPr>
          <a:xfrm>
            <a:off x="2844800" y="4724400"/>
            <a:ext cx="393700" cy="381000"/>
          </a:xfrm>
          <a:prstGeom prst="roundRect">
            <a:avLst>
              <a:gd name="adj" fmla="val 20000"/>
            </a:avLst>
          </a:prstGeom>
          <a:solidFill>
            <a:srgbClr val="0B1222"/>
          </a:solidFill>
          <a:ln w="12700">
            <a:solidFill>
              <a:srgbClr val="2A3650"/>
            </a:solidFill>
          </a:ln>
        </p:spPr>
        <p:txBody>
          <a:bodyPr/>
          <a:lstStyle/>
          <a:p>
            <a:endParaRPr lang="en-US"/>
          </a:p>
        </p:txBody>
      </p:sp>
      <p:sp>
        <p:nvSpPr>
          <p:cNvPr id="745" name="Label 745"/>
          <p:cNvSpPr txBox="1"/>
          <p:nvPr/>
        </p:nvSpPr>
        <p:spPr>
          <a:xfrm>
            <a:off x="2844800" y="4724400"/>
            <a:ext cx="393700" cy="381000"/>
          </a:xfrm>
          <a:prstGeom prst="rect">
            <a:avLst/>
          </a:prstGeom>
          <a:noFill/>
        </p:spPr>
        <p:txBody>
          <a:bodyPr wrap="square" lIns="0" tIns="0" rIns="0" bIns="0" anchor="ctr">
            <a:noAutofit/>
          </a:bodyPr>
          <a:lstStyle/>
          <a:p>
            <a:pPr algn="ctr"/>
            <a:r>
              <a:rPr lang="en-US" sz="1200" b="0" dirty="0">
                <a:solidFill>
                  <a:srgbClr val="E2E8F0"/>
                </a:solidFill>
                <a:latin typeface="Consolas"/>
              </a:rPr>
              <a:t>5</a:t>
            </a:r>
          </a:p>
        </p:txBody>
      </p:sp>
      <p:sp>
        <p:nvSpPr>
          <p:cNvPr id="746" name="Shape 746"/>
          <p:cNvSpPr/>
          <p:nvPr/>
        </p:nvSpPr>
        <p:spPr>
          <a:xfrm>
            <a:off x="3314700" y="4724400"/>
            <a:ext cx="736600" cy="381000"/>
          </a:xfrm>
          <a:prstGeom prst="roundRect">
            <a:avLst>
              <a:gd name="adj" fmla="val 20000"/>
            </a:avLst>
          </a:prstGeom>
          <a:solidFill>
            <a:srgbClr val="0B1222"/>
          </a:solidFill>
          <a:ln w="12700">
            <a:solidFill>
              <a:srgbClr val="2A3650"/>
            </a:solidFill>
          </a:ln>
        </p:spPr>
        <p:txBody>
          <a:bodyPr/>
          <a:lstStyle/>
          <a:p>
            <a:endParaRPr lang="en-US"/>
          </a:p>
        </p:txBody>
      </p:sp>
      <p:sp>
        <p:nvSpPr>
          <p:cNvPr id="747" name="Label 747"/>
          <p:cNvSpPr txBox="1"/>
          <p:nvPr/>
        </p:nvSpPr>
        <p:spPr>
          <a:xfrm>
            <a:off x="3314700" y="4724400"/>
            <a:ext cx="736600" cy="381000"/>
          </a:xfrm>
          <a:prstGeom prst="rect">
            <a:avLst/>
          </a:prstGeom>
          <a:noFill/>
        </p:spPr>
        <p:txBody>
          <a:bodyPr wrap="square" lIns="0" tIns="0" rIns="0" bIns="0" anchor="ctr">
            <a:noAutofit/>
          </a:bodyPr>
          <a:lstStyle/>
          <a:p>
            <a:pPr algn="ctr"/>
            <a:r>
              <a:rPr lang="en-US" sz="1200" b="0" dirty="0">
                <a:solidFill>
                  <a:srgbClr val="E2E8F0"/>
                </a:solidFill>
                <a:latin typeface="Consolas"/>
              </a:rPr>
              <a:t>days</a:t>
            </a:r>
          </a:p>
        </p:txBody>
      </p:sp>
      <p:sp>
        <p:nvSpPr>
          <p:cNvPr id="748" name="Shape 748"/>
          <p:cNvSpPr/>
          <p:nvPr/>
        </p:nvSpPr>
        <p:spPr>
          <a:xfrm>
            <a:off x="4127500" y="4724400"/>
            <a:ext cx="736600" cy="381000"/>
          </a:xfrm>
          <a:prstGeom prst="roundRect">
            <a:avLst>
              <a:gd name="adj" fmla="val 20000"/>
            </a:avLst>
          </a:prstGeom>
          <a:solidFill>
            <a:srgbClr val="0F2A30"/>
          </a:solidFill>
          <a:ln w="12700">
            <a:solidFill>
              <a:srgbClr val="2DD4BF"/>
            </a:solidFill>
          </a:ln>
        </p:spPr>
        <p:txBody>
          <a:bodyPr/>
          <a:lstStyle/>
          <a:p>
            <a:endParaRPr lang="en-US"/>
          </a:p>
        </p:txBody>
      </p:sp>
      <p:sp>
        <p:nvSpPr>
          <p:cNvPr id="749" name="Label 749"/>
          <p:cNvSpPr txBox="1"/>
          <p:nvPr/>
        </p:nvSpPr>
        <p:spPr>
          <a:xfrm>
            <a:off x="4127500" y="4724400"/>
            <a:ext cx="736600" cy="381000"/>
          </a:xfrm>
          <a:prstGeom prst="rect">
            <a:avLst/>
          </a:prstGeom>
          <a:noFill/>
        </p:spPr>
        <p:txBody>
          <a:bodyPr wrap="square" lIns="0" tIns="0" rIns="0" bIns="0" anchor="ctr">
            <a:noAutofit/>
          </a:bodyPr>
          <a:lstStyle/>
          <a:p>
            <a:pPr algn="ctr"/>
            <a:r>
              <a:rPr lang="en-US" sz="1200" b="1" dirty="0">
                <a:solidFill>
                  <a:srgbClr val="2DD4BF"/>
                </a:solidFill>
                <a:latin typeface="Consolas"/>
              </a:rPr>
              <a:t>next?</a:t>
            </a:r>
          </a:p>
        </p:txBody>
      </p:sp>
      <p:sp>
        <p:nvSpPr>
          <p:cNvPr id="750" name="Shape 750"/>
          <p:cNvSpPr/>
          <p:nvPr/>
        </p:nvSpPr>
        <p:spPr>
          <a:xfrm>
            <a:off x="6451600" y="5537200"/>
            <a:ext cx="1701800" cy="203200"/>
          </a:xfrm>
          <a:prstGeom prst="rightArrow">
            <a:avLst/>
          </a:prstGeom>
          <a:solidFill>
            <a:srgbClr val="2DD4BF"/>
          </a:solidFill>
          <a:ln w="12700">
            <a:solidFill>
              <a:srgbClr val="2DD4BF"/>
            </a:solidFill>
          </a:ln>
        </p:spPr>
        <p:txBody>
          <a:bodyPr/>
          <a:lstStyle/>
          <a:p>
            <a:endParaRPr lang="en-US"/>
          </a:p>
        </p:txBody>
      </p:sp>
      <p:sp>
        <p:nvSpPr>
          <p:cNvPr id="751" name="Shape 751"/>
          <p:cNvSpPr/>
          <p:nvPr/>
        </p:nvSpPr>
        <p:spPr>
          <a:xfrm>
            <a:off x="8255000" y="4241800"/>
            <a:ext cx="3289300" cy="965200"/>
          </a:xfrm>
          <a:prstGeom prst="roundRect">
            <a:avLst>
              <a:gd name="adj" fmla="val 6000"/>
            </a:avLst>
          </a:prstGeom>
          <a:solidFill>
            <a:srgbClr val="0F2A30"/>
          </a:solidFill>
          <a:ln w="19050">
            <a:solidFill>
              <a:srgbClr val="2DD4BF"/>
            </a:solidFill>
          </a:ln>
        </p:spPr>
        <p:txBody>
          <a:bodyPr/>
          <a:lstStyle/>
          <a:p>
            <a:endParaRPr lang="en-US"/>
          </a:p>
        </p:txBody>
      </p:sp>
      <p:sp>
        <p:nvSpPr>
          <p:cNvPr id="752" name="Label 752"/>
          <p:cNvSpPr txBox="1"/>
          <p:nvPr/>
        </p:nvSpPr>
        <p:spPr>
          <a:xfrm>
            <a:off x="8432800" y="4343400"/>
            <a:ext cx="2984500" cy="177800"/>
          </a:xfrm>
          <a:prstGeom prst="rect">
            <a:avLst/>
          </a:prstGeom>
          <a:noFill/>
        </p:spPr>
        <p:txBody>
          <a:bodyPr wrap="square" lIns="0" tIns="0" rIns="0" bIns="0" anchor="ctr">
            <a:noAutofit/>
          </a:bodyPr>
          <a:lstStyle/>
          <a:p>
            <a:pPr algn="l"/>
            <a:r>
              <a:rPr lang="en-US" sz="1000" b="1" dirty="0">
                <a:solidFill>
                  <a:srgbClr val="2DD4BF"/>
                </a:solidFill>
                <a:latin typeface="Segoe UI"/>
              </a:rPr>
              <a:t>RAG · THE LAYER ON TOP</a:t>
            </a:r>
          </a:p>
        </p:txBody>
      </p:sp>
      <p:sp>
        <p:nvSpPr>
          <p:cNvPr id="753" name="Label 753"/>
          <p:cNvSpPr txBox="1"/>
          <p:nvPr/>
        </p:nvSpPr>
        <p:spPr>
          <a:xfrm>
            <a:off x="8432800" y="4546600"/>
            <a:ext cx="3048000" cy="254000"/>
          </a:xfrm>
          <a:prstGeom prst="rect">
            <a:avLst/>
          </a:prstGeom>
          <a:noFill/>
        </p:spPr>
        <p:txBody>
          <a:bodyPr wrap="square" lIns="0" tIns="0" rIns="0" bIns="0" anchor="ctr">
            <a:noAutofit/>
          </a:bodyPr>
          <a:lstStyle/>
          <a:p>
            <a:pPr algn="l"/>
            <a:r>
              <a:rPr lang="en-US" sz="1400" b="1" dirty="0">
                <a:solidFill>
                  <a:srgbClr val="F1F5F9"/>
                </a:solidFill>
                <a:latin typeface="Segoe UI"/>
              </a:rPr>
              <a:t>Retrieval-Augmented Generation</a:t>
            </a:r>
          </a:p>
        </p:txBody>
      </p:sp>
      <p:sp>
        <p:nvSpPr>
          <p:cNvPr id="754" name="Label 754"/>
          <p:cNvSpPr txBox="1"/>
          <p:nvPr/>
        </p:nvSpPr>
        <p:spPr>
          <a:xfrm>
            <a:off x="8432800" y="4851400"/>
            <a:ext cx="3048000" cy="279400"/>
          </a:xfrm>
          <a:prstGeom prst="rect">
            <a:avLst/>
          </a:prstGeom>
          <a:noFill/>
        </p:spPr>
        <p:txBody>
          <a:bodyPr wrap="square" lIns="0" tIns="0" rIns="0" bIns="0" anchor="ctr">
            <a:noAutofit/>
          </a:bodyPr>
          <a:lstStyle/>
          <a:p>
            <a:pPr algn="l"/>
            <a:r>
              <a:rPr lang="en-US" sz="1200" b="0" dirty="0">
                <a:solidFill>
                  <a:srgbClr val="E2E8F0"/>
                </a:solidFill>
                <a:latin typeface="Segoe UI"/>
              </a:rPr>
              <a:t>Retrieval over </a:t>
            </a:r>
            <a:r>
              <a:rPr lang="en-US" sz="1200" b="1" dirty="0">
                <a:solidFill>
                  <a:srgbClr val="2DD4BF"/>
                </a:solidFill>
                <a:latin typeface="Segoe UI"/>
              </a:rPr>
              <a:t>your</a:t>
            </a:r>
            <a:r>
              <a:rPr lang="en-US" sz="1200" b="0" dirty="0">
                <a:solidFill>
                  <a:srgbClr val="E2E8F0"/>
                </a:solidFill>
                <a:latin typeface="Segoe UI"/>
              </a:rPr>
              <a:t> data, fed to the LLM</a:t>
            </a:r>
          </a:p>
        </p:txBody>
      </p:sp>
      <p:sp>
        <p:nvSpPr>
          <p:cNvPr id="900" name="Eq tile 900"/>
          <p:cNvSpPr/>
          <p:nvPr/>
        </p:nvSpPr>
        <p:spPr>
          <a:xfrm>
            <a:off x="8394700" y="2844800"/>
            <a:ext cx="609600" cy="609600"/>
          </a:xfrm>
          <a:prstGeom prst="roundRect">
            <a:avLst>
              <a:gd name="adj" fmla="val 18000"/>
            </a:avLst>
          </a:prstGeom>
          <a:solidFill>
            <a:srgbClr val="0F2A30"/>
          </a:solidFill>
          <a:ln w="12700">
            <a:solidFill>
              <a:srgbClr val="1F5F5A"/>
            </a:solidFill>
          </a:ln>
        </p:spPr>
        <p:txBody>
          <a:bodyPr/>
          <a:lstStyle/>
          <a:p>
            <a:endParaRPr lang="en-US"/>
          </a:p>
        </p:txBody>
      </p:sp>
      <p:sp>
        <p:nvSpPr>
          <p:cNvPr id="901" name="Eq 901"/>
          <p:cNvSpPr txBox="1"/>
          <p:nvPr/>
        </p:nvSpPr>
        <p:spPr>
          <a:xfrm>
            <a:off x="8255000" y="3556000"/>
            <a:ext cx="889000" cy="228600"/>
          </a:xfrm>
          <a:prstGeom prst="rect">
            <a:avLst/>
          </a:prstGeom>
          <a:noFill/>
        </p:spPr>
        <p:txBody>
          <a:bodyPr wrap="square" lIns="0" tIns="0" rIns="0" bIns="0">
            <a:noAutofit/>
          </a:bodyPr>
          <a:lstStyle/>
          <a:p>
            <a:pPr algn="ctr"/>
            <a:r>
              <a:rPr lang="en-US" sz="1400" b="1" dirty="0">
                <a:solidFill>
                  <a:srgbClr val="F1F5F9"/>
                </a:solidFill>
                <a:latin typeface="Segoe UI"/>
              </a:rPr>
              <a:t>LLM</a:t>
            </a:r>
          </a:p>
        </p:txBody>
      </p:sp>
      <p:sp>
        <p:nvSpPr>
          <p:cNvPr id="902" name="Eq 902"/>
          <p:cNvSpPr txBox="1"/>
          <p:nvPr/>
        </p:nvSpPr>
        <p:spPr>
          <a:xfrm>
            <a:off x="8178800" y="3797300"/>
            <a:ext cx="1041400" cy="431800"/>
          </a:xfrm>
          <a:prstGeom prst="rect">
            <a:avLst/>
          </a:prstGeom>
          <a:noFill/>
        </p:spPr>
        <p:txBody>
          <a:bodyPr wrap="square" lIns="0" tIns="0" rIns="0" bIns="0">
            <a:noAutofit/>
          </a:bodyPr>
          <a:lstStyle/>
          <a:p>
            <a:pPr algn="ctr"/>
            <a:r>
              <a:rPr lang="en-US" sz="1200" b="0" dirty="0">
                <a:solidFill>
                  <a:srgbClr val="B8C2D3"/>
                </a:solidFill>
                <a:latin typeface="Segoe UI"/>
              </a:rPr>
              <a:t>The brain</a:t>
            </a:r>
          </a:p>
        </p:txBody>
      </p:sp>
      <p:sp>
        <p:nvSpPr>
          <p:cNvPr id="903" name="Eq tile 903"/>
          <p:cNvSpPr/>
          <p:nvPr/>
        </p:nvSpPr>
        <p:spPr>
          <a:xfrm>
            <a:off x="9588500" y="2844800"/>
            <a:ext cx="609600" cy="609600"/>
          </a:xfrm>
          <a:prstGeom prst="roundRect">
            <a:avLst>
              <a:gd name="adj" fmla="val 18000"/>
            </a:avLst>
          </a:prstGeom>
          <a:solidFill>
            <a:srgbClr val="0F2A30"/>
          </a:solidFill>
          <a:ln w="12700">
            <a:solidFill>
              <a:srgbClr val="1F5F5A"/>
            </a:solidFill>
          </a:ln>
        </p:spPr>
        <p:txBody>
          <a:bodyPr/>
          <a:lstStyle/>
          <a:p>
            <a:endParaRPr lang="en-US"/>
          </a:p>
        </p:txBody>
      </p:sp>
      <p:sp>
        <p:nvSpPr>
          <p:cNvPr id="904" name="Eq 904"/>
          <p:cNvSpPr txBox="1"/>
          <p:nvPr/>
        </p:nvSpPr>
        <p:spPr>
          <a:xfrm>
            <a:off x="9448800" y="3556000"/>
            <a:ext cx="889000" cy="228600"/>
          </a:xfrm>
          <a:prstGeom prst="rect">
            <a:avLst/>
          </a:prstGeom>
          <a:noFill/>
        </p:spPr>
        <p:txBody>
          <a:bodyPr wrap="square" lIns="0" tIns="0" rIns="0" bIns="0">
            <a:noAutofit/>
          </a:bodyPr>
          <a:lstStyle/>
          <a:p>
            <a:pPr algn="ctr"/>
            <a:r>
              <a:rPr lang="en-US" sz="1400" b="1" dirty="0">
                <a:solidFill>
                  <a:srgbClr val="F1F5F9"/>
                </a:solidFill>
                <a:latin typeface="Segoe UI"/>
              </a:rPr>
              <a:t>Book</a:t>
            </a:r>
          </a:p>
        </p:txBody>
      </p:sp>
      <p:sp>
        <p:nvSpPr>
          <p:cNvPr id="905" name="Eq 905"/>
          <p:cNvSpPr txBox="1"/>
          <p:nvPr/>
        </p:nvSpPr>
        <p:spPr>
          <a:xfrm>
            <a:off x="9372600" y="3797300"/>
            <a:ext cx="1041400" cy="431800"/>
          </a:xfrm>
          <a:prstGeom prst="rect">
            <a:avLst/>
          </a:prstGeom>
          <a:noFill/>
        </p:spPr>
        <p:txBody>
          <a:bodyPr wrap="square" lIns="0" tIns="0" rIns="0" bIns="0">
            <a:noAutofit/>
          </a:bodyPr>
          <a:lstStyle/>
          <a:p>
            <a:pPr algn="ctr"/>
            <a:r>
              <a:rPr lang="en-US" sz="1200" b="0" dirty="0">
                <a:solidFill>
                  <a:srgbClr val="B8C2D3"/>
                </a:solidFill>
                <a:latin typeface="Segoe UI"/>
              </a:rPr>
              <a:t>Knowledge</a:t>
            </a:r>
          </a:p>
        </p:txBody>
      </p:sp>
      <p:sp>
        <p:nvSpPr>
          <p:cNvPr id="906" name="Eq tile 906"/>
          <p:cNvSpPr/>
          <p:nvPr/>
        </p:nvSpPr>
        <p:spPr>
          <a:xfrm>
            <a:off x="10782300" y="2844800"/>
            <a:ext cx="609600" cy="609600"/>
          </a:xfrm>
          <a:prstGeom prst="roundRect">
            <a:avLst>
              <a:gd name="adj" fmla="val 18000"/>
            </a:avLst>
          </a:prstGeom>
          <a:solidFill>
            <a:srgbClr val="2DD4BF"/>
          </a:solidFill>
          <a:ln w="12700">
            <a:solidFill>
              <a:srgbClr val="2DD4BF"/>
            </a:solidFill>
          </a:ln>
        </p:spPr>
        <p:txBody>
          <a:bodyPr/>
          <a:lstStyle/>
          <a:p>
            <a:endParaRPr lang="en-US"/>
          </a:p>
        </p:txBody>
      </p:sp>
      <p:sp>
        <p:nvSpPr>
          <p:cNvPr id="907" name="Eq 907"/>
          <p:cNvSpPr txBox="1"/>
          <p:nvPr/>
        </p:nvSpPr>
        <p:spPr>
          <a:xfrm>
            <a:off x="10642600" y="3556000"/>
            <a:ext cx="889000" cy="228600"/>
          </a:xfrm>
          <a:prstGeom prst="rect">
            <a:avLst/>
          </a:prstGeom>
          <a:noFill/>
        </p:spPr>
        <p:txBody>
          <a:bodyPr wrap="square" lIns="0" tIns="0" rIns="0" bIns="0">
            <a:noAutofit/>
          </a:bodyPr>
          <a:lstStyle/>
          <a:p>
            <a:pPr algn="ctr"/>
            <a:r>
              <a:rPr lang="en-US" sz="1400" b="1" dirty="0">
                <a:solidFill>
                  <a:srgbClr val="2DD4BF"/>
                </a:solidFill>
                <a:latin typeface="Segoe UI"/>
              </a:rPr>
              <a:t>RAG</a:t>
            </a:r>
          </a:p>
        </p:txBody>
      </p:sp>
      <p:sp>
        <p:nvSpPr>
          <p:cNvPr id="908" name="Eq 908"/>
          <p:cNvSpPr txBox="1"/>
          <p:nvPr/>
        </p:nvSpPr>
        <p:spPr>
          <a:xfrm>
            <a:off x="10566400" y="3797300"/>
            <a:ext cx="1041400" cy="431800"/>
          </a:xfrm>
          <a:prstGeom prst="rect">
            <a:avLst/>
          </a:prstGeom>
          <a:noFill/>
        </p:spPr>
        <p:txBody>
          <a:bodyPr wrap="square" lIns="0" tIns="0" rIns="0" bIns="0">
            <a:noAutofit/>
          </a:bodyPr>
          <a:lstStyle/>
          <a:p>
            <a:pPr algn="ctr"/>
            <a:r>
              <a:rPr lang="en-US" sz="1200" b="0" dirty="0">
                <a:solidFill>
                  <a:srgbClr val="B8C2D3"/>
                </a:solidFill>
                <a:latin typeface="Segoe UI"/>
              </a:rPr>
              <a:t>Grounded AI</a:t>
            </a:r>
          </a:p>
        </p:txBody>
      </p:sp>
      <p:sp>
        <p:nvSpPr>
          <p:cNvPr id="909" name="Eq 909"/>
          <p:cNvSpPr txBox="1"/>
          <p:nvPr/>
        </p:nvSpPr>
        <p:spPr>
          <a:xfrm>
            <a:off x="9144000" y="2971800"/>
            <a:ext cx="304800" cy="355600"/>
          </a:xfrm>
          <a:prstGeom prst="rect">
            <a:avLst/>
          </a:prstGeom>
          <a:noFill/>
        </p:spPr>
        <p:txBody>
          <a:bodyPr wrap="square" lIns="0" tIns="0" rIns="0" bIns="0">
            <a:noAutofit/>
          </a:bodyPr>
          <a:lstStyle/>
          <a:p>
            <a:pPr algn="ctr"/>
            <a:r>
              <a:rPr lang="en-US" sz="2400" b="1" dirty="0">
                <a:solidFill>
                  <a:srgbClr val="2DD4BF"/>
                </a:solidFill>
                <a:latin typeface="Segoe UI"/>
              </a:rPr>
              <a:t>+</a:t>
            </a:r>
          </a:p>
        </p:txBody>
      </p:sp>
      <p:sp>
        <p:nvSpPr>
          <p:cNvPr id="910" name="Eq 910"/>
          <p:cNvSpPr txBox="1"/>
          <p:nvPr/>
        </p:nvSpPr>
        <p:spPr>
          <a:xfrm>
            <a:off x="10337800" y="2971800"/>
            <a:ext cx="304800" cy="355600"/>
          </a:xfrm>
          <a:prstGeom prst="rect">
            <a:avLst/>
          </a:prstGeom>
          <a:noFill/>
        </p:spPr>
        <p:txBody>
          <a:bodyPr wrap="square" lIns="0" tIns="0" rIns="0" bIns="0">
            <a:noAutofit/>
          </a:bodyPr>
          <a:lstStyle/>
          <a:p>
            <a:pPr algn="ctr"/>
            <a:r>
              <a:rPr lang="en-US" sz="2400" b="1" dirty="0">
                <a:solidFill>
                  <a:srgbClr val="2DD4BF"/>
                </a:solidFill>
                <a:latin typeface="Segoe UI"/>
              </a:rPr>
              <a:t>=</a:t>
            </a:r>
          </a:p>
        </p:txBody>
      </p:sp>
      <p:sp>
        <p:nvSpPr>
          <p:cNvPr id="18" name="TextBox 17"/>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19" name="TextBox 18"/>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4</a:t>
            </a:r>
          </a:p>
        </p:txBody>
      </p:sp>
      <p:pic>
        <p:nvPicPr>
          <p:cNvPr id="911" name="Graphic 911" descr="Brai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9000" y="2959100"/>
            <a:ext cx="381000" cy="381000"/>
          </a:xfrm>
          <a:prstGeom prst="rect">
            <a:avLst/>
          </a:prstGeom>
        </p:spPr>
      </p:pic>
      <p:pic>
        <p:nvPicPr>
          <p:cNvPr id="912" name="Graphic 912" descr="Book"/>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02800" y="2959100"/>
            <a:ext cx="381000" cy="381000"/>
          </a:xfrm>
          <a:prstGeom prst="rect">
            <a:avLst/>
          </a:prstGeom>
        </p:spPr>
      </p:pic>
      <p:pic>
        <p:nvPicPr>
          <p:cNvPr id="913" name="Graphic 913" descr="Lightbulb"/>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96600" y="2959100"/>
            <a:ext cx="381000" cy="381000"/>
          </a:xfrm>
          <a:prstGeom prst="rect">
            <a:avLst/>
          </a:prstGeom>
        </p:spPr>
      </p:pic>
      <p:sp>
        <p:nvSpPr>
          <p:cNvPr id="3" name="LLM base">
            <a:extLst>
              <a:ext uri="{FF2B5EF4-FFF2-40B4-BE49-F238E27FC236}">
                <a16:creationId xmlns:a16="http://schemas.microsoft.com/office/drawing/2014/main" id="{F550D6F8-2862-452F-9F10-1453636CC645}"/>
              </a:ext>
            </a:extLst>
          </p:cNvPr>
          <p:cNvSpPr/>
          <p:nvPr/>
        </p:nvSpPr>
        <p:spPr>
          <a:xfrm>
            <a:off x="8255000" y="5257800"/>
            <a:ext cx="3289300" cy="762000"/>
          </a:xfrm>
          <a:prstGeom prst="roundRect">
            <a:avLst/>
          </a:prstGeom>
          <a:solidFill>
            <a:srgbClr val="131C31"/>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 name="LLM base text">
            <a:extLst>
              <a:ext uri="{FF2B5EF4-FFF2-40B4-BE49-F238E27FC236}">
                <a16:creationId xmlns:a16="http://schemas.microsoft.com/office/drawing/2014/main" id="{CDAAC523-1491-4295-BF3F-B2C1FB0E15AE}"/>
              </a:ext>
            </a:extLst>
          </p:cNvPr>
          <p:cNvSpPr txBox="1"/>
          <p:nvPr/>
        </p:nvSpPr>
        <p:spPr>
          <a:xfrm>
            <a:off x="8432800" y="5359400"/>
            <a:ext cx="2984500" cy="369332"/>
          </a:xfrm>
          <a:prstGeom prst="rect">
            <a:avLst/>
          </a:prstGeom>
          <a:noFill/>
        </p:spPr>
        <p:txBody>
          <a:bodyPr vertOverflow="overflow" vert="horz" wrap="square" lIns="0" tIns="0" rIns="0" bIns="0" rtlCol="0" anchor="t">
            <a:spAutoFit/>
          </a:bodyPr>
          <a:lstStyle/>
          <a:p>
            <a:pPr algn="l"/>
            <a:r>
              <a:rPr lang="en-US" sz="1000" b="1" dirty="0">
                <a:solidFill>
                  <a:srgbClr val="94A3B8"/>
                </a:solidFill>
                <a:latin typeface="Segoe UI"/>
              </a:rPr>
              <a:t>FOUNDATION</a:t>
            </a:r>
          </a:p>
          <a:p>
            <a:pPr algn="l"/>
            <a:r>
              <a:rPr lang="en-US" sz="1400" b="1" dirty="0">
                <a:solidFill>
                  <a:srgbClr val="F1F5F9"/>
                </a:solidFill>
                <a:latin typeface="Segoe UI"/>
              </a:rPr>
              <a:t>Large Language Model</a:t>
            </a:r>
          </a:p>
        </p:txBody>
      </p:sp>
    </p:spTree>
    <p:extLst>
      <p:ext uri="{BB962C8B-B14F-4D97-AF65-F5344CB8AC3E}">
        <p14:creationId xmlns:p14="http://schemas.microsoft.com/office/powerpoint/2010/main" val="2737883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UNDERSTANDING LLMS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What is a Large Language Model?</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71600"/>
            <a:ext cx="10881360" cy="457200"/>
          </a:xfrm>
          <a:prstGeom prst="rect">
            <a:avLst/>
          </a:prstGeom>
          <a:noFill/>
        </p:spPr>
        <p:txBody>
          <a:bodyPr wrap="square" lIns="0" tIns="0" rIns="0" bIns="0" anchor="t">
            <a:spAutoFit/>
          </a:bodyPr>
          <a:lstStyle/>
          <a:p>
            <a:pPr algn="l"/>
            <a:r>
              <a:rPr sz="1400" b="0" i="0">
                <a:solidFill>
                  <a:srgbClr val="94A3B8"/>
                </a:solidFill>
                <a:latin typeface="Segoe UI"/>
              </a:rPr>
              <a:t>A model trained to predict the next token, given everything that came before it. That's it — everything else emerges from doing that extremely well.</a:t>
            </a:r>
          </a:p>
        </p:txBody>
      </p:sp>
      <p:sp>
        <p:nvSpPr>
          <p:cNvPr id="19" name="TextBox 18"/>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0" name="TextBox 19"/>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5</a:t>
            </a:r>
          </a:p>
        </p:txBody>
      </p:sp>
      <p:sp>
        <p:nvSpPr>
          <p:cNvPr id="3" name="panel">
            <a:extLst>
              <a:ext uri="{FF2B5EF4-FFF2-40B4-BE49-F238E27FC236}">
                <a16:creationId xmlns:a16="http://schemas.microsoft.com/office/drawing/2014/main" id="{013C1B8D-CC2B-492E-B586-1F20B471DB51}"/>
              </a:ext>
            </a:extLst>
          </p:cNvPr>
          <p:cNvSpPr/>
          <p:nvPr/>
        </p:nvSpPr>
        <p:spPr>
          <a:xfrm>
            <a:off x="635000" y="1930400"/>
            <a:ext cx="10909300" cy="1574800"/>
          </a:xfrm>
          <a:prstGeom prst="roundRect">
            <a:avLst>
              <a:gd name="adj" fmla="val 6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1" name="lblL">
            <a:extLst>
              <a:ext uri="{FF2B5EF4-FFF2-40B4-BE49-F238E27FC236}">
                <a16:creationId xmlns:a16="http://schemas.microsoft.com/office/drawing/2014/main" id="{98052E23-1C81-4A27-82A0-489A518582EF}"/>
              </a:ext>
            </a:extLst>
          </p:cNvPr>
          <p:cNvSpPr txBox="1"/>
          <p:nvPr/>
        </p:nvSpPr>
        <p:spPr>
          <a:xfrm>
            <a:off x="889000" y="2108200"/>
            <a:ext cx="4826000" cy="203200"/>
          </a:xfrm>
          <a:prstGeom prst="rect">
            <a:avLst/>
          </a:prstGeom>
          <a:noFill/>
        </p:spPr>
        <p:txBody>
          <a:bodyPr vertOverflow="overflow" vert="horz" wrap="square" lIns="0" tIns="0" rIns="0" bIns="0" rtlCol="0" anchor="t">
            <a:noAutofit/>
          </a:bodyPr>
          <a:lstStyle/>
          <a:p>
            <a:pPr algn="l"/>
            <a:r>
              <a:rPr lang="en-IN" sz="1050" b="1">
                <a:solidFill>
                  <a:srgbClr val="2DD4BF"/>
                </a:solidFill>
                <a:latin typeface="Segoe UI"/>
                <a:cs typeface="Segoe UI"/>
              </a:rPr>
              <a:t>THE MODEL SEES</a:t>
            </a:r>
          </a:p>
        </p:txBody>
      </p:sp>
      <p:sp>
        <p:nvSpPr>
          <p:cNvPr id="22" name="chip0">
            <a:extLst>
              <a:ext uri="{FF2B5EF4-FFF2-40B4-BE49-F238E27FC236}">
                <a16:creationId xmlns:a16="http://schemas.microsoft.com/office/drawing/2014/main" id="{2673E3FC-6B79-41B6-9D56-40F744028F70}"/>
              </a:ext>
            </a:extLst>
          </p:cNvPr>
          <p:cNvSpPr/>
          <p:nvPr/>
        </p:nvSpPr>
        <p:spPr>
          <a:xfrm>
            <a:off x="889000" y="2438400"/>
            <a:ext cx="660400" cy="431800"/>
          </a:xfrm>
          <a:prstGeom prst="roundRect">
            <a:avLst>
              <a:gd name="adj" fmla="val 12000"/>
            </a:avLst>
          </a:prstGeom>
          <a:solidFill>
            <a:srgbClr val="0B1222"/>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3" name="chipT0">
            <a:extLst>
              <a:ext uri="{FF2B5EF4-FFF2-40B4-BE49-F238E27FC236}">
                <a16:creationId xmlns:a16="http://schemas.microsoft.com/office/drawing/2014/main" id="{24FF5BE0-40B4-41AB-B56C-F883ECF363E3}"/>
              </a:ext>
            </a:extLst>
          </p:cNvPr>
          <p:cNvSpPr txBox="1"/>
          <p:nvPr/>
        </p:nvSpPr>
        <p:spPr>
          <a:xfrm>
            <a:off x="889000" y="2438400"/>
            <a:ext cx="660400" cy="431800"/>
          </a:xfrm>
          <a:prstGeom prst="rect">
            <a:avLst/>
          </a:prstGeom>
          <a:noFill/>
        </p:spPr>
        <p:txBody>
          <a:bodyPr vertOverflow="overflow" vert="horz" wrap="square" lIns="0" tIns="0" rIns="0" bIns="0" rtlCol="0" anchor="ctr" anchorCtr="0">
            <a:noAutofit/>
          </a:bodyPr>
          <a:lstStyle/>
          <a:p>
            <a:pPr algn="ctr"/>
            <a:r>
              <a:rPr lang="en-IN" sz="1300">
                <a:solidFill>
                  <a:srgbClr val="E2E8F0"/>
                </a:solidFill>
                <a:latin typeface="Consolas"/>
              </a:rPr>
              <a:t>The</a:t>
            </a:r>
          </a:p>
        </p:txBody>
      </p:sp>
      <p:sp>
        <p:nvSpPr>
          <p:cNvPr id="24" name="chip1">
            <a:extLst>
              <a:ext uri="{FF2B5EF4-FFF2-40B4-BE49-F238E27FC236}">
                <a16:creationId xmlns:a16="http://schemas.microsoft.com/office/drawing/2014/main" id="{1DD365DE-8F2F-4E5D-8B41-2B5EB2D1BC35}"/>
              </a:ext>
            </a:extLst>
          </p:cNvPr>
          <p:cNvSpPr/>
          <p:nvPr/>
        </p:nvSpPr>
        <p:spPr>
          <a:xfrm>
            <a:off x="1651000" y="2438400"/>
            <a:ext cx="812800" cy="431800"/>
          </a:xfrm>
          <a:prstGeom prst="roundRect">
            <a:avLst>
              <a:gd name="adj" fmla="val 12000"/>
            </a:avLst>
          </a:prstGeom>
          <a:solidFill>
            <a:srgbClr val="0B1222"/>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5" name="chipT1">
            <a:extLst>
              <a:ext uri="{FF2B5EF4-FFF2-40B4-BE49-F238E27FC236}">
                <a16:creationId xmlns:a16="http://schemas.microsoft.com/office/drawing/2014/main" id="{2C603728-09FD-497C-99A9-5D5DE979A6A2}"/>
              </a:ext>
            </a:extLst>
          </p:cNvPr>
          <p:cNvSpPr txBox="1"/>
          <p:nvPr/>
        </p:nvSpPr>
        <p:spPr>
          <a:xfrm>
            <a:off x="1651000" y="2438400"/>
            <a:ext cx="812800" cy="431800"/>
          </a:xfrm>
          <a:prstGeom prst="rect">
            <a:avLst/>
          </a:prstGeom>
          <a:noFill/>
        </p:spPr>
        <p:txBody>
          <a:bodyPr vertOverflow="overflow" vert="horz" wrap="square" lIns="0" tIns="0" rIns="0" bIns="0" rtlCol="0" anchor="ctr" anchorCtr="0">
            <a:noAutofit/>
          </a:bodyPr>
          <a:lstStyle/>
          <a:p>
            <a:pPr algn="ctr"/>
            <a:r>
              <a:rPr lang="en-IN" sz="1300">
                <a:solidFill>
                  <a:srgbClr val="E2E8F0"/>
                </a:solidFill>
                <a:latin typeface="Consolas"/>
              </a:rPr>
              <a:t>leave</a:t>
            </a:r>
          </a:p>
        </p:txBody>
      </p:sp>
      <p:sp>
        <p:nvSpPr>
          <p:cNvPr id="26" name="chip2">
            <a:extLst>
              <a:ext uri="{FF2B5EF4-FFF2-40B4-BE49-F238E27FC236}">
                <a16:creationId xmlns:a16="http://schemas.microsoft.com/office/drawing/2014/main" id="{BD1C297C-01C4-4081-A5FA-5E37B0F09BD6}"/>
              </a:ext>
            </a:extLst>
          </p:cNvPr>
          <p:cNvSpPr/>
          <p:nvPr/>
        </p:nvSpPr>
        <p:spPr>
          <a:xfrm>
            <a:off x="2565400" y="2438400"/>
            <a:ext cx="889000" cy="431800"/>
          </a:xfrm>
          <a:prstGeom prst="roundRect">
            <a:avLst>
              <a:gd name="adj" fmla="val 12000"/>
            </a:avLst>
          </a:prstGeom>
          <a:solidFill>
            <a:srgbClr val="0B1222"/>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7" name="chipT2">
            <a:extLst>
              <a:ext uri="{FF2B5EF4-FFF2-40B4-BE49-F238E27FC236}">
                <a16:creationId xmlns:a16="http://schemas.microsoft.com/office/drawing/2014/main" id="{500DF416-6518-4062-AD67-1B6AD22ECE00}"/>
              </a:ext>
            </a:extLst>
          </p:cNvPr>
          <p:cNvSpPr txBox="1"/>
          <p:nvPr/>
        </p:nvSpPr>
        <p:spPr>
          <a:xfrm>
            <a:off x="2565400" y="2438400"/>
            <a:ext cx="889000" cy="431800"/>
          </a:xfrm>
          <a:prstGeom prst="rect">
            <a:avLst/>
          </a:prstGeom>
          <a:noFill/>
        </p:spPr>
        <p:txBody>
          <a:bodyPr vertOverflow="overflow" vert="horz" wrap="square" lIns="0" tIns="0" rIns="0" bIns="0" rtlCol="0" anchor="ctr" anchorCtr="0">
            <a:noAutofit/>
          </a:bodyPr>
          <a:lstStyle/>
          <a:p>
            <a:pPr algn="ctr"/>
            <a:r>
              <a:rPr lang="en-IN" sz="1300">
                <a:solidFill>
                  <a:srgbClr val="E2E8F0"/>
                </a:solidFill>
                <a:latin typeface="Consolas"/>
              </a:rPr>
              <a:t>policy</a:t>
            </a:r>
          </a:p>
        </p:txBody>
      </p:sp>
      <p:sp>
        <p:nvSpPr>
          <p:cNvPr id="28" name="chip3">
            <a:extLst>
              <a:ext uri="{FF2B5EF4-FFF2-40B4-BE49-F238E27FC236}">
                <a16:creationId xmlns:a16="http://schemas.microsoft.com/office/drawing/2014/main" id="{B3CAEE0C-7855-49C9-8E3A-193F2923BD71}"/>
              </a:ext>
            </a:extLst>
          </p:cNvPr>
          <p:cNvSpPr/>
          <p:nvPr/>
        </p:nvSpPr>
        <p:spPr>
          <a:xfrm>
            <a:off x="3556000" y="2438400"/>
            <a:ext cx="914400" cy="431800"/>
          </a:xfrm>
          <a:prstGeom prst="roundRect">
            <a:avLst>
              <a:gd name="adj" fmla="val 12000"/>
            </a:avLst>
          </a:prstGeom>
          <a:solidFill>
            <a:srgbClr val="0B1222"/>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9" name="chipT3">
            <a:extLst>
              <a:ext uri="{FF2B5EF4-FFF2-40B4-BE49-F238E27FC236}">
                <a16:creationId xmlns:a16="http://schemas.microsoft.com/office/drawing/2014/main" id="{E42FD31B-495F-4BB5-8BCC-B815ACF79EDA}"/>
              </a:ext>
            </a:extLst>
          </p:cNvPr>
          <p:cNvSpPr txBox="1"/>
          <p:nvPr/>
        </p:nvSpPr>
        <p:spPr>
          <a:xfrm>
            <a:off x="3556000" y="2438400"/>
            <a:ext cx="914400" cy="431800"/>
          </a:xfrm>
          <a:prstGeom prst="rect">
            <a:avLst/>
          </a:prstGeom>
          <a:noFill/>
        </p:spPr>
        <p:txBody>
          <a:bodyPr vertOverflow="overflow" vert="horz" wrap="square" lIns="0" tIns="0" rIns="0" bIns="0" rtlCol="0" anchor="ctr" anchorCtr="0">
            <a:noAutofit/>
          </a:bodyPr>
          <a:lstStyle/>
          <a:p>
            <a:pPr algn="ctr"/>
            <a:r>
              <a:rPr lang="en-IN" sz="1300">
                <a:solidFill>
                  <a:srgbClr val="E2E8F0"/>
                </a:solidFill>
                <a:latin typeface="Consolas"/>
              </a:rPr>
              <a:t>allows</a:t>
            </a:r>
          </a:p>
        </p:txBody>
      </p:sp>
      <p:sp>
        <p:nvSpPr>
          <p:cNvPr id="30" name="chipQ">
            <a:extLst>
              <a:ext uri="{FF2B5EF4-FFF2-40B4-BE49-F238E27FC236}">
                <a16:creationId xmlns:a16="http://schemas.microsoft.com/office/drawing/2014/main" id="{9203E99A-D8CE-4468-86CB-C894C7D6B4C3}"/>
              </a:ext>
            </a:extLst>
          </p:cNvPr>
          <p:cNvSpPr/>
          <p:nvPr/>
        </p:nvSpPr>
        <p:spPr>
          <a:xfrm>
            <a:off x="4572000" y="2438400"/>
            <a:ext cx="609600" cy="431800"/>
          </a:xfrm>
          <a:prstGeom prst="roundRect">
            <a:avLst>
              <a:gd name="adj" fmla="val 12000"/>
            </a:avLst>
          </a:prstGeom>
          <a:solidFill>
            <a:srgbClr val="0F2A30"/>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1" name="chipQT">
            <a:extLst>
              <a:ext uri="{FF2B5EF4-FFF2-40B4-BE49-F238E27FC236}">
                <a16:creationId xmlns:a16="http://schemas.microsoft.com/office/drawing/2014/main" id="{5F15A2D8-17C3-4FBC-B91A-5DD02ACAF5C6}"/>
              </a:ext>
            </a:extLst>
          </p:cNvPr>
          <p:cNvSpPr txBox="1"/>
          <p:nvPr/>
        </p:nvSpPr>
        <p:spPr>
          <a:xfrm>
            <a:off x="4572000" y="2438400"/>
            <a:ext cx="609600" cy="431800"/>
          </a:xfrm>
          <a:prstGeom prst="rect">
            <a:avLst/>
          </a:prstGeom>
          <a:noFill/>
        </p:spPr>
        <p:txBody>
          <a:bodyPr vertOverflow="overflow" vert="horz" wrap="square" lIns="0" tIns="0" rIns="0" bIns="0" rtlCol="0" anchor="ctr" anchorCtr="0">
            <a:noAutofit/>
          </a:bodyPr>
          <a:lstStyle/>
          <a:p>
            <a:pPr algn="ctr"/>
            <a:r>
              <a:rPr lang="en-IN" sz="1500" b="1">
                <a:solidFill>
                  <a:srgbClr val="2DD4BF"/>
                </a:solidFill>
                <a:latin typeface="Consolas"/>
              </a:rPr>
              <a:t>?</a:t>
            </a:r>
          </a:p>
        </p:txBody>
      </p:sp>
      <p:sp>
        <p:nvSpPr>
          <p:cNvPr id="32" name="capL">
            <a:extLst>
              <a:ext uri="{FF2B5EF4-FFF2-40B4-BE49-F238E27FC236}">
                <a16:creationId xmlns:a16="http://schemas.microsoft.com/office/drawing/2014/main" id="{653CE2E5-854B-43AC-8570-57AFEF9AB223}"/>
              </a:ext>
            </a:extLst>
          </p:cNvPr>
          <p:cNvSpPr txBox="1"/>
          <p:nvPr/>
        </p:nvSpPr>
        <p:spPr>
          <a:xfrm>
            <a:off x="889000" y="3048000"/>
            <a:ext cx="4953000" cy="457200"/>
          </a:xfrm>
          <a:prstGeom prst="rect">
            <a:avLst/>
          </a:prstGeom>
          <a:noFill/>
        </p:spPr>
        <p:txBody>
          <a:bodyPr vertOverflow="overflow" vert="horz" wrap="square" lIns="0" tIns="0" rIns="0" bIns="0" rtlCol="0" anchor="t">
            <a:noAutofit/>
          </a:bodyPr>
          <a:lstStyle/>
          <a:p>
            <a:pPr algn="l"/>
            <a:r>
              <a:rPr lang="en-US" sz="1250">
                <a:solidFill>
                  <a:srgbClr val="B8C2D3"/>
                </a:solidFill>
                <a:latin typeface="Segoe UI"/>
                <a:cs typeface="Segoe UI"/>
              </a:rPr>
              <a:t>It scores every possible next token, then samples one.</a:t>
            </a:r>
            <a:endParaRPr lang="en-IN" sz="1250">
              <a:solidFill>
                <a:srgbClr val="B8C2D3"/>
              </a:solidFill>
              <a:latin typeface="Segoe UI"/>
              <a:cs typeface="Segoe UI"/>
            </a:endParaRPr>
          </a:p>
        </p:txBody>
      </p:sp>
      <p:sp>
        <p:nvSpPr>
          <p:cNvPr id="33" name="vdiv">
            <a:extLst>
              <a:ext uri="{FF2B5EF4-FFF2-40B4-BE49-F238E27FC236}">
                <a16:creationId xmlns:a16="http://schemas.microsoft.com/office/drawing/2014/main" id="{2EBB89EC-56B7-4F96-8578-9C884A17039B}"/>
              </a:ext>
            </a:extLst>
          </p:cNvPr>
          <p:cNvSpPr/>
          <p:nvPr/>
        </p:nvSpPr>
        <p:spPr>
          <a:xfrm>
            <a:off x="6070600" y="2133600"/>
            <a:ext cx="12700" cy="12192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4" name="lblR">
            <a:extLst>
              <a:ext uri="{FF2B5EF4-FFF2-40B4-BE49-F238E27FC236}">
                <a16:creationId xmlns:a16="http://schemas.microsoft.com/office/drawing/2014/main" id="{FB92F511-73EF-45CF-8A8C-238D08D18803}"/>
              </a:ext>
            </a:extLst>
          </p:cNvPr>
          <p:cNvSpPr txBox="1"/>
          <p:nvPr/>
        </p:nvSpPr>
        <p:spPr>
          <a:xfrm>
            <a:off x="6350000" y="2108200"/>
            <a:ext cx="4826000" cy="203200"/>
          </a:xfrm>
          <a:prstGeom prst="rect">
            <a:avLst/>
          </a:prstGeom>
          <a:noFill/>
        </p:spPr>
        <p:txBody>
          <a:bodyPr vertOverflow="overflow" vert="horz" wrap="square" lIns="0" tIns="0" rIns="0" bIns="0" rtlCol="0" anchor="t">
            <a:noAutofit/>
          </a:bodyPr>
          <a:lstStyle/>
          <a:p>
            <a:pPr algn="l"/>
            <a:r>
              <a:rPr lang="en-IN" sz="1050" b="1">
                <a:solidFill>
                  <a:srgbClr val="2DD4BF"/>
                </a:solidFill>
                <a:latin typeface="Segoe UI"/>
                <a:cs typeface="Segoe UI"/>
              </a:rPr>
              <a:t>NEXT-TOKEN PROBABILITIES</a:t>
            </a:r>
          </a:p>
        </p:txBody>
      </p:sp>
      <p:sp>
        <p:nvSpPr>
          <p:cNvPr id="35" name="bw0">
            <a:extLst>
              <a:ext uri="{FF2B5EF4-FFF2-40B4-BE49-F238E27FC236}">
                <a16:creationId xmlns:a16="http://schemas.microsoft.com/office/drawing/2014/main" id="{46E6F292-80B8-460B-BF72-8BC2686A5F82}"/>
              </a:ext>
            </a:extLst>
          </p:cNvPr>
          <p:cNvSpPr txBox="1"/>
          <p:nvPr/>
        </p:nvSpPr>
        <p:spPr>
          <a:xfrm>
            <a:off x="6350000" y="2387600"/>
            <a:ext cx="1143000" cy="228600"/>
          </a:xfrm>
          <a:prstGeom prst="rect">
            <a:avLst/>
          </a:prstGeom>
          <a:noFill/>
        </p:spPr>
        <p:txBody>
          <a:bodyPr vertOverflow="overflow" vert="horz" wrap="square" lIns="0" tIns="0" rIns="0" bIns="0" rtlCol="0" anchor="ctr" anchorCtr="0">
            <a:noAutofit/>
          </a:bodyPr>
          <a:lstStyle/>
          <a:p>
            <a:pPr algn="r"/>
            <a:r>
              <a:rPr lang="en-IN" sz="1250" b="1">
                <a:solidFill>
                  <a:srgbClr val="F1F5F9"/>
                </a:solidFill>
                <a:latin typeface="Consolas"/>
              </a:rPr>
              <a:t>employees</a:t>
            </a:r>
          </a:p>
        </p:txBody>
      </p:sp>
      <p:sp>
        <p:nvSpPr>
          <p:cNvPr id="36" name="bar0">
            <a:extLst>
              <a:ext uri="{FF2B5EF4-FFF2-40B4-BE49-F238E27FC236}">
                <a16:creationId xmlns:a16="http://schemas.microsoft.com/office/drawing/2014/main" id="{4B28A8EB-A066-4C40-ACDC-A39941DE2E4C}"/>
              </a:ext>
            </a:extLst>
          </p:cNvPr>
          <p:cNvSpPr/>
          <p:nvPr/>
        </p:nvSpPr>
        <p:spPr>
          <a:xfrm>
            <a:off x="7620000" y="2413000"/>
            <a:ext cx="2343150" cy="1778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7" name="bp0">
            <a:extLst>
              <a:ext uri="{FF2B5EF4-FFF2-40B4-BE49-F238E27FC236}">
                <a16:creationId xmlns:a16="http://schemas.microsoft.com/office/drawing/2014/main" id="{9E46F6FC-8895-4414-A35B-40C6AC7EC75D}"/>
              </a:ext>
            </a:extLst>
          </p:cNvPr>
          <p:cNvSpPr txBox="1"/>
          <p:nvPr/>
        </p:nvSpPr>
        <p:spPr>
          <a:xfrm>
            <a:off x="10064750" y="2387600"/>
            <a:ext cx="1397000" cy="228600"/>
          </a:xfrm>
          <a:prstGeom prst="rect">
            <a:avLst/>
          </a:prstGeom>
          <a:noFill/>
        </p:spPr>
        <p:txBody>
          <a:bodyPr vertOverflow="overflow" vert="horz" wrap="square" lIns="0" tIns="0" rIns="0" bIns="0" rtlCol="0" anchor="ctr" anchorCtr="0">
            <a:noAutofit/>
          </a:bodyPr>
          <a:lstStyle/>
          <a:p>
            <a:pPr algn="l"/>
            <a:r>
              <a:rPr lang="en-IN" sz="1200" b="1">
                <a:solidFill>
                  <a:srgbClr val="2DD4BF"/>
                </a:solidFill>
                <a:latin typeface="Segoe UI"/>
                <a:cs typeface="Segoe UI"/>
              </a:rPr>
              <a:t>41%  ← sampled</a:t>
            </a:r>
          </a:p>
        </p:txBody>
      </p:sp>
      <p:sp>
        <p:nvSpPr>
          <p:cNvPr id="38" name="bw1">
            <a:extLst>
              <a:ext uri="{FF2B5EF4-FFF2-40B4-BE49-F238E27FC236}">
                <a16:creationId xmlns:a16="http://schemas.microsoft.com/office/drawing/2014/main" id="{3BAE1EF8-017A-40A1-9184-AB5DA61615A4}"/>
              </a:ext>
            </a:extLst>
          </p:cNvPr>
          <p:cNvSpPr txBox="1"/>
          <p:nvPr/>
        </p:nvSpPr>
        <p:spPr>
          <a:xfrm>
            <a:off x="6350000" y="2654300"/>
            <a:ext cx="1143000" cy="228600"/>
          </a:xfrm>
          <a:prstGeom prst="rect">
            <a:avLst/>
          </a:prstGeom>
          <a:noFill/>
        </p:spPr>
        <p:txBody>
          <a:bodyPr vertOverflow="overflow" vert="horz" wrap="square" lIns="0" tIns="0" rIns="0" bIns="0" rtlCol="0" anchor="ctr" anchorCtr="0">
            <a:noAutofit/>
          </a:bodyPr>
          <a:lstStyle/>
          <a:p>
            <a:pPr algn="r"/>
            <a:r>
              <a:rPr lang="en-IN" sz="1250">
                <a:solidFill>
                  <a:srgbClr val="B8C2D3"/>
                </a:solidFill>
                <a:latin typeface="Consolas"/>
              </a:rPr>
              <a:t>up</a:t>
            </a:r>
          </a:p>
        </p:txBody>
      </p:sp>
      <p:sp>
        <p:nvSpPr>
          <p:cNvPr id="39" name="bar1">
            <a:extLst>
              <a:ext uri="{FF2B5EF4-FFF2-40B4-BE49-F238E27FC236}">
                <a16:creationId xmlns:a16="http://schemas.microsoft.com/office/drawing/2014/main" id="{FD9CED3A-21C0-4FD8-9645-956D440DDA1D}"/>
              </a:ext>
            </a:extLst>
          </p:cNvPr>
          <p:cNvSpPr/>
          <p:nvPr/>
        </p:nvSpPr>
        <p:spPr>
          <a:xfrm>
            <a:off x="7620000" y="2679700"/>
            <a:ext cx="1314450" cy="177800"/>
          </a:xfrm>
          <a:prstGeom prst="rect">
            <a:avLst/>
          </a:prstGeom>
          <a:solidFill>
            <a:srgbClr val="33415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0" name="bp1">
            <a:extLst>
              <a:ext uri="{FF2B5EF4-FFF2-40B4-BE49-F238E27FC236}">
                <a16:creationId xmlns:a16="http://schemas.microsoft.com/office/drawing/2014/main" id="{164DC888-92C2-4137-99AE-AA9966F18DED}"/>
              </a:ext>
            </a:extLst>
          </p:cNvPr>
          <p:cNvSpPr txBox="1"/>
          <p:nvPr/>
        </p:nvSpPr>
        <p:spPr>
          <a:xfrm>
            <a:off x="9036050" y="2654300"/>
            <a:ext cx="1397000" cy="228600"/>
          </a:xfrm>
          <a:prstGeom prst="rect">
            <a:avLst/>
          </a:prstGeom>
          <a:noFill/>
        </p:spPr>
        <p:txBody>
          <a:bodyPr vertOverflow="overflow" vert="horz" wrap="square" lIns="0" tIns="0" rIns="0" bIns="0" rtlCol="0" anchor="ctr" anchorCtr="0">
            <a:noAutofit/>
          </a:bodyPr>
          <a:lstStyle/>
          <a:p>
            <a:pPr algn="l"/>
            <a:r>
              <a:rPr lang="en-IN" sz="1200">
                <a:solidFill>
                  <a:srgbClr val="94A3B8"/>
                </a:solidFill>
                <a:latin typeface="Segoe UI"/>
                <a:cs typeface="Segoe UI"/>
              </a:rPr>
              <a:t>23%</a:t>
            </a:r>
          </a:p>
        </p:txBody>
      </p:sp>
      <p:sp>
        <p:nvSpPr>
          <p:cNvPr id="41" name="bw2">
            <a:extLst>
              <a:ext uri="{FF2B5EF4-FFF2-40B4-BE49-F238E27FC236}">
                <a16:creationId xmlns:a16="http://schemas.microsoft.com/office/drawing/2014/main" id="{AB108D9D-AA09-47A9-BA6D-094386170A0C}"/>
              </a:ext>
            </a:extLst>
          </p:cNvPr>
          <p:cNvSpPr txBox="1"/>
          <p:nvPr/>
        </p:nvSpPr>
        <p:spPr>
          <a:xfrm>
            <a:off x="6350000" y="2921000"/>
            <a:ext cx="1143000" cy="228600"/>
          </a:xfrm>
          <a:prstGeom prst="rect">
            <a:avLst/>
          </a:prstGeom>
          <a:noFill/>
        </p:spPr>
        <p:txBody>
          <a:bodyPr vertOverflow="overflow" vert="horz" wrap="square" lIns="0" tIns="0" rIns="0" bIns="0" rtlCol="0" anchor="ctr" anchorCtr="0">
            <a:noAutofit/>
          </a:bodyPr>
          <a:lstStyle/>
          <a:p>
            <a:pPr algn="r"/>
            <a:r>
              <a:rPr lang="en-IN" sz="1250">
                <a:solidFill>
                  <a:srgbClr val="B8C2D3"/>
                </a:solidFill>
                <a:latin typeface="Consolas"/>
              </a:rPr>
              <a:t>staff</a:t>
            </a:r>
          </a:p>
        </p:txBody>
      </p:sp>
      <p:sp>
        <p:nvSpPr>
          <p:cNvPr id="42" name="bar2">
            <a:extLst>
              <a:ext uri="{FF2B5EF4-FFF2-40B4-BE49-F238E27FC236}">
                <a16:creationId xmlns:a16="http://schemas.microsoft.com/office/drawing/2014/main" id="{AF6A64FD-993C-4C45-9CE2-AA250CB25A76}"/>
              </a:ext>
            </a:extLst>
          </p:cNvPr>
          <p:cNvSpPr/>
          <p:nvPr/>
        </p:nvSpPr>
        <p:spPr>
          <a:xfrm>
            <a:off x="7620000" y="2946400"/>
            <a:ext cx="971550" cy="177800"/>
          </a:xfrm>
          <a:prstGeom prst="rect">
            <a:avLst/>
          </a:prstGeom>
          <a:solidFill>
            <a:srgbClr val="33415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3" name="bp2">
            <a:extLst>
              <a:ext uri="{FF2B5EF4-FFF2-40B4-BE49-F238E27FC236}">
                <a16:creationId xmlns:a16="http://schemas.microsoft.com/office/drawing/2014/main" id="{9616C16A-CF9D-4588-8759-AEFADB635FD3}"/>
              </a:ext>
            </a:extLst>
          </p:cNvPr>
          <p:cNvSpPr txBox="1"/>
          <p:nvPr/>
        </p:nvSpPr>
        <p:spPr>
          <a:xfrm>
            <a:off x="8693150" y="2921000"/>
            <a:ext cx="1397000" cy="228600"/>
          </a:xfrm>
          <a:prstGeom prst="rect">
            <a:avLst/>
          </a:prstGeom>
          <a:noFill/>
        </p:spPr>
        <p:txBody>
          <a:bodyPr vertOverflow="overflow" vert="horz" wrap="square" lIns="0" tIns="0" rIns="0" bIns="0" rtlCol="0" anchor="ctr" anchorCtr="0">
            <a:noAutofit/>
          </a:bodyPr>
          <a:lstStyle/>
          <a:p>
            <a:pPr algn="l"/>
            <a:r>
              <a:rPr lang="en-IN" sz="1200">
                <a:solidFill>
                  <a:srgbClr val="94A3B8"/>
                </a:solidFill>
                <a:latin typeface="Segoe UI"/>
                <a:cs typeface="Segoe UI"/>
              </a:rPr>
              <a:t>17%</a:t>
            </a:r>
          </a:p>
        </p:txBody>
      </p:sp>
      <p:sp>
        <p:nvSpPr>
          <p:cNvPr id="44" name="bw3">
            <a:extLst>
              <a:ext uri="{FF2B5EF4-FFF2-40B4-BE49-F238E27FC236}">
                <a16:creationId xmlns:a16="http://schemas.microsoft.com/office/drawing/2014/main" id="{AA009725-FBDE-4811-96BA-30EB0FE45959}"/>
              </a:ext>
            </a:extLst>
          </p:cNvPr>
          <p:cNvSpPr txBox="1"/>
          <p:nvPr/>
        </p:nvSpPr>
        <p:spPr>
          <a:xfrm>
            <a:off x="6350000" y="3187700"/>
            <a:ext cx="1143000" cy="228600"/>
          </a:xfrm>
          <a:prstGeom prst="rect">
            <a:avLst/>
          </a:prstGeom>
          <a:noFill/>
        </p:spPr>
        <p:txBody>
          <a:bodyPr vertOverflow="overflow" vert="horz" wrap="square" lIns="0" tIns="0" rIns="0" bIns="0" rtlCol="0" anchor="ctr" anchorCtr="0">
            <a:noAutofit/>
          </a:bodyPr>
          <a:lstStyle/>
          <a:p>
            <a:pPr algn="r"/>
            <a:r>
              <a:rPr lang="en-IN" sz="1250">
                <a:solidFill>
                  <a:srgbClr val="B8C2D3"/>
                </a:solidFill>
                <a:latin typeface="Consolas"/>
              </a:rPr>
              <a:t>unused</a:t>
            </a:r>
          </a:p>
        </p:txBody>
      </p:sp>
      <p:sp>
        <p:nvSpPr>
          <p:cNvPr id="45" name="bar3">
            <a:extLst>
              <a:ext uri="{FF2B5EF4-FFF2-40B4-BE49-F238E27FC236}">
                <a16:creationId xmlns:a16="http://schemas.microsoft.com/office/drawing/2014/main" id="{FE98E9C2-BB01-48DF-8A3C-BB5F236AAA8F}"/>
              </a:ext>
            </a:extLst>
          </p:cNvPr>
          <p:cNvSpPr/>
          <p:nvPr/>
        </p:nvSpPr>
        <p:spPr>
          <a:xfrm>
            <a:off x="7620000" y="3213100"/>
            <a:ext cx="514350" cy="177800"/>
          </a:xfrm>
          <a:prstGeom prst="rect">
            <a:avLst/>
          </a:prstGeom>
          <a:solidFill>
            <a:srgbClr val="33415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6" name="bp3">
            <a:extLst>
              <a:ext uri="{FF2B5EF4-FFF2-40B4-BE49-F238E27FC236}">
                <a16:creationId xmlns:a16="http://schemas.microsoft.com/office/drawing/2014/main" id="{13C1ADE1-8C91-4825-B94C-950CD539FBC3}"/>
              </a:ext>
            </a:extLst>
          </p:cNvPr>
          <p:cNvSpPr txBox="1"/>
          <p:nvPr/>
        </p:nvSpPr>
        <p:spPr>
          <a:xfrm>
            <a:off x="8235950" y="3187700"/>
            <a:ext cx="1397000" cy="228600"/>
          </a:xfrm>
          <a:prstGeom prst="rect">
            <a:avLst/>
          </a:prstGeom>
          <a:noFill/>
        </p:spPr>
        <p:txBody>
          <a:bodyPr vertOverflow="overflow" vert="horz" wrap="square" lIns="0" tIns="0" rIns="0" bIns="0" rtlCol="0" anchor="ctr" anchorCtr="0">
            <a:noAutofit/>
          </a:bodyPr>
          <a:lstStyle/>
          <a:p>
            <a:pPr algn="l"/>
            <a:r>
              <a:rPr lang="en-IN" sz="1200">
                <a:solidFill>
                  <a:srgbClr val="94A3B8"/>
                </a:solidFill>
                <a:latin typeface="Segoe UI"/>
                <a:cs typeface="Segoe UI"/>
              </a:rPr>
              <a:t>9%</a:t>
            </a:r>
          </a:p>
        </p:txBody>
      </p:sp>
      <p:sp>
        <p:nvSpPr>
          <p:cNvPr id="47" name="card0">
            <a:extLst>
              <a:ext uri="{FF2B5EF4-FFF2-40B4-BE49-F238E27FC236}">
                <a16:creationId xmlns:a16="http://schemas.microsoft.com/office/drawing/2014/main" id="{49D0625D-7B7D-423F-8138-A1F746FBDD81}"/>
              </a:ext>
            </a:extLst>
          </p:cNvPr>
          <p:cNvSpPr/>
          <p:nvPr/>
        </p:nvSpPr>
        <p:spPr>
          <a:xfrm>
            <a:off x="635000" y="3708400"/>
            <a:ext cx="3517900" cy="1905000"/>
          </a:xfrm>
          <a:prstGeom prst="roundRect">
            <a:avLst>
              <a:gd name="adj" fmla="val 7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8" name="cnum0">
            <a:extLst>
              <a:ext uri="{FF2B5EF4-FFF2-40B4-BE49-F238E27FC236}">
                <a16:creationId xmlns:a16="http://schemas.microsoft.com/office/drawing/2014/main" id="{ABAAAFE0-637C-4E31-994E-5FC1B7E737FE}"/>
              </a:ext>
            </a:extLst>
          </p:cNvPr>
          <p:cNvSpPr txBox="1"/>
          <p:nvPr/>
        </p:nvSpPr>
        <p:spPr>
          <a:xfrm>
            <a:off x="838200" y="3886200"/>
            <a:ext cx="1270000" cy="203200"/>
          </a:xfrm>
          <a:prstGeom prst="rect">
            <a:avLst/>
          </a:prstGeom>
          <a:noFill/>
        </p:spPr>
        <p:txBody>
          <a:bodyPr vertOverflow="overflow" vert="horz" wrap="square" lIns="0" tIns="0" rIns="0" bIns="0" rtlCol="0" anchor="t">
            <a:noAutofit/>
          </a:bodyPr>
          <a:lstStyle/>
          <a:p>
            <a:pPr algn="l"/>
            <a:r>
              <a:rPr lang="en-IN" sz="1100" b="1">
                <a:solidFill>
                  <a:srgbClr val="2DD4BF"/>
                </a:solidFill>
                <a:latin typeface="Segoe UI"/>
                <a:cs typeface="Segoe UI"/>
              </a:rPr>
              <a:t>01</a:t>
            </a:r>
          </a:p>
        </p:txBody>
      </p:sp>
      <p:sp>
        <p:nvSpPr>
          <p:cNvPr id="49" name="ctx0">
            <a:extLst>
              <a:ext uri="{FF2B5EF4-FFF2-40B4-BE49-F238E27FC236}">
                <a16:creationId xmlns:a16="http://schemas.microsoft.com/office/drawing/2014/main" id="{294AF6AB-B376-41B7-AA1C-C8BC20C18D85}"/>
              </a:ext>
            </a:extLst>
          </p:cNvPr>
          <p:cNvSpPr txBox="1"/>
          <p:nvPr/>
        </p:nvSpPr>
        <p:spPr>
          <a:xfrm>
            <a:off x="838200" y="4140200"/>
            <a:ext cx="3111500" cy="1397000"/>
          </a:xfrm>
          <a:prstGeom prst="rect">
            <a:avLst/>
          </a:prstGeom>
          <a:noFill/>
        </p:spPr>
        <p:txBody>
          <a:bodyPr vertOverflow="overflow" vert="horz" wrap="square" lIns="0" tIns="0" rIns="0" bIns="0" rtlCol="0" anchor="t">
            <a:noAutofit/>
          </a:bodyPr>
          <a:lstStyle/>
          <a:p>
            <a:pPr algn="l"/>
            <a:r>
              <a:rPr lang="en-US" sz="1700" b="1" dirty="0">
                <a:solidFill>
                  <a:srgbClr val="F1F5F9"/>
                </a:solidFill>
                <a:latin typeface="Segoe UI"/>
              </a:rPr>
              <a:t>A probability machine</a:t>
            </a:r>
          </a:p>
          <a:p>
            <a:pPr marL="171450" indent="-171450" algn="l">
              <a:spcBef>
                <a:spcPts val="900"/>
              </a:spcBef>
              <a:buClr>
                <a:srgbClr val="2DD4BF"/>
              </a:buClr>
              <a:buFont typeface="Arial"/>
              <a:buChar char="•"/>
            </a:pPr>
            <a:r>
              <a:rPr lang="en-US" sz="1400" b="0" dirty="0">
                <a:solidFill>
                  <a:srgbClr val="B8C2D3"/>
                </a:solidFill>
                <a:latin typeface="Segoe UI"/>
              </a:rPr>
              <a:t>Scores every possible next token</a:t>
            </a:r>
          </a:p>
          <a:p>
            <a:pPr marL="171450" indent="-171450" algn="l">
              <a:spcBef>
                <a:spcPts val="900"/>
              </a:spcBef>
              <a:buClr>
                <a:srgbClr val="2DD4BF"/>
              </a:buClr>
              <a:buFont typeface="Arial"/>
              <a:buChar char="•"/>
            </a:pPr>
            <a:r>
              <a:rPr lang="en-US" sz="1400" b="0" dirty="0">
                <a:solidFill>
                  <a:srgbClr val="B8C2D3"/>
                </a:solidFill>
                <a:latin typeface="Segoe UI"/>
              </a:rPr>
              <a:t>Samples one, then repeats</a:t>
            </a:r>
          </a:p>
        </p:txBody>
      </p:sp>
      <p:sp>
        <p:nvSpPr>
          <p:cNvPr id="50" name="card1">
            <a:extLst>
              <a:ext uri="{FF2B5EF4-FFF2-40B4-BE49-F238E27FC236}">
                <a16:creationId xmlns:a16="http://schemas.microsoft.com/office/drawing/2014/main" id="{6DCB2B3A-024F-4C8C-8A70-83A2F23154EE}"/>
              </a:ext>
            </a:extLst>
          </p:cNvPr>
          <p:cNvSpPr/>
          <p:nvPr/>
        </p:nvSpPr>
        <p:spPr>
          <a:xfrm>
            <a:off x="4330700" y="3708400"/>
            <a:ext cx="3517900" cy="1905000"/>
          </a:xfrm>
          <a:prstGeom prst="roundRect">
            <a:avLst>
              <a:gd name="adj" fmla="val 7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1" name="cnum1">
            <a:extLst>
              <a:ext uri="{FF2B5EF4-FFF2-40B4-BE49-F238E27FC236}">
                <a16:creationId xmlns:a16="http://schemas.microsoft.com/office/drawing/2014/main" id="{0BCD2F2E-6F69-40CD-9C3A-C112362169DF}"/>
              </a:ext>
            </a:extLst>
          </p:cNvPr>
          <p:cNvSpPr txBox="1"/>
          <p:nvPr/>
        </p:nvSpPr>
        <p:spPr>
          <a:xfrm>
            <a:off x="4533900" y="3886200"/>
            <a:ext cx="1270000" cy="203200"/>
          </a:xfrm>
          <a:prstGeom prst="rect">
            <a:avLst/>
          </a:prstGeom>
          <a:noFill/>
        </p:spPr>
        <p:txBody>
          <a:bodyPr vertOverflow="overflow" vert="horz" wrap="square" lIns="0" tIns="0" rIns="0" bIns="0" rtlCol="0" anchor="t">
            <a:noAutofit/>
          </a:bodyPr>
          <a:lstStyle/>
          <a:p>
            <a:pPr algn="l"/>
            <a:r>
              <a:rPr lang="en-IN" sz="1100" b="1">
                <a:solidFill>
                  <a:srgbClr val="2DD4BF"/>
                </a:solidFill>
                <a:latin typeface="Segoe UI"/>
                <a:cs typeface="Segoe UI"/>
              </a:rPr>
              <a:t>02</a:t>
            </a:r>
          </a:p>
        </p:txBody>
      </p:sp>
      <p:sp>
        <p:nvSpPr>
          <p:cNvPr id="52" name="ctx1">
            <a:extLst>
              <a:ext uri="{FF2B5EF4-FFF2-40B4-BE49-F238E27FC236}">
                <a16:creationId xmlns:a16="http://schemas.microsoft.com/office/drawing/2014/main" id="{9423A7C6-7100-4805-8E9C-4DE691A56DA6}"/>
              </a:ext>
            </a:extLst>
          </p:cNvPr>
          <p:cNvSpPr txBox="1"/>
          <p:nvPr/>
        </p:nvSpPr>
        <p:spPr>
          <a:xfrm>
            <a:off x="4533900" y="4140200"/>
            <a:ext cx="3111500" cy="1397000"/>
          </a:xfrm>
          <a:prstGeom prst="rect">
            <a:avLst/>
          </a:prstGeom>
          <a:noFill/>
        </p:spPr>
        <p:txBody>
          <a:bodyPr vertOverflow="overflow" vert="horz" wrap="square" lIns="0" tIns="0" rIns="0" bIns="0" rtlCol="0" anchor="t">
            <a:noAutofit/>
          </a:bodyPr>
          <a:lstStyle/>
          <a:p>
            <a:pPr algn="l"/>
            <a:r>
              <a:rPr lang="en-US" sz="1700" b="1" dirty="0">
                <a:solidFill>
                  <a:srgbClr val="F1F5F9"/>
                </a:solidFill>
                <a:latin typeface="Segoe UI"/>
              </a:rPr>
              <a:t>Scale unlocks skills</a:t>
            </a:r>
          </a:p>
          <a:p>
            <a:pPr marL="171450" indent="-171450" algn="l">
              <a:spcBef>
                <a:spcPts val="900"/>
              </a:spcBef>
              <a:buClr>
                <a:srgbClr val="2DD4BF"/>
              </a:buClr>
              <a:buFont typeface="Arial"/>
              <a:buChar char="•"/>
            </a:pPr>
            <a:r>
              <a:rPr lang="en-US" sz="1400" b="0" dirty="0">
                <a:solidFill>
                  <a:srgbClr val="B8C2D3"/>
                </a:solidFill>
                <a:latin typeface="Segoe UI"/>
              </a:rPr>
              <a:t>Trained on vast public text</a:t>
            </a:r>
          </a:p>
          <a:p>
            <a:pPr marL="171450" indent="-171450" algn="l">
              <a:spcBef>
                <a:spcPts val="900"/>
              </a:spcBef>
              <a:buClr>
                <a:srgbClr val="2DD4BF"/>
              </a:buClr>
              <a:buFont typeface="Arial"/>
              <a:buChar char="•"/>
            </a:pPr>
            <a:r>
              <a:rPr lang="en-US" sz="1400" b="0" dirty="0">
                <a:solidFill>
                  <a:srgbClr val="B8C2D3"/>
                </a:solidFill>
                <a:latin typeface="Segoe UI"/>
              </a:rPr>
              <a:t>Reasons, summarizes, writes code</a:t>
            </a:r>
          </a:p>
        </p:txBody>
      </p:sp>
      <p:sp>
        <p:nvSpPr>
          <p:cNvPr id="53" name="card2">
            <a:extLst>
              <a:ext uri="{FF2B5EF4-FFF2-40B4-BE49-F238E27FC236}">
                <a16:creationId xmlns:a16="http://schemas.microsoft.com/office/drawing/2014/main" id="{5D169F97-28B5-4D86-8120-728D8EC84AA9}"/>
              </a:ext>
            </a:extLst>
          </p:cNvPr>
          <p:cNvSpPr/>
          <p:nvPr/>
        </p:nvSpPr>
        <p:spPr>
          <a:xfrm>
            <a:off x="8026400" y="3708400"/>
            <a:ext cx="3517900" cy="1905000"/>
          </a:xfrm>
          <a:prstGeom prst="roundRect">
            <a:avLst>
              <a:gd name="adj" fmla="val 7000"/>
            </a:avLst>
          </a:prstGeom>
          <a:solidFill>
            <a:srgbClr val="0F2A30"/>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4" name="cnum2">
            <a:extLst>
              <a:ext uri="{FF2B5EF4-FFF2-40B4-BE49-F238E27FC236}">
                <a16:creationId xmlns:a16="http://schemas.microsoft.com/office/drawing/2014/main" id="{A7B8F387-F483-4959-AD6C-6058EA7E98C4}"/>
              </a:ext>
            </a:extLst>
          </p:cNvPr>
          <p:cNvSpPr txBox="1"/>
          <p:nvPr/>
        </p:nvSpPr>
        <p:spPr>
          <a:xfrm>
            <a:off x="8229600" y="3886200"/>
            <a:ext cx="1270000" cy="203200"/>
          </a:xfrm>
          <a:prstGeom prst="rect">
            <a:avLst/>
          </a:prstGeom>
          <a:noFill/>
        </p:spPr>
        <p:txBody>
          <a:bodyPr vertOverflow="overflow" vert="horz" wrap="square" lIns="0" tIns="0" rIns="0" bIns="0" rtlCol="0" anchor="t">
            <a:noAutofit/>
          </a:bodyPr>
          <a:lstStyle/>
          <a:p>
            <a:pPr algn="l"/>
            <a:r>
              <a:rPr lang="en-IN" sz="1100" b="1">
                <a:solidFill>
                  <a:srgbClr val="2DD4BF"/>
                </a:solidFill>
                <a:latin typeface="Segoe UI"/>
                <a:cs typeface="Segoe UI"/>
              </a:rPr>
              <a:t>03</a:t>
            </a:r>
          </a:p>
        </p:txBody>
      </p:sp>
      <p:sp>
        <p:nvSpPr>
          <p:cNvPr id="55" name="ctx2">
            <a:extLst>
              <a:ext uri="{FF2B5EF4-FFF2-40B4-BE49-F238E27FC236}">
                <a16:creationId xmlns:a16="http://schemas.microsoft.com/office/drawing/2014/main" id="{7B1B4D6A-9E44-4E20-B43C-C1714544D6D9}"/>
              </a:ext>
            </a:extLst>
          </p:cNvPr>
          <p:cNvSpPr txBox="1"/>
          <p:nvPr/>
        </p:nvSpPr>
        <p:spPr>
          <a:xfrm>
            <a:off x="8229600" y="4140200"/>
            <a:ext cx="3111500" cy="1397000"/>
          </a:xfrm>
          <a:prstGeom prst="rect">
            <a:avLst/>
          </a:prstGeom>
          <a:noFill/>
        </p:spPr>
        <p:txBody>
          <a:bodyPr vertOverflow="overflow" vert="horz" wrap="square" lIns="0" tIns="0" rIns="0" bIns="0" rtlCol="0" anchor="t">
            <a:noAutofit/>
          </a:bodyPr>
          <a:lstStyle/>
          <a:p>
            <a:pPr algn="l"/>
            <a:r>
              <a:rPr lang="en-US" sz="1700" b="1" dirty="0">
                <a:solidFill>
                  <a:srgbClr val="F1F5F9"/>
                </a:solidFill>
                <a:latin typeface="Segoe UI"/>
              </a:rPr>
              <a:t>No database inside</a:t>
            </a:r>
          </a:p>
          <a:p>
            <a:pPr marL="171450" indent="-171450" algn="l">
              <a:spcBef>
                <a:spcPts val="900"/>
              </a:spcBef>
              <a:buClr>
                <a:srgbClr val="2DD4BF"/>
              </a:buClr>
              <a:buFont typeface="Arial"/>
              <a:buChar char="•"/>
            </a:pPr>
            <a:r>
              <a:rPr lang="en-US" sz="1400" b="0" dirty="0">
                <a:solidFill>
                  <a:srgbClr val="E2E8F0"/>
                </a:solidFill>
                <a:latin typeface="Segoe UI"/>
              </a:rPr>
              <a:t>Knowledge is frozen in its weights</a:t>
            </a:r>
          </a:p>
          <a:p>
            <a:pPr marL="171450" indent="-171450" algn="l">
              <a:spcBef>
                <a:spcPts val="900"/>
              </a:spcBef>
              <a:buClr>
                <a:srgbClr val="2DD4BF"/>
              </a:buClr>
              <a:buFont typeface="Arial"/>
              <a:buChar char="•"/>
            </a:pPr>
            <a:r>
              <a:rPr lang="en-US" sz="1400" b="0" dirty="0">
                <a:solidFill>
                  <a:srgbClr val="E2E8F0"/>
                </a:solidFill>
                <a:latin typeface="Segoe UI"/>
              </a:rPr>
              <a:t>No way to add a fact later</a:t>
            </a:r>
          </a:p>
        </p:txBody>
      </p:sp>
      <p:sp>
        <p:nvSpPr>
          <p:cNvPr id="56" name="banner">
            <a:extLst>
              <a:ext uri="{FF2B5EF4-FFF2-40B4-BE49-F238E27FC236}">
                <a16:creationId xmlns:a16="http://schemas.microsoft.com/office/drawing/2014/main" id="{C215D468-50EC-4C28-8B9A-02E06D1068C2}"/>
              </a:ext>
            </a:extLst>
          </p:cNvPr>
          <p:cNvSpPr/>
          <p:nvPr/>
        </p:nvSpPr>
        <p:spPr>
          <a:xfrm>
            <a:off x="635000" y="5816600"/>
            <a:ext cx="10909300" cy="406400"/>
          </a:xfrm>
          <a:prstGeom prst="roundRect">
            <a:avLst>
              <a:gd name="adj" fmla="val 14000"/>
            </a:avLst>
          </a:prstGeom>
          <a:solidFill>
            <a:srgbClr val="0F2A30"/>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7" name="bannerT">
            <a:extLst>
              <a:ext uri="{FF2B5EF4-FFF2-40B4-BE49-F238E27FC236}">
                <a16:creationId xmlns:a16="http://schemas.microsoft.com/office/drawing/2014/main" id="{02D0D543-52F2-448F-A070-2BDF1AB0A41D}"/>
              </a:ext>
            </a:extLst>
          </p:cNvPr>
          <p:cNvSpPr txBox="1"/>
          <p:nvPr/>
        </p:nvSpPr>
        <p:spPr>
          <a:xfrm>
            <a:off x="838200" y="5816600"/>
            <a:ext cx="10502900" cy="406400"/>
          </a:xfrm>
          <a:prstGeom prst="rect">
            <a:avLst/>
          </a:prstGeom>
          <a:noFill/>
        </p:spPr>
        <p:txBody>
          <a:bodyPr vertOverflow="overflow" vert="horz" wrap="square" lIns="0" tIns="0" rIns="0" bIns="0" rtlCol="0" anchor="ctr" anchorCtr="0">
            <a:noAutofit/>
          </a:bodyPr>
          <a:lstStyle/>
          <a:p>
            <a:pPr algn="l"/>
            <a:r>
              <a:rPr lang="en-US" sz="1400" b="1" dirty="0">
                <a:solidFill>
                  <a:srgbClr val="2DD4BF"/>
                </a:solidFill>
                <a:latin typeface="Segoe UI"/>
              </a:rPr>
              <a:t>This last point is the whole reason RAG exists.</a:t>
            </a:r>
            <a:r>
              <a:rPr lang="en-US" sz="1400" b="0" dirty="0">
                <a:solidFill>
                  <a:srgbClr val="E2E8F0"/>
                </a:solidFill>
                <a:latin typeface="Segoe UI"/>
              </a:rPr>
              <a:t>  We'll come back to it in two slides.</a:t>
            </a:r>
          </a:p>
        </p:txBody>
      </p:sp>
      <p:sp>
        <p:nvSpPr>
          <p:cNvPr id="7" name="Rectangle: Rounded Corners 6">
            <a:extLst>
              <a:ext uri="{FF2B5EF4-FFF2-40B4-BE49-F238E27FC236}">
                <a16:creationId xmlns:a16="http://schemas.microsoft.com/office/drawing/2014/main" id="{D223E68A-96ED-4700-829F-77AA4B23E548}"/>
              </a:ext>
            </a:extLst>
          </p:cNvPr>
          <p:cNvSpPr/>
          <p:nvPr/>
        </p:nvSpPr>
        <p:spPr>
          <a:xfrm>
            <a:off x="3416300" y="3860800"/>
            <a:ext cx="533400" cy="533400"/>
          </a:xfrm>
          <a:prstGeom prst="roundRect">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pic>
        <p:nvPicPr>
          <p:cNvPr id="58" name="Graphic 58" descr="Probabil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17900" y="3962400"/>
            <a:ext cx="330200" cy="330200"/>
          </a:xfrm>
          <a:prstGeom prst="rect">
            <a:avLst/>
          </a:prstGeom>
        </p:spPr>
      </p:pic>
      <p:sp>
        <p:nvSpPr>
          <p:cNvPr id="8" name="Rectangle: Rounded Corners 7">
            <a:extLst>
              <a:ext uri="{FF2B5EF4-FFF2-40B4-BE49-F238E27FC236}">
                <a16:creationId xmlns:a16="http://schemas.microsoft.com/office/drawing/2014/main" id="{F71969AB-F120-452C-AB39-9F0B08A1B713}"/>
              </a:ext>
            </a:extLst>
          </p:cNvPr>
          <p:cNvSpPr/>
          <p:nvPr/>
        </p:nvSpPr>
        <p:spPr>
          <a:xfrm>
            <a:off x="7112000" y="3860800"/>
            <a:ext cx="533400" cy="533400"/>
          </a:xfrm>
          <a:prstGeom prst="roundRect">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pic>
        <p:nvPicPr>
          <p:cNvPr id="59" name="Graphic 59" descr="Scal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3600" y="3962400"/>
            <a:ext cx="330200" cy="330200"/>
          </a:xfrm>
          <a:prstGeom prst="rect">
            <a:avLst/>
          </a:prstGeom>
        </p:spPr>
      </p:pic>
      <p:sp>
        <p:nvSpPr>
          <p:cNvPr id="9" name="Rectangle: Rounded Corners 8">
            <a:extLst>
              <a:ext uri="{FF2B5EF4-FFF2-40B4-BE49-F238E27FC236}">
                <a16:creationId xmlns:a16="http://schemas.microsoft.com/office/drawing/2014/main" id="{1886B7D0-4601-4704-8F56-4EE6FE440296}"/>
              </a:ext>
            </a:extLst>
          </p:cNvPr>
          <p:cNvSpPr/>
          <p:nvPr/>
        </p:nvSpPr>
        <p:spPr>
          <a:xfrm>
            <a:off x="10807700" y="3860800"/>
            <a:ext cx="533400" cy="533400"/>
          </a:xfrm>
          <a:prstGeom prst="roundRect">
            <a:avLst/>
          </a:prstGeom>
          <a:solidFill>
            <a:srgbClr val="134A4A"/>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pic>
        <p:nvPicPr>
          <p:cNvPr id="60" name="Graphic 60" descr="No databas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09300" y="3962400"/>
            <a:ext cx="330200" cy="330200"/>
          </a:xfrm>
          <a:prstGeom prst="rect">
            <a:avLst/>
          </a:prstGeom>
        </p:spPr>
      </p:pic>
    </p:spTree>
    <p:extLst>
      <p:ext uri="{BB962C8B-B14F-4D97-AF65-F5344CB8AC3E}">
        <p14:creationId xmlns:p14="http://schemas.microsoft.com/office/powerpoint/2010/main" val="3904243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UNDERSTANDING LLMS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Tokens, tokenization &amp; context window</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16" name="TextBox 15"/>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6</a:t>
            </a:r>
          </a:p>
        </p:txBody>
      </p:sp>
      <p:sp>
        <p:nvSpPr>
          <p:cNvPr id="3" name="Rectangle: Rounded Corners 2">
            <a:extLst>
              <a:ext uri="{FF2B5EF4-FFF2-40B4-BE49-F238E27FC236}">
                <a16:creationId xmlns:a16="http://schemas.microsoft.com/office/drawing/2014/main" id="{AA0151D5-A139-4E43-BBE4-D0E3A6BE6564}"/>
              </a:ext>
            </a:extLst>
          </p:cNvPr>
          <p:cNvSpPr/>
          <p:nvPr/>
        </p:nvSpPr>
        <p:spPr>
          <a:xfrm>
            <a:off x="635000" y="1397000"/>
            <a:ext cx="5334000" cy="2032000"/>
          </a:xfrm>
          <a:prstGeom prst="roundRect">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7" name="TextBox 16">
            <a:extLst>
              <a:ext uri="{FF2B5EF4-FFF2-40B4-BE49-F238E27FC236}">
                <a16:creationId xmlns:a16="http://schemas.microsoft.com/office/drawing/2014/main" id="{841FD58D-AC57-428C-B399-D872E651098F}"/>
              </a:ext>
            </a:extLst>
          </p:cNvPr>
          <p:cNvSpPr txBox="1"/>
          <p:nvPr/>
        </p:nvSpPr>
        <p:spPr>
          <a:xfrm>
            <a:off x="889000" y="1600200"/>
            <a:ext cx="4826000" cy="203200"/>
          </a:xfrm>
          <a:prstGeom prst="rect">
            <a:avLst/>
          </a:prstGeom>
          <a:noFill/>
        </p:spPr>
        <p:txBody>
          <a:bodyPr vertOverflow="overflow" vert="horz" wrap="square" lIns="0" tIns="0" rIns="0" bIns="0" rtlCol="0" anchor="t" anchorCtr="0">
            <a:noAutofit/>
          </a:bodyPr>
          <a:lstStyle/>
          <a:p>
            <a:pPr algn="l"/>
            <a:r>
              <a:rPr lang="en-US" sz="1050" b="1">
                <a:solidFill>
                  <a:srgbClr val="2DD4BF"/>
                </a:solidFill>
                <a:latin typeface="Segoe UI"/>
                <a:cs typeface="Segoe UI"/>
              </a:rPr>
              <a:t>A TOKEN ISN'T A WORD</a:t>
            </a:r>
            <a:endParaRPr lang="en-IN" sz="1050" b="1">
              <a:solidFill>
                <a:srgbClr val="2DD4BF"/>
              </a:solidFill>
              <a:latin typeface="Segoe UI"/>
              <a:cs typeface="Segoe UI"/>
            </a:endParaRPr>
          </a:p>
        </p:txBody>
      </p:sp>
      <p:sp>
        <p:nvSpPr>
          <p:cNvPr id="18" name="TextBox 17">
            <a:extLst>
              <a:ext uri="{FF2B5EF4-FFF2-40B4-BE49-F238E27FC236}">
                <a16:creationId xmlns:a16="http://schemas.microsoft.com/office/drawing/2014/main" id="{90C0FFF7-6C30-41F9-A140-B31368C8922A}"/>
              </a:ext>
            </a:extLst>
          </p:cNvPr>
          <p:cNvSpPr txBox="1"/>
          <p:nvPr/>
        </p:nvSpPr>
        <p:spPr>
          <a:xfrm>
            <a:off x="889000" y="1930400"/>
            <a:ext cx="4826000" cy="304800"/>
          </a:xfrm>
          <a:prstGeom prst="rect">
            <a:avLst/>
          </a:prstGeom>
          <a:noFill/>
        </p:spPr>
        <p:txBody>
          <a:bodyPr vertOverflow="overflow" vert="horz" wrap="square" lIns="0" tIns="0" rIns="0" bIns="0" rtlCol="0" anchor="t" anchorCtr="0">
            <a:noAutofit/>
          </a:bodyPr>
          <a:lstStyle/>
          <a:p>
            <a:pPr algn="l"/>
            <a:r>
              <a:rPr lang="en-IN" sz="1700">
                <a:solidFill>
                  <a:srgbClr val="F1F5F9"/>
                </a:solidFill>
                <a:latin typeface="Consolas"/>
              </a:rPr>
              <a:t>"unbelievable"</a:t>
            </a:r>
          </a:p>
        </p:txBody>
      </p:sp>
      <p:sp>
        <p:nvSpPr>
          <p:cNvPr id="19" name="Rectangle: Rounded Corners 18">
            <a:extLst>
              <a:ext uri="{FF2B5EF4-FFF2-40B4-BE49-F238E27FC236}">
                <a16:creationId xmlns:a16="http://schemas.microsoft.com/office/drawing/2014/main" id="{6CEC11AE-3CA8-4A85-A17F-F3AE604B185A}"/>
              </a:ext>
            </a:extLst>
          </p:cNvPr>
          <p:cNvSpPr/>
          <p:nvPr/>
        </p:nvSpPr>
        <p:spPr>
          <a:xfrm>
            <a:off x="889000" y="2463800"/>
            <a:ext cx="711200" cy="533400"/>
          </a:xfrm>
          <a:prstGeom prst="roundRect">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600" b="1">
                <a:solidFill>
                  <a:srgbClr val="2DD4BF"/>
                </a:solidFill>
                <a:latin typeface="Consolas"/>
              </a:rPr>
              <a:t>un</a:t>
            </a:r>
          </a:p>
        </p:txBody>
      </p:sp>
      <p:sp>
        <p:nvSpPr>
          <p:cNvPr id="20" name="Rectangle: Rounded Corners 19">
            <a:extLst>
              <a:ext uri="{FF2B5EF4-FFF2-40B4-BE49-F238E27FC236}">
                <a16:creationId xmlns:a16="http://schemas.microsoft.com/office/drawing/2014/main" id="{377AF898-C8D1-4FA2-9473-E72F4D33D1BE}"/>
              </a:ext>
            </a:extLst>
          </p:cNvPr>
          <p:cNvSpPr/>
          <p:nvPr/>
        </p:nvSpPr>
        <p:spPr>
          <a:xfrm>
            <a:off x="1676400" y="2463800"/>
            <a:ext cx="1219200" cy="533400"/>
          </a:xfrm>
          <a:prstGeom prst="roundRect">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600" b="1">
                <a:solidFill>
                  <a:srgbClr val="2DD4BF"/>
                </a:solidFill>
                <a:latin typeface="Consolas"/>
              </a:rPr>
              <a:t>believ</a:t>
            </a:r>
          </a:p>
        </p:txBody>
      </p:sp>
      <p:sp>
        <p:nvSpPr>
          <p:cNvPr id="21" name="Rectangle: Rounded Corners 20">
            <a:extLst>
              <a:ext uri="{FF2B5EF4-FFF2-40B4-BE49-F238E27FC236}">
                <a16:creationId xmlns:a16="http://schemas.microsoft.com/office/drawing/2014/main" id="{83F7F535-CEE5-46DB-A085-B5D6FA225DFB}"/>
              </a:ext>
            </a:extLst>
          </p:cNvPr>
          <p:cNvSpPr/>
          <p:nvPr/>
        </p:nvSpPr>
        <p:spPr>
          <a:xfrm>
            <a:off x="2971800" y="2463800"/>
            <a:ext cx="889000" cy="533400"/>
          </a:xfrm>
          <a:prstGeom prst="roundRect">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600" b="1">
                <a:solidFill>
                  <a:srgbClr val="2DD4BF"/>
                </a:solidFill>
                <a:latin typeface="Consolas"/>
              </a:rPr>
              <a:t>able</a:t>
            </a:r>
          </a:p>
        </p:txBody>
      </p:sp>
      <p:sp>
        <p:nvSpPr>
          <p:cNvPr id="22" name="TextBox 21">
            <a:extLst>
              <a:ext uri="{FF2B5EF4-FFF2-40B4-BE49-F238E27FC236}">
                <a16:creationId xmlns:a16="http://schemas.microsoft.com/office/drawing/2014/main" id="{89EC4E51-B9A9-438D-BC24-25553BF2AAF0}"/>
              </a:ext>
            </a:extLst>
          </p:cNvPr>
          <p:cNvSpPr txBox="1"/>
          <p:nvPr/>
        </p:nvSpPr>
        <p:spPr>
          <a:xfrm>
            <a:off x="4089400" y="2463800"/>
            <a:ext cx="1778000" cy="533400"/>
          </a:xfrm>
          <a:prstGeom prst="rect">
            <a:avLst/>
          </a:prstGeom>
          <a:noFill/>
        </p:spPr>
        <p:txBody>
          <a:bodyPr vertOverflow="overflow" vert="horz" wrap="square" lIns="0" tIns="0" rIns="0" bIns="0" rtlCol="0" anchor="ctr" anchorCtr="0">
            <a:noAutofit/>
          </a:bodyPr>
          <a:lstStyle/>
          <a:p>
            <a:pPr algn="l"/>
            <a:r>
              <a:rPr lang="en-IN" sz="1700" b="1">
                <a:solidFill>
                  <a:srgbClr val="F1F5F9"/>
                </a:solidFill>
                <a:latin typeface="Segoe UI"/>
                <a:cs typeface="Segoe UI"/>
              </a:rPr>
              <a:t>= 3 tokens</a:t>
            </a:r>
          </a:p>
        </p:txBody>
      </p:sp>
      <p:sp>
        <p:nvSpPr>
          <p:cNvPr id="23" name="TextBox 22">
            <a:extLst>
              <a:ext uri="{FF2B5EF4-FFF2-40B4-BE49-F238E27FC236}">
                <a16:creationId xmlns:a16="http://schemas.microsoft.com/office/drawing/2014/main" id="{C735696B-BB0B-432D-A4A7-ADA70820E5BA}"/>
              </a:ext>
            </a:extLst>
          </p:cNvPr>
          <p:cNvSpPr txBox="1"/>
          <p:nvPr/>
        </p:nvSpPr>
        <p:spPr>
          <a:xfrm>
            <a:off x="889000" y="3098800"/>
            <a:ext cx="4826000" cy="228600"/>
          </a:xfrm>
          <a:prstGeom prst="rect">
            <a:avLst/>
          </a:prstGeom>
          <a:noFill/>
        </p:spPr>
        <p:txBody>
          <a:bodyPr vertOverflow="overflow" vert="horz" wrap="square" lIns="0" tIns="0" rIns="0" bIns="0" rtlCol="0" anchor="t" anchorCtr="0">
            <a:noAutofit/>
          </a:bodyPr>
          <a:lstStyle/>
          <a:p>
            <a:pPr algn="l"/>
            <a:r>
              <a:rPr lang="en-US" sz="1250">
                <a:solidFill>
                  <a:srgbClr val="B8C2D3"/>
                </a:solidFill>
                <a:latin typeface="Segoe UI"/>
                <a:cs typeface="Segoe UI"/>
              </a:rPr>
              <a:t>The model reads subword pieces, not words.</a:t>
            </a:r>
            <a:endParaRPr lang="en-IN" sz="1250">
              <a:solidFill>
                <a:srgbClr val="B8C2D3"/>
              </a:solidFill>
              <a:latin typeface="Segoe UI"/>
              <a:cs typeface="Segoe UI"/>
            </a:endParaRPr>
          </a:p>
        </p:txBody>
      </p:sp>
      <p:sp>
        <p:nvSpPr>
          <p:cNvPr id="24" name="Rectangle: Rounded Corners 23">
            <a:extLst>
              <a:ext uri="{FF2B5EF4-FFF2-40B4-BE49-F238E27FC236}">
                <a16:creationId xmlns:a16="http://schemas.microsoft.com/office/drawing/2014/main" id="{10CF520C-DA07-49C4-825D-8BE83CF9FDFD}"/>
              </a:ext>
            </a:extLst>
          </p:cNvPr>
          <p:cNvSpPr/>
          <p:nvPr/>
        </p:nvSpPr>
        <p:spPr>
          <a:xfrm>
            <a:off x="6146800" y="1397000"/>
            <a:ext cx="5397500" cy="2032000"/>
          </a:xfrm>
          <a:prstGeom prst="roundRect">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5" name="TextBox 24">
            <a:extLst>
              <a:ext uri="{FF2B5EF4-FFF2-40B4-BE49-F238E27FC236}">
                <a16:creationId xmlns:a16="http://schemas.microsoft.com/office/drawing/2014/main" id="{198FC2D4-C7FB-49FB-BF01-CEFDBA408503}"/>
              </a:ext>
            </a:extLst>
          </p:cNvPr>
          <p:cNvSpPr txBox="1"/>
          <p:nvPr/>
        </p:nvSpPr>
        <p:spPr>
          <a:xfrm>
            <a:off x="6400800" y="1600200"/>
            <a:ext cx="4826000" cy="203200"/>
          </a:xfrm>
          <a:prstGeom prst="rect">
            <a:avLst/>
          </a:prstGeom>
          <a:noFill/>
        </p:spPr>
        <p:txBody>
          <a:bodyPr vertOverflow="overflow" vert="horz" wrap="square" lIns="0" tIns="0" rIns="0" bIns="0" rtlCol="0" anchor="t" anchorCtr="0">
            <a:noAutofit/>
          </a:bodyPr>
          <a:lstStyle/>
          <a:p>
            <a:pPr algn="l"/>
            <a:r>
              <a:rPr lang="en-IN" sz="1050" b="1">
                <a:solidFill>
                  <a:srgbClr val="2DD4BF"/>
                </a:solidFill>
                <a:latin typeface="Segoe UI"/>
                <a:cs typeface="Segoe UI"/>
              </a:rPr>
              <a:t>RULE OF THUMB</a:t>
            </a:r>
          </a:p>
        </p:txBody>
      </p:sp>
      <p:sp>
        <p:nvSpPr>
          <p:cNvPr id="26" name="TextBox 25">
            <a:extLst>
              <a:ext uri="{FF2B5EF4-FFF2-40B4-BE49-F238E27FC236}">
                <a16:creationId xmlns:a16="http://schemas.microsoft.com/office/drawing/2014/main" id="{5906C226-4486-45B5-9F90-71F4DE3E933B}"/>
              </a:ext>
            </a:extLst>
          </p:cNvPr>
          <p:cNvSpPr txBox="1"/>
          <p:nvPr/>
        </p:nvSpPr>
        <p:spPr>
          <a:xfrm>
            <a:off x="6400800" y="1955800"/>
            <a:ext cx="2349500" cy="508000"/>
          </a:xfrm>
          <a:prstGeom prst="rect">
            <a:avLst/>
          </a:prstGeom>
          <a:noFill/>
        </p:spPr>
        <p:txBody>
          <a:bodyPr vertOverflow="overflow" vert="horz" wrap="square" lIns="0" tIns="0" rIns="0" bIns="0" rtlCol="0" anchor="t" anchorCtr="0">
            <a:noAutofit/>
          </a:bodyPr>
          <a:lstStyle/>
          <a:p>
            <a:pPr algn="l"/>
            <a:r>
              <a:rPr lang="en-IN" sz="2800" b="1">
                <a:solidFill>
                  <a:srgbClr val="2DD4BF"/>
                </a:solidFill>
                <a:latin typeface="Segoe UI"/>
                <a:cs typeface="Segoe UI"/>
              </a:rPr>
              <a:t>≈ 4 chars</a:t>
            </a:r>
          </a:p>
        </p:txBody>
      </p:sp>
      <p:sp>
        <p:nvSpPr>
          <p:cNvPr id="27" name="TextBox 26">
            <a:extLst>
              <a:ext uri="{FF2B5EF4-FFF2-40B4-BE49-F238E27FC236}">
                <a16:creationId xmlns:a16="http://schemas.microsoft.com/office/drawing/2014/main" id="{315A5C56-4946-49D8-8660-3C7C98A47A97}"/>
              </a:ext>
            </a:extLst>
          </p:cNvPr>
          <p:cNvSpPr txBox="1"/>
          <p:nvPr/>
        </p:nvSpPr>
        <p:spPr>
          <a:xfrm>
            <a:off x="6400800" y="2540000"/>
            <a:ext cx="2349500" cy="558800"/>
          </a:xfrm>
          <a:prstGeom prst="rect">
            <a:avLst/>
          </a:prstGeom>
          <a:noFill/>
        </p:spPr>
        <p:txBody>
          <a:bodyPr vertOverflow="overflow" vert="horz" wrap="square" lIns="0" tIns="0" rIns="0" bIns="0" rtlCol="0" anchor="t" anchorCtr="0">
            <a:noAutofit/>
          </a:bodyPr>
          <a:lstStyle/>
          <a:p>
            <a:pPr algn="l"/>
            <a:r>
              <a:rPr lang="en-US" sz="1300">
                <a:solidFill>
                  <a:srgbClr val="B8C2D3"/>
                </a:solidFill>
                <a:latin typeface="Segoe UI"/>
                <a:cs typeface="Segoe UI"/>
              </a:rPr>
              <a:t>per token, about ¾ of an English word</a:t>
            </a:r>
            <a:endParaRPr lang="en-IN" sz="1300">
              <a:solidFill>
                <a:srgbClr val="B8C2D3"/>
              </a:solidFill>
              <a:latin typeface="Segoe UI"/>
              <a:cs typeface="Segoe UI"/>
            </a:endParaRPr>
          </a:p>
        </p:txBody>
      </p:sp>
      <p:sp>
        <p:nvSpPr>
          <p:cNvPr id="28" name="Rectangle 27">
            <a:extLst>
              <a:ext uri="{FF2B5EF4-FFF2-40B4-BE49-F238E27FC236}">
                <a16:creationId xmlns:a16="http://schemas.microsoft.com/office/drawing/2014/main" id="{28B78B54-EC50-4FFC-BDA7-1DCA09DCC0E0}"/>
              </a:ext>
            </a:extLst>
          </p:cNvPr>
          <p:cNvSpPr/>
          <p:nvPr/>
        </p:nvSpPr>
        <p:spPr>
          <a:xfrm>
            <a:off x="8864600" y="2006600"/>
            <a:ext cx="12700" cy="11430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9" name="TextBox 28">
            <a:extLst>
              <a:ext uri="{FF2B5EF4-FFF2-40B4-BE49-F238E27FC236}">
                <a16:creationId xmlns:a16="http://schemas.microsoft.com/office/drawing/2014/main" id="{B4D97055-29B9-4A42-BECE-0A630DD01923}"/>
              </a:ext>
            </a:extLst>
          </p:cNvPr>
          <p:cNvSpPr txBox="1"/>
          <p:nvPr/>
        </p:nvSpPr>
        <p:spPr>
          <a:xfrm>
            <a:off x="9067800" y="1955800"/>
            <a:ext cx="2286000" cy="508000"/>
          </a:xfrm>
          <a:prstGeom prst="rect">
            <a:avLst/>
          </a:prstGeom>
          <a:noFill/>
        </p:spPr>
        <p:txBody>
          <a:bodyPr vertOverflow="overflow" vert="horz" wrap="square" lIns="0" tIns="0" rIns="0" bIns="0" rtlCol="0" anchor="t" anchorCtr="0">
            <a:noAutofit/>
          </a:bodyPr>
          <a:lstStyle/>
          <a:p>
            <a:pPr algn="l"/>
            <a:r>
              <a:rPr lang="en-IN" sz="2800" b="1">
                <a:solidFill>
                  <a:srgbClr val="2DD4BF"/>
                </a:solidFill>
                <a:latin typeface="Segoe UI"/>
                <a:cs typeface="Segoe UI"/>
              </a:rPr>
              <a:t>5–7K</a:t>
            </a:r>
          </a:p>
        </p:txBody>
      </p:sp>
      <p:sp>
        <p:nvSpPr>
          <p:cNvPr id="30" name="TextBox 29">
            <a:extLst>
              <a:ext uri="{FF2B5EF4-FFF2-40B4-BE49-F238E27FC236}">
                <a16:creationId xmlns:a16="http://schemas.microsoft.com/office/drawing/2014/main" id="{8C072C99-31B7-4230-BF46-FE2E6ED22AA2}"/>
              </a:ext>
            </a:extLst>
          </p:cNvPr>
          <p:cNvSpPr txBox="1"/>
          <p:nvPr/>
        </p:nvSpPr>
        <p:spPr>
          <a:xfrm>
            <a:off x="9067800" y="2540000"/>
            <a:ext cx="2286000" cy="558800"/>
          </a:xfrm>
          <a:prstGeom prst="rect">
            <a:avLst/>
          </a:prstGeom>
          <a:noFill/>
        </p:spPr>
        <p:txBody>
          <a:bodyPr vertOverflow="overflow" vert="horz" wrap="square" lIns="0" tIns="0" rIns="0" bIns="0" rtlCol="0" anchor="t" anchorCtr="0">
            <a:noAutofit/>
          </a:bodyPr>
          <a:lstStyle/>
          <a:p>
            <a:pPr algn="l"/>
            <a:r>
              <a:rPr lang="en-IN" sz="1300">
                <a:solidFill>
                  <a:srgbClr val="B8C2D3"/>
                </a:solidFill>
                <a:latin typeface="Segoe UI"/>
                <a:cs typeface="Segoe UI"/>
              </a:rPr>
              <a:t>tokens in a 10-page document</a:t>
            </a:r>
          </a:p>
        </p:txBody>
      </p:sp>
      <p:sp>
        <p:nvSpPr>
          <p:cNvPr id="31" name="Rectangle: Rounded Corners 30">
            <a:extLst>
              <a:ext uri="{FF2B5EF4-FFF2-40B4-BE49-F238E27FC236}">
                <a16:creationId xmlns:a16="http://schemas.microsoft.com/office/drawing/2014/main" id="{2E57BB5A-0F0E-4B19-A5AF-E07049DAC0B2}"/>
              </a:ext>
            </a:extLst>
          </p:cNvPr>
          <p:cNvSpPr/>
          <p:nvPr/>
        </p:nvSpPr>
        <p:spPr>
          <a:xfrm>
            <a:off x="635000" y="3606800"/>
            <a:ext cx="10909300" cy="2768600"/>
          </a:xfrm>
          <a:prstGeom prst="roundRect">
            <a:avLst/>
          </a:prstGeom>
          <a:solidFill>
            <a:srgbClr val="131C31"/>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2" name="TextBox 31">
            <a:extLst>
              <a:ext uri="{FF2B5EF4-FFF2-40B4-BE49-F238E27FC236}">
                <a16:creationId xmlns:a16="http://schemas.microsoft.com/office/drawing/2014/main" id="{F23F87EE-D89A-4A66-AFDE-F904020165CC}"/>
              </a:ext>
            </a:extLst>
          </p:cNvPr>
          <p:cNvSpPr txBox="1"/>
          <p:nvPr/>
        </p:nvSpPr>
        <p:spPr>
          <a:xfrm>
            <a:off x="889000" y="3784600"/>
            <a:ext cx="10401300" cy="203200"/>
          </a:xfrm>
          <a:prstGeom prst="rect">
            <a:avLst/>
          </a:prstGeom>
          <a:noFill/>
        </p:spPr>
        <p:txBody>
          <a:bodyPr vertOverflow="overflow" vert="horz" wrap="square" lIns="0" tIns="0" rIns="0" bIns="0" rtlCol="0" anchor="t" anchorCtr="0">
            <a:noAutofit/>
          </a:bodyPr>
          <a:lstStyle/>
          <a:p>
            <a:pPr algn="l"/>
            <a:r>
              <a:rPr lang="en-US" sz="1050" b="1">
                <a:solidFill>
                  <a:srgbClr val="2DD4BF"/>
                </a:solidFill>
                <a:latin typeface="Segoe UI"/>
                <a:cs typeface="Segoe UI"/>
              </a:rPr>
              <a:t>CONTEXT WINDOW = THE MODEL'S SHORT-TERM MEMORY</a:t>
            </a:r>
            <a:endParaRPr lang="en-IN" sz="1050" b="1">
              <a:solidFill>
                <a:srgbClr val="2DD4BF"/>
              </a:solidFill>
              <a:latin typeface="Segoe UI"/>
              <a:cs typeface="Segoe UI"/>
            </a:endParaRPr>
          </a:p>
        </p:txBody>
      </p:sp>
      <p:sp>
        <p:nvSpPr>
          <p:cNvPr id="33" name="Rectangle: Rounded Corners 32">
            <a:extLst>
              <a:ext uri="{FF2B5EF4-FFF2-40B4-BE49-F238E27FC236}">
                <a16:creationId xmlns:a16="http://schemas.microsoft.com/office/drawing/2014/main" id="{E68C6E9A-83D8-4062-8881-186D15815E4C}"/>
              </a:ext>
            </a:extLst>
          </p:cNvPr>
          <p:cNvSpPr/>
          <p:nvPr/>
        </p:nvSpPr>
        <p:spPr>
          <a:xfrm>
            <a:off x="838200" y="4089400"/>
            <a:ext cx="10502900" cy="660400"/>
          </a:xfrm>
          <a:prstGeom prst="roundRect">
            <a:avLst/>
          </a:prstGeom>
          <a:noFill/>
          <a:ln w="12700" cap="flat" cmpd="sng" algn="ctr">
            <a:solidFill>
              <a:srgbClr val="94A3B8"/>
            </a:solidFill>
            <a:prstDash val="dash"/>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4" name="Rectangle: Rounded Corners 33">
            <a:extLst>
              <a:ext uri="{FF2B5EF4-FFF2-40B4-BE49-F238E27FC236}">
                <a16:creationId xmlns:a16="http://schemas.microsoft.com/office/drawing/2014/main" id="{8A21A6FB-4995-4F5B-AB14-B81724D640D0}"/>
              </a:ext>
            </a:extLst>
          </p:cNvPr>
          <p:cNvSpPr/>
          <p:nvPr/>
        </p:nvSpPr>
        <p:spPr>
          <a:xfrm>
            <a:off x="914400" y="4165600"/>
            <a:ext cx="1524000" cy="508000"/>
          </a:xfrm>
          <a:prstGeom prst="roundRect">
            <a:avLst/>
          </a:prstGeom>
          <a:solidFill>
            <a:srgbClr val="33415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300" b="1">
                <a:solidFill>
                  <a:srgbClr val="E2E8F0"/>
                </a:solidFill>
                <a:latin typeface="Segoe UI"/>
                <a:cs typeface="Segoe UI"/>
              </a:rPr>
              <a:t>System prompt</a:t>
            </a:r>
          </a:p>
        </p:txBody>
      </p:sp>
      <p:sp>
        <p:nvSpPr>
          <p:cNvPr id="35" name="Rectangle: Rounded Corners 34">
            <a:extLst>
              <a:ext uri="{FF2B5EF4-FFF2-40B4-BE49-F238E27FC236}">
                <a16:creationId xmlns:a16="http://schemas.microsoft.com/office/drawing/2014/main" id="{EB7BA2F8-9EA3-4106-8AC6-D1E3DC36FDC5}"/>
              </a:ext>
            </a:extLst>
          </p:cNvPr>
          <p:cNvSpPr/>
          <p:nvPr/>
        </p:nvSpPr>
        <p:spPr>
          <a:xfrm>
            <a:off x="2514600" y="4165600"/>
            <a:ext cx="4191000" cy="508000"/>
          </a:xfrm>
          <a:prstGeom prst="round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300" b="1">
                <a:solidFill>
                  <a:srgbClr val="0A0F1E"/>
                </a:solidFill>
                <a:latin typeface="Segoe UI"/>
                <a:cs typeface="Segoe UI"/>
              </a:rPr>
              <a:t>Retrieved passages</a:t>
            </a:r>
          </a:p>
        </p:txBody>
      </p:sp>
      <p:sp>
        <p:nvSpPr>
          <p:cNvPr id="36" name="Rectangle: Rounded Corners 35">
            <a:extLst>
              <a:ext uri="{FF2B5EF4-FFF2-40B4-BE49-F238E27FC236}">
                <a16:creationId xmlns:a16="http://schemas.microsoft.com/office/drawing/2014/main" id="{93359453-6334-491A-9EC6-461F828023D8}"/>
              </a:ext>
            </a:extLst>
          </p:cNvPr>
          <p:cNvSpPr/>
          <p:nvPr/>
        </p:nvSpPr>
        <p:spPr>
          <a:xfrm>
            <a:off x="6781800" y="4165600"/>
            <a:ext cx="1651000" cy="508000"/>
          </a:xfrm>
          <a:prstGeom prst="roundRect">
            <a:avLst/>
          </a:prstGeom>
          <a:solidFill>
            <a:srgbClr val="33415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300" b="1">
                <a:solidFill>
                  <a:srgbClr val="E2E8F0"/>
                </a:solidFill>
                <a:latin typeface="Segoe UI"/>
                <a:cs typeface="Segoe UI"/>
              </a:rPr>
              <a:t>Question</a:t>
            </a:r>
          </a:p>
        </p:txBody>
      </p:sp>
      <p:sp>
        <p:nvSpPr>
          <p:cNvPr id="37" name="Rectangle: Rounded Corners 36">
            <a:extLst>
              <a:ext uri="{FF2B5EF4-FFF2-40B4-BE49-F238E27FC236}">
                <a16:creationId xmlns:a16="http://schemas.microsoft.com/office/drawing/2014/main" id="{34339FC1-FC9E-425D-BE14-3BE775573CC3}"/>
              </a:ext>
            </a:extLst>
          </p:cNvPr>
          <p:cNvSpPr/>
          <p:nvPr/>
        </p:nvSpPr>
        <p:spPr>
          <a:xfrm>
            <a:off x="8509000" y="4165600"/>
            <a:ext cx="2413000" cy="508000"/>
          </a:xfrm>
          <a:prstGeom prst="round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lIns="0" tIns="0" rIns="0" bIns="0" rtlCol="0" anchor="ctr" anchorCtr="0">
            <a:noAutofit/>
          </a:bodyPr>
          <a:lstStyle/>
          <a:p>
            <a:pPr algn="ctr"/>
            <a:r>
              <a:rPr lang="en-IN" sz="1300" b="1">
                <a:solidFill>
                  <a:srgbClr val="B8C2D3"/>
                </a:solidFill>
                <a:latin typeface="Segoe UI"/>
                <a:cs typeface="Segoe UI"/>
              </a:rPr>
              <a:t>Answer</a:t>
            </a:r>
          </a:p>
        </p:txBody>
      </p:sp>
      <p:sp>
        <p:nvSpPr>
          <p:cNvPr id="38" name="TextBox 37">
            <a:extLst>
              <a:ext uri="{FF2B5EF4-FFF2-40B4-BE49-F238E27FC236}">
                <a16:creationId xmlns:a16="http://schemas.microsoft.com/office/drawing/2014/main" id="{FAA9B521-EC65-4DFC-911A-A5EA293D2B72}"/>
              </a:ext>
            </a:extLst>
          </p:cNvPr>
          <p:cNvSpPr txBox="1"/>
          <p:nvPr/>
        </p:nvSpPr>
        <p:spPr>
          <a:xfrm>
            <a:off x="10160000" y="4800600"/>
            <a:ext cx="1181100" cy="203200"/>
          </a:xfrm>
          <a:prstGeom prst="rect">
            <a:avLst/>
          </a:prstGeom>
          <a:noFill/>
        </p:spPr>
        <p:txBody>
          <a:bodyPr vertOverflow="overflow" vert="horz" wrap="square" lIns="0" tIns="0" rIns="0" bIns="0" rtlCol="0" anchor="t" anchorCtr="0">
            <a:noAutofit/>
          </a:bodyPr>
          <a:lstStyle/>
          <a:p>
            <a:pPr algn="r"/>
            <a:r>
              <a:rPr lang="en-IN" sz="1100">
                <a:solidFill>
                  <a:srgbClr val="94A3B8"/>
                </a:solidFill>
                <a:latin typeface="Segoe UI"/>
                <a:cs typeface="Segoe UI"/>
              </a:rPr>
              <a:t>Token limit</a:t>
            </a:r>
          </a:p>
        </p:txBody>
      </p:sp>
      <p:sp>
        <p:nvSpPr>
          <p:cNvPr id="39" name="Rectangle 38">
            <a:extLst>
              <a:ext uri="{FF2B5EF4-FFF2-40B4-BE49-F238E27FC236}">
                <a16:creationId xmlns:a16="http://schemas.microsoft.com/office/drawing/2014/main" id="{936B56BA-A355-4D72-9EE6-30ACD9208F9A}"/>
              </a:ext>
            </a:extLst>
          </p:cNvPr>
          <p:cNvSpPr/>
          <p:nvPr/>
        </p:nvSpPr>
        <p:spPr>
          <a:xfrm>
            <a:off x="889000" y="5156200"/>
            <a:ext cx="38100" cy="8890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0" name="TextBox 39">
            <a:extLst>
              <a:ext uri="{FF2B5EF4-FFF2-40B4-BE49-F238E27FC236}">
                <a16:creationId xmlns:a16="http://schemas.microsoft.com/office/drawing/2014/main" id="{EF76B9CC-702B-4C36-A624-E1F8BDFF388D}"/>
              </a:ext>
            </a:extLst>
          </p:cNvPr>
          <p:cNvSpPr txBox="1"/>
          <p:nvPr/>
        </p:nvSpPr>
        <p:spPr>
          <a:xfrm>
            <a:off x="1066800" y="5130800"/>
            <a:ext cx="3162300" cy="304800"/>
          </a:xfrm>
          <a:prstGeom prst="rect">
            <a:avLst/>
          </a:prstGeom>
          <a:noFill/>
        </p:spPr>
        <p:txBody>
          <a:bodyPr vertOverflow="overflow" vert="horz" wrap="square" lIns="0" tIns="0" rIns="0" bIns="0" rtlCol="0" anchor="t" anchorCtr="0">
            <a:noAutofit/>
          </a:bodyPr>
          <a:lstStyle/>
          <a:p>
            <a:pPr algn="l"/>
            <a:r>
              <a:rPr lang="en-IN" sz="1600" b="1">
                <a:solidFill>
                  <a:srgbClr val="F1F5F9"/>
                </a:solidFill>
                <a:latin typeface="Segoe UI"/>
                <a:cs typeface="Segoe UI"/>
              </a:rPr>
              <a:t>Hard limit</a:t>
            </a:r>
          </a:p>
        </p:txBody>
      </p:sp>
      <p:sp>
        <p:nvSpPr>
          <p:cNvPr id="41" name="TextBox 40">
            <a:extLst>
              <a:ext uri="{FF2B5EF4-FFF2-40B4-BE49-F238E27FC236}">
                <a16:creationId xmlns:a16="http://schemas.microsoft.com/office/drawing/2014/main" id="{AB93A7FA-9EB0-4258-B732-DB08A072395D}"/>
              </a:ext>
            </a:extLst>
          </p:cNvPr>
          <p:cNvSpPr txBox="1"/>
          <p:nvPr/>
        </p:nvSpPr>
        <p:spPr>
          <a:xfrm>
            <a:off x="1066800" y="5486400"/>
            <a:ext cx="3162300" cy="558800"/>
          </a:xfrm>
          <a:prstGeom prst="rect">
            <a:avLst/>
          </a:prstGeom>
          <a:noFill/>
        </p:spPr>
        <p:txBody>
          <a:bodyPr vertOverflow="overflow" vert="horz" wrap="square" lIns="0" tIns="0" rIns="0" bIns="0" rtlCol="0" anchor="t" anchorCtr="0">
            <a:noAutofit/>
          </a:bodyPr>
          <a:lstStyle/>
          <a:p>
            <a:pPr algn="l"/>
            <a:r>
              <a:rPr lang="en-US" sz="1400">
                <a:solidFill>
                  <a:srgbClr val="B8C2D3"/>
                </a:solidFill>
                <a:latin typeface="Segoe UI"/>
                <a:cs typeface="Segoe UI"/>
              </a:rPr>
              <a:t>Prompt and answer share one token budget</a:t>
            </a:r>
            <a:endParaRPr lang="en-IN" sz="1400">
              <a:solidFill>
                <a:srgbClr val="B8C2D3"/>
              </a:solidFill>
              <a:latin typeface="Segoe UI"/>
              <a:cs typeface="Segoe UI"/>
            </a:endParaRPr>
          </a:p>
        </p:txBody>
      </p:sp>
      <p:sp>
        <p:nvSpPr>
          <p:cNvPr id="42" name="Rectangle 41">
            <a:extLst>
              <a:ext uri="{FF2B5EF4-FFF2-40B4-BE49-F238E27FC236}">
                <a16:creationId xmlns:a16="http://schemas.microsoft.com/office/drawing/2014/main" id="{D4CEE6CF-A95B-4E60-8D25-1F36C5067632}"/>
              </a:ext>
            </a:extLst>
          </p:cNvPr>
          <p:cNvSpPr/>
          <p:nvPr/>
        </p:nvSpPr>
        <p:spPr>
          <a:xfrm>
            <a:off x="4419600" y="5156200"/>
            <a:ext cx="38100" cy="8890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3" name="TextBox 42">
            <a:extLst>
              <a:ext uri="{FF2B5EF4-FFF2-40B4-BE49-F238E27FC236}">
                <a16:creationId xmlns:a16="http://schemas.microsoft.com/office/drawing/2014/main" id="{44EDF0D9-1941-4DD9-B183-2B9C0ADC487B}"/>
              </a:ext>
            </a:extLst>
          </p:cNvPr>
          <p:cNvSpPr txBox="1"/>
          <p:nvPr/>
        </p:nvSpPr>
        <p:spPr>
          <a:xfrm>
            <a:off x="4597400" y="5130800"/>
            <a:ext cx="3162300" cy="304800"/>
          </a:xfrm>
          <a:prstGeom prst="rect">
            <a:avLst/>
          </a:prstGeom>
          <a:noFill/>
        </p:spPr>
        <p:txBody>
          <a:bodyPr vertOverflow="overflow" vert="horz" wrap="square" lIns="0" tIns="0" rIns="0" bIns="0" rtlCol="0" anchor="t" anchorCtr="0">
            <a:noAutofit/>
          </a:bodyPr>
          <a:lstStyle/>
          <a:p>
            <a:pPr algn="l"/>
            <a:r>
              <a:rPr lang="en-IN" sz="1600" b="1">
                <a:solidFill>
                  <a:srgbClr val="F1F5F9"/>
                </a:solidFill>
                <a:latin typeface="Segoe UI"/>
                <a:cs typeface="Segoe UI"/>
              </a:rPr>
              <a:t>Can't fit everything</a:t>
            </a:r>
          </a:p>
        </p:txBody>
      </p:sp>
      <p:sp>
        <p:nvSpPr>
          <p:cNvPr id="44" name="TextBox 43">
            <a:extLst>
              <a:ext uri="{FF2B5EF4-FFF2-40B4-BE49-F238E27FC236}">
                <a16:creationId xmlns:a16="http://schemas.microsoft.com/office/drawing/2014/main" id="{8CBCBE77-B1CE-498D-BD49-413EBC54F7BF}"/>
              </a:ext>
            </a:extLst>
          </p:cNvPr>
          <p:cNvSpPr txBox="1"/>
          <p:nvPr/>
        </p:nvSpPr>
        <p:spPr>
          <a:xfrm>
            <a:off x="4597400" y="5486400"/>
            <a:ext cx="3162300" cy="558800"/>
          </a:xfrm>
          <a:prstGeom prst="rect">
            <a:avLst/>
          </a:prstGeom>
          <a:noFill/>
        </p:spPr>
        <p:txBody>
          <a:bodyPr vertOverflow="overflow" vert="horz" wrap="square" lIns="0" tIns="0" rIns="0" bIns="0" rtlCol="0" anchor="t" anchorCtr="0">
            <a:noAutofit/>
          </a:bodyPr>
          <a:lstStyle/>
          <a:p>
            <a:pPr algn="l"/>
            <a:r>
              <a:rPr lang="en-US" sz="1400">
                <a:solidFill>
                  <a:srgbClr val="B8C2D3"/>
                </a:solidFill>
                <a:latin typeface="Segoe UI"/>
                <a:cs typeface="Segoe UI"/>
              </a:rPr>
              <a:t>Retrieval picks the few passages that matter</a:t>
            </a:r>
            <a:endParaRPr lang="en-IN" sz="1400">
              <a:solidFill>
                <a:srgbClr val="B8C2D3"/>
              </a:solidFill>
              <a:latin typeface="Segoe UI"/>
              <a:cs typeface="Segoe UI"/>
            </a:endParaRPr>
          </a:p>
        </p:txBody>
      </p:sp>
      <p:sp>
        <p:nvSpPr>
          <p:cNvPr id="45" name="Rectangle 44">
            <a:extLst>
              <a:ext uri="{FF2B5EF4-FFF2-40B4-BE49-F238E27FC236}">
                <a16:creationId xmlns:a16="http://schemas.microsoft.com/office/drawing/2014/main" id="{90D5FA7C-3435-4210-9E34-E276D7DEAD88}"/>
              </a:ext>
            </a:extLst>
          </p:cNvPr>
          <p:cNvSpPr/>
          <p:nvPr/>
        </p:nvSpPr>
        <p:spPr>
          <a:xfrm>
            <a:off x="7950200" y="5156200"/>
            <a:ext cx="38100" cy="8890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6" name="TextBox 45">
            <a:extLst>
              <a:ext uri="{FF2B5EF4-FFF2-40B4-BE49-F238E27FC236}">
                <a16:creationId xmlns:a16="http://schemas.microsoft.com/office/drawing/2014/main" id="{A4290C07-039A-49B7-9DAC-5469463897B1}"/>
              </a:ext>
            </a:extLst>
          </p:cNvPr>
          <p:cNvSpPr txBox="1"/>
          <p:nvPr/>
        </p:nvSpPr>
        <p:spPr>
          <a:xfrm>
            <a:off x="8128000" y="5130800"/>
            <a:ext cx="3162300" cy="304800"/>
          </a:xfrm>
          <a:prstGeom prst="rect">
            <a:avLst/>
          </a:prstGeom>
          <a:noFill/>
        </p:spPr>
        <p:txBody>
          <a:bodyPr vertOverflow="overflow" vert="horz" wrap="square" lIns="0" tIns="0" rIns="0" bIns="0" rtlCol="0" anchor="t" anchorCtr="0">
            <a:noAutofit/>
          </a:bodyPr>
          <a:lstStyle/>
          <a:p>
            <a:pPr algn="l"/>
            <a:r>
              <a:rPr lang="en-IN" sz="1600" b="1">
                <a:solidFill>
                  <a:srgbClr val="F1F5F9"/>
                </a:solidFill>
                <a:latin typeface="Segoe UI"/>
                <a:cs typeface="Segoe UI"/>
              </a:rPr>
              <a:t>Bigger isn't enough</a:t>
            </a:r>
          </a:p>
        </p:txBody>
      </p:sp>
      <p:sp>
        <p:nvSpPr>
          <p:cNvPr id="47" name="TextBox 46">
            <a:extLst>
              <a:ext uri="{FF2B5EF4-FFF2-40B4-BE49-F238E27FC236}">
                <a16:creationId xmlns:a16="http://schemas.microsoft.com/office/drawing/2014/main" id="{AF233C03-7828-42FF-B037-5CD1EB9A3B72}"/>
              </a:ext>
            </a:extLst>
          </p:cNvPr>
          <p:cNvSpPr txBox="1"/>
          <p:nvPr/>
        </p:nvSpPr>
        <p:spPr>
          <a:xfrm>
            <a:off x="8128000" y="5486400"/>
            <a:ext cx="3162300" cy="558800"/>
          </a:xfrm>
          <a:prstGeom prst="rect">
            <a:avLst/>
          </a:prstGeom>
          <a:noFill/>
        </p:spPr>
        <p:txBody>
          <a:bodyPr vertOverflow="overflow" vert="horz" wrap="square" lIns="0" tIns="0" rIns="0" bIns="0" rtlCol="0" anchor="t" anchorCtr="0">
            <a:noAutofit/>
          </a:bodyPr>
          <a:lstStyle/>
          <a:p>
            <a:pPr algn="l"/>
            <a:r>
              <a:rPr lang="en-US" sz="1400">
                <a:solidFill>
                  <a:srgbClr val="B8C2D3"/>
                </a:solidFill>
                <a:latin typeface="Segoe UI"/>
                <a:cs typeface="Segoe UI"/>
              </a:rPr>
              <a:t>Irrelevant text still lowers accuracy</a:t>
            </a:r>
            <a:endParaRPr lang="en-IN" sz="1400">
              <a:solidFill>
                <a:srgbClr val="B8C2D3"/>
              </a:solidFill>
              <a:latin typeface="Segoe UI"/>
              <a:cs typeface="Segoe UI"/>
            </a:endParaRPr>
          </a:p>
        </p:txBody>
      </p:sp>
    </p:spTree>
    <p:extLst>
      <p:ext uri="{BB962C8B-B14F-4D97-AF65-F5344CB8AC3E}">
        <p14:creationId xmlns:p14="http://schemas.microsoft.com/office/powerpoint/2010/main" val="4194171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UNDERSTANDING LLMS</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Why not just put everything into the prompt?</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17" name="TextBox 16"/>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7</a:t>
            </a:r>
          </a:p>
        </p:txBody>
      </p:sp>
      <p:sp>
        <p:nvSpPr>
          <p:cNvPr id="3" name="Rectangle: Rounded Corners 2">
            <a:extLst>
              <a:ext uri="{FF2B5EF4-FFF2-40B4-BE49-F238E27FC236}">
                <a16:creationId xmlns:a16="http://schemas.microsoft.com/office/drawing/2014/main" id="{425E53C4-ACCC-415D-A2C7-D292F271E5D3}"/>
              </a:ext>
            </a:extLst>
          </p:cNvPr>
          <p:cNvSpPr/>
          <p:nvPr/>
        </p:nvSpPr>
        <p:spPr>
          <a:xfrm>
            <a:off x="635000" y="1397000"/>
            <a:ext cx="2059939" cy="3098800"/>
          </a:xfrm>
          <a:prstGeom prst="roundRect">
            <a:avLst>
              <a:gd name="adj" fmla="val 6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8" name="Rectangle: Rounded Corners 17">
            <a:extLst>
              <a:ext uri="{FF2B5EF4-FFF2-40B4-BE49-F238E27FC236}">
                <a16:creationId xmlns:a16="http://schemas.microsoft.com/office/drawing/2014/main" id="{524A927E-52F8-4D9C-A25F-36031B5522FB}"/>
              </a:ext>
            </a:extLst>
          </p:cNvPr>
          <p:cNvSpPr/>
          <p:nvPr/>
        </p:nvSpPr>
        <p:spPr>
          <a:xfrm>
            <a:off x="812800" y="1600200"/>
            <a:ext cx="558800" cy="558800"/>
          </a:xfrm>
          <a:prstGeom prst="roundRect">
            <a:avLst>
              <a:gd name="adj" fmla="val 16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9" name="TextBox 18">
            <a:extLst>
              <a:ext uri="{FF2B5EF4-FFF2-40B4-BE49-F238E27FC236}">
                <a16:creationId xmlns:a16="http://schemas.microsoft.com/office/drawing/2014/main" id="{FC1B91DA-5814-47D3-B405-744F4613871B}"/>
              </a:ext>
            </a:extLst>
          </p:cNvPr>
          <p:cNvSpPr txBox="1"/>
          <p:nvPr/>
        </p:nvSpPr>
        <p:spPr>
          <a:xfrm>
            <a:off x="2136140" y="1625600"/>
            <a:ext cx="381000" cy="203200"/>
          </a:xfrm>
          <a:prstGeom prst="rect">
            <a:avLst/>
          </a:prstGeom>
          <a:noFill/>
        </p:spPr>
        <p:txBody>
          <a:bodyPr vertOverflow="overflow" vert="horz" wrap="square" lIns="0" tIns="0" rIns="0" bIns="0" rtlCol="0" anchor="t">
            <a:noAutofit/>
          </a:bodyPr>
          <a:lstStyle/>
          <a:p>
            <a:pPr algn="r"/>
            <a:r>
              <a:rPr lang="en-IN" sz="1100" b="1">
                <a:solidFill>
                  <a:srgbClr val="2DD4BF"/>
                </a:solidFill>
                <a:latin typeface="Segoe UI"/>
                <a:cs typeface="Segoe UI"/>
              </a:rPr>
              <a:t>01</a:t>
            </a:r>
          </a:p>
        </p:txBody>
      </p:sp>
      <p:sp>
        <p:nvSpPr>
          <p:cNvPr id="20" name="TextBox 19">
            <a:extLst>
              <a:ext uri="{FF2B5EF4-FFF2-40B4-BE49-F238E27FC236}">
                <a16:creationId xmlns:a16="http://schemas.microsoft.com/office/drawing/2014/main" id="{36308593-9955-4E50-B76A-80FB54223E23}"/>
              </a:ext>
            </a:extLst>
          </p:cNvPr>
          <p:cNvSpPr txBox="1"/>
          <p:nvPr/>
        </p:nvSpPr>
        <p:spPr>
          <a:xfrm>
            <a:off x="812800" y="2362200"/>
            <a:ext cx="1704339" cy="609600"/>
          </a:xfrm>
          <a:prstGeom prst="rect">
            <a:avLst/>
          </a:prstGeom>
          <a:noFill/>
        </p:spPr>
        <p:txBody>
          <a:bodyPr vertOverflow="overflow" vert="horz" wrap="square" lIns="0" tIns="0" rIns="0" bIns="0" rtlCol="0" anchor="t">
            <a:noAutofit/>
          </a:bodyPr>
          <a:lstStyle/>
          <a:p>
            <a:pPr algn="l"/>
            <a:r>
              <a:rPr lang="en-IN" sz="1700" b="1">
                <a:solidFill>
                  <a:srgbClr val="F1F5F9"/>
                </a:solidFill>
                <a:latin typeface="Segoe UI"/>
                <a:cs typeface="Segoe UI"/>
              </a:rPr>
              <a:t>Token limits</a:t>
            </a:r>
          </a:p>
        </p:txBody>
      </p:sp>
      <p:sp>
        <p:nvSpPr>
          <p:cNvPr id="21" name="Rectangle 20">
            <a:extLst>
              <a:ext uri="{FF2B5EF4-FFF2-40B4-BE49-F238E27FC236}">
                <a16:creationId xmlns:a16="http://schemas.microsoft.com/office/drawing/2014/main" id="{1966BFAA-4B9B-4CC5-AFAE-093A6650C8E1}"/>
              </a:ext>
            </a:extLst>
          </p:cNvPr>
          <p:cNvSpPr/>
          <p:nvPr/>
        </p:nvSpPr>
        <p:spPr>
          <a:xfrm>
            <a:off x="812800" y="3022600"/>
            <a:ext cx="1704339" cy="127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2" name="TextBox 21">
            <a:extLst>
              <a:ext uri="{FF2B5EF4-FFF2-40B4-BE49-F238E27FC236}">
                <a16:creationId xmlns:a16="http://schemas.microsoft.com/office/drawing/2014/main" id="{9FD770D8-7E30-40C4-BB78-9A41436A3EA6}"/>
              </a:ext>
            </a:extLst>
          </p:cNvPr>
          <p:cNvSpPr txBox="1"/>
          <p:nvPr/>
        </p:nvSpPr>
        <p:spPr>
          <a:xfrm>
            <a:off x="812800" y="3175000"/>
            <a:ext cx="1704339" cy="15240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The context window is a hard, shared budget for input + output</a:t>
            </a:r>
            <a:endParaRPr lang="en-IN" sz="1400">
              <a:solidFill>
                <a:srgbClr val="B8C2D3"/>
              </a:solidFill>
              <a:latin typeface="Segoe UI"/>
              <a:cs typeface="Segoe UI"/>
            </a:endParaRPr>
          </a:p>
        </p:txBody>
      </p:sp>
      <p:sp>
        <p:nvSpPr>
          <p:cNvPr id="23" name="Rectangle: Rounded Corners 22">
            <a:extLst>
              <a:ext uri="{FF2B5EF4-FFF2-40B4-BE49-F238E27FC236}">
                <a16:creationId xmlns:a16="http://schemas.microsoft.com/office/drawing/2014/main" id="{5F8627B3-14E3-47CB-8E98-AC2F11723B3E}"/>
              </a:ext>
            </a:extLst>
          </p:cNvPr>
          <p:cNvSpPr/>
          <p:nvPr/>
        </p:nvSpPr>
        <p:spPr>
          <a:xfrm>
            <a:off x="2847340" y="1397000"/>
            <a:ext cx="2059939" cy="3098800"/>
          </a:xfrm>
          <a:prstGeom prst="roundRect">
            <a:avLst>
              <a:gd name="adj" fmla="val 6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4" name="Rectangle: Rounded Corners 23">
            <a:extLst>
              <a:ext uri="{FF2B5EF4-FFF2-40B4-BE49-F238E27FC236}">
                <a16:creationId xmlns:a16="http://schemas.microsoft.com/office/drawing/2014/main" id="{2382A0E3-99DE-41BA-9053-98A9A28199EE}"/>
              </a:ext>
            </a:extLst>
          </p:cNvPr>
          <p:cNvSpPr/>
          <p:nvPr/>
        </p:nvSpPr>
        <p:spPr>
          <a:xfrm>
            <a:off x="3025140" y="1600200"/>
            <a:ext cx="558800" cy="558800"/>
          </a:xfrm>
          <a:prstGeom prst="roundRect">
            <a:avLst>
              <a:gd name="adj" fmla="val 16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5" name="TextBox 24">
            <a:extLst>
              <a:ext uri="{FF2B5EF4-FFF2-40B4-BE49-F238E27FC236}">
                <a16:creationId xmlns:a16="http://schemas.microsoft.com/office/drawing/2014/main" id="{5921959F-1055-4347-82B1-2CBF8E1D927B}"/>
              </a:ext>
            </a:extLst>
          </p:cNvPr>
          <p:cNvSpPr txBox="1"/>
          <p:nvPr/>
        </p:nvSpPr>
        <p:spPr>
          <a:xfrm>
            <a:off x="4348480" y="1625600"/>
            <a:ext cx="381000" cy="203200"/>
          </a:xfrm>
          <a:prstGeom prst="rect">
            <a:avLst/>
          </a:prstGeom>
          <a:noFill/>
        </p:spPr>
        <p:txBody>
          <a:bodyPr vertOverflow="overflow" vert="horz" wrap="square" lIns="0" tIns="0" rIns="0" bIns="0" rtlCol="0" anchor="t">
            <a:noAutofit/>
          </a:bodyPr>
          <a:lstStyle/>
          <a:p>
            <a:pPr algn="r"/>
            <a:r>
              <a:rPr lang="en-IN" sz="1100" b="1">
                <a:solidFill>
                  <a:srgbClr val="2DD4BF"/>
                </a:solidFill>
                <a:latin typeface="Segoe UI"/>
                <a:cs typeface="Segoe UI"/>
              </a:rPr>
              <a:t>02</a:t>
            </a:r>
          </a:p>
        </p:txBody>
      </p:sp>
      <p:sp>
        <p:nvSpPr>
          <p:cNvPr id="26" name="TextBox 25">
            <a:extLst>
              <a:ext uri="{FF2B5EF4-FFF2-40B4-BE49-F238E27FC236}">
                <a16:creationId xmlns:a16="http://schemas.microsoft.com/office/drawing/2014/main" id="{7A924D9D-EDC2-4D9B-B83B-5173076DA61B}"/>
              </a:ext>
            </a:extLst>
          </p:cNvPr>
          <p:cNvSpPr txBox="1"/>
          <p:nvPr/>
        </p:nvSpPr>
        <p:spPr>
          <a:xfrm>
            <a:off x="3025140" y="2362200"/>
            <a:ext cx="1704339" cy="609600"/>
          </a:xfrm>
          <a:prstGeom prst="rect">
            <a:avLst/>
          </a:prstGeom>
          <a:noFill/>
        </p:spPr>
        <p:txBody>
          <a:bodyPr vertOverflow="overflow" vert="horz" wrap="square" lIns="0" tIns="0" rIns="0" bIns="0" rtlCol="0" anchor="t">
            <a:noAutofit/>
          </a:bodyPr>
          <a:lstStyle/>
          <a:p>
            <a:pPr algn="l"/>
            <a:r>
              <a:rPr lang="en-IN" sz="1700" b="1">
                <a:solidFill>
                  <a:srgbClr val="F1F5F9"/>
                </a:solidFill>
                <a:latin typeface="Segoe UI"/>
                <a:cs typeface="Segoe UI"/>
              </a:rPr>
              <a:t>Cost</a:t>
            </a:r>
          </a:p>
        </p:txBody>
      </p:sp>
      <p:sp>
        <p:nvSpPr>
          <p:cNvPr id="27" name="Rectangle 26">
            <a:extLst>
              <a:ext uri="{FF2B5EF4-FFF2-40B4-BE49-F238E27FC236}">
                <a16:creationId xmlns:a16="http://schemas.microsoft.com/office/drawing/2014/main" id="{0F7AD494-15EC-4695-8021-B43437D83E19}"/>
              </a:ext>
            </a:extLst>
          </p:cNvPr>
          <p:cNvSpPr/>
          <p:nvPr/>
        </p:nvSpPr>
        <p:spPr>
          <a:xfrm>
            <a:off x="3025140" y="3022600"/>
            <a:ext cx="1704339" cy="127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8" name="TextBox 27">
            <a:extLst>
              <a:ext uri="{FF2B5EF4-FFF2-40B4-BE49-F238E27FC236}">
                <a16:creationId xmlns:a16="http://schemas.microsoft.com/office/drawing/2014/main" id="{C88B523C-C544-49D9-89E4-0A8B89B7E82C}"/>
              </a:ext>
            </a:extLst>
          </p:cNvPr>
          <p:cNvSpPr txBox="1"/>
          <p:nvPr/>
        </p:nvSpPr>
        <p:spPr>
          <a:xfrm>
            <a:off x="3025140" y="3175000"/>
            <a:ext cx="1704339" cy="15240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Every token, in every call, is billed; stuffing the prompt scales cost directly</a:t>
            </a:r>
            <a:endParaRPr lang="en-IN" sz="1400">
              <a:solidFill>
                <a:srgbClr val="B8C2D3"/>
              </a:solidFill>
              <a:latin typeface="Segoe UI"/>
              <a:cs typeface="Segoe UI"/>
            </a:endParaRPr>
          </a:p>
        </p:txBody>
      </p:sp>
      <p:sp>
        <p:nvSpPr>
          <p:cNvPr id="29" name="Rectangle: Rounded Corners 28">
            <a:extLst>
              <a:ext uri="{FF2B5EF4-FFF2-40B4-BE49-F238E27FC236}">
                <a16:creationId xmlns:a16="http://schemas.microsoft.com/office/drawing/2014/main" id="{C283519D-B88A-4254-B78A-C37D40580EB7}"/>
              </a:ext>
            </a:extLst>
          </p:cNvPr>
          <p:cNvSpPr/>
          <p:nvPr/>
        </p:nvSpPr>
        <p:spPr>
          <a:xfrm>
            <a:off x="5059680" y="1397000"/>
            <a:ext cx="2059939" cy="3098800"/>
          </a:xfrm>
          <a:prstGeom prst="roundRect">
            <a:avLst>
              <a:gd name="adj" fmla="val 6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0" name="Rectangle: Rounded Corners 29">
            <a:extLst>
              <a:ext uri="{FF2B5EF4-FFF2-40B4-BE49-F238E27FC236}">
                <a16:creationId xmlns:a16="http://schemas.microsoft.com/office/drawing/2014/main" id="{C31C7ABC-645A-487E-AA4A-7924A20FBE42}"/>
              </a:ext>
            </a:extLst>
          </p:cNvPr>
          <p:cNvSpPr/>
          <p:nvPr/>
        </p:nvSpPr>
        <p:spPr>
          <a:xfrm>
            <a:off x="5237480" y="1600200"/>
            <a:ext cx="558800" cy="558800"/>
          </a:xfrm>
          <a:prstGeom prst="roundRect">
            <a:avLst>
              <a:gd name="adj" fmla="val 16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1" name="TextBox 30">
            <a:extLst>
              <a:ext uri="{FF2B5EF4-FFF2-40B4-BE49-F238E27FC236}">
                <a16:creationId xmlns:a16="http://schemas.microsoft.com/office/drawing/2014/main" id="{8B4F6EB6-5B7C-44EF-936B-199E014EFBCA}"/>
              </a:ext>
            </a:extLst>
          </p:cNvPr>
          <p:cNvSpPr txBox="1"/>
          <p:nvPr/>
        </p:nvSpPr>
        <p:spPr>
          <a:xfrm>
            <a:off x="6560819" y="1625600"/>
            <a:ext cx="381000" cy="203200"/>
          </a:xfrm>
          <a:prstGeom prst="rect">
            <a:avLst/>
          </a:prstGeom>
          <a:noFill/>
        </p:spPr>
        <p:txBody>
          <a:bodyPr vertOverflow="overflow" vert="horz" wrap="square" lIns="0" tIns="0" rIns="0" bIns="0" rtlCol="0" anchor="t">
            <a:noAutofit/>
          </a:bodyPr>
          <a:lstStyle/>
          <a:p>
            <a:pPr algn="r"/>
            <a:r>
              <a:rPr lang="en-IN" sz="1100" b="1">
                <a:solidFill>
                  <a:srgbClr val="2DD4BF"/>
                </a:solidFill>
                <a:latin typeface="Segoe UI"/>
                <a:cs typeface="Segoe UI"/>
              </a:rPr>
              <a:t>03</a:t>
            </a:r>
          </a:p>
        </p:txBody>
      </p:sp>
      <p:sp>
        <p:nvSpPr>
          <p:cNvPr id="32" name="TextBox 31">
            <a:extLst>
              <a:ext uri="{FF2B5EF4-FFF2-40B4-BE49-F238E27FC236}">
                <a16:creationId xmlns:a16="http://schemas.microsoft.com/office/drawing/2014/main" id="{B3E0668B-E4DF-4075-9C27-A19C50316500}"/>
              </a:ext>
            </a:extLst>
          </p:cNvPr>
          <p:cNvSpPr txBox="1"/>
          <p:nvPr/>
        </p:nvSpPr>
        <p:spPr>
          <a:xfrm>
            <a:off x="5237480" y="2362200"/>
            <a:ext cx="1704339" cy="609600"/>
          </a:xfrm>
          <a:prstGeom prst="rect">
            <a:avLst/>
          </a:prstGeom>
          <a:noFill/>
        </p:spPr>
        <p:txBody>
          <a:bodyPr vertOverflow="overflow" vert="horz" wrap="square" lIns="0" tIns="0" rIns="0" bIns="0" rtlCol="0" anchor="t">
            <a:noAutofit/>
          </a:bodyPr>
          <a:lstStyle/>
          <a:p>
            <a:pPr algn="l"/>
            <a:r>
              <a:rPr lang="en-IN" sz="1700" b="1">
                <a:solidFill>
                  <a:srgbClr val="F1F5F9"/>
                </a:solidFill>
                <a:latin typeface="Segoe UI"/>
                <a:cs typeface="Segoe UI"/>
              </a:rPr>
              <a:t>Latency</a:t>
            </a:r>
          </a:p>
        </p:txBody>
      </p:sp>
      <p:sp>
        <p:nvSpPr>
          <p:cNvPr id="33" name="Rectangle 32">
            <a:extLst>
              <a:ext uri="{FF2B5EF4-FFF2-40B4-BE49-F238E27FC236}">
                <a16:creationId xmlns:a16="http://schemas.microsoft.com/office/drawing/2014/main" id="{3FDE66C2-F64A-4FC7-9734-055BBE1D5C29}"/>
              </a:ext>
            </a:extLst>
          </p:cNvPr>
          <p:cNvSpPr/>
          <p:nvPr/>
        </p:nvSpPr>
        <p:spPr>
          <a:xfrm>
            <a:off x="5237480" y="3022600"/>
            <a:ext cx="1704339" cy="127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4" name="TextBox 33">
            <a:extLst>
              <a:ext uri="{FF2B5EF4-FFF2-40B4-BE49-F238E27FC236}">
                <a16:creationId xmlns:a16="http://schemas.microsoft.com/office/drawing/2014/main" id="{70A52105-7F47-4628-B989-7CEDDEA8A8A8}"/>
              </a:ext>
            </a:extLst>
          </p:cNvPr>
          <p:cNvSpPr txBox="1"/>
          <p:nvPr/>
        </p:nvSpPr>
        <p:spPr>
          <a:xfrm>
            <a:off x="5237480" y="3175000"/>
            <a:ext cx="1704339" cy="15240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Bigger prompts take longer to process before the first token comes back</a:t>
            </a:r>
            <a:endParaRPr lang="en-IN" sz="1400">
              <a:solidFill>
                <a:srgbClr val="B8C2D3"/>
              </a:solidFill>
              <a:latin typeface="Segoe UI"/>
              <a:cs typeface="Segoe UI"/>
            </a:endParaRPr>
          </a:p>
        </p:txBody>
      </p:sp>
      <p:sp>
        <p:nvSpPr>
          <p:cNvPr id="35" name="Rectangle: Rounded Corners 34">
            <a:extLst>
              <a:ext uri="{FF2B5EF4-FFF2-40B4-BE49-F238E27FC236}">
                <a16:creationId xmlns:a16="http://schemas.microsoft.com/office/drawing/2014/main" id="{34836C53-1E0A-4B9E-9C56-437C313F7659}"/>
              </a:ext>
            </a:extLst>
          </p:cNvPr>
          <p:cNvSpPr/>
          <p:nvPr/>
        </p:nvSpPr>
        <p:spPr>
          <a:xfrm>
            <a:off x="7272019" y="1397000"/>
            <a:ext cx="2059939" cy="3098800"/>
          </a:xfrm>
          <a:prstGeom prst="roundRect">
            <a:avLst>
              <a:gd name="adj" fmla="val 6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6" name="Rectangle: Rounded Corners 35">
            <a:extLst>
              <a:ext uri="{FF2B5EF4-FFF2-40B4-BE49-F238E27FC236}">
                <a16:creationId xmlns:a16="http://schemas.microsoft.com/office/drawing/2014/main" id="{B66D210A-0BE7-4D2A-8798-F256FE74CA09}"/>
              </a:ext>
            </a:extLst>
          </p:cNvPr>
          <p:cNvSpPr/>
          <p:nvPr/>
        </p:nvSpPr>
        <p:spPr>
          <a:xfrm>
            <a:off x="7449819" y="1600200"/>
            <a:ext cx="558800" cy="558800"/>
          </a:xfrm>
          <a:prstGeom prst="roundRect">
            <a:avLst>
              <a:gd name="adj" fmla="val 16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1A86D391-6647-4B7B-A323-627632A3936C}"/>
              </a:ext>
            </a:extLst>
          </p:cNvPr>
          <p:cNvSpPr txBox="1"/>
          <p:nvPr/>
        </p:nvSpPr>
        <p:spPr>
          <a:xfrm>
            <a:off x="8773160" y="1625600"/>
            <a:ext cx="381000" cy="203200"/>
          </a:xfrm>
          <a:prstGeom prst="rect">
            <a:avLst/>
          </a:prstGeom>
          <a:noFill/>
        </p:spPr>
        <p:txBody>
          <a:bodyPr vertOverflow="overflow" vert="horz" wrap="square" lIns="0" tIns="0" rIns="0" bIns="0" rtlCol="0" anchor="t">
            <a:noAutofit/>
          </a:bodyPr>
          <a:lstStyle/>
          <a:p>
            <a:pPr algn="r"/>
            <a:r>
              <a:rPr lang="en-IN" sz="1100" b="1">
                <a:solidFill>
                  <a:srgbClr val="2DD4BF"/>
                </a:solidFill>
                <a:latin typeface="Segoe UI"/>
                <a:cs typeface="Segoe UI"/>
              </a:rPr>
              <a:t>04</a:t>
            </a:r>
          </a:p>
        </p:txBody>
      </p:sp>
      <p:sp>
        <p:nvSpPr>
          <p:cNvPr id="38" name="TextBox 37">
            <a:extLst>
              <a:ext uri="{FF2B5EF4-FFF2-40B4-BE49-F238E27FC236}">
                <a16:creationId xmlns:a16="http://schemas.microsoft.com/office/drawing/2014/main" id="{228ABA3B-226C-4CBE-AFB8-FFE9A7164637}"/>
              </a:ext>
            </a:extLst>
          </p:cNvPr>
          <p:cNvSpPr txBox="1"/>
          <p:nvPr/>
        </p:nvSpPr>
        <p:spPr>
          <a:xfrm>
            <a:off x="7449819" y="2362200"/>
            <a:ext cx="1704339" cy="609600"/>
          </a:xfrm>
          <a:prstGeom prst="rect">
            <a:avLst/>
          </a:prstGeom>
          <a:noFill/>
        </p:spPr>
        <p:txBody>
          <a:bodyPr vertOverflow="overflow" vert="horz" wrap="square" lIns="0" tIns="0" rIns="0" bIns="0" rtlCol="0" anchor="t">
            <a:noAutofit/>
          </a:bodyPr>
          <a:lstStyle/>
          <a:p>
            <a:pPr algn="l"/>
            <a:r>
              <a:rPr lang="en-IN" sz="1700" b="1">
                <a:solidFill>
                  <a:srgbClr val="F1F5F9"/>
                </a:solidFill>
                <a:latin typeface="Segoe UI"/>
                <a:cs typeface="Segoe UI"/>
              </a:rPr>
              <a:t>"Lost in the middle"</a:t>
            </a:r>
          </a:p>
        </p:txBody>
      </p:sp>
      <p:sp>
        <p:nvSpPr>
          <p:cNvPr id="39" name="Rectangle 38">
            <a:extLst>
              <a:ext uri="{FF2B5EF4-FFF2-40B4-BE49-F238E27FC236}">
                <a16:creationId xmlns:a16="http://schemas.microsoft.com/office/drawing/2014/main" id="{0A743839-1B95-425C-9234-3F53BE2B13D7}"/>
              </a:ext>
            </a:extLst>
          </p:cNvPr>
          <p:cNvSpPr/>
          <p:nvPr/>
        </p:nvSpPr>
        <p:spPr>
          <a:xfrm>
            <a:off x="7449819" y="3022600"/>
            <a:ext cx="1704339" cy="127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0" name="TextBox 39">
            <a:extLst>
              <a:ext uri="{FF2B5EF4-FFF2-40B4-BE49-F238E27FC236}">
                <a16:creationId xmlns:a16="http://schemas.microsoft.com/office/drawing/2014/main" id="{AF9C5A3B-8D90-49AF-9078-4393E4E007A5}"/>
              </a:ext>
            </a:extLst>
          </p:cNvPr>
          <p:cNvSpPr txBox="1"/>
          <p:nvPr/>
        </p:nvSpPr>
        <p:spPr>
          <a:xfrm>
            <a:off x="7449819" y="3175000"/>
            <a:ext cx="1704339" cy="15240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Facts buried mid-context are recalled less reliably than facts near the edges</a:t>
            </a:r>
            <a:endParaRPr lang="en-IN" sz="1400">
              <a:solidFill>
                <a:srgbClr val="B8C2D3"/>
              </a:solidFill>
              <a:latin typeface="Segoe UI"/>
              <a:cs typeface="Segoe UI"/>
            </a:endParaRPr>
          </a:p>
        </p:txBody>
      </p:sp>
      <p:sp>
        <p:nvSpPr>
          <p:cNvPr id="41" name="Rectangle: Rounded Corners 40">
            <a:extLst>
              <a:ext uri="{FF2B5EF4-FFF2-40B4-BE49-F238E27FC236}">
                <a16:creationId xmlns:a16="http://schemas.microsoft.com/office/drawing/2014/main" id="{60B8ECBF-7A72-4163-91DE-FB3E94F14B5B}"/>
              </a:ext>
            </a:extLst>
          </p:cNvPr>
          <p:cNvSpPr/>
          <p:nvPr/>
        </p:nvSpPr>
        <p:spPr>
          <a:xfrm>
            <a:off x="9484360" y="1397000"/>
            <a:ext cx="2059939" cy="3098800"/>
          </a:xfrm>
          <a:prstGeom prst="roundRect">
            <a:avLst>
              <a:gd name="adj" fmla="val 6000"/>
            </a:avLst>
          </a:prstGeom>
          <a:solidFill>
            <a:srgbClr val="0F2A30"/>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2" name="Rectangle: Rounded Corners 41">
            <a:extLst>
              <a:ext uri="{FF2B5EF4-FFF2-40B4-BE49-F238E27FC236}">
                <a16:creationId xmlns:a16="http://schemas.microsoft.com/office/drawing/2014/main" id="{9A3506B2-54D7-47F2-BE45-23046D21A776}"/>
              </a:ext>
            </a:extLst>
          </p:cNvPr>
          <p:cNvSpPr/>
          <p:nvPr/>
        </p:nvSpPr>
        <p:spPr>
          <a:xfrm>
            <a:off x="9662160" y="1600200"/>
            <a:ext cx="558800" cy="558800"/>
          </a:xfrm>
          <a:prstGeom prst="roundRect">
            <a:avLst>
              <a:gd name="adj" fmla="val 16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3" name="TextBox 42">
            <a:extLst>
              <a:ext uri="{FF2B5EF4-FFF2-40B4-BE49-F238E27FC236}">
                <a16:creationId xmlns:a16="http://schemas.microsoft.com/office/drawing/2014/main" id="{6EE89F25-EBAD-4B8D-BD6A-74360E6582C0}"/>
              </a:ext>
            </a:extLst>
          </p:cNvPr>
          <p:cNvSpPr txBox="1"/>
          <p:nvPr/>
        </p:nvSpPr>
        <p:spPr>
          <a:xfrm>
            <a:off x="10985500" y="1625600"/>
            <a:ext cx="381000" cy="203200"/>
          </a:xfrm>
          <a:prstGeom prst="rect">
            <a:avLst/>
          </a:prstGeom>
          <a:noFill/>
        </p:spPr>
        <p:txBody>
          <a:bodyPr vertOverflow="overflow" vert="horz" wrap="square" lIns="0" tIns="0" rIns="0" bIns="0" rtlCol="0" anchor="t">
            <a:noAutofit/>
          </a:bodyPr>
          <a:lstStyle/>
          <a:p>
            <a:pPr algn="r"/>
            <a:r>
              <a:rPr lang="en-IN" sz="1100" b="1">
                <a:solidFill>
                  <a:srgbClr val="2DD4BF"/>
                </a:solidFill>
                <a:latin typeface="Segoe UI"/>
                <a:cs typeface="Segoe UI"/>
              </a:rPr>
              <a:t>05</a:t>
            </a:r>
          </a:p>
        </p:txBody>
      </p:sp>
      <p:sp>
        <p:nvSpPr>
          <p:cNvPr id="44" name="TextBox 43">
            <a:extLst>
              <a:ext uri="{FF2B5EF4-FFF2-40B4-BE49-F238E27FC236}">
                <a16:creationId xmlns:a16="http://schemas.microsoft.com/office/drawing/2014/main" id="{71DC75FB-C0FA-42BB-B54D-B0F8B85EF9D1}"/>
              </a:ext>
            </a:extLst>
          </p:cNvPr>
          <p:cNvSpPr txBox="1"/>
          <p:nvPr/>
        </p:nvSpPr>
        <p:spPr>
          <a:xfrm>
            <a:off x="9662160" y="2362200"/>
            <a:ext cx="1704339" cy="609600"/>
          </a:xfrm>
          <a:prstGeom prst="rect">
            <a:avLst/>
          </a:prstGeom>
          <a:noFill/>
        </p:spPr>
        <p:txBody>
          <a:bodyPr vertOverflow="overflow" vert="horz" wrap="square" lIns="0" tIns="0" rIns="0" bIns="0" rtlCol="0" anchor="t">
            <a:noAutofit/>
          </a:bodyPr>
          <a:lstStyle/>
          <a:p>
            <a:pPr algn="l"/>
            <a:r>
              <a:rPr lang="en-IN" sz="1700" b="1">
                <a:solidFill>
                  <a:srgbClr val="F1F5F9"/>
                </a:solidFill>
                <a:latin typeface="Segoe UI"/>
                <a:cs typeface="Segoe UI"/>
              </a:rPr>
              <a:t>Context dilution</a:t>
            </a:r>
          </a:p>
        </p:txBody>
      </p:sp>
      <p:sp>
        <p:nvSpPr>
          <p:cNvPr id="45" name="Rectangle 44">
            <a:extLst>
              <a:ext uri="{FF2B5EF4-FFF2-40B4-BE49-F238E27FC236}">
                <a16:creationId xmlns:a16="http://schemas.microsoft.com/office/drawing/2014/main" id="{EEC99083-FD6E-4776-84AB-AE19D913AE2B}"/>
              </a:ext>
            </a:extLst>
          </p:cNvPr>
          <p:cNvSpPr/>
          <p:nvPr/>
        </p:nvSpPr>
        <p:spPr>
          <a:xfrm>
            <a:off x="9662160" y="3022600"/>
            <a:ext cx="1704339" cy="12700"/>
          </a:xfrm>
          <a:prstGeom prst="rect">
            <a:avLst/>
          </a:prstGeom>
          <a:solidFill>
            <a:srgbClr val="2A36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6" name="TextBox 45">
            <a:extLst>
              <a:ext uri="{FF2B5EF4-FFF2-40B4-BE49-F238E27FC236}">
                <a16:creationId xmlns:a16="http://schemas.microsoft.com/office/drawing/2014/main" id="{EF559F1D-E6A2-4D02-9713-2BD59F1891A9}"/>
              </a:ext>
            </a:extLst>
          </p:cNvPr>
          <p:cNvSpPr txBox="1"/>
          <p:nvPr/>
        </p:nvSpPr>
        <p:spPr>
          <a:xfrm>
            <a:off x="9662160" y="3175000"/>
            <a:ext cx="1704339" cy="15240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Irrelevant text competes with the real answer for the model's attention</a:t>
            </a:r>
            <a:endParaRPr lang="en-IN" sz="1400">
              <a:solidFill>
                <a:srgbClr val="B8C2D3"/>
              </a:solidFill>
              <a:latin typeface="Segoe UI"/>
              <a:cs typeface="Segoe UI"/>
            </a:endParaRPr>
          </a:p>
        </p:txBody>
      </p:sp>
      <p:sp>
        <p:nvSpPr>
          <p:cNvPr id="47" name="Rectangle: Rounded Corners 46">
            <a:extLst>
              <a:ext uri="{FF2B5EF4-FFF2-40B4-BE49-F238E27FC236}">
                <a16:creationId xmlns:a16="http://schemas.microsoft.com/office/drawing/2014/main" id="{9F84E943-15DB-4923-B04E-28E19F445FD9}"/>
              </a:ext>
            </a:extLst>
          </p:cNvPr>
          <p:cNvSpPr/>
          <p:nvPr/>
        </p:nvSpPr>
        <p:spPr>
          <a:xfrm>
            <a:off x="635000" y="4749800"/>
            <a:ext cx="10909300" cy="1320800"/>
          </a:xfrm>
          <a:prstGeom prst="roundRect">
            <a:avLst>
              <a:gd name="adj" fmla="val 6000"/>
            </a:avLst>
          </a:prstGeom>
          <a:solidFill>
            <a:srgbClr val="131C31"/>
          </a:solidFill>
          <a:ln w="1905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9" name="TextBox 48">
            <a:extLst>
              <a:ext uri="{FF2B5EF4-FFF2-40B4-BE49-F238E27FC236}">
                <a16:creationId xmlns:a16="http://schemas.microsoft.com/office/drawing/2014/main" id="{C8634A8E-E6BF-47B3-9581-BEFE84A4C895}"/>
              </a:ext>
            </a:extLst>
          </p:cNvPr>
          <p:cNvSpPr txBox="1"/>
          <p:nvPr/>
        </p:nvSpPr>
        <p:spPr>
          <a:xfrm>
            <a:off x="965200" y="4953000"/>
            <a:ext cx="10287000" cy="203200"/>
          </a:xfrm>
          <a:prstGeom prst="rect">
            <a:avLst/>
          </a:prstGeom>
          <a:noFill/>
        </p:spPr>
        <p:txBody>
          <a:bodyPr vertOverflow="overflow" vert="horz" wrap="square" lIns="0" tIns="0" rIns="0" bIns="0" rtlCol="0" anchor="t">
            <a:noAutofit/>
          </a:bodyPr>
          <a:lstStyle/>
          <a:p>
            <a:pPr algn="l"/>
            <a:r>
              <a:rPr lang="en-IN" sz="1050" b="1">
                <a:solidFill>
                  <a:srgbClr val="2DD4BF"/>
                </a:solidFill>
                <a:latin typeface="Segoe UI"/>
                <a:cs typeface="Segoe UI"/>
              </a:rPr>
              <a:t>WHAT ABOUT 1M-TOKEN WINDOWS?</a:t>
            </a:r>
          </a:p>
        </p:txBody>
      </p:sp>
      <p:sp>
        <p:nvSpPr>
          <p:cNvPr id="50" name="TextBox 49">
            <a:extLst>
              <a:ext uri="{FF2B5EF4-FFF2-40B4-BE49-F238E27FC236}">
                <a16:creationId xmlns:a16="http://schemas.microsoft.com/office/drawing/2014/main" id="{90E8501A-36AE-44D2-8107-E5E390A35AF5}"/>
              </a:ext>
            </a:extLst>
          </p:cNvPr>
          <p:cNvSpPr txBox="1"/>
          <p:nvPr/>
        </p:nvSpPr>
        <p:spPr>
          <a:xfrm>
            <a:off x="965200" y="5232400"/>
            <a:ext cx="10287000" cy="355600"/>
          </a:xfrm>
          <a:prstGeom prst="rect">
            <a:avLst/>
          </a:prstGeom>
          <a:noFill/>
        </p:spPr>
        <p:txBody>
          <a:bodyPr vertOverflow="overflow" vert="horz" wrap="square" lIns="0" tIns="0" rIns="0" bIns="0" rtlCol="0" anchor="t">
            <a:noAutofit/>
          </a:bodyPr>
          <a:lstStyle/>
          <a:p>
            <a:pPr algn="l"/>
            <a:r>
              <a:rPr lang="en-US" sz="1900" b="1">
                <a:solidFill>
                  <a:srgbClr val="F1F5F9"/>
                </a:solidFill>
                <a:latin typeface="Segoe UI"/>
                <a:cs typeface="Segoe UI"/>
              </a:rPr>
              <a:t>A bigger window doesn't remove the need for retrieval.</a:t>
            </a:r>
            <a:endParaRPr lang="en-IN" sz="1900" b="1">
              <a:solidFill>
                <a:srgbClr val="F1F5F9"/>
              </a:solidFill>
              <a:latin typeface="Segoe UI"/>
              <a:cs typeface="Segoe UI"/>
            </a:endParaRPr>
          </a:p>
        </p:txBody>
      </p:sp>
      <p:sp>
        <p:nvSpPr>
          <p:cNvPr id="51" name="TextBox 50">
            <a:extLst>
              <a:ext uri="{FF2B5EF4-FFF2-40B4-BE49-F238E27FC236}">
                <a16:creationId xmlns:a16="http://schemas.microsoft.com/office/drawing/2014/main" id="{92936CF8-B622-419F-8EEF-CBEAC6067897}"/>
              </a:ext>
            </a:extLst>
          </p:cNvPr>
          <p:cNvSpPr txBox="1"/>
          <p:nvPr/>
        </p:nvSpPr>
        <p:spPr>
          <a:xfrm>
            <a:off x="965200" y="5638800"/>
            <a:ext cx="10287000" cy="304800"/>
          </a:xfrm>
          <a:prstGeom prst="rect">
            <a:avLst/>
          </a:prstGeom>
          <a:noFill/>
        </p:spPr>
        <p:txBody>
          <a:bodyPr vertOverflow="overflow" vert="horz" wrap="square" lIns="0" tIns="0" rIns="0" bIns="0" rtlCol="0" anchor="t">
            <a:noAutofit/>
          </a:bodyPr>
          <a:lstStyle/>
          <a:p>
            <a:pPr algn="l"/>
            <a:r>
              <a:rPr lang="en-US" sz="1400">
                <a:solidFill>
                  <a:srgbClr val="B8C2D3"/>
                </a:solidFill>
                <a:latin typeface="Segoe UI"/>
                <a:cs typeface="Segoe UI"/>
              </a:rPr>
              <a:t>It moves the failure from "doesn't fit" to "fits, but the model loses the needle in a much bigger haystack."</a:t>
            </a:r>
            <a:endParaRPr lang="en-IN" sz="1400">
              <a:solidFill>
                <a:srgbClr val="B8C2D3"/>
              </a:solidFill>
              <a:latin typeface="Segoe UI"/>
              <a:cs typeface="Segoe UI"/>
            </a:endParaRPr>
          </a:p>
        </p:txBody>
      </p:sp>
      <p:pic>
        <p:nvPicPr>
          <p:cNvPr id="52" name="Graphic 52" descr="Gaug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800" y="1727200"/>
            <a:ext cx="304800" cy="304800"/>
          </a:xfrm>
          <a:prstGeom prst="rect">
            <a:avLst/>
          </a:prstGeom>
        </p:spPr>
      </p:pic>
      <p:pic>
        <p:nvPicPr>
          <p:cNvPr id="53" name="Graphic 53" descr="Money"/>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2140" y="1727200"/>
            <a:ext cx="304800" cy="304800"/>
          </a:xfrm>
          <a:prstGeom prst="rect">
            <a:avLst/>
          </a:prstGeom>
        </p:spPr>
      </p:pic>
      <p:pic>
        <p:nvPicPr>
          <p:cNvPr id="54" name="Graphic 54" descr="Stopwatch"/>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64480" y="1727200"/>
            <a:ext cx="304800" cy="304800"/>
          </a:xfrm>
          <a:prstGeom prst="rect">
            <a:avLst/>
          </a:prstGeom>
        </p:spPr>
      </p:pic>
      <p:pic>
        <p:nvPicPr>
          <p:cNvPr id="55" name="Graphic 55" descr="Maz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76820" y="1727200"/>
            <a:ext cx="304800" cy="304800"/>
          </a:xfrm>
          <a:prstGeom prst="rect">
            <a:avLst/>
          </a:prstGeom>
        </p:spPr>
      </p:pic>
      <p:pic>
        <p:nvPicPr>
          <p:cNvPr id="56" name="Graphic 56" descr="Magnifying glas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89160" y="1727200"/>
            <a:ext cx="304800" cy="304800"/>
          </a:xfrm>
          <a:prstGeom prst="rect">
            <a:avLst/>
          </a:prstGeom>
        </p:spPr>
      </p:pic>
    </p:spTree>
    <p:extLst>
      <p:ext uri="{BB962C8B-B14F-4D97-AF65-F5344CB8AC3E}">
        <p14:creationId xmlns:p14="http://schemas.microsoft.com/office/powerpoint/2010/main" val="2172959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UNDERSTANDING LLMS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Why ChatGPT can't answer company-specific questions</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1" name="TextBox 20"/>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9</a:t>
            </a:r>
          </a:p>
        </p:txBody>
      </p:sp>
      <p:sp>
        <p:nvSpPr>
          <p:cNvPr id="3" name="Rectangle: Rounded Corners 2">
            <a:extLst>
              <a:ext uri="{FF2B5EF4-FFF2-40B4-BE49-F238E27FC236}">
                <a16:creationId xmlns:a16="http://schemas.microsoft.com/office/drawing/2014/main" id="{70152F7B-C0C6-4C95-AA61-CF6BAD84960C}"/>
              </a:ext>
            </a:extLst>
          </p:cNvPr>
          <p:cNvSpPr/>
          <p:nvPr/>
        </p:nvSpPr>
        <p:spPr>
          <a:xfrm>
            <a:off x="635000" y="1397000"/>
            <a:ext cx="5080000" cy="3759200"/>
          </a:xfrm>
          <a:prstGeom prst="roundRect">
            <a:avLst>
              <a:gd name="adj" fmla="val 2703"/>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2" name="TextBox 21">
            <a:extLst>
              <a:ext uri="{FF2B5EF4-FFF2-40B4-BE49-F238E27FC236}">
                <a16:creationId xmlns:a16="http://schemas.microsoft.com/office/drawing/2014/main" id="{041DD718-8500-4E11-8D48-C157D0C5DE66}"/>
              </a:ext>
            </a:extLst>
          </p:cNvPr>
          <p:cNvSpPr txBox="1"/>
          <p:nvPr/>
        </p:nvSpPr>
        <p:spPr>
          <a:xfrm>
            <a:off x="863600" y="1574800"/>
            <a:ext cx="4622800" cy="203200"/>
          </a:xfrm>
          <a:prstGeom prst="rect">
            <a:avLst/>
          </a:prstGeom>
          <a:noFill/>
        </p:spPr>
        <p:txBody>
          <a:bodyPr vertOverflow="overflow" vert="horz" wrap="square" lIns="0" tIns="0" rIns="0" bIns="0" rtlCol="0" anchor="t" anchorCtr="0">
            <a:noAutofit/>
          </a:bodyPr>
          <a:lstStyle/>
          <a:p>
            <a:r>
              <a:rPr lang="en-US" sz="1050" b="1">
                <a:solidFill>
                  <a:srgbClr val="FBBF24"/>
                </a:solidFill>
                <a:latin typeface="Segoe UI"/>
                <a:cs typeface="Segoe UI"/>
              </a:rPr>
              <a:t>TRY IT IN A PUBLIC CHATBOT</a:t>
            </a:r>
            <a:endParaRPr lang="en-IN" sz="1050" b="1">
              <a:solidFill>
                <a:srgbClr val="FBBF24"/>
              </a:solidFill>
              <a:latin typeface="Segoe UI"/>
              <a:cs typeface="Segoe UI"/>
            </a:endParaRPr>
          </a:p>
        </p:txBody>
      </p:sp>
      <p:sp>
        <p:nvSpPr>
          <p:cNvPr id="23" name="TextBox 22">
            <a:extLst>
              <a:ext uri="{FF2B5EF4-FFF2-40B4-BE49-F238E27FC236}">
                <a16:creationId xmlns:a16="http://schemas.microsoft.com/office/drawing/2014/main" id="{1E209F2F-5A37-443E-9016-312BDE9A5DEE}"/>
              </a:ext>
            </a:extLst>
          </p:cNvPr>
          <p:cNvSpPr txBox="1"/>
          <p:nvPr/>
        </p:nvSpPr>
        <p:spPr>
          <a:xfrm>
            <a:off x="2413000" y="1930400"/>
            <a:ext cx="3073400" cy="177800"/>
          </a:xfrm>
          <a:prstGeom prst="rect">
            <a:avLst/>
          </a:prstGeom>
          <a:noFill/>
        </p:spPr>
        <p:txBody>
          <a:bodyPr vertOverflow="overflow" vert="horz" wrap="square" lIns="0" tIns="0" rIns="0" bIns="0" rtlCol="0" anchor="t" anchorCtr="0">
            <a:noAutofit/>
          </a:bodyPr>
          <a:lstStyle/>
          <a:p>
            <a:pPr algn="r"/>
            <a:r>
              <a:rPr lang="en-IN" sz="1000" b="1">
                <a:solidFill>
                  <a:srgbClr val="94A3B8"/>
                </a:solidFill>
                <a:latin typeface="Segoe UI"/>
                <a:cs typeface="Segoe UI"/>
              </a:rPr>
              <a:t>YOU</a:t>
            </a:r>
          </a:p>
        </p:txBody>
      </p:sp>
      <p:sp>
        <p:nvSpPr>
          <p:cNvPr id="24" name="Rectangle: Rounded Corners 23">
            <a:extLst>
              <a:ext uri="{FF2B5EF4-FFF2-40B4-BE49-F238E27FC236}">
                <a16:creationId xmlns:a16="http://schemas.microsoft.com/office/drawing/2014/main" id="{F8BE10B9-3BE2-4FAB-AB51-05EE4F9F0C72}"/>
              </a:ext>
            </a:extLst>
          </p:cNvPr>
          <p:cNvSpPr/>
          <p:nvPr/>
        </p:nvSpPr>
        <p:spPr>
          <a:xfrm>
            <a:off x="2413000" y="2133600"/>
            <a:ext cx="3073400" cy="635000"/>
          </a:xfrm>
          <a:prstGeom prst="roundRect">
            <a:avLst>
              <a:gd name="adj" fmla="val 16000"/>
            </a:avLst>
          </a:prstGeom>
          <a:solidFill>
            <a:srgbClr val="0F2A30"/>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152400" tIns="0" rIns="152400" bIns="0" rtlCol="0" anchor="ctr" anchorCtr="0">
            <a:noAutofit/>
          </a:bodyPr>
          <a:lstStyle/>
          <a:p>
            <a:r>
              <a:rPr lang="en-US" sz="1400">
                <a:solidFill>
                  <a:srgbClr val="F1F5F9"/>
                </a:solidFill>
                <a:latin typeface="Segoe UI"/>
                <a:cs typeface="Segoe UI"/>
              </a:rPr>
              <a:t>What is our company's leave policy?</a:t>
            </a:r>
            <a:endParaRPr lang="en-IN" sz="1400">
              <a:solidFill>
                <a:srgbClr val="F1F5F9"/>
              </a:solidFill>
              <a:latin typeface="Segoe UI"/>
              <a:cs typeface="Segoe UI"/>
            </a:endParaRPr>
          </a:p>
        </p:txBody>
      </p:sp>
      <p:sp>
        <p:nvSpPr>
          <p:cNvPr id="25" name="TextBox 24">
            <a:extLst>
              <a:ext uri="{FF2B5EF4-FFF2-40B4-BE49-F238E27FC236}">
                <a16:creationId xmlns:a16="http://schemas.microsoft.com/office/drawing/2014/main" id="{E63C8227-CF34-48F1-A19C-082F66338B54}"/>
              </a:ext>
            </a:extLst>
          </p:cNvPr>
          <p:cNvSpPr txBox="1"/>
          <p:nvPr/>
        </p:nvSpPr>
        <p:spPr>
          <a:xfrm>
            <a:off x="863600" y="2971800"/>
            <a:ext cx="3810000" cy="177800"/>
          </a:xfrm>
          <a:prstGeom prst="rect">
            <a:avLst/>
          </a:prstGeom>
          <a:noFill/>
        </p:spPr>
        <p:txBody>
          <a:bodyPr vertOverflow="overflow" vert="horz" wrap="square" lIns="0" tIns="0" rIns="0" bIns="0" rtlCol="0" anchor="t" anchorCtr="0">
            <a:noAutofit/>
          </a:bodyPr>
          <a:lstStyle/>
          <a:p>
            <a:r>
              <a:rPr lang="en-IN" sz="1000" b="1">
                <a:solidFill>
                  <a:srgbClr val="94A3B8"/>
                </a:solidFill>
                <a:latin typeface="Segoe UI"/>
                <a:cs typeface="Segoe UI"/>
              </a:rPr>
              <a:t>PUBLIC LLM</a:t>
            </a:r>
          </a:p>
        </p:txBody>
      </p:sp>
      <p:sp>
        <p:nvSpPr>
          <p:cNvPr id="26" name="Rectangle: Rounded Corners 25">
            <a:extLst>
              <a:ext uri="{FF2B5EF4-FFF2-40B4-BE49-F238E27FC236}">
                <a16:creationId xmlns:a16="http://schemas.microsoft.com/office/drawing/2014/main" id="{B65631C1-329A-4255-89F5-FBC543F2FEAB}"/>
              </a:ext>
            </a:extLst>
          </p:cNvPr>
          <p:cNvSpPr/>
          <p:nvPr/>
        </p:nvSpPr>
        <p:spPr>
          <a:xfrm>
            <a:off x="863600" y="3175000"/>
            <a:ext cx="3810000" cy="1143000"/>
          </a:xfrm>
          <a:prstGeom prst="roundRect">
            <a:avLst>
              <a:gd name="adj" fmla="val 8889"/>
            </a:avLst>
          </a:prstGeom>
          <a:solidFill>
            <a:srgbClr val="1E293B"/>
          </a:solidFill>
          <a:ln w="12700" cap="flat" cmpd="sng" algn="ctr">
            <a:solidFill>
              <a:srgbClr val="334155"/>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152400" tIns="0" rIns="152400" bIns="0" rtlCol="0" anchor="ctr" anchorCtr="0">
            <a:noAutofit/>
          </a:bodyPr>
          <a:lstStyle/>
          <a:p>
            <a:r>
              <a:rPr lang="en-US" sz="1400">
                <a:solidFill>
                  <a:srgbClr val="E2E8F0"/>
                </a:solidFill>
                <a:latin typeface="Segoe UI"/>
                <a:cs typeface="Segoe UI"/>
              </a:rPr>
              <a:t>Most companies offer 15–20 days of paid leave a year, and unused days usually carry over.</a:t>
            </a:r>
            <a:endParaRPr lang="en-IN" sz="1400">
              <a:solidFill>
                <a:srgbClr val="E2E8F0"/>
              </a:solidFill>
              <a:latin typeface="Segoe UI"/>
              <a:cs typeface="Segoe UI"/>
            </a:endParaRPr>
          </a:p>
        </p:txBody>
      </p:sp>
      <p:sp>
        <p:nvSpPr>
          <p:cNvPr id="27" name="Rectangle: Rounded Corners 26">
            <a:extLst>
              <a:ext uri="{FF2B5EF4-FFF2-40B4-BE49-F238E27FC236}">
                <a16:creationId xmlns:a16="http://schemas.microsoft.com/office/drawing/2014/main" id="{E3AC8E88-28A2-4880-AF8F-4FB055925E12}"/>
              </a:ext>
            </a:extLst>
          </p:cNvPr>
          <p:cNvSpPr/>
          <p:nvPr/>
        </p:nvSpPr>
        <p:spPr>
          <a:xfrm>
            <a:off x="863600" y="4470400"/>
            <a:ext cx="3810000" cy="406400"/>
          </a:xfrm>
          <a:prstGeom prst="roundRect">
            <a:avLst>
              <a:gd name="adj" fmla="val 25000"/>
            </a:avLst>
          </a:prstGeom>
          <a:solidFill>
            <a:srgbClr val="3A1820"/>
          </a:solidFill>
          <a:ln w="12700" cap="flat" cmpd="sng" algn="ctr">
            <a:solidFill>
              <a:srgbClr val="F8717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101600" tIns="0" rIns="101600" bIns="0" rtlCol="0" anchor="ctr" anchorCtr="0">
            <a:noAutofit/>
          </a:bodyPr>
          <a:lstStyle/>
          <a:p>
            <a:pPr algn="ctr"/>
            <a:r>
              <a:rPr lang="en-US" sz="1200" b="1">
                <a:solidFill>
                  <a:srgbClr val="F87171"/>
                </a:solidFill>
                <a:latin typeface="Segoe UI"/>
                <a:cs typeface="Segoe UI"/>
              </a:rPr>
              <a:t>Fluent, confident, and not your policy</a:t>
            </a:r>
            <a:endParaRPr lang="en-IN" sz="1200" b="1">
              <a:solidFill>
                <a:srgbClr val="F87171"/>
              </a:solidFill>
              <a:latin typeface="Segoe UI"/>
              <a:cs typeface="Segoe UI"/>
            </a:endParaRPr>
          </a:p>
        </p:txBody>
      </p:sp>
      <p:sp>
        <p:nvSpPr>
          <p:cNvPr id="28" name="TextBox 27">
            <a:extLst>
              <a:ext uri="{FF2B5EF4-FFF2-40B4-BE49-F238E27FC236}">
                <a16:creationId xmlns:a16="http://schemas.microsoft.com/office/drawing/2014/main" id="{12B2EFF4-371A-47F3-A878-E67F10F1FE26}"/>
              </a:ext>
            </a:extLst>
          </p:cNvPr>
          <p:cNvSpPr txBox="1"/>
          <p:nvPr/>
        </p:nvSpPr>
        <p:spPr>
          <a:xfrm>
            <a:off x="5969000" y="1397000"/>
            <a:ext cx="5575300" cy="203200"/>
          </a:xfrm>
          <a:prstGeom prst="rect">
            <a:avLst/>
          </a:prstGeom>
          <a:noFill/>
        </p:spPr>
        <p:txBody>
          <a:bodyPr vertOverflow="overflow" vert="horz" wrap="square" lIns="0" tIns="0" rIns="0" bIns="0" rtlCol="0" anchor="t" anchorCtr="0">
            <a:noAutofit/>
          </a:bodyPr>
          <a:lstStyle/>
          <a:p>
            <a:r>
              <a:rPr lang="en-IN" sz="1050" b="1">
                <a:solidFill>
                  <a:srgbClr val="94A3B8"/>
                </a:solidFill>
                <a:latin typeface="Segoe UI"/>
                <a:cs typeface="Segoe UI"/>
              </a:rPr>
              <a:t>WHY IT FAILS</a:t>
            </a:r>
          </a:p>
        </p:txBody>
      </p:sp>
      <p:sp>
        <p:nvSpPr>
          <p:cNvPr id="29" name="Rectangle: Rounded Corners 28">
            <a:extLst>
              <a:ext uri="{FF2B5EF4-FFF2-40B4-BE49-F238E27FC236}">
                <a16:creationId xmlns:a16="http://schemas.microsoft.com/office/drawing/2014/main" id="{CA2A2F33-DCCD-4A19-9051-740C32F132D1}"/>
              </a:ext>
            </a:extLst>
          </p:cNvPr>
          <p:cNvSpPr/>
          <p:nvPr/>
        </p:nvSpPr>
        <p:spPr>
          <a:xfrm>
            <a:off x="5969000" y="1676400"/>
            <a:ext cx="5575300" cy="1092200"/>
          </a:xfrm>
          <a:prstGeom prst="roundRect">
            <a:avLst>
              <a:gd name="adj" fmla="val 9302"/>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0" name="Oval 29">
            <a:extLst>
              <a:ext uri="{FF2B5EF4-FFF2-40B4-BE49-F238E27FC236}">
                <a16:creationId xmlns:a16="http://schemas.microsoft.com/office/drawing/2014/main" id="{FE0E81D7-2494-4E90-97E6-0148116EC590}"/>
              </a:ext>
            </a:extLst>
          </p:cNvPr>
          <p:cNvSpPr/>
          <p:nvPr/>
        </p:nvSpPr>
        <p:spPr>
          <a:xfrm>
            <a:off x="6172200" y="1993900"/>
            <a:ext cx="457200" cy="457200"/>
          </a:xfrm>
          <a:prstGeom prst="ellipse">
            <a:avLst/>
          </a:prstGeom>
          <a:solidFill>
            <a:srgbClr val="3A1820"/>
          </a:solidFill>
          <a:ln w="12700" cap="flat" cmpd="sng" algn="ctr">
            <a:solidFill>
              <a:srgbClr val="F8717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400" b="1">
                <a:solidFill>
                  <a:srgbClr val="F87171"/>
                </a:solidFill>
                <a:latin typeface="Segoe UI"/>
                <a:cs typeface="Segoe UI"/>
              </a:rPr>
              <a:t>1</a:t>
            </a:r>
          </a:p>
        </p:txBody>
      </p:sp>
      <p:sp>
        <p:nvSpPr>
          <p:cNvPr id="31" name="TextBox 30">
            <a:extLst>
              <a:ext uri="{FF2B5EF4-FFF2-40B4-BE49-F238E27FC236}">
                <a16:creationId xmlns:a16="http://schemas.microsoft.com/office/drawing/2014/main" id="{6A3FDCB6-B7A2-4169-992A-D53E6B6D8190}"/>
              </a:ext>
            </a:extLst>
          </p:cNvPr>
          <p:cNvSpPr txBox="1"/>
          <p:nvPr/>
        </p:nvSpPr>
        <p:spPr>
          <a:xfrm>
            <a:off x="6832600" y="1854200"/>
            <a:ext cx="4508500" cy="279400"/>
          </a:xfrm>
          <a:prstGeom prst="rect">
            <a:avLst/>
          </a:prstGeom>
          <a:noFill/>
        </p:spPr>
        <p:txBody>
          <a:bodyPr vertOverflow="overflow" vert="horz" wrap="square" lIns="0" tIns="0" rIns="0" bIns="0" rtlCol="0" anchor="t" anchorCtr="0">
            <a:noAutofit/>
          </a:bodyPr>
          <a:lstStyle/>
          <a:p>
            <a:r>
              <a:rPr lang="en-IN" sz="1600" b="1">
                <a:solidFill>
                  <a:srgbClr val="F1F5F9"/>
                </a:solidFill>
                <a:latin typeface="Segoe UI"/>
                <a:cs typeface="Segoe UI"/>
              </a:rPr>
              <a:t>Never trained on it</a:t>
            </a:r>
          </a:p>
        </p:txBody>
      </p:sp>
      <p:sp>
        <p:nvSpPr>
          <p:cNvPr id="32" name="TextBox 31">
            <a:extLst>
              <a:ext uri="{FF2B5EF4-FFF2-40B4-BE49-F238E27FC236}">
                <a16:creationId xmlns:a16="http://schemas.microsoft.com/office/drawing/2014/main" id="{1F082380-3180-407A-B719-350172574B64}"/>
              </a:ext>
            </a:extLst>
          </p:cNvPr>
          <p:cNvSpPr txBox="1"/>
          <p:nvPr/>
        </p:nvSpPr>
        <p:spPr>
          <a:xfrm>
            <a:off x="6832600" y="2184400"/>
            <a:ext cx="4508500" cy="508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Internal policy documents were never part of any public training corpus</a:t>
            </a:r>
            <a:endParaRPr lang="en-IN" sz="1400">
              <a:solidFill>
                <a:srgbClr val="B8C2D3"/>
              </a:solidFill>
              <a:latin typeface="Segoe UI"/>
              <a:cs typeface="Segoe UI"/>
            </a:endParaRPr>
          </a:p>
        </p:txBody>
      </p:sp>
      <p:sp>
        <p:nvSpPr>
          <p:cNvPr id="33" name="Rectangle: Rounded Corners 32">
            <a:extLst>
              <a:ext uri="{FF2B5EF4-FFF2-40B4-BE49-F238E27FC236}">
                <a16:creationId xmlns:a16="http://schemas.microsoft.com/office/drawing/2014/main" id="{32096CC1-76FB-4989-A888-C92AE71C7369}"/>
              </a:ext>
            </a:extLst>
          </p:cNvPr>
          <p:cNvSpPr/>
          <p:nvPr/>
        </p:nvSpPr>
        <p:spPr>
          <a:xfrm>
            <a:off x="5969000" y="2870200"/>
            <a:ext cx="5575300" cy="1092200"/>
          </a:xfrm>
          <a:prstGeom prst="roundRect">
            <a:avLst>
              <a:gd name="adj" fmla="val 9302"/>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4" name="Oval 33">
            <a:extLst>
              <a:ext uri="{FF2B5EF4-FFF2-40B4-BE49-F238E27FC236}">
                <a16:creationId xmlns:a16="http://schemas.microsoft.com/office/drawing/2014/main" id="{5188C2AD-0963-4284-8BD3-56A74FF97E95}"/>
              </a:ext>
            </a:extLst>
          </p:cNvPr>
          <p:cNvSpPr/>
          <p:nvPr/>
        </p:nvSpPr>
        <p:spPr>
          <a:xfrm>
            <a:off x="6172200" y="3187700"/>
            <a:ext cx="457200" cy="457200"/>
          </a:xfrm>
          <a:prstGeom prst="ellipse">
            <a:avLst/>
          </a:prstGeom>
          <a:solidFill>
            <a:srgbClr val="3A1820"/>
          </a:solidFill>
          <a:ln w="12700" cap="flat" cmpd="sng" algn="ctr">
            <a:solidFill>
              <a:srgbClr val="F8717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400" b="1">
                <a:solidFill>
                  <a:srgbClr val="F87171"/>
                </a:solidFill>
                <a:latin typeface="Segoe UI"/>
                <a:cs typeface="Segoe UI"/>
              </a:rPr>
              <a:t>2</a:t>
            </a:r>
          </a:p>
        </p:txBody>
      </p:sp>
      <p:sp>
        <p:nvSpPr>
          <p:cNvPr id="35" name="TextBox 34">
            <a:extLst>
              <a:ext uri="{FF2B5EF4-FFF2-40B4-BE49-F238E27FC236}">
                <a16:creationId xmlns:a16="http://schemas.microsoft.com/office/drawing/2014/main" id="{F90AC1B4-9A2A-4DA6-BED6-B1A9292E67C0}"/>
              </a:ext>
            </a:extLst>
          </p:cNvPr>
          <p:cNvSpPr txBox="1"/>
          <p:nvPr/>
        </p:nvSpPr>
        <p:spPr>
          <a:xfrm>
            <a:off x="6832600" y="3048000"/>
            <a:ext cx="4508500" cy="279400"/>
          </a:xfrm>
          <a:prstGeom prst="rect">
            <a:avLst/>
          </a:prstGeom>
          <a:noFill/>
        </p:spPr>
        <p:txBody>
          <a:bodyPr vertOverflow="overflow" vert="horz" wrap="square" lIns="0" tIns="0" rIns="0" bIns="0" rtlCol="0" anchor="t" anchorCtr="0">
            <a:noAutofit/>
          </a:bodyPr>
          <a:lstStyle/>
          <a:p>
            <a:r>
              <a:rPr lang="en-IN" sz="1600" b="1">
                <a:solidFill>
                  <a:srgbClr val="F1F5F9"/>
                </a:solidFill>
                <a:latin typeface="Segoe UI"/>
                <a:cs typeface="Segoe UI"/>
              </a:rPr>
              <a:t>No account for "our"</a:t>
            </a:r>
          </a:p>
        </p:txBody>
      </p:sp>
      <p:sp>
        <p:nvSpPr>
          <p:cNvPr id="36" name="TextBox 35">
            <a:extLst>
              <a:ext uri="{FF2B5EF4-FFF2-40B4-BE49-F238E27FC236}">
                <a16:creationId xmlns:a16="http://schemas.microsoft.com/office/drawing/2014/main" id="{1171BBBD-B441-4A51-9D52-331D10AD18E9}"/>
              </a:ext>
            </a:extLst>
          </p:cNvPr>
          <p:cNvSpPr txBox="1"/>
          <p:nvPr/>
        </p:nvSpPr>
        <p:spPr>
          <a:xfrm>
            <a:off x="6832600" y="3378200"/>
            <a:ext cx="4508500" cy="508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The model has no concept of who "you" are or which company "our" refers to</a:t>
            </a:r>
            <a:endParaRPr lang="en-IN" sz="1400">
              <a:solidFill>
                <a:srgbClr val="B8C2D3"/>
              </a:solidFill>
              <a:latin typeface="Segoe UI"/>
              <a:cs typeface="Segoe UI"/>
            </a:endParaRPr>
          </a:p>
        </p:txBody>
      </p:sp>
      <p:sp>
        <p:nvSpPr>
          <p:cNvPr id="37" name="Rectangle: Rounded Corners 36">
            <a:extLst>
              <a:ext uri="{FF2B5EF4-FFF2-40B4-BE49-F238E27FC236}">
                <a16:creationId xmlns:a16="http://schemas.microsoft.com/office/drawing/2014/main" id="{507C177E-1124-4582-99C2-353B6A66F03D}"/>
              </a:ext>
            </a:extLst>
          </p:cNvPr>
          <p:cNvSpPr/>
          <p:nvPr/>
        </p:nvSpPr>
        <p:spPr>
          <a:xfrm>
            <a:off x="5969000" y="4064000"/>
            <a:ext cx="5575300" cy="1092200"/>
          </a:xfrm>
          <a:prstGeom prst="roundRect">
            <a:avLst>
              <a:gd name="adj" fmla="val 9302"/>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8" name="Oval 37">
            <a:extLst>
              <a:ext uri="{FF2B5EF4-FFF2-40B4-BE49-F238E27FC236}">
                <a16:creationId xmlns:a16="http://schemas.microsoft.com/office/drawing/2014/main" id="{B377F268-3F0D-4D71-B426-B9CC3BD7947F}"/>
              </a:ext>
            </a:extLst>
          </p:cNvPr>
          <p:cNvSpPr/>
          <p:nvPr/>
        </p:nvSpPr>
        <p:spPr>
          <a:xfrm>
            <a:off x="6172200" y="4381500"/>
            <a:ext cx="457200" cy="457200"/>
          </a:xfrm>
          <a:prstGeom prst="ellipse">
            <a:avLst/>
          </a:prstGeom>
          <a:solidFill>
            <a:srgbClr val="3A1820"/>
          </a:solidFill>
          <a:ln w="12700" cap="flat" cmpd="sng" algn="ctr">
            <a:solidFill>
              <a:srgbClr val="F8717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lIns="0" tIns="0" rIns="0" bIns="0" rtlCol="0" anchor="ctr" anchorCtr="0">
            <a:noAutofit/>
          </a:bodyPr>
          <a:lstStyle/>
          <a:p>
            <a:pPr algn="ctr"/>
            <a:r>
              <a:rPr lang="en-IN" sz="1400" b="1">
                <a:solidFill>
                  <a:srgbClr val="F87171"/>
                </a:solidFill>
                <a:latin typeface="Segoe UI"/>
                <a:cs typeface="Segoe UI"/>
              </a:rPr>
              <a:t>3</a:t>
            </a:r>
          </a:p>
        </p:txBody>
      </p:sp>
      <p:sp>
        <p:nvSpPr>
          <p:cNvPr id="39" name="TextBox 38">
            <a:extLst>
              <a:ext uri="{FF2B5EF4-FFF2-40B4-BE49-F238E27FC236}">
                <a16:creationId xmlns:a16="http://schemas.microsoft.com/office/drawing/2014/main" id="{22C4CFB7-469D-48D2-854F-AC77FA07F1B5}"/>
              </a:ext>
            </a:extLst>
          </p:cNvPr>
          <p:cNvSpPr txBox="1"/>
          <p:nvPr/>
        </p:nvSpPr>
        <p:spPr>
          <a:xfrm>
            <a:off x="6832600" y="4241800"/>
            <a:ext cx="4508500" cy="279400"/>
          </a:xfrm>
          <a:prstGeom prst="rect">
            <a:avLst/>
          </a:prstGeom>
          <a:noFill/>
        </p:spPr>
        <p:txBody>
          <a:bodyPr vertOverflow="overflow" vert="horz" wrap="square" lIns="0" tIns="0" rIns="0" bIns="0" rtlCol="0" anchor="t" anchorCtr="0">
            <a:noAutofit/>
          </a:bodyPr>
          <a:lstStyle/>
          <a:p>
            <a:r>
              <a:rPr lang="en-IN" sz="1600" b="1">
                <a:solidFill>
                  <a:srgbClr val="F1F5F9"/>
                </a:solidFill>
                <a:latin typeface="Segoe UI"/>
                <a:cs typeface="Segoe UI"/>
              </a:rPr>
              <a:t>It will still answer</a:t>
            </a:r>
          </a:p>
        </p:txBody>
      </p:sp>
      <p:sp>
        <p:nvSpPr>
          <p:cNvPr id="40" name="TextBox 39">
            <a:extLst>
              <a:ext uri="{FF2B5EF4-FFF2-40B4-BE49-F238E27FC236}">
                <a16:creationId xmlns:a16="http://schemas.microsoft.com/office/drawing/2014/main" id="{1A324DF4-A1EC-42FB-860A-903F1E31AE75}"/>
              </a:ext>
            </a:extLst>
          </p:cNvPr>
          <p:cNvSpPr txBox="1"/>
          <p:nvPr/>
        </p:nvSpPr>
        <p:spPr>
          <a:xfrm>
            <a:off x="6832600" y="4572000"/>
            <a:ext cx="4508500" cy="508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Confidently, plausibly, and completely incorrectly; this is a hallucination, not an error message</a:t>
            </a:r>
            <a:endParaRPr lang="en-IN" sz="1400">
              <a:solidFill>
                <a:srgbClr val="B8C2D3"/>
              </a:solidFill>
              <a:latin typeface="Segoe UI"/>
              <a:cs typeface="Segoe UI"/>
            </a:endParaRPr>
          </a:p>
        </p:txBody>
      </p:sp>
      <p:sp>
        <p:nvSpPr>
          <p:cNvPr id="41" name="Rectangle: Rounded Corners 40">
            <a:extLst>
              <a:ext uri="{FF2B5EF4-FFF2-40B4-BE49-F238E27FC236}">
                <a16:creationId xmlns:a16="http://schemas.microsoft.com/office/drawing/2014/main" id="{2BE5C4E3-5E4A-48E7-A411-472B3CEB4287}"/>
              </a:ext>
            </a:extLst>
          </p:cNvPr>
          <p:cNvSpPr/>
          <p:nvPr/>
        </p:nvSpPr>
        <p:spPr>
          <a:xfrm>
            <a:off x="635000" y="5334000"/>
            <a:ext cx="10909300" cy="889000"/>
          </a:xfrm>
          <a:prstGeom prst="roundRect">
            <a:avLst>
              <a:gd name="adj" fmla="val 9756"/>
            </a:avLst>
          </a:prstGeom>
          <a:solidFill>
            <a:srgbClr val="0F2A30"/>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2" name="TextBox 41">
            <a:extLst>
              <a:ext uri="{FF2B5EF4-FFF2-40B4-BE49-F238E27FC236}">
                <a16:creationId xmlns:a16="http://schemas.microsoft.com/office/drawing/2014/main" id="{209290DA-C2CA-4575-8033-840806DEBA0C}"/>
              </a:ext>
            </a:extLst>
          </p:cNvPr>
          <p:cNvSpPr txBox="1"/>
          <p:nvPr/>
        </p:nvSpPr>
        <p:spPr>
          <a:xfrm>
            <a:off x="914400" y="5486400"/>
            <a:ext cx="10350500" cy="2032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THE GAP RAG FILLS</a:t>
            </a:r>
          </a:p>
        </p:txBody>
      </p:sp>
      <p:sp>
        <p:nvSpPr>
          <p:cNvPr id="43" name="TextBox 42">
            <a:extLst>
              <a:ext uri="{FF2B5EF4-FFF2-40B4-BE49-F238E27FC236}">
                <a16:creationId xmlns:a16="http://schemas.microsoft.com/office/drawing/2014/main" id="{A356A632-9320-4F26-BF4C-970F674B9723}"/>
              </a:ext>
            </a:extLst>
          </p:cNvPr>
          <p:cNvSpPr txBox="1"/>
          <p:nvPr/>
        </p:nvSpPr>
        <p:spPr>
          <a:xfrm>
            <a:off x="914400" y="5740400"/>
            <a:ext cx="10350500" cy="558800"/>
          </a:xfrm>
          <a:prstGeom prst="rect">
            <a:avLst/>
          </a:prstGeom>
          <a:noFill/>
        </p:spPr>
        <p:txBody>
          <a:bodyPr vertOverflow="overflow" vert="horz" wrap="square" lIns="0" tIns="0" rIns="0" bIns="0" rtlCol="0" anchor="t" anchorCtr="0">
            <a:noAutofit/>
          </a:bodyPr>
          <a:lstStyle/>
          <a:p>
            <a:r>
              <a:rPr lang="en-US" sz="1500" b="1">
                <a:solidFill>
                  <a:srgbClr val="F1F5F9"/>
                </a:solidFill>
                <a:latin typeface="Segoe UI"/>
                <a:cs typeface="Segoe UI"/>
              </a:rPr>
              <a:t>A general-purpose model with zero private knowledge: this is the problem RAG was invented to solve.</a:t>
            </a:r>
            <a:endParaRPr lang="en-IN" sz="1600" b="1">
              <a:solidFill>
                <a:srgbClr val="F1F5F9"/>
              </a:solidFill>
              <a:latin typeface="Segoe UI"/>
              <a:cs typeface="Segoe UI"/>
            </a:endParaRPr>
          </a:p>
        </p:txBody>
      </p:sp>
    </p:spTree>
    <p:extLst>
      <p:ext uri="{BB962C8B-B14F-4D97-AF65-F5344CB8AC3E}">
        <p14:creationId xmlns:p14="http://schemas.microsoft.com/office/powerpoint/2010/main" val="4042882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THE HALLUCINATION PROBLEM</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Why LLMs hallucinate</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6" name="TextBox 25"/>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10</a:t>
            </a:r>
          </a:p>
        </p:txBody>
      </p:sp>
      <p:sp>
        <p:nvSpPr>
          <p:cNvPr id="3" name="Rectangle: Rounded Corners 2">
            <a:extLst>
              <a:ext uri="{FF2B5EF4-FFF2-40B4-BE49-F238E27FC236}">
                <a16:creationId xmlns:a16="http://schemas.microsoft.com/office/drawing/2014/main" id="{5F4F5EA8-5FC8-4477-BD26-D3AB8EE283FF}"/>
              </a:ext>
            </a:extLst>
          </p:cNvPr>
          <p:cNvSpPr/>
          <p:nvPr/>
        </p:nvSpPr>
        <p:spPr>
          <a:xfrm>
            <a:off x="635000" y="1397000"/>
            <a:ext cx="2593975" cy="3352800"/>
          </a:xfrm>
          <a:prstGeom prst="roundRect">
            <a:avLst>
              <a:gd name="adj" fmla="val 391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7" name="Rectangle: Rounded Corners 26">
            <a:extLst>
              <a:ext uri="{FF2B5EF4-FFF2-40B4-BE49-F238E27FC236}">
                <a16:creationId xmlns:a16="http://schemas.microsoft.com/office/drawing/2014/main" id="{A2A99A13-3665-412A-866D-4F7E1B4DD3E4}"/>
              </a:ext>
            </a:extLst>
          </p:cNvPr>
          <p:cNvSpPr/>
          <p:nvPr/>
        </p:nvSpPr>
        <p:spPr>
          <a:xfrm>
            <a:off x="838200" y="1600200"/>
            <a:ext cx="508000" cy="508000"/>
          </a:xfrm>
          <a:prstGeom prst="roundRect">
            <a:avLst>
              <a:gd name="adj" fmla="val 20000"/>
            </a:avLst>
          </a:prstGeom>
          <a:solidFill>
            <a:srgbClr val="2DD4BF"/>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8" name="TextBox 27">
            <a:extLst>
              <a:ext uri="{FF2B5EF4-FFF2-40B4-BE49-F238E27FC236}">
                <a16:creationId xmlns:a16="http://schemas.microsoft.com/office/drawing/2014/main" id="{1B5F8AD0-8D70-4156-BF18-CEC5CD731115}"/>
              </a:ext>
            </a:extLst>
          </p:cNvPr>
          <p:cNvSpPr txBox="1"/>
          <p:nvPr/>
        </p:nvSpPr>
        <p:spPr>
          <a:xfrm>
            <a:off x="2593975" y="1625600"/>
            <a:ext cx="431800" cy="203200"/>
          </a:xfrm>
          <a:prstGeom prst="rect">
            <a:avLst/>
          </a:prstGeom>
          <a:noFill/>
        </p:spPr>
        <p:txBody>
          <a:bodyPr vertOverflow="overflow" vert="horz" wrap="square" lIns="0" tIns="0" rIns="0" bIns="0" rtlCol="0" anchor="t" anchorCtr="0">
            <a:noAutofit/>
          </a:bodyPr>
          <a:lstStyle/>
          <a:p>
            <a:r>
              <a:rPr lang="en-IN" sz="1100" b="1">
                <a:solidFill>
                  <a:srgbClr val="2DD4BF"/>
                </a:solidFill>
                <a:latin typeface="Segoe UI"/>
                <a:cs typeface="Segoe UI"/>
              </a:rPr>
              <a:t>01</a:t>
            </a:r>
          </a:p>
        </p:txBody>
      </p:sp>
      <p:sp>
        <p:nvSpPr>
          <p:cNvPr id="29" name="TextBox 28">
            <a:extLst>
              <a:ext uri="{FF2B5EF4-FFF2-40B4-BE49-F238E27FC236}">
                <a16:creationId xmlns:a16="http://schemas.microsoft.com/office/drawing/2014/main" id="{11DA70F8-7DDF-47FD-9C14-019C885E2FB5}"/>
              </a:ext>
            </a:extLst>
          </p:cNvPr>
          <p:cNvSpPr txBox="1"/>
          <p:nvPr/>
        </p:nvSpPr>
        <p:spPr>
          <a:xfrm>
            <a:off x="838200" y="2286000"/>
            <a:ext cx="2187575" cy="304800"/>
          </a:xfrm>
          <a:prstGeom prst="rect">
            <a:avLst/>
          </a:prstGeom>
          <a:noFill/>
        </p:spPr>
        <p:txBody>
          <a:bodyPr vertOverflow="overflow" vert="horz" wrap="square" lIns="0" tIns="0" rIns="0" bIns="0" rtlCol="0" anchor="t" anchorCtr="0">
            <a:noAutofit/>
          </a:bodyPr>
          <a:lstStyle/>
          <a:p>
            <a:r>
              <a:rPr lang="en-IN" sz="1700" b="1">
                <a:solidFill>
                  <a:srgbClr val="F1F5F9"/>
                </a:solidFill>
                <a:latin typeface="Segoe UI"/>
                <a:cs typeface="Segoe UI"/>
              </a:rPr>
              <a:t>Missing knowledge</a:t>
            </a:r>
          </a:p>
        </p:txBody>
      </p:sp>
      <p:sp>
        <p:nvSpPr>
          <p:cNvPr id="30" name="TextBox 29">
            <a:extLst>
              <a:ext uri="{FF2B5EF4-FFF2-40B4-BE49-F238E27FC236}">
                <a16:creationId xmlns:a16="http://schemas.microsoft.com/office/drawing/2014/main" id="{DB992C3B-0F34-4607-A448-AAF5959236E7}"/>
              </a:ext>
            </a:extLst>
          </p:cNvPr>
          <p:cNvSpPr txBox="1"/>
          <p:nvPr/>
        </p:nvSpPr>
        <p:spPr>
          <a:xfrm>
            <a:off x="838200" y="2667000"/>
            <a:ext cx="2187575" cy="1016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The fact was simply never in the training data</a:t>
            </a:r>
            <a:endParaRPr lang="en-IN" sz="1400">
              <a:solidFill>
                <a:srgbClr val="B8C2D3"/>
              </a:solidFill>
              <a:latin typeface="Segoe UI"/>
              <a:cs typeface="Segoe UI"/>
            </a:endParaRPr>
          </a:p>
        </p:txBody>
      </p:sp>
      <p:cxnSp>
        <p:nvCxnSpPr>
          <p:cNvPr id="31" name="Straight Arrow Connector 30">
            <a:extLst>
              <a:ext uri="{FF2B5EF4-FFF2-40B4-BE49-F238E27FC236}">
                <a16:creationId xmlns:a16="http://schemas.microsoft.com/office/drawing/2014/main" id="{8FD2EB37-5BE5-4878-8B02-93128CF54F7F}"/>
              </a:ext>
            </a:extLst>
          </p:cNvPr>
          <p:cNvCxnSpPr/>
          <p:nvPr/>
        </p:nvCxnSpPr>
        <p:spPr>
          <a:xfrm>
            <a:off x="838200" y="3581400"/>
            <a:ext cx="2187575" cy="0"/>
          </a:xfrm>
          <a:prstGeom prst="straightConnector1">
            <a:avLst/>
          </a:prstGeom>
          <a:ln w="12700" cap="flat" cmpd="sng" algn="ctr">
            <a:solidFill>
              <a:srgbClr val="2A3650"/>
            </a:solidFill>
            <a:prstDash val="soli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35EC2DB-873A-46ED-B549-4A14FEEDE10A}"/>
              </a:ext>
            </a:extLst>
          </p:cNvPr>
          <p:cNvSpPr txBox="1"/>
          <p:nvPr/>
        </p:nvSpPr>
        <p:spPr>
          <a:xfrm>
            <a:off x="838200" y="3733800"/>
            <a:ext cx="2187575" cy="1778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EXAMPLE</a:t>
            </a:r>
          </a:p>
        </p:txBody>
      </p:sp>
      <p:sp>
        <p:nvSpPr>
          <p:cNvPr id="33" name="TextBox 32">
            <a:extLst>
              <a:ext uri="{FF2B5EF4-FFF2-40B4-BE49-F238E27FC236}">
                <a16:creationId xmlns:a16="http://schemas.microsoft.com/office/drawing/2014/main" id="{1D952A4D-EEEC-4180-88FC-0087B997CFF3}"/>
              </a:ext>
            </a:extLst>
          </p:cNvPr>
          <p:cNvSpPr txBox="1"/>
          <p:nvPr/>
        </p:nvSpPr>
        <p:spPr>
          <a:xfrm>
            <a:off x="838200" y="3962400"/>
            <a:ext cx="2187575" cy="508000"/>
          </a:xfrm>
          <a:prstGeom prst="rect">
            <a:avLst/>
          </a:prstGeom>
          <a:noFill/>
        </p:spPr>
        <p:txBody>
          <a:bodyPr vertOverflow="overflow" vert="horz" wrap="square" lIns="0" tIns="0" rIns="0" bIns="0" rtlCol="0" anchor="t" anchorCtr="0">
            <a:noAutofit/>
          </a:bodyPr>
          <a:lstStyle/>
          <a:p>
            <a:r>
              <a:rPr lang="en-US" sz="1400" i="1">
                <a:solidFill>
                  <a:srgbClr val="E2E8F0"/>
                </a:solidFill>
                <a:latin typeface="Segoe UI"/>
                <a:cs typeface="Segoe UI"/>
              </a:rPr>
              <a:t>A niche regulation it never saw</a:t>
            </a:r>
            <a:endParaRPr lang="en-IN" sz="1400" i="1">
              <a:solidFill>
                <a:srgbClr val="E2E8F0"/>
              </a:solidFill>
              <a:latin typeface="Segoe UI"/>
              <a:cs typeface="Segoe UI"/>
            </a:endParaRPr>
          </a:p>
        </p:txBody>
      </p:sp>
      <p:sp>
        <p:nvSpPr>
          <p:cNvPr id="34" name="Rectangle: Rounded Corners 33">
            <a:extLst>
              <a:ext uri="{FF2B5EF4-FFF2-40B4-BE49-F238E27FC236}">
                <a16:creationId xmlns:a16="http://schemas.microsoft.com/office/drawing/2014/main" id="{BB67D48C-EC72-42EA-A6B0-7043E3E83D14}"/>
              </a:ext>
            </a:extLst>
          </p:cNvPr>
          <p:cNvSpPr/>
          <p:nvPr/>
        </p:nvSpPr>
        <p:spPr>
          <a:xfrm>
            <a:off x="3406775" y="1397000"/>
            <a:ext cx="2593975" cy="3352800"/>
          </a:xfrm>
          <a:prstGeom prst="roundRect">
            <a:avLst>
              <a:gd name="adj" fmla="val 391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5" name="Rectangle: Rounded Corners 34">
            <a:extLst>
              <a:ext uri="{FF2B5EF4-FFF2-40B4-BE49-F238E27FC236}">
                <a16:creationId xmlns:a16="http://schemas.microsoft.com/office/drawing/2014/main" id="{A273F76C-2307-4542-AA8C-44C0FE31A704}"/>
              </a:ext>
            </a:extLst>
          </p:cNvPr>
          <p:cNvSpPr/>
          <p:nvPr/>
        </p:nvSpPr>
        <p:spPr>
          <a:xfrm>
            <a:off x="3609975" y="1600200"/>
            <a:ext cx="508000" cy="508000"/>
          </a:xfrm>
          <a:prstGeom prst="roundRect">
            <a:avLst>
              <a:gd name="adj" fmla="val 20000"/>
            </a:avLst>
          </a:prstGeom>
          <a:solidFill>
            <a:srgbClr val="2DD4BF"/>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6" name="TextBox 35">
            <a:extLst>
              <a:ext uri="{FF2B5EF4-FFF2-40B4-BE49-F238E27FC236}">
                <a16:creationId xmlns:a16="http://schemas.microsoft.com/office/drawing/2014/main" id="{2C609910-E7A0-4FDF-B74F-2EEF6C0474B7}"/>
              </a:ext>
            </a:extLst>
          </p:cNvPr>
          <p:cNvSpPr txBox="1"/>
          <p:nvPr/>
        </p:nvSpPr>
        <p:spPr>
          <a:xfrm>
            <a:off x="5365750" y="1625600"/>
            <a:ext cx="431800" cy="203200"/>
          </a:xfrm>
          <a:prstGeom prst="rect">
            <a:avLst/>
          </a:prstGeom>
          <a:noFill/>
        </p:spPr>
        <p:txBody>
          <a:bodyPr vertOverflow="overflow" vert="horz" wrap="square" lIns="0" tIns="0" rIns="0" bIns="0" rtlCol="0" anchor="t" anchorCtr="0">
            <a:noAutofit/>
          </a:bodyPr>
          <a:lstStyle/>
          <a:p>
            <a:r>
              <a:rPr lang="en-IN" sz="1100" b="1">
                <a:solidFill>
                  <a:srgbClr val="2DD4BF"/>
                </a:solidFill>
                <a:latin typeface="Segoe UI"/>
                <a:cs typeface="Segoe UI"/>
              </a:rPr>
              <a:t>02</a:t>
            </a:r>
          </a:p>
        </p:txBody>
      </p:sp>
      <p:sp>
        <p:nvSpPr>
          <p:cNvPr id="37" name="TextBox 36">
            <a:extLst>
              <a:ext uri="{FF2B5EF4-FFF2-40B4-BE49-F238E27FC236}">
                <a16:creationId xmlns:a16="http://schemas.microsoft.com/office/drawing/2014/main" id="{44B5AD89-9A13-403F-987B-29087381ADBB}"/>
              </a:ext>
            </a:extLst>
          </p:cNvPr>
          <p:cNvSpPr txBox="1"/>
          <p:nvPr/>
        </p:nvSpPr>
        <p:spPr>
          <a:xfrm>
            <a:off x="3609975" y="2286000"/>
            <a:ext cx="2187575" cy="304800"/>
          </a:xfrm>
          <a:prstGeom prst="rect">
            <a:avLst/>
          </a:prstGeom>
          <a:noFill/>
        </p:spPr>
        <p:txBody>
          <a:bodyPr vertOverflow="overflow" vert="horz" wrap="square" lIns="0" tIns="0" rIns="0" bIns="0" rtlCol="0" anchor="t" anchorCtr="0">
            <a:noAutofit/>
          </a:bodyPr>
          <a:lstStyle/>
          <a:p>
            <a:r>
              <a:rPr lang="en-IN" sz="1700" b="1">
                <a:solidFill>
                  <a:srgbClr val="F1F5F9"/>
                </a:solidFill>
                <a:latin typeface="Segoe UI"/>
                <a:cs typeface="Segoe UI"/>
              </a:rPr>
              <a:t>Outdated knowledge</a:t>
            </a:r>
          </a:p>
        </p:txBody>
      </p:sp>
      <p:sp>
        <p:nvSpPr>
          <p:cNvPr id="38" name="TextBox 37">
            <a:extLst>
              <a:ext uri="{FF2B5EF4-FFF2-40B4-BE49-F238E27FC236}">
                <a16:creationId xmlns:a16="http://schemas.microsoft.com/office/drawing/2014/main" id="{929095E2-311F-400C-80C9-084A02EDDB87}"/>
              </a:ext>
            </a:extLst>
          </p:cNvPr>
          <p:cNvSpPr txBox="1"/>
          <p:nvPr/>
        </p:nvSpPr>
        <p:spPr>
          <a:xfrm>
            <a:off x="3609975" y="2667000"/>
            <a:ext cx="2187575" cy="1016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The fact has changed since the training cutoff</a:t>
            </a:r>
            <a:endParaRPr lang="en-IN" sz="1400">
              <a:solidFill>
                <a:srgbClr val="B8C2D3"/>
              </a:solidFill>
              <a:latin typeface="Segoe UI"/>
              <a:cs typeface="Segoe UI"/>
            </a:endParaRPr>
          </a:p>
        </p:txBody>
      </p:sp>
      <p:cxnSp>
        <p:nvCxnSpPr>
          <p:cNvPr id="39" name="Straight Arrow Connector 38">
            <a:extLst>
              <a:ext uri="{FF2B5EF4-FFF2-40B4-BE49-F238E27FC236}">
                <a16:creationId xmlns:a16="http://schemas.microsoft.com/office/drawing/2014/main" id="{B6E753FD-D237-4F40-9494-9DF565B3BABF}"/>
              </a:ext>
            </a:extLst>
          </p:cNvPr>
          <p:cNvCxnSpPr/>
          <p:nvPr/>
        </p:nvCxnSpPr>
        <p:spPr>
          <a:xfrm>
            <a:off x="3609975" y="3581400"/>
            <a:ext cx="2187575" cy="0"/>
          </a:xfrm>
          <a:prstGeom prst="straightConnector1">
            <a:avLst/>
          </a:prstGeom>
          <a:ln w="12700" cap="flat" cmpd="sng" algn="ctr">
            <a:solidFill>
              <a:srgbClr val="2A3650"/>
            </a:solidFill>
            <a:prstDash val="soli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536A8E2E-2D97-4BE0-A9FF-2B73EEBE7E67}"/>
              </a:ext>
            </a:extLst>
          </p:cNvPr>
          <p:cNvSpPr txBox="1"/>
          <p:nvPr/>
        </p:nvSpPr>
        <p:spPr>
          <a:xfrm>
            <a:off x="3609975" y="3733800"/>
            <a:ext cx="2187575" cy="1778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EXAMPLE</a:t>
            </a:r>
          </a:p>
        </p:txBody>
      </p:sp>
      <p:sp>
        <p:nvSpPr>
          <p:cNvPr id="41" name="TextBox 40">
            <a:extLst>
              <a:ext uri="{FF2B5EF4-FFF2-40B4-BE49-F238E27FC236}">
                <a16:creationId xmlns:a16="http://schemas.microsoft.com/office/drawing/2014/main" id="{01DA4AC7-4384-4771-AF27-2CB13CCEB8F4}"/>
              </a:ext>
            </a:extLst>
          </p:cNvPr>
          <p:cNvSpPr txBox="1"/>
          <p:nvPr/>
        </p:nvSpPr>
        <p:spPr>
          <a:xfrm>
            <a:off x="3609975" y="3962400"/>
            <a:ext cx="2187575" cy="508000"/>
          </a:xfrm>
          <a:prstGeom prst="rect">
            <a:avLst/>
          </a:prstGeom>
          <a:noFill/>
        </p:spPr>
        <p:txBody>
          <a:bodyPr vertOverflow="overflow" vert="horz" wrap="square" lIns="0" tIns="0" rIns="0" bIns="0" rtlCol="0" anchor="t" anchorCtr="0">
            <a:noAutofit/>
          </a:bodyPr>
          <a:lstStyle/>
          <a:p>
            <a:r>
              <a:rPr lang="en-IN" sz="1400" i="1">
                <a:solidFill>
                  <a:srgbClr val="E2E8F0"/>
                </a:solidFill>
                <a:latin typeface="Segoe UI"/>
                <a:cs typeface="Segoe UI"/>
              </a:rPr>
              <a:t>This year's policy update</a:t>
            </a:r>
          </a:p>
        </p:txBody>
      </p:sp>
      <p:sp>
        <p:nvSpPr>
          <p:cNvPr id="42" name="Rectangle: Rounded Corners 41">
            <a:extLst>
              <a:ext uri="{FF2B5EF4-FFF2-40B4-BE49-F238E27FC236}">
                <a16:creationId xmlns:a16="http://schemas.microsoft.com/office/drawing/2014/main" id="{4F2D59AD-B064-4253-AC38-4929F74742B5}"/>
              </a:ext>
            </a:extLst>
          </p:cNvPr>
          <p:cNvSpPr/>
          <p:nvPr/>
        </p:nvSpPr>
        <p:spPr>
          <a:xfrm>
            <a:off x="6178550" y="1397000"/>
            <a:ext cx="2593975" cy="3352800"/>
          </a:xfrm>
          <a:prstGeom prst="roundRect">
            <a:avLst>
              <a:gd name="adj" fmla="val 391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3" name="Rectangle: Rounded Corners 42">
            <a:extLst>
              <a:ext uri="{FF2B5EF4-FFF2-40B4-BE49-F238E27FC236}">
                <a16:creationId xmlns:a16="http://schemas.microsoft.com/office/drawing/2014/main" id="{79760E2C-BE08-4AD3-A7B5-BEB275216E21}"/>
              </a:ext>
            </a:extLst>
          </p:cNvPr>
          <p:cNvSpPr/>
          <p:nvPr/>
        </p:nvSpPr>
        <p:spPr>
          <a:xfrm>
            <a:off x="6381750" y="1600200"/>
            <a:ext cx="508000" cy="508000"/>
          </a:xfrm>
          <a:prstGeom prst="roundRect">
            <a:avLst>
              <a:gd name="adj" fmla="val 20000"/>
            </a:avLst>
          </a:prstGeom>
          <a:solidFill>
            <a:srgbClr val="2DD4BF"/>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4" name="TextBox 43">
            <a:extLst>
              <a:ext uri="{FF2B5EF4-FFF2-40B4-BE49-F238E27FC236}">
                <a16:creationId xmlns:a16="http://schemas.microsoft.com/office/drawing/2014/main" id="{41CD8F67-6ED8-49D9-A731-0AB78F6F056D}"/>
              </a:ext>
            </a:extLst>
          </p:cNvPr>
          <p:cNvSpPr txBox="1"/>
          <p:nvPr/>
        </p:nvSpPr>
        <p:spPr>
          <a:xfrm>
            <a:off x="8137525" y="1625600"/>
            <a:ext cx="431800" cy="203200"/>
          </a:xfrm>
          <a:prstGeom prst="rect">
            <a:avLst/>
          </a:prstGeom>
          <a:noFill/>
        </p:spPr>
        <p:txBody>
          <a:bodyPr vertOverflow="overflow" vert="horz" wrap="square" lIns="0" tIns="0" rIns="0" bIns="0" rtlCol="0" anchor="t" anchorCtr="0">
            <a:noAutofit/>
          </a:bodyPr>
          <a:lstStyle/>
          <a:p>
            <a:r>
              <a:rPr lang="en-IN" sz="1100" b="1">
                <a:solidFill>
                  <a:srgbClr val="2DD4BF"/>
                </a:solidFill>
                <a:latin typeface="Segoe UI"/>
                <a:cs typeface="Segoe UI"/>
              </a:rPr>
              <a:t>03</a:t>
            </a:r>
          </a:p>
        </p:txBody>
      </p:sp>
      <p:sp>
        <p:nvSpPr>
          <p:cNvPr id="45" name="TextBox 44">
            <a:extLst>
              <a:ext uri="{FF2B5EF4-FFF2-40B4-BE49-F238E27FC236}">
                <a16:creationId xmlns:a16="http://schemas.microsoft.com/office/drawing/2014/main" id="{5270FB38-9648-424A-B625-F8490A93A154}"/>
              </a:ext>
            </a:extLst>
          </p:cNvPr>
          <p:cNvSpPr txBox="1"/>
          <p:nvPr/>
        </p:nvSpPr>
        <p:spPr>
          <a:xfrm>
            <a:off x="6381750" y="2286000"/>
            <a:ext cx="2187575" cy="304800"/>
          </a:xfrm>
          <a:prstGeom prst="rect">
            <a:avLst/>
          </a:prstGeom>
          <a:noFill/>
        </p:spPr>
        <p:txBody>
          <a:bodyPr vertOverflow="overflow" vert="horz" wrap="square" lIns="0" tIns="0" rIns="0" bIns="0" rtlCol="0" anchor="t" anchorCtr="0">
            <a:noAutofit/>
          </a:bodyPr>
          <a:lstStyle/>
          <a:p>
            <a:r>
              <a:rPr lang="en-IN" sz="1700" b="1">
                <a:solidFill>
                  <a:srgbClr val="F1F5F9"/>
                </a:solidFill>
                <a:latin typeface="Segoe UI"/>
                <a:cs typeface="Segoe UI"/>
              </a:rPr>
              <a:t>Private data</a:t>
            </a:r>
          </a:p>
        </p:txBody>
      </p:sp>
      <p:sp>
        <p:nvSpPr>
          <p:cNvPr id="46" name="TextBox 45">
            <a:extLst>
              <a:ext uri="{FF2B5EF4-FFF2-40B4-BE49-F238E27FC236}">
                <a16:creationId xmlns:a16="http://schemas.microsoft.com/office/drawing/2014/main" id="{E4D7144D-B46B-46AA-8DEF-85B89289A95B}"/>
              </a:ext>
            </a:extLst>
          </p:cNvPr>
          <p:cNvSpPr txBox="1"/>
          <p:nvPr/>
        </p:nvSpPr>
        <p:spPr>
          <a:xfrm>
            <a:off x="6381750" y="2667000"/>
            <a:ext cx="2187575" cy="1016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The fact was never public: internal docs, contracts, code</a:t>
            </a:r>
            <a:endParaRPr lang="en-IN" sz="1400">
              <a:solidFill>
                <a:srgbClr val="B8C2D3"/>
              </a:solidFill>
              <a:latin typeface="Segoe UI"/>
              <a:cs typeface="Segoe UI"/>
            </a:endParaRPr>
          </a:p>
        </p:txBody>
      </p:sp>
      <p:cxnSp>
        <p:nvCxnSpPr>
          <p:cNvPr id="47" name="Straight Arrow Connector 46">
            <a:extLst>
              <a:ext uri="{FF2B5EF4-FFF2-40B4-BE49-F238E27FC236}">
                <a16:creationId xmlns:a16="http://schemas.microsoft.com/office/drawing/2014/main" id="{66EC6C14-E8F0-44C7-8E33-7F9441BAF678}"/>
              </a:ext>
            </a:extLst>
          </p:cNvPr>
          <p:cNvCxnSpPr/>
          <p:nvPr/>
        </p:nvCxnSpPr>
        <p:spPr>
          <a:xfrm>
            <a:off x="6381750" y="3581400"/>
            <a:ext cx="2187575" cy="0"/>
          </a:xfrm>
          <a:prstGeom prst="straightConnector1">
            <a:avLst/>
          </a:prstGeom>
          <a:ln w="12700" cap="flat" cmpd="sng" algn="ctr">
            <a:solidFill>
              <a:srgbClr val="2A3650"/>
            </a:solidFill>
            <a:prstDash val="solid"/>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D58102F-7D69-4240-AAC4-188CA4BDCD24}"/>
              </a:ext>
            </a:extLst>
          </p:cNvPr>
          <p:cNvSpPr txBox="1"/>
          <p:nvPr/>
        </p:nvSpPr>
        <p:spPr>
          <a:xfrm>
            <a:off x="6381750" y="3733800"/>
            <a:ext cx="2187575" cy="1778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EXAMPLE</a:t>
            </a:r>
          </a:p>
        </p:txBody>
      </p:sp>
      <p:sp>
        <p:nvSpPr>
          <p:cNvPr id="49" name="TextBox 48">
            <a:extLst>
              <a:ext uri="{FF2B5EF4-FFF2-40B4-BE49-F238E27FC236}">
                <a16:creationId xmlns:a16="http://schemas.microsoft.com/office/drawing/2014/main" id="{354A64E1-43D8-4985-AA2F-0667FEDC30A0}"/>
              </a:ext>
            </a:extLst>
          </p:cNvPr>
          <p:cNvSpPr txBox="1"/>
          <p:nvPr/>
        </p:nvSpPr>
        <p:spPr>
          <a:xfrm>
            <a:off x="6381750" y="3962400"/>
            <a:ext cx="2187575" cy="508000"/>
          </a:xfrm>
          <a:prstGeom prst="rect">
            <a:avLst/>
          </a:prstGeom>
          <a:noFill/>
        </p:spPr>
        <p:txBody>
          <a:bodyPr vertOverflow="overflow" vert="horz" wrap="square" lIns="0" tIns="0" rIns="0" bIns="0" rtlCol="0" anchor="t" anchorCtr="0">
            <a:noAutofit/>
          </a:bodyPr>
          <a:lstStyle/>
          <a:p>
            <a:r>
              <a:rPr lang="en-IN" sz="1400" i="1">
                <a:solidFill>
                  <a:srgbClr val="E2E8F0"/>
                </a:solidFill>
                <a:latin typeface="Segoe UI"/>
                <a:cs typeface="Segoe UI"/>
              </a:rPr>
              <a:t>Your HR handbook</a:t>
            </a:r>
          </a:p>
        </p:txBody>
      </p:sp>
      <p:sp>
        <p:nvSpPr>
          <p:cNvPr id="50" name="Rectangle: Rounded Corners 49">
            <a:extLst>
              <a:ext uri="{FF2B5EF4-FFF2-40B4-BE49-F238E27FC236}">
                <a16:creationId xmlns:a16="http://schemas.microsoft.com/office/drawing/2014/main" id="{2B9757C2-FFC8-4835-B1DB-9C311DD14DB1}"/>
              </a:ext>
            </a:extLst>
          </p:cNvPr>
          <p:cNvSpPr/>
          <p:nvPr/>
        </p:nvSpPr>
        <p:spPr>
          <a:xfrm>
            <a:off x="8950325" y="1397000"/>
            <a:ext cx="2593975" cy="3352800"/>
          </a:xfrm>
          <a:prstGeom prst="roundRect">
            <a:avLst>
              <a:gd name="adj" fmla="val 391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1" name="Rectangle: Rounded Corners 50">
            <a:extLst>
              <a:ext uri="{FF2B5EF4-FFF2-40B4-BE49-F238E27FC236}">
                <a16:creationId xmlns:a16="http://schemas.microsoft.com/office/drawing/2014/main" id="{16547DB9-E8CB-4D87-AF86-B92F88C9845E}"/>
              </a:ext>
            </a:extLst>
          </p:cNvPr>
          <p:cNvSpPr/>
          <p:nvPr/>
        </p:nvSpPr>
        <p:spPr>
          <a:xfrm>
            <a:off x="9153525" y="1600200"/>
            <a:ext cx="508000" cy="508000"/>
          </a:xfrm>
          <a:prstGeom prst="roundRect">
            <a:avLst>
              <a:gd name="adj" fmla="val 20000"/>
            </a:avLst>
          </a:prstGeom>
          <a:solidFill>
            <a:srgbClr val="2DD4BF"/>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2" name="TextBox 51">
            <a:extLst>
              <a:ext uri="{FF2B5EF4-FFF2-40B4-BE49-F238E27FC236}">
                <a16:creationId xmlns:a16="http://schemas.microsoft.com/office/drawing/2014/main" id="{577EF340-4F28-4F01-99D3-DA8A411BDD8A}"/>
              </a:ext>
            </a:extLst>
          </p:cNvPr>
          <p:cNvSpPr txBox="1"/>
          <p:nvPr/>
        </p:nvSpPr>
        <p:spPr>
          <a:xfrm>
            <a:off x="10909300" y="1625600"/>
            <a:ext cx="431800" cy="203200"/>
          </a:xfrm>
          <a:prstGeom prst="rect">
            <a:avLst/>
          </a:prstGeom>
          <a:noFill/>
        </p:spPr>
        <p:txBody>
          <a:bodyPr vertOverflow="overflow" vert="horz" wrap="square" lIns="0" tIns="0" rIns="0" bIns="0" rtlCol="0" anchor="t" anchorCtr="0">
            <a:noAutofit/>
          </a:bodyPr>
          <a:lstStyle/>
          <a:p>
            <a:r>
              <a:rPr lang="en-IN" sz="1100" b="1">
                <a:solidFill>
                  <a:srgbClr val="2DD4BF"/>
                </a:solidFill>
                <a:latin typeface="Segoe UI"/>
                <a:cs typeface="Segoe UI"/>
              </a:rPr>
              <a:t>04</a:t>
            </a:r>
          </a:p>
        </p:txBody>
      </p:sp>
      <p:sp>
        <p:nvSpPr>
          <p:cNvPr id="53" name="TextBox 52">
            <a:extLst>
              <a:ext uri="{FF2B5EF4-FFF2-40B4-BE49-F238E27FC236}">
                <a16:creationId xmlns:a16="http://schemas.microsoft.com/office/drawing/2014/main" id="{F5159558-C911-45F5-810E-0752EB9891FF}"/>
              </a:ext>
            </a:extLst>
          </p:cNvPr>
          <p:cNvSpPr txBox="1"/>
          <p:nvPr/>
        </p:nvSpPr>
        <p:spPr>
          <a:xfrm>
            <a:off x="9153525" y="2286000"/>
            <a:ext cx="2187575" cy="304800"/>
          </a:xfrm>
          <a:prstGeom prst="rect">
            <a:avLst/>
          </a:prstGeom>
          <a:noFill/>
        </p:spPr>
        <p:txBody>
          <a:bodyPr vertOverflow="overflow" vert="horz" wrap="square" lIns="0" tIns="0" rIns="0" bIns="0" rtlCol="0" anchor="t" anchorCtr="0">
            <a:noAutofit/>
          </a:bodyPr>
          <a:lstStyle/>
          <a:p>
            <a:r>
              <a:rPr lang="en-IN" sz="1700" b="1">
                <a:solidFill>
                  <a:srgbClr val="F1F5F9"/>
                </a:solidFill>
                <a:latin typeface="Segoe UI"/>
                <a:cs typeface="Segoe UI"/>
              </a:rPr>
              <a:t>Prompt ambiguity</a:t>
            </a:r>
          </a:p>
        </p:txBody>
      </p:sp>
      <p:sp>
        <p:nvSpPr>
          <p:cNvPr id="54" name="TextBox 53">
            <a:extLst>
              <a:ext uri="{FF2B5EF4-FFF2-40B4-BE49-F238E27FC236}">
                <a16:creationId xmlns:a16="http://schemas.microsoft.com/office/drawing/2014/main" id="{C2966567-454B-449A-B1EF-5498AFF2A655}"/>
              </a:ext>
            </a:extLst>
          </p:cNvPr>
          <p:cNvSpPr txBox="1"/>
          <p:nvPr/>
        </p:nvSpPr>
        <p:spPr>
          <a:xfrm>
            <a:off x="9153525" y="2667000"/>
            <a:ext cx="2187575" cy="1016000"/>
          </a:xfrm>
          <a:prstGeom prst="rect">
            <a:avLst/>
          </a:prstGeom>
          <a:noFill/>
        </p:spPr>
        <p:txBody>
          <a:bodyPr vertOverflow="overflow" vert="horz" wrap="square" lIns="0" tIns="0" rIns="0" bIns="0" rtlCol="0" anchor="t" anchorCtr="0">
            <a:noAutofit/>
          </a:bodyPr>
          <a:lstStyle/>
          <a:p>
            <a:r>
              <a:rPr lang="en-US" sz="1400">
                <a:solidFill>
                  <a:srgbClr val="B8C2D3"/>
                </a:solidFill>
                <a:latin typeface="Segoe UI"/>
                <a:cs typeface="Segoe UI"/>
              </a:rPr>
              <a:t>The question itself is vague enough that a plausible-but-wrong fill-in happens</a:t>
            </a:r>
            <a:endParaRPr lang="en-IN" sz="1400">
              <a:solidFill>
                <a:srgbClr val="B8C2D3"/>
              </a:solidFill>
              <a:latin typeface="Segoe UI"/>
              <a:cs typeface="Segoe UI"/>
            </a:endParaRPr>
          </a:p>
        </p:txBody>
      </p:sp>
      <p:cxnSp>
        <p:nvCxnSpPr>
          <p:cNvPr id="55" name="Straight Arrow Connector 54">
            <a:extLst>
              <a:ext uri="{FF2B5EF4-FFF2-40B4-BE49-F238E27FC236}">
                <a16:creationId xmlns:a16="http://schemas.microsoft.com/office/drawing/2014/main" id="{088DCDCF-CE16-45B6-AAE7-A6332B9008DF}"/>
              </a:ext>
            </a:extLst>
          </p:cNvPr>
          <p:cNvCxnSpPr/>
          <p:nvPr/>
        </p:nvCxnSpPr>
        <p:spPr>
          <a:xfrm>
            <a:off x="9153525" y="3581400"/>
            <a:ext cx="2187575" cy="0"/>
          </a:xfrm>
          <a:prstGeom prst="straightConnector1">
            <a:avLst/>
          </a:prstGeom>
          <a:ln w="12700" cap="flat" cmpd="sng" algn="ctr">
            <a:solidFill>
              <a:srgbClr val="2A3650"/>
            </a:solidFill>
            <a:prstDash val="solid"/>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C7EBCDF7-752F-4A25-A8E1-CE9F6C3E529D}"/>
              </a:ext>
            </a:extLst>
          </p:cNvPr>
          <p:cNvSpPr txBox="1"/>
          <p:nvPr/>
        </p:nvSpPr>
        <p:spPr>
          <a:xfrm>
            <a:off x="9153525" y="3733800"/>
            <a:ext cx="2187575" cy="1778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EXAMPLE</a:t>
            </a:r>
          </a:p>
        </p:txBody>
      </p:sp>
      <p:sp>
        <p:nvSpPr>
          <p:cNvPr id="57" name="TextBox 56">
            <a:extLst>
              <a:ext uri="{FF2B5EF4-FFF2-40B4-BE49-F238E27FC236}">
                <a16:creationId xmlns:a16="http://schemas.microsoft.com/office/drawing/2014/main" id="{6D61B235-FE58-463D-BD61-78BCA9E00127}"/>
              </a:ext>
            </a:extLst>
          </p:cNvPr>
          <p:cNvSpPr txBox="1"/>
          <p:nvPr/>
        </p:nvSpPr>
        <p:spPr>
          <a:xfrm>
            <a:off x="9153525" y="3962400"/>
            <a:ext cx="2187575" cy="508000"/>
          </a:xfrm>
          <a:prstGeom prst="rect">
            <a:avLst/>
          </a:prstGeom>
          <a:noFill/>
        </p:spPr>
        <p:txBody>
          <a:bodyPr vertOverflow="overflow" vert="horz" wrap="square" lIns="0" tIns="0" rIns="0" bIns="0" rtlCol="0" anchor="t" anchorCtr="0">
            <a:noAutofit/>
          </a:bodyPr>
          <a:lstStyle/>
          <a:p>
            <a:r>
              <a:rPr lang="en-US" sz="1400" i="1">
                <a:solidFill>
                  <a:srgbClr val="E2E8F0"/>
                </a:solidFill>
                <a:latin typeface="Segoe UI"/>
                <a:cs typeface="Segoe UI"/>
              </a:rPr>
              <a:t>"What's the limit?" Limit of what?</a:t>
            </a:r>
            <a:endParaRPr lang="en-IN" sz="1400" i="1">
              <a:solidFill>
                <a:srgbClr val="E2E8F0"/>
              </a:solidFill>
              <a:latin typeface="Segoe UI"/>
              <a:cs typeface="Segoe UI"/>
            </a:endParaRPr>
          </a:p>
        </p:txBody>
      </p:sp>
      <p:sp>
        <p:nvSpPr>
          <p:cNvPr id="58" name="Rectangle: Rounded Corners 57">
            <a:extLst>
              <a:ext uri="{FF2B5EF4-FFF2-40B4-BE49-F238E27FC236}">
                <a16:creationId xmlns:a16="http://schemas.microsoft.com/office/drawing/2014/main" id="{9E61A2C6-D4BE-4823-B028-2FFA4FF07BE2}"/>
              </a:ext>
            </a:extLst>
          </p:cNvPr>
          <p:cNvSpPr/>
          <p:nvPr/>
        </p:nvSpPr>
        <p:spPr>
          <a:xfrm>
            <a:off x="635000" y="4953000"/>
            <a:ext cx="10909300" cy="1320800"/>
          </a:xfrm>
          <a:prstGeom prst="roundRect">
            <a:avLst>
              <a:gd name="adj" fmla="val 7692"/>
            </a:avLst>
          </a:prstGeom>
          <a:solidFill>
            <a:srgbClr val="0F2A30"/>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9" name="TextBox 58">
            <a:extLst>
              <a:ext uri="{FF2B5EF4-FFF2-40B4-BE49-F238E27FC236}">
                <a16:creationId xmlns:a16="http://schemas.microsoft.com/office/drawing/2014/main" id="{41F20F6E-ADBE-4441-B503-92F2CB12CF10}"/>
              </a:ext>
            </a:extLst>
          </p:cNvPr>
          <p:cNvSpPr txBox="1"/>
          <p:nvPr/>
        </p:nvSpPr>
        <p:spPr>
          <a:xfrm>
            <a:off x="914400" y="5130800"/>
            <a:ext cx="10350500" cy="203200"/>
          </a:xfrm>
          <a:prstGeom prst="rect">
            <a:avLst/>
          </a:prstGeom>
          <a:noFill/>
        </p:spPr>
        <p:txBody>
          <a:bodyPr vertOverflow="overflow" vert="horz" wrap="square" lIns="0" tIns="0" rIns="0" bIns="0" rtlCol="0" anchor="t" anchorCtr="0">
            <a:noAutofit/>
          </a:bodyPr>
          <a:lstStyle/>
          <a:p>
            <a:r>
              <a:rPr lang="en-IN" sz="1050" b="1">
                <a:solidFill>
                  <a:srgbClr val="2DD4BF"/>
                </a:solidFill>
                <a:latin typeface="Segoe UI"/>
                <a:cs typeface="Segoe UI"/>
              </a:rPr>
              <a:t>THE COMMON THREAD</a:t>
            </a:r>
          </a:p>
        </p:txBody>
      </p:sp>
      <p:sp>
        <p:nvSpPr>
          <p:cNvPr id="60" name="TextBox 59">
            <a:extLst>
              <a:ext uri="{FF2B5EF4-FFF2-40B4-BE49-F238E27FC236}">
                <a16:creationId xmlns:a16="http://schemas.microsoft.com/office/drawing/2014/main" id="{0FA72623-C4DE-49DE-AF0B-B4A7189128A7}"/>
              </a:ext>
            </a:extLst>
          </p:cNvPr>
          <p:cNvSpPr txBox="1"/>
          <p:nvPr/>
        </p:nvSpPr>
        <p:spPr>
          <a:xfrm>
            <a:off x="914400" y="5384800"/>
            <a:ext cx="10350500" cy="330200"/>
          </a:xfrm>
          <a:prstGeom prst="rect">
            <a:avLst/>
          </a:prstGeom>
          <a:noFill/>
        </p:spPr>
        <p:txBody>
          <a:bodyPr vertOverflow="overflow" vert="horz" wrap="square" lIns="0" tIns="0" rIns="0" bIns="0" rtlCol="0" anchor="t" anchorCtr="0">
            <a:noAutofit/>
          </a:bodyPr>
          <a:lstStyle/>
          <a:p>
            <a:r>
              <a:rPr lang="en-US" b="1">
                <a:solidFill>
                  <a:srgbClr val="F1F5F9"/>
                </a:solidFill>
                <a:latin typeface="Segoe UI"/>
                <a:cs typeface="Segoe UI"/>
              </a:rPr>
              <a:t>Many enterprise hallucinations are knowledge-grounding problems.</a:t>
            </a:r>
            <a:endParaRPr lang="en-IN" b="1">
              <a:solidFill>
                <a:srgbClr val="F1F5F9"/>
              </a:solidFill>
              <a:latin typeface="Segoe UI"/>
              <a:cs typeface="Segoe UI"/>
            </a:endParaRPr>
          </a:p>
        </p:txBody>
      </p:sp>
      <p:sp>
        <p:nvSpPr>
          <p:cNvPr id="61" name="TextBox 60">
            <a:extLst>
              <a:ext uri="{FF2B5EF4-FFF2-40B4-BE49-F238E27FC236}">
                <a16:creationId xmlns:a16="http://schemas.microsoft.com/office/drawing/2014/main" id="{CD043C7F-62DB-400D-9F97-D0A02F4A6442}"/>
              </a:ext>
            </a:extLst>
          </p:cNvPr>
          <p:cNvSpPr txBox="1"/>
          <p:nvPr/>
        </p:nvSpPr>
        <p:spPr>
          <a:xfrm>
            <a:off x="914400" y="5791200"/>
            <a:ext cx="10350500" cy="304800"/>
          </a:xfrm>
          <a:prstGeom prst="rect">
            <a:avLst/>
          </a:prstGeom>
          <a:noFill/>
        </p:spPr>
        <p:txBody>
          <a:bodyPr vertOverflow="overflow" vert="horz" wrap="square" lIns="0" tIns="0" rIns="0" bIns="0" rtlCol="0" anchor="t" anchorCtr="0">
            <a:noAutofit/>
          </a:bodyPr>
          <a:lstStyle/>
          <a:p>
            <a:r>
              <a:rPr lang="en-US" sz="1400">
                <a:solidFill>
                  <a:srgbClr val="E2E8F0"/>
                </a:solidFill>
                <a:latin typeface="Segoe UI"/>
                <a:cs typeface="Segoe UI"/>
              </a:rPr>
              <a:t>RAG improves grounding by putting relevant evidence in front of the model.</a:t>
            </a:r>
            <a:endParaRPr lang="en-IN" sz="1400">
              <a:solidFill>
                <a:srgbClr val="E2E8F0"/>
              </a:solidFill>
              <a:latin typeface="Segoe UI"/>
              <a:cs typeface="Segoe UI"/>
            </a:endParaRPr>
          </a:p>
        </p:txBody>
      </p:sp>
      <p:pic>
        <p:nvPicPr>
          <p:cNvPr id="62" name="Graphic 62" descr="Missing knowledg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800" y="1701800"/>
            <a:ext cx="304800" cy="304800"/>
          </a:xfrm>
          <a:prstGeom prst="rect">
            <a:avLst/>
          </a:prstGeom>
        </p:spPr>
      </p:pic>
      <p:pic>
        <p:nvPicPr>
          <p:cNvPr id="63" name="Graphic 63" descr="Outdated knowledg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1575" y="1701800"/>
            <a:ext cx="304800" cy="304800"/>
          </a:xfrm>
          <a:prstGeom prst="rect">
            <a:avLst/>
          </a:prstGeom>
        </p:spPr>
      </p:pic>
      <p:pic>
        <p:nvPicPr>
          <p:cNvPr id="64" name="Graphic 64" descr="Private data"/>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83350" y="1701800"/>
            <a:ext cx="304800" cy="304800"/>
          </a:xfrm>
          <a:prstGeom prst="rect">
            <a:avLst/>
          </a:prstGeom>
        </p:spPr>
      </p:pic>
      <p:pic>
        <p:nvPicPr>
          <p:cNvPr id="65" name="Graphic 65" descr="Prompt ambiguity"/>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55125" y="1701800"/>
            <a:ext cx="304800" cy="304800"/>
          </a:xfrm>
          <a:prstGeom prst="rect">
            <a:avLst/>
          </a:prstGeom>
        </p:spPr>
      </p:pic>
    </p:spTree>
    <p:extLst>
      <p:ext uri="{BB962C8B-B14F-4D97-AF65-F5344CB8AC3E}">
        <p14:creationId xmlns:p14="http://schemas.microsoft.com/office/powerpoint/2010/main" val="928083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INTRODUCTION TO RAG</a:t>
            </a:r>
          </a:p>
        </p:txBody>
      </p:sp>
      <p:sp>
        <p:nvSpPr>
          <p:cNvPr id="4" name="TextBox 3"/>
          <p:cNvSpPr txBox="1"/>
          <p:nvPr/>
        </p:nvSpPr>
        <p:spPr>
          <a:xfrm>
            <a:off x="640080" y="566928"/>
            <a:ext cx="10881360" cy="384721"/>
          </a:xfrm>
          <a:prstGeom prst="rect">
            <a:avLst/>
          </a:prstGeom>
          <a:noFill/>
        </p:spPr>
        <p:txBody>
          <a:bodyPr wrap="square" lIns="0" tIns="0" rIns="0" bIns="0" anchor="t">
            <a:spAutoFit/>
          </a:bodyPr>
          <a:lstStyle/>
          <a:p>
            <a:pPr algn="l"/>
            <a:r>
              <a:rPr lang="en-US" sz="2500" b="1" dirty="0">
                <a:solidFill>
                  <a:srgbClr val="F1F5F9"/>
                </a:solidFill>
                <a:latin typeface="Segoe UI"/>
              </a:rPr>
              <a:t>What is </a:t>
            </a:r>
            <a:r>
              <a:rPr lang="en-US" sz="2500" b="1" dirty="0">
                <a:solidFill>
                  <a:srgbClr val="2DD4BF"/>
                </a:solidFill>
                <a:latin typeface="Segoe UI"/>
              </a:rPr>
              <a:t>R</a:t>
            </a:r>
            <a:r>
              <a:rPr lang="en-US" sz="2500" b="1" dirty="0">
                <a:solidFill>
                  <a:srgbClr val="F1F5F9"/>
                </a:solidFill>
                <a:latin typeface="Segoe UI"/>
              </a:rPr>
              <a:t>etrieval-</a:t>
            </a:r>
            <a:r>
              <a:rPr lang="en-US" sz="2500" b="1" dirty="0">
                <a:solidFill>
                  <a:srgbClr val="2DD4BF"/>
                </a:solidFill>
                <a:latin typeface="Segoe UI"/>
              </a:rPr>
              <a:t>A</a:t>
            </a:r>
            <a:r>
              <a:rPr lang="en-US" sz="2500" b="1" dirty="0">
                <a:solidFill>
                  <a:srgbClr val="F1F5F9"/>
                </a:solidFill>
                <a:latin typeface="Segoe UI"/>
              </a:rPr>
              <a:t>ugmented </a:t>
            </a:r>
            <a:r>
              <a:rPr lang="en-US" sz="2500" b="1" dirty="0">
                <a:solidFill>
                  <a:srgbClr val="2DD4BF"/>
                </a:solidFill>
                <a:latin typeface="Segoe UI"/>
              </a:rPr>
              <a:t>G</a:t>
            </a:r>
            <a:r>
              <a:rPr lang="en-US" sz="2500" b="1" dirty="0">
                <a:solidFill>
                  <a:srgbClr val="F1F5F9"/>
                </a:solidFill>
                <a:latin typeface="Segoe UI"/>
              </a:rPr>
              <a:t>eneration?</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800" name="RAG 800"/>
          <p:cNvSpPr/>
          <p:nvPr/>
        </p:nvSpPr>
        <p:spPr>
          <a:xfrm>
            <a:off x="635000" y="1346200"/>
            <a:ext cx="10909300" cy="431800"/>
          </a:xfrm>
          <a:prstGeom prst="roundRect">
            <a:avLst>
              <a:gd name="adj" fmla="val 30000"/>
            </a:avLst>
          </a:prstGeom>
          <a:solidFill>
            <a:srgbClr val="131C31"/>
          </a:solidFill>
          <a:ln w="12700">
            <a:solidFill>
              <a:srgbClr val="243049"/>
            </a:solidFill>
          </a:ln>
        </p:spPr>
        <p:txBody>
          <a:bodyPr wrap="square" lIns="203200" tIns="0" rIns="203200" bIns="0" anchor="ctr">
            <a:noAutofit/>
          </a:bodyPr>
          <a:lstStyle/>
          <a:p>
            <a:pPr algn="l"/>
            <a:r>
              <a:rPr lang="en-US" sz="1050" b="1" dirty="0">
                <a:solidFill>
                  <a:srgbClr val="2DD4BF"/>
                </a:solidFill>
                <a:latin typeface="Segoe UI"/>
              </a:rPr>
              <a:t>EXAMPLE QUESTION   </a:t>
            </a:r>
            <a:r>
              <a:rPr lang="en-US" sz="1400" b="0" dirty="0">
                <a:solidFill>
                  <a:srgbClr val="F1F5F9"/>
                </a:solidFill>
                <a:latin typeface="Segoe UI"/>
              </a:rPr>
              <a:t>“How many unused leave days carry over to next year?”</a:t>
            </a:r>
          </a:p>
        </p:txBody>
      </p:sp>
      <p:sp>
        <p:nvSpPr>
          <p:cNvPr id="801" name="RAG 801"/>
          <p:cNvSpPr/>
          <p:nvPr/>
        </p:nvSpPr>
        <p:spPr>
          <a:xfrm>
            <a:off x="635000" y="2006600"/>
            <a:ext cx="3365500" cy="3048000"/>
          </a:xfrm>
          <a:prstGeom prst="roundRect">
            <a:avLst>
              <a:gd name="adj" fmla="val 6000"/>
            </a:avLst>
          </a:prstGeom>
          <a:solidFill>
            <a:srgbClr val="131C31"/>
          </a:solidFill>
          <a:ln w="15875">
            <a:solidFill>
              <a:srgbClr val="1F5F5A"/>
            </a:solidFill>
          </a:ln>
        </p:spPr>
        <p:txBody>
          <a:bodyPr wrap="square" lIns="0" tIns="0" rIns="0" bIns="0" anchor="t">
            <a:noAutofit/>
          </a:bodyPr>
          <a:lstStyle/>
          <a:p>
            <a:endParaRPr lang="en-US"/>
          </a:p>
        </p:txBody>
      </p:sp>
      <p:sp>
        <p:nvSpPr>
          <p:cNvPr id="802" name="RAG 802"/>
          <p:cNvSpPr/>
          <p:nvPr/>
        </p:nvSpPr>
        <p:spPr>
          <a:xfrm>
            <a:off x="863600" y="2209800"/>
            <a:ext cx="508000" cy="508000"/>
          </a:xfrm>
          <a:prstGeom prst="roundRect">
            <a:avLst>
              <a:gd name="adj" fmla="val 20000"/>
            </a:avLst>
          </a:prstGeom>
          <a:solidFill>
            <a:srgbClr val="2DD4BF"/>
          </a:solidFill>
          <a:ln w="12700">
            <a:solidFill>
              <a:srgbClr val="2DD4BF"/>
            </a:solidFill>
          </a:ln>
        </p:spPr>
        <p:txBody>
          <a:bodyPr wrap="square" lIns="0" tIns="0" rIns="0" bIns="0" anchor="ctr">
            <a:noAutofit/>
          </a:bodyPr>
          <a:lstStyle/>
          <a:p>
            <a:pPr algn="ctr"/>
            <a:r>
              <a:rPr lang="en-US" sz="2200" b="1" dirty="0">
                <a:solidFill>
                  <a:srgbClr val="0A0F1E"/>
                </a:solidFill>
                <a:latin typeface="Segoe UI"/>
              </a:rPr>
              <a:t>R</a:t>
            </a:r>
          </a:p>
        </p:txBody>
      </p:sp>
      <p:sp>
        <p:nvSpPr>
          <p:cNvPr id="803" name="RAG 803"/>
          <p:cNvSpPr txBox="1"/>
          <p:nvPr/>
        </p:nvSpPr>
        <p:spPr>
          <a:xfrm>
            <a:off x="1524000" y="2209800"/>
            <a:ext cx="2247900" cy="508000"/>
          </a:xfrm>
          <a:prstGeom prst="rect">
            <a:avLst/>
          </a:prstGeom>
          <a:noFill/>
          <a:ln>
            <a:noFill/>
          </a:ln>
        </p:spPr>
        <p:txBody>
          <a:bodyPr wrap="square" lIns="0" tIns="0" rIns="0" bIns="0" anchor="ctr">
            <a:noAutofit/>
          </a:bodyPr>
          <a:lstStyle/>
          <a:p>
            <a:pPr algn="l"/>
            <a:r>
              <a:rPr lang="en-US" sz="1050" b="1" dirty="0">
                <a:solidFill>
                  <a:srgbClr val="94A3B8"/>
                </a:solidFill>
                <a:latin typeface="Segoe UI"/>
              </a:rPr>
              <a:t>STEP 1</a:t>
            </a:r>
          </a:p>
          <a:p>
            <a:pPr algn="l"/>
            <a:r>
              <a:rPr lang="en-US" sz="1800" b="1" dirty="0">
                <a:solidFill>
                  <a:srgbClr val="2DD4BF"/>
                </a:solidFill>
                <a:latin typeface="Segoe UI"/>
              </a:rPr>
              <a:t>R</a:t>
            </a:r>
            <a:r>
              <a:rPr lang="en-US" sz="1800" b="1" dirty="0">
                <a:solidFill>
                  <a:srgbClr val="F1F5F9"/>
                </a:solidFill>
                <a:latin typeface="Segoe UI"/>
              </a:rPr>
              <a:t>etrieval</a:t>
            </a:r>
          </a:p>
        </p:txBody>
      </p:sp>
      <p:sp>
        <p:nvSpPr>
          <p:cNvPr id="804" name="RAG 804"/>
          <p:cNvSpPr txBox="1"/>
          <p:nvPr/>
        </p:nvSpPr>
        <p:spPr>
          <a:xfrm>
            <a:off x="863600" y="2870200"/>
            <a:ext cx="2908300" cy="762000"/>
          </a:xfrm>
          <a:prstGeom prst="rect">
            <a:avLst/>
          </a:prstGeom>
          <a:noFill/>
          <a:ln>
            <a:noFill/>
          </a:ln>
        </p:spPr>
        <p:txBody>
          <a:bodyPr wrap="square" lIns="0" tIns="0" rIns="0" bIns="0" anchor="t">
            <a:noAutofit/>
          </a:bodyPr>
          <a:lstStyle/>
          <a:p>
            <a:pPr algn="l"/>
            <a:r>
              <a:rPr lang="en-US" sz="1400" b="0" dirty="0">
                <a:solidFill>
                  <a:srgbClr val="B8C2D3"/>
                </a:solidFill>
                <a:latin typeface="Segoe UI"/>
              </a:rPr>
              <a:t>Find the passages most relevant to the question, from a source you control</a:t>
            </a:r>
          </a:p>
        </p:txBody>
      </p:sp>
      <p:sp>
        <p:nvSpPr>
          <p:cNvPr id="805" name="RAG 805"/>
          <p:cNvSpPr/>
          <p:nvPr/>
        </p:nvSpPr>
        <p:spPr>
          <a:xfrm>
            <a:off x="863600" y="3759200"/>
            <a:ext cx="2908300" cy="127"/>
          </a:xfrm>
          <a:prstGeom prst="line">
            <a:avLst/>
          </a:prstGeom>
          <a:noFill/>
          <a:ln w="12700">
            <a:solidFill>
              <a:srgbClr val="2A3650"/>
            </a:solidFill>
          </a:ln>
        </p:spPr>
        <p:txBody>
          <a:bodyPr wrap="square" lIns="0" tIns="0" rIns="0" bIns="0" anchor="t">
            <a:noAutofit/>
          </a:bodyPr>
          <a:lstStyle/>
          <a:p>
            <a:endParaRPr lang="en-US"/>
          </a:p>
        </p:txBody>
      </p:sp>
      <p:sp>
        <p:nvSpPr>
          <p:cNvPr id="806" name="RAG 806"/>
          <p:cNvSpPr txBox="1"/>
          <p:nvPr/>
        </p:nvSpPr>
        <p:spPr>
          <a:xfrm>
            <a:off x="863600" y="3886200"/>
            <a:ext cx="2908300" cy="203200"/>
          </a:xfrm>
          <a:prstGeom prst="rect">
            <a:avLst/>
          </a:prstGeom>
          <a:noFill/>
          <a:ln>
            <a:noFill/>
          </a:ln>
        </p:spPr>
        <p:txBody>
          <a:bodyPr wrap="square" lIns="0" tIns="0" rIns="0" bIns="0" anchor="t">
            <a:noAutofit/>
          </a:bodyPr>
          <a:lstStyle/>
          <a:p>
            <a:pPr algn="l"/>
            <a:r>
              <a:rPr lang="en-US" sz="1050" b="1" dirty="0">
                <a:solidFill>
                  <a:srgbClr val="94A3B8"/>
                </a:solidFill>
                <a:latin typeface="Segoe UI"/>
              </a:rPr>
              <a:t>SEARCH RETURNS</a:t>
            </a:r>
          </a:p>
        </p:txBody>
      </p:sp>
      <p:sp>
        <p:nvSpPr>
          <p:cNvPr id="807" name="RAG 807"/>
          <p:cNvSpPr/>
          <p:nvPr/>
        </p:nvSpPr>
        <p:spPr>
          <a:xfrm>
            <a:off x="863600" y="4140200"/>
            <a:ext cx="2908300" cy="787400"/>
          </a:xfrm>
          <a:prstGeom prst="roundRect">
            <a:avLst>
              <a:gd name="adj" fmla="val 10000"/>
            </a:avLst>
          </a:prstGeom>
          <a:solidFill>
            <a:srgbClr val="0B1222"/>
          </a:solidFill>
          <a:ln w="12700">
            <a:solidFill>
              <a:srgbClr val="1E293B"/>
            </a:solidFill>
          </a:ln>
        </p:spPr>
        <p:txBody>
          <a:bodyPr wrap="square" lIns="127000" tIns="0" rIns="127000" bIns="0" anchor="ctr">
            <a:noAutofit/>
          </a:bodyPr>
          <a:lstStyle/>
          <a:p>
            <a:pPr algn="l"/>
            <a:r>
              <a:rPr lang="en-US" sz="1150" b="1" dirty="0">
                <a:solidFill>
                  <a:srgbClr val="2DD4BF"/>
                </a:solidFill>
                <a:latin typeface="Consolas"/>
              </a:rPr>
              <a:t>HR_Handbook_2026.pdf §4.2</a:t>
            </a:r>
          </a:p>
          <a:p>
            <a:pPr algn="l">
              <a:spcBef>
                <a:spcPts val="200"/>
              </a:spcBef>
            </a:pPr>
            <a:r>
              <a:rPr lang="en-US" sz="1150" b="0" dirty="0">
                <a:solidFill>
                  <a:srgbClr val="E2E8F0"/>
                </a:solidFill>
                <a:latin typeface="Consolas"/>
              </a:rPr>
              <a:t>“Up to 5 days carry over.”</a:t>
            </a:r>
          </a:p>
        </p:txBody>
      </p:sp>
      <p:sp>
        <p:nvSpPr>
          <p:cNvPr id="808" name="RAG 808"/>
          <p:cNvSpPr/>
          <p:nvPr/>
        </p:nvSpPr>
        <p:spPr>
          <a:xfrm>
            <a:off x="4076700" y="3441700"/>
            <a:ext cx="254000" cy="254000"/>
          </a:xfrm>
          <a:prstGeom prst="rightArrow">
            <a:avLst/>
          </a:prstGeom>
          <a:solidFill>
            <a:srgbClr val="475569"/>
          </a:solidFill>
          <a:ln>
            <a:noFill/>
          </a:ln>
        </p:spPr>
        <p:txBody>
          <a:bodyPr wrap="square" lIns="0" tIns="0" rIns="0" bIns="0" anchor="t">
            <a:noAutofit/>
          </a:bodyPr>
          <a:lstStyle/>
          <a:p>
            <a:endParaRPr lang="en-US"/>
          </a:p>
        </p:txBody>
      </p:sp>
      <p:sp>
        <p:nvSpPr>
          <p:cNvPr id="809" name="RAG 809"/>
          <p:cNvSpPr/>
          <p:nvPr/>
        </p:nvSpPr>
        <p:spPr>
          <a:xfrm>
            <a:off x="4406900" y="2006600"/>
            <a:ext cx="3365500" cy="3048000"/>
          </a:xfrm>
          <a:prstGeom prst="roundRect">
            <a:avLst>
              <a:gd name="adj" fmla="val 6000"/>
            </a:avLst>
          </a:prstGeom>
          <a:solidFill>
            <a:srgbClr val="131C31"/>
          </a:solidFill>
          <a:ln w="15875">
            <a:solidFill>
              <a:srgbClr val="1F5F5A"/>
            </a:solidFill>
          </a:ln>
        </p:spPr>
        <p:txBody>
          <a:bodyPr wrap="square" lIns="0" tIns="0" rIns="0" bIns="0" anchor="t">
            <a:noAutofit/>
          </a:bodyPr>
          <a:lstStyle/>
          <a:p>
            <a:endParaRPr lang="en-US"/>
          </a:p>
        </p:txBody>
      </p:sp>
      <p:sp>
        <p:nvSpPr>
          <p:cNvPr id="810" name="RAG 810"/>
          <p:cNvSpPr/>
          <p:nvPr/>
        </p:nvSpPr>
        <p:spPr>
          <a:xfrm>
            <a:off x="4635500" y="2209800"/>
            <a:ext cx="508000" cy="508000"/>
          </a:xfrm>
          <a:prstGeom prst="roundRect">
            <a:avLst>
              <a:gd name="adj" fmla="val 20000"/>
            </a:avLst>
          </a:prstGeom>
          <a:solidFill>
            <a:srgbClr val="2DD4BF"/>
          </a:solidFill>
          <a:ln w="12700">
            <a:solidFill>
              <a:srgbClr val="2DD4BF"/>
            </a:solidFill>
          </a:ln>
        </p:spPr>
        <p:txBody>
          <a:bodyPr wrap="square" lIns="0" tIns="0" rIns="0" bIns="0" anchor="ctr">
            <a:noAutofit/>
          </a:bodyPr>
          <a:lstStyle/>
          <a:p>
            <a:pPr algn="ctr"/>
            <a:r>
              <a:rPr lang="en-US" sz="2200" b="1" dirty="0">
                <a:solidFill>
                  <a:srgbClr val="0A0F1E"/>
                </a:solidFill>
                <a:latin typeface="Segoe UI"/>
              </a:rPr>
              <a:t>A</a:t>
            </a:r>
          </a:p>
        </p:txBody>
      </p:sp>
      <p:sp>
        <p:nvSpPr>
          <p:cNvPr id="811" name="RAG 811"/>
          <p:cNvSpPr txBox="1"/>
          <p:nvPr/>
        </p:nvSpPr>
        <p:spPr>
          <a:xfrm>
            <a:off x="5295900" y="2209800"/>
            <a:ext cx="2247900" cy="508000"/>
          </a:xfrm>
          <a:prstGeom prst="rect">
            <a:avLst/>
          </a:prstGeom>
          <a:noFill/>
          <a:ln>
            <a:noFill/>
          </a:ln>
        </p:spPr>
        <p:txBody>
          <a:bodyPr wrap="square" lIns="0" tIns="0" rIns="0" bIns="0" anchor="ctr">
            <a:noAutofit/>
          </a:bodyPr>
          <a:lstStyle/>
          <a:p>
            <a:pPr algn="l"/>
            <a:r>
              <a:rPr lang="en-US" sz="1050" b="1" dirty="0">
                <a:solidFill>
                  <a:srgbClr val="94A3B8"/>
                </a:solidFill>
                <a:latin typeface="Segoe UI"/>
              </a:rPr>
              <a:t>STEP 2</a:t>
            </a:r>
          </a:p>
          <a:p>
            <a:pPr algn="l"/>
            <a:r>
              <a:rPr lang="en-US" sz="1800" b="1" dirty="0">
                <a:solidFill>
                  <a:srgbClr val="2DD4BF"/>
                </a:solidFill>
                <a:latin typeface="Segoe UI"/>
              </a:rPr>
              <a:t>A</a:t>
            </a:r>
            <a:r>
              <a:rPr lang="en-US" sz="1800" b="1" dirty="0">
                <a:solidFill>
                  <a:srgbClr val="F1F5F9"/>
                </a:solidFill>
                <a:latin typeface="Segoe UI"/>
              </a:rPr>
              <a:t>ugmentation</a:t>
            </a:r>
          </a:p>
        </p:txBody>
      </p:sp>
      <p:sp>
        <p:nvSpPr>
          <p:cNvPr id="812" name="RAG 812"/>
          <p:cNvSpPr txBox="1"/>
          <p:nvPr/>
        </p:nvSpPr>
        <p:spPr>
          <a:xfrm>
            <a:off x="4635500" y="2870200"/>
            <a:ext cx="2908300" cy="762000"/>
          </a:xfrm>
          <a:prstGeom prst="rect">
            <a:avLst/>
          </a:prstGeom>
          <a:noFill/>
          <a:ln>
            <a:noFill/>
          </a:ln>
        </p:spPr>
        <p:txBody>
          <a:bodyPr wrap="square" lIns="0" tIns="0" rIns="0" bIns="0" anchor="t">
            <a:noAutofit/>
          </a:bodyPr>
          <a:lstStyle/>
          <a:p>
            <a:pPr algn="l"/>
            <a:r>
              <a:rPr lang="en-US" sz="1400" b="0" dirty="0">
                <a:solidFill>
                  <a:srgbClr val="B8C2D3"/>
                </a:solidFill>
                <a:latin typeface="Segoe UI"/>
              </a:rPr>
              <a:t>Insert those passages into the prompt, alongside the question</a:t>
            </a:r>
          </a:p>
        </p:txBody>
      </p:sp>
      <p:sp>
        <p:nvSpPr>
          <p:cNvPr id="813" name="RAG 813"/>
          <p:cNvSpPr/>
          <p:nvPr/>
        </p:nvSpPr>
        <p:spPr>
          <a:xfrm>
            <a:off x="4635500" y="3759200"/>
            <a:ext cx="2908300" cy="127"/>
          </a:xfrm>
          <a:prstGeom prst="line">
            <a:avLst/>
          </a:prstGeom>
          <a:noFill/>
          <a:ln w="12700">
            <a:solidFill>
              <a:srgbClr val="2A3650"/>
            </a:solidFill>
          </a:ln>
        </p:spPr>
        <p:txBody>
          <a:bodyPr wrap="square" lIns="0" tIns="0" rIns="0" bIns="0" anchor="t">
            <a:noAutofit/>
          </a:bodyPr>
          <a:lstStyle/>
          <a:p>
            <a:endParaRPr lang="en-US"/>
          </a:p>
        </p:txBody>
      </p:sp>
      <p:sp>
        <p:nvSpPr>
          <p:cNvPr id="814" name="RAG 814"/>
          <p:cNvSpPr txBox="1"/>
          <p:nvPr/>
        </p:nvSpPr>
        <p:spPr>
          <a:xfrm>
            <a:off x="4635500" y="3886200"/>
            <a:ext cx="2908300" cy="203200"/>
          </a:xfrm>
          <a:prstGeom prst="rect">
            <a:avLst/>
          </a:prstGeom>
          <a:noFill/>
          <a:ln>
            <a:noFill/>
          </a:ln>
        </p:spPr>
        <p:txBody>
          <a:bodyPr wrap="square" lIns="0" tIns="0" rIns="0" bIns="0" anchor="t">
            <a:noAutofit/>
          </a:bodyPr>
          <a:lstStyle/>
          <a:p>
            <a:pPr algn="l"/>
            <a:r>
              <a:rPr lang="en-US" sz="1050" b="1" dirty="0">
                <a:solidFill>
                  <a:srgbClr val="94A3B8"/>
                </a:solidFill>
                <a:latin typeface="Segoe UI"/>
              </a:rPr>
              <a:t>PROMPT BECOMES</a:t>
            </a:r>
          </a:p>
        </p:txBody>
      </p:sp>
      <p:sp>
        <p:nvSpPr>
          <p:cNvPr id="815" name="RAG 815"/>
          <p:cNvSpPr/>
          <p:nvPr/>
        </p:nvSpPr>
        <p:spPr>
          <a:xfrm>
            <a:off x="4635500" y="4140200"/>
            <a:ext cx="2908300" cy="787400"/>
          </a:xfrm>
          <a:prstGeom prst="roundRect">
            <a:avLst>
              <a:gd name="adj" fmla="val 10000"/>
            </a:avLst>
          </a:prstGeom>
          <a:solidFill>
            <a:srgbClr val="0B1222"/>
          </a:solidFill>
          <a:ln w="12700">
            <a:solidFill>
              <a:srgbClr val="1E293B"/>
            </a:solidFill>
          </a:ln>
        </p:spPr>
        <p:txBody>
          <a:bodyPr wrap="square" lIns="127000" tIns="0" rIns="127000" bIns="0" anchor="ctr">
            <a:noAutofit/>
          </a:bodyPr>
          <a:lstStyle/>
          <a:p>
            <a:pPr algn="l"/>
            <a:r>
              <a:rPr lang="en-US" sz="1150" b="1" dirty="0">
                <a:solidFill>
                  <a:srgbClr val="2DD4BF"/>
                </a:solidFill>
                <a:latin typeface="Consolas"/>
              </a:rPr>
              <a:t>Context: </a:t>
            </a:r>
            <a:r>
              <a:rPr lang="en-US" sz="1150" b="0" dirty="0">
                <a:solidFill>
                  <a:srgbClr val="E2E8F0"/>
                </a:solidFill>
                <a:latin typeface="Consolas"/>
              </a:rPr>
              <a:t>[1] Up to 5 unused…</a:t>
            </a:r>
          </a:p>
          <a:p>
            <a:pPr algn="l">
              <a:spcBef>
                <a:spcPts val="200"/>
              </a:spcBef>
            </a:pPr>
            <a:r>
              <a:rPr lang="en-US" sz="1150" b="1" dirty="0">
                <a:solidFill>
                  <a:srgbClr val="2DD4BF"/>
                </a:solidFill>
                <a:latin typeface="Consolas"/>
              </a:rPr>
              <a:t>Question: </a:t>
            </a:r>
            <a:r>
              <a:rPr lang="en-US" sz="1150" b="0" dirty="0">
                <a:solidFill>
                  <a:srgbClr val="E2E8F0"/>
                </a:solidFill>
                <a:latin typeface="Consolas"/>
              </a:rPr>
              <a:t>How many days…</a:t>
            </a:r>
          </a:p>
        </p:txBody>
      </p:sp>
      <p:sp>
        <p:nvSpPr>
          <p:cNvPr id="816" name="RAG 816"/>
          <p:cNvSpPr/>
          <p:nvPr/>
        </p:nvSpPr>
        <p:spPr>
          <a:xfrm>
            <a:off x="7848600" y="3441700"/>
            <a:ext cx="254000" cy="254000"/>
          </a:xfrm>
          <a:prstGeom prst="rightArrow">
            <a:avLst/>
          </a:prstGeom>
          <a:solidFill>
            <a:srgbClr val="475569"/>
          </a:solidFill>
          <a:ln>
            <a:noFill/>
          </a:ln>
        </p:spPr>
        <p:txBody>
          <a:bodyPr wrap="square" lIns="0" tIns="0" rIns="0" bIns="0" anchor="t">
            <a:noAutofit/>
          </a:bodyPr>
          <a:lstStyle/>
          <a:p>
            <a:endParaRPr lang="en-US"/>
          </a:p>
        </p:txBody>
      </p:sp>
      <p:sp>
        <p:nvSpPr>
          <p:cNvPr id="817" name="RAG 817"/>
          <p:cNvSpPr/>
          <p:nvPr/>
        </p:nvSpPr>
        <p:spPr>
          <a:xfrm>
            <a:off x="8178800" y="2006600"/>
            <a:ext cx="3365500" cy="3048000"/>
          </a:xfrm>
          <a:prstGeom prst="roundRect">
            <a:avLst>
              <a:gd name="adj" fmla="val 6000"/>
            </a:avLst>
          </a:prstGeom>
          <a:solidFill>
            <a:srgbClr val="131C31"/>
          </a:solidFill>
          <a:ln w="15875">
            <a:solidFill>
              <a:srgbClr val="1F5F5A"/>
            </a:solidFill>
          </a:ln>
        </p:spPr>
        <p:txBody>
          <a:bodyPr wrap="square" lIns="0" tIns="0" rIns="0" bIns="0" anchor="t">
            <a:noAutofit/>
          </a:bodyPr>
          <a:lstStyle/>
          <a:p>
            <a:endParaRPr lang="en-US"/>
          </a:p>
        </p:txBody>
      </p:sp>
      <p:sp>
        <p:nvSpPr>
          <p:cNvPr id="818" name="RAG 818"/>
          <p:cNvSpPr/>
          <p:nvPr/>
        </p:nvSpPr>
        <p:spPr>
          <a:xfrm>
            <a:off x="8407400" y="2209800"/>
            <a:ext cx="508000" cy="508000"/>
          </a:xfrm>
          <a:prstGeom prst="roundRect">
            <a:avLst>
              <a:gd name="adj" fmla="val 20000"/>
            </a:avLst>
          </a:prstGeom>
          <a:solidFill>
            <a:srgbClr val="2DD4BF"/>
          </a:solidFill>
          <a:ln w="12700">
            <a:solidFill>
              <a:srgbClr val="2DD4BF"/>
            </a:solidFill>
          </a:ln>
        </p:spPr>
        <p:txBody>
          <a:bodyPr wrap="square" lIns="0" tIns="0" rIns="0" bIns="0" anchor="ctr">
            <a:noAutofit/>
          </a:bodyPr>
          <a:lstStyle/>
          <a:p>
            <a:pPr algn="ctr"/>
            <a:r>
              <a:rPr lang="en-US" sz="2200" b="1" dirty="0">
                <a:solidFill>
                  <a:srgbClr val="0A0F1E"/>
                </a:solidFill>
                <a:latin typeface="Segoe UI"/>
              </a:rPr>
              <a:t>G</a:t>
            </a:r>
          </a:p>
        </p:txBody>
      </p:sp>
      <p:sp>
        <p:nvSpPr>
          <p:cNvPr id="819" name="RAG 819"/>
          <p:cNvSpPr txBox="1"/>
          <p:nvPr/>
        </p:nvSpPr>
        <p:spPr>
          <a:xfrm>
            <a:off x="9067800" y="2209800"/>
            <a:ext cx="2247900" cy="508000"/>
          </a:xfrm>
          <a:prstGeom prst="rect">
            <a:avLst/>
          </a:prstGeom>
          <a:noFill/>
          <a:ln>
            <a:noFill/>
          </a:ln>
        </p:spPr>
        <p:txBody>
          <a:bodyPr wrap="square" lIns="0" tIns="0" rIns="0" bIns="0" anchor="ctr">
            <a:noAutofit/>
          </a:bodyPr>
          <a:lstStyle/>
          <a:p>
            <a:pPr algn="l"/>
            <a:r>
              <a:rPr lang="en-US" sz="1050" b="1" dirty="0">
                <a:solidFill>
                  <a:srgbClr val="94A3B8"/>
                </a:solidFill>
                <a:latin typeface="Segoe UI"/>
              </a:rPr>
              <a:t>STEP 3</a:t>
            </a:r>
          </a:p>
          <a:p>
            <a:pPr algn="l"/>
            <a:r>
              <a:rPr lang="en-US" sz="1800" b="1" dirty="0">
                <a:solidFill>
                  <a:srgbClr val="2DD4BF"/>
                </a:solidFill>
                <a:latin typeface="Segoe UI"/>
              </a:rPr>
              <a:t>G</a:t>
            </a:r>
            <a:r>
              <a:rPr lang="en-US" sz="1800" b="1" dirty="0">
                <a:solidFill>
                  <a:srgbClr val="F1F5F9"/>
                </a:solidFill>
                <a:latin typeface="Segoe UI"/>
              </a:rPr>
              <a:t>eneration</a:t>
            </a:r>
          </a:p>
        </p:txBody>
      </p:sp>
      <p:sp>
        <p:nvSpPr>
          <p:cNvPr id="820" name="RAG 820"/>
          <p:cNvSpPr txBox="1"/>
          <p:nvPr/>
        </p:nvSpPr>
        <p:spPr>
          <a:xfrm>
            <a:off x="8407400" y="2870200"/>
            <a:ext cx="2908300" cy="762000"/>
          </a:xfrm>
          <a:prstGeom prst="rect">
            <a:avLst/>
          </a:prstGeom>
          <a:noFill/>
          <a:ln>
            <a:noFill/>
          </a:ln>
        </p:spPr>
        <p:txBody>
          <a:bodyPr wrap="square" lIns="0" tIns="0" rIns="0" bIns="0" anchor="t">
            <a:noAutofit/>
          </a:bodyPr>
          <a:lstStyle/>
          <a:p>
            <a:pPr algn="l"/>
            <a:r>
              <a:rPr lang="en-US" sz="1400" b="0" dirty="0">
                <a:solidFill>
                  <a:srgbClr val="B8C2D3"/>
                </a:solidFill>
                <a:latin typeface="Segoe UI"/>
              </a:rPr>
              <a:t>The LLM answers using that injected context — not its frozen memory alone</a:t>
            </a:r>
          </a:p>
        </p:txBody>
      </p:sp>
      <p:sp>
        <p:nvSpPr>
          <p:cNvPr id="821" name="RAG 821"/>
          <p:cNvSpPr/>
          <p:nvPr/>
        </p:nvSpPr>
        <p:spPr>
          <a:xfrm>
            <a:off x="8407400" y="3759200"/>
            <a:ext cx="2908300" cy="127"/>
          </a:xfrm>
          <a:prstGeom prst="line">
            <a:avLst/>
          </a:prstGeom>
          <a:noFill/>
          <a:ln w="12700">
            <a:solidFill>
              <a:srgbClr val="2A3650"/>
            </a:solidFill>
          </a:ln>
        </p:spPr>
        <p:txBody>
          <a:bodyPr wrap="square" lIns="0" tIns="0" rIns="0" bIns="0" anchor="t">
            <a:noAutofit/>
          </a:bodyPr>
          <a:lstStyle/>
          <a:p>
            <a:endParaRPr lang="en-US"/>
          </a:p>
        </p:txBody>
      </p:sp>
      <p:sp>
        <p:nvSpPr>
          <p:cNvPr id="822" name="RAG 822"/>
          <p:cNvSpPr txBox="1"/>
          <p:nvPr/>
        </p:nvSpPr>
        <p:spPr>
          <a:xfrm>
            <a:off x="8407400" y="3886200"/>
            <a:ext cx="2908300" cy="203200"/>
          </a:xfrm>
          <a:prstGeom prst="rect">
            <a:avLst/>
          </a:prstGeom>
          <a:noFill/>
          <a:ln>
            <a:noFill/>
          </a:ln>
        </p:spPr>
        <p:txBody>
          <a:bodyPr wrap="square" lIns="0" tIns="0" rIns="0" bIns="0" anchor="t">
            <a:noAutofit/>
          </a:bodyPr>
          <a:lstStyle/>
          <a:p>
            <a:pPr algn="l"/>
            <a:r>
              <a:rPr lang="en-US" sz="1050" b="1" dirty="0">
                <a:solidFill>
                  <a:srgbClr val="94A3B8"/>
                </a:solidFill>
                <a:latin typeface="Segoe UI"/>
              </a:rPr>
              <a:t>MODEL ANSWERS</a:t>
            </a:r>
          </a:p>
        </p:txBody>
      </p:sp>
      <p:sp>
        <p:nvSpPr>
          <p:cNvPr id="823" name="RAG 823"/>
          <p:cNvSpPr/>
          <p:nvPr/>
        </p:nvSpPr>
        <p:spPr>
          <a:xfrm>
            <a:off x="8407400" y="4140200"/>
            <a:ext cx="2908300" cy="787400"/>
          </a:xfrm>
          <a:prstGeom prst="roundRect">
            <a:avLst>
              <a:gd name="adj" fmla="val 10000"/>
            </a:avLst>
          </a:prstGeom>
          <a:solidFill>
            <a:srgbClr val="0B1222"/>
          </a:solidFill>
          <a:ln w="12700">
            <a:solidFill>
              <a:srgbClr val="1E293B"/>
            </a:solidFill>
          </a:ln>
        </p:spPr>
        <p:txBody>
          <a:bodyPr wrap="square" lIns="127000" tIns="0" rIns="127000" bIns="0" anchor="ctr">
            <a:noAutofit/>
          </a:bodyPr>
          <a:lstStyle/>
          <a:p>
            <a:pPr algn="l"/>
            <a:r>
              <a:rPr lang="en-US" sz="1150" b="0" dirty="0">
                <a:solidFill>
                  <a:srgbClr val="E2E8F0"/>
                </a:solidFill>
                <a:latin typeface="Consolas"/>
              </a:rPr>
              <a:t>“Up to 5 unused days carry</a:t>
            </a:r>
          </a:p>
          <a:p>
            <a:pPr algn="l">
              <a:spcBef>
                <a:spcPts val="200"/>
              </a:spcBef>
            </a:pPr>
            <a:r>
              <a:rPr lang="en-US" sz="1150" b="0" dirty="0">
                <a:solidFill>
                  <a:srgbClr val="E2E8F0"/>
                </a:solidFill>
                <a:latin typeface="Consolas"/>
              </a:rPr>
              <a:t>over to next year </a:t>
            </a:r>
            <a:r>
              <a:rPr lang="en-US" sz="1150" b="1" dirty="0">
                <a:solidFill>
                  <a:srgbClr val="2DD4BF"/>
                </a:solidFill>
                <a:latin typeface="Consolas"/>
              </a:rPr>
              <a:t>[1]</a:t>
            </a:r>
            <a:r>
              <a:rPr lang="en-US" sz="1150" b="0" dirty="0">
                <a:solidFill>
                  <a:srgbClr val="E2E8F0"/>
                </a:solidFill>
                <a:latin typeface="Consolas"/>
              </a:rPr>
              <a:t>.”</a:t>
            </a:r>
          </a:p>
        </p:txBody>
      </p:sp>
      <p:sp>
        <p:nvSpPr>
          <p:cNvPr id="824" name="RAG 824"/>
          <p:cNvSpPr/>
          <p:nvPr/>
        </p:nvSpPr>
        <p:spPr>
          <a:xfrm>
            <a:off x="635000" y="5257800"/>
            <a:ext cx="10909300" cy="1117600"/>
          </a:xfrm>
          <a:prstGeom prst="roundRect">
            <a:avLst>
              <a:gd name="adj" fmla="val 12000"/>
            </a:avLst>
          </a:prstGeom>
          <a:solidFill>
            <a:srgbClr val="0F2A30"/>
          </a:solidFill>
          <a:ln w="12700">
            <a:solidFill>
              <a:srgbClr val="2DD4BF"/>
            </a:solidFill>
          </a:ln>
        </p:spPr>
        <p:txBody>
          <a:bodyPr wrap="square" lIns="279400" tIns="0" rIns="279400" bIns="0" anchor="ctr">
            <a:noAutofit/>
          </a:bodyPr>
          <a:lstStyle/>
          <a:p>
            <a:pPr algn="l"/>
            <a:r>
              <a:rPr lang="en-US" sz="1600" b="1" dirty="0">
                <a:solidFill>
                  <a:srgbClr val="F1F5F9"/>
                </a:solidFill>
                <a:latin typeface="Segoe UI"/>
              </a:rPr>
              <a:t>RAG doesn't make the model smarter. It makes the model </a:t>
            </a:r>
            <a:r>
              <a:rPr lang="en-US" sz="1600" b="1" dirty="0">
                <a:solidFill>
                  <a:srgbClr val="2DD4BF"/>
                </a:solidFill>
                <a:latin typeface="Segoe UI"/>
              </a:rPr>
              <a:t>better-informed</a:t>
            </a:r>
            <a:r>
              <a:rPr lang="en-US" sz="1600" b="1" dirty="0">
                <a:solidFill>
                  <a:srgbClr val="F1F5F9"/>
                </a:solidFill>
                <a:latin typeface="Segoe UI"/>
              </a:rPr>
              <a:t>, on demand, per request — using data the model never trained on and never will.</a:t>
            </a:r>
          </a:p>
        </p:txBody>
      </p:sp>
      <p:sp>
        <p:nvSpPr>
          <p:cNvPr id="20" name="TextBox 19"/>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1" name="TextBox 20"/>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11</a:t>
            </a:r>
          </a:p>
        </p:txBody>
      </p:sp>
    </p:spTree>
    <p:extLst>
      <p:ext uri="{BB962C8B-B14F-4D97-AF65-F5344CB8AC3E}">
        <p14:creationId xmlns:p14="http://schemas.microsoft.com/office/powerpoint/2010/main" val="790964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INTRODUCTION TO RAG</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Why enterprise AI needs RAG</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3582256456"/>
              </p:ext>
            </p:extLst>
          </p:nvPr>
        </p:nvGraphicFramePr>
        <p:xfrm>
          <a:off x="640080" y="1417320"/>
          <a:ext cx="10908792" cy="4927600"/>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57200">
                <a:tc>
                  <a:txBody>
                    <a:bodyPr/>
                    <a:lstStyle/>
                    <a:p>
                      <a:pPr algn="l"/>
                      <a:r>
                        <a:rPr sz="1300" b="1">
                          <a:solidFill>
                            <a:srgbClr val="64748B"/>
                          </a:solidFill>
                          <a:latin typeface="Segoe UI"/>
                        </a:rPr>
                        <a:t>CONCERN</a:t>
                      </a:r>
                    </a:p>
                  </a:txBody>
                  <a:tcPr marR="137160" anchor="ctr">
                    <a:lnL w="0">
                      <a:noFill/>
                    </a:lnL>
                    <a:lnR w="0">
                      <a:noFill/>
                    </a:lnR>
                    <a:lnT w="0">
                      <a:noFill/>
                    </a:lnT>
                    <a:lnB w="19050">
                      <a:solidFill>
                        <a:srgbClr val="2DD4BF"/>
                      </a:solidFill>
                    </a:lnB>
                    <a:noFill/>
                  </a:tcPr>
                </a:tc>
                <a:tc>
                  <a:txBody>
                    <a:bodyPr/>
                    <a:lstStyle/>
                    <a:p>
                      <a:pPr algn="l"/>
                      <a:r>
                        <a:rPr sz="1300" b="1">
                          <a:solidFill>
                            <a:srgbClr val="94A3B8"/>
                          </a:solidFill>
                          <a:latin typeface="Segoe UI"/>
                        </a:rPr>
                        <a:t>BARE LLM</a:t>
                      </a:r>
                    </a:p>
                  </a:txBody>
                  <a:tcPr marL="137160" marR="137160" anchor="ctr">
                    <a:lnL w="0">
                      <a:noFill/>
                    </a:lnL>
                    <a:lnR w="0">
                      <a:noFill/>
                    </a:lnR>
                    <a:lnT w="0">
                      <a:noFill/>
                    </a:lnT>
                    <a:lnB w="19050">
                      <a:solidFill>
                        <a:srgbClr val="2DD4BF"/>
                      </a:solidFill>
                    </a:lnB>
                    <a:noFill/>
                  </a:tcPr>
                </a:tc>
                <a:tc>
                  <a:txBody>
                    <a:bodyPr/>
                    <a:lstStyle/>
                    <a:p>
                      <a:pPr algn="l"/>
                      <a:r>
                        <a:rPr sz="1300" b="1">
                          <a:solidFill>
                            <a:srgbClr val="2DD4BF"/>
                          </a:solidFill>
                          <a:latin typeface="Segoe UI"/>
                        </a:rPr>
                        <a:t>WITH RAG</a:t>
                      </a:r>
                    </a:p>
                  </a:txBody>
                  <a:tcPr marL="137160" marR="137160" anchor="ctr">
                    <a:lnL w="0">
                      <a:noFill/>
                    </a:lnL>
                    <a:lnR w="0">
                      <a:noFill/>
                    </a:lnR>
                    <a:lnT w="0">
                      <a:noFill/>
                    </a:lnT>
                    <a:lnB w="19050">
                      <a:solidFill>
                        <a:srgbClr val="2DD4BF"/>
                      </a:solidFill>
                    </a:lnB>
                    <a:solidFill>
                      <a:srgbClr val="12303A"/>
                    </a:solidFill>
                  </a:tcPr>
                </a:tc>
                <a:extLst>
                  <a:ext uri="{0D108BD9-81ED-4DB2-BD59-A6C34878D82A}">
                    <a16:rowId xmlns:a16="http://schemas.microsoft.com/office/drawing/2014/main" val="10000"/>
                  </a:ext>
                </a:extLst>
              </a:tr>
              <a:tr h="558800">
                <a:tc>
                  <a:txBody>
                    <a:bodyPr/>
                    <a:lstStyle/>
                    <a:p>
                      <a:pPr algn="l"/>
                      <a:r>
                        <a:rPr sz="1350" b="1">
                          <a:solidFill>
                            <a:srgbClr val="F1F5F9"/>
                          </a:solidFill>
                          <a:latin typeface="Segoe UI"/>
                        </a:rPr>
                        <a:t>Private / internal data</a:t>
                      </a:r>
                    </a:p>
                  </a:txBody>
                  <a:tcPr marR="137160" anchor="ctr">
                    <a:lnL w="0">
                      <a:noFill/>
                    </a:lnL>
                    <a:lnR w="0">
                      <a:noFill/>
                    </a:lnR>
                    <a:lnT w="19050" cap="flat" cmpd="sng" algn="ctr">
                      <a:solidFill>
                        <a:srgbClr val="2DD4BF"/>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Never sees it — would need fine-tuning into the weights</a:t>
                      </a:r>
                    </a:p>
                  </a:txBody>
                  <a:tcPr marL="137160" marR="137160" anchor="ctr">
                    <a:lnL w="0">
                      <a:noFill/>
                    </a:lnL>
                    <a:lnR w="0">
                      <a:noFill/>
                    </a:lnR>
                    <a:lnT w="19050" cap="flat" cmpd="sng" algn="ctr">
                      <a:solidFill>
                        <a:srgbClr val="2DD4BF"/>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Stays in your database; retrieved per request, never trained into a model</a:t>
                      </a:r>
                    </a:p>
                  </a:txBody>
                  <a:tcPr marL="137160" marR="137160" anchor="ctr">
                    <a:lnL w="0">
                      <a:noFill/>
                    </a:lnL>
                    <a:lnR w="0">
                      <a:noFill/>
                    </a:lnR>
                    <a:lnT w="19050" cap="flat" cmpd="sng" algn="ctr">
                      <a:solidFill>
                        <a:srgbClr val="2DD4BF"/>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1"/>
                  </a:ext>
                </a:extLst>
              </a:tr>
              <a:tr h="558800">
                <a:tc>
                  <a:txBody>
                    <a:bodyPr/>
                    <a:lstStyle/>
                    <a:p>
                      <a:pPr algn="l"/>
                      <a:r>
                        <a:rPr sz="1350" b="1">
                          <a:solidFill>
                            <a:srgbClr val="F1F5F9"/>
                          </a:solidFill>
                          <a:latin typeface="Segoe UI"/>
                        </a:rPr>
                        <a:t>Security &amp; access</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No access-control concept at all</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Retrieval can be scoped by ACL, tenant, or project</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2"/>
                  </a:ext>
                </a:extLst>
              </a:tr>
              <a:tr h="558800">
                <a:tc>
                  <a:txBody>
                    <a:bodyPr/>
                    <a:lstStyle/>
                    <a:p>
                      <a:pPr algn="l"/>
                      <a:r>
                        <a:rPr sz="1350" b="1">
                          <a:solidFill>
                            <a:srgbClr val="F1F5F9"/>
                          </a:solidFill>
                          <a:latin typeface="Segoe UI"/>
                        </a:rPr>
                        <a:t>Knowledge freshness</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Frozen at the training date</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As current as your last re-index</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3"/>
                  </a:ext>
                </a:extLst>
              </a:tr>
              <a:tr h="558800">
                <a:tc>
                  <a:txBody>
                    <a:bodyPr/>
                    <a:lstStyle/>
                    <a:p>
                      <a:pPr algn="l"/>
                      <a:r>
                        <a:rPr sz="1350" b="1">
                          <a:solidFill>
                            <a:srgbClr val="F1F5F9"/>
                          </a:solidFill>
                          <a:latin typeface="Segoe UI"/>
                        </a:rPr>
                        <a:t>Dynamic business data</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Can't reflect today's inventory, pricing, or policy</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Can retrieve current data from an indexed or connected source</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4"/>
                  </a:ext>
                </a:extLst>
              </a:tr>
              <a:tr h="558800">
                <a:tc>
                  <a:txBody>
                    <a:bodyPr/>
                    <a:lstStyle/>
                    <a:p>
                      <a:pPr algn="l"/>
                      <a:r>
                        <a:rPr sz="1350" b="1">
                          <a:solidFill>
                            <a:srgbClr val="F1F5F9"/>
                          </a:solidFill>
                          <a:latin typeface="Segoe UI"/>
                        </a:rPr>
                        <a:t>Traceability &amp; compliance</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Can't prove what it 'knows' or why it answered</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Answers can be grounded and linked to source chunks</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5"/>
                  </a:ext>
                </a:extLst>
              </a:tr>
              <a:tr h="558800">
                <a:tc>
                  <a:txBody>
                    <a:bodyPr/>
                    <a:lstStyle/>
                    <a:p>
                      <a:pPr algn="l"/>
                      <a:r>
                        <a:rPr sz="1350" b="1">
                          <a:solidFill>
                            <a:srgbClr val="F1F5F9"/>
                          </a:solidFill>
                          <a:latin typeface="Segoe UI"/>
                        </a:rPr>
                        <a:t>Governance</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No deletion / right-to-be-forgotten story</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Can be removed from the index through the document/index lifecycle</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6"/>
                  </a:ext>
                </a:extLst>
              </a:tr>
              <a:tr h="558800">
                <a:tc>
                  <a:txBody>
                    <a:bodyPr/>
                    <a:lstStyle/>
                    <a:p>
                      <a:pPr algn="l"/>
                      <a:r>
                        <a:rPr sz="1350" b="1">
                          <a:solidFill>
                            <a:srgbClr val="F1F5F9"/>
                          </a:solidFill>
                          <a:latin typeface="Segoe UI"/>
                        </a:rPr>
                        <a:t>Cost to update knowledge</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A3AFC2"/>
                          </a:solidFill>
                          <a:latin typeface="Segoe UI"/>
                        </a:rPr>
                        <a:t>Re-train the model (expensive, slow)</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noFill/>
                  </a:tcPr>
                </a:tc>
                <a:tc>
                  <a:txBody>
                    <a:bodyPr/>
                    <a:lstStyle/>
                    <a:p>
                      <a:pPr algn="l"/>
                      <a:r>
                        <a:rPr sz="1300" b="0">
                          <a:solidFill>
                            <a:srgbClr val="E2E8F0"/>
                          </a:solidFill>
                          <a:latin typeface="Segoe UI"/>
                        </a:rPr>
                        <a:t>Re-index the affected document or chunks</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253047"/>
                      </a:solidFill>
                    </a:lnB>
                    <a:solidFill>
                      <a:srgbClr val="0F2229"/>
                    </a:solidFill>
                  </a:tcPr>
                </a:tc>
                <a:extLst>
                  <a:ext uri="{0D108BD9-81ED-4DB2-BD59-A6C34878D82A}">
                    <a16:rowId xmlns:a16="http://schemas.microsoft.com/office/drawing/2014/main" val="10007"/>
                  </a:ext>
                </a:extLst>
              </a:tr>
              <a:tr h="558800">
                <a:tc>
                  <a:txBody>
                    <a:bodyPr/>
                    <a:lstStyle/>
                    <a:p>
                      <a:pPr algn="l"/>
                      <a:r>
                        <a:rPr sz="1350" b="1">
                          <a:solidFill>
                            <a:srgbClr val="F1F5F9"/>
                          </a:solidFill>
                          <a:latin typeface="Segoe UI"/>
                        </a:rPr>
                        <a:t>Failure mode</a:t>
                      </a:r>
                    </a:p>
                  </a:txBody>
                  <a:tcPr marR="137160" anchor="ctr">
                    <a:lnL w="0">
                      <a:noFill/>
                    </a:lnL>
                    <a:lnR w="0">
                      <a:noFill/>
                    </a:lnR>
                    <a:lnT w="9525" cap="flat" cmpd="sng" algn="ctr">
                      <a:solidFill>
                        <a:srgbClr val="253047"/>
                      </a:solidFill>
                      <a:prstDash val="solid"/>
                      <a:round/>
                      <a:headEnd type="none" w="med" len="med"/>
                      <a:tailEnd type="none" w="med" len="med"/>
                    </a:lnT>
                    <a:lnB w="9525">
                      <a:solidFill>
                        <a:srgbClr val="334155"/>
                      </a:solidFill>
                    </a:lnB>
                    <a:noFill/>
                  </a:tcPr>
                </a:tc>
                <a:tc>
                  <a:txBody>
                    <a:bodyPr/>
                    <a:lstStyle/>
                    <a:p>
                      <a:pPr algn="l"/>
                      <a:r>
                        <a:rPr sz="1300" b="0">
                          <a:solidFill>
                            <a:srgbClr val="A3AFC2"/>
                          </a:solidFill>
                          <a:latin typeface="Segoe UI"/>
                        </a:rPr>
                        <a:t>Confident hallucination</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334155"/>
                      </a:solidFill>
                    </a:lnB>
                    <a:noFill/>
                  </a:tcPr>
                </a:tc>
                <a:tc>
                  <a:txBody>
                    <a:bodyPr/>
                    <a:lstStyle/>
                    <a:p>
                      <a:pPr algn="l"/>
                      <a:r>
                        <a:rPr sz="1300" b="0">
                          <a:solidFill>
                            <a:srgbClr val="E2E8F0"/>
                          </a:solidFill>
                          <a:latin typeface="Segoe UI"/>
                        </a:rPr>
                        <a:t>Can be instructed to say "I don’t know" when context is insufficient</a:t>
                      </a:r>
                    </a:p>
                  </a:txBody>
                  <a:tcPr marL="137160" marR="137160" anchor="ctr">
                    <a:lnL w="0">
                      <a:noFill/>
                    </a:lnL>
                    <a:lnR w="0">
                      <a:noFill/>
                    </a:lnR>
                    <a:lnT w="9525" cap="flat" cmpd="sng" algn="ctr">
                      <a:solidFill>
                        <a:srgbClr val="253047"/>
                      </a:solidFill>
                      <a:prstDash val="solid"/>
                      <a:round/>
                      <a:headEnd type="none" w="med" len="med"/>
                      <a:tailEnd type="none" w="med" len="med"/>
                    </a:lnT>
                    <a:lnB w="9525">
                      <a:solidFill>
                        <a:srgbClr val="334155"/>
                      </a:solidFill>
                    </a:lnB>
                    <a:solidFill>
                      <a:srgbClr val="0F2229"/>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13</a:t>
            </a:r>
          </a:p>
        </p:txBody>
      </p:sp>
    </p:spTree>
    <p:extLst>
      <p:ext uri="{BB962C8B-B14F-4D97-AF65-F5344CB8AC3E}">
        <p14:creationId xmlns:p14="http://schemas.microsoft.com/office/powerpoint/2010/main" val="3937632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ENTERPRISE USE CASES</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Where this pattern applies</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17" name="TextBox 16"/>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38</a:t>
            </a:r>
          </a:p>
        </p:txBody>
      </p:sp>
      <p:sp>
        <p:nvSpPr>
          <p:cNvPr id="3" name="Rectangle: Rounded Corners 2">
            <a:extLst>
              <a:ext uri="{FF2B5EF4-FFF2-40B4-BE49-F238E27FC236}">
                <a16:creationId xmlns:a16="http://schemas.microsoft.com/office/drawing/2014/main" id="{01FE480F-65F2-4C46-9079-580C0BE66B1F}"/>
              </a:ext>
            </a:extLst>
          </p:cNvPr>
          <p:cNvSpPr/>
          <p:nvPr/>
        </p:nvSpPr>
        <p:spPr>
          <a:xfrm>
            <a:off x="635000" y="13716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8" name="Rectangle: Rounded Corners 17">
            <a:extLst>
              <a:ext uri="{FF2B5EF4-FFF2-40B4-BE49-F238E27FC236}">
                <a16:creationId xmlns:a16="http://schemas.microsoft.com/office/drawing/2014/main" id="{D180AFBB-93EE-44F4-B175-CB57BA84BB0A}"/>
              </a:ext>
            </a:extLst>
          </p:cNvPr>
          <p:cNvSpPr/>
          <p:nvPr/>
        </p:nvSpPr>
        <p:spPr>
          <a:xfrm>
            <a:off x="812800" y="16764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9" name="TextBox 18">
            <a:extLst>
              <a:ext uri="{FF2B5EF4-FFF2-40B4-BE49-F238E27FC236}">
                <a16:creationId xmlns:a16="http://schemas.microsoft.com/office/drawing/2014/main" id="{6F30CEDC-E857-4F84-AA26-3F09CDCE488E}"/>
              </a:ext>
            </a:extLst>
          </p:cNvPr>
          <p:cNvSpPr txBox="1"/>
          <p:nvPr/>
        </p:nvSpPr>
        <p:spPr>
          <a:xfrm>
            <a:off x="1397000" y="15494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HR Assistant</a:t>
            </a:r>
          </a:p>
        </p:txBody>
      </p:sp>
      <p:sp>
        <p:nvSpPr>
          <p:cNvPr id="20" name="TextBox 19">
            <a:extLst>
              <a:ext uri="{FF2B5EF4-FFF2-40B4-BE49-F238E27FC236}">
                <a16:creationId xmlns:a16="http://schemas.microsoft.com/office/drawing/2014/main" id="{91D98C26-F340-4487-BD56-E5213F28224C}"/>
              </a:ext>
            </a:extLst>
          </p:cNvPr>
          <p:cNvSpPr txBox="1"/>
          <p:nvPr/>
        </p:nvSpPr>
        <p:spPr>
          <a:xfrm>
            <a:off x="1397000" y="18288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Policy and benefits Q&amp;A grounded in HR documents</a:t>
            </a:r>
            <a:endParaRPr lang="en-IN" sz="1300">
              <a:solidFill>
                <a:srgbClr val="B8C2D3"/>
              </a:solidFill>
              <a:latin typeface="Segoe UI"/>
              <a:cs typeface="Segoe UI"/>
            </a:endParaRPr>
          </a:p>
        </p:txBody>
      </p:sp>
      <p:sp>
        <p:nvSpPr>
          <p:cNvPr id="21" name="Rectangle: Rounded Corners 20">
            <a:extLst>
              <a:ext uri="{FF2B5EF4-FFF2-40B4-BE49-F238E27FC236}">
                <a16:creationId xmlns:a16="http://schemas.microsoft.com/office/drawing/2014/main" id="{1C4820B8-26D8-4909-905D-FAA416EE2299}"/>
              </a:ext>
            </a:extLst>
          </p:cNvPr>
          <p:cNvSpPr/>
          <p:nvPr/>
        </p:nvSpPr>
        <p:spPr>
          <a:xfrm>
            <a:off x="4330700" y="13716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2" name="Rectangle: Rounded Corners 21">
            <a:extLst>
              <a:ext uri="{FF2B5EF4-FFF2-40B4-BE49-F238E27FC236}">
                <a16:creationId xmlns:a16="http://schemas.microsoft.com/office/drawing/2014/main" id="{1E94DDC5-D6DE-4708-A0B1-7AB5FC9EEE88}"/>
              </a:ext>
            </a:extLst>
          </p:cNvPr>
          <p:cNvSpPr/>
          <p:nvPr/>
        </p:nvSpPr>
        <p:spPr>
          <a:xfrm>
            <a:off x="4508500" y="16764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3" name="TextBox 22">
            <a:extLst>
              <a:ext uri="{FF2B5EF4-FFF2-40B4-BE49-F238E27FC236}">
                <a16:creationId xmlns:a16="http://schemas.microsoft.com/office/drawing/2014/main" id="{1A109BE0-E787-41C2-A87A-6DF420611141}"/>
              </a:ext>
            </a:extLst>
          </p:cNvPr>
          <p:cNvSpPr txBox="1"/>
          <p:nvPr/>
        </p:nvSpPr>
        <p:spPr>
          <a:xfrm>
            <a:off x="5092700" y="15494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Policy Search</a:t>
            </a:r>
          </a:p>
        </p:txBody>
      </p:sp>
      <p:sp>
        <p:nvSpPr>
          <p:cNvPr id="24" name="TextBox 23">
            <a:extLst>
              <a:ext uri="{FF2B5EF4-FFF2-40B4-BE49-F238E27FC236}">
                <a16:creationId xmlns:a16="http://schemas.microsoft.com/office/drawing/2014/main" id="{590811F1-0D09-4825-AEF9-6AC389E2C9E0}"/>
              </a:ext>
            </a:extLst>
          </p:cNvPr>
          <p:cNvSpPr txBox="1"/>
          <p:nvPr/>
        </p:nvSpPr>
        <p:spPr>
          <a:xfrm>
            <a:off x="5092700" y="18288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Compliance and internal-policy lookup with citations</a:t>
            </a:r>
            <a:endParaRPr lang="en-IN" sz="1300">
              <a:solidFill>
                <a:srgbClr val="B8C2D3"/>
              </a:solidFill>
              <a:latin typeface="Segoe UI"/>
              <a:cs typeface="Segoe UI"/>
            </a:endParaRPr>
          </a:p>
        </p:txBody>
      </p:sp>
      <p:sp>
        <p:nvSpPr>
          <p:cNvPr id="25" name="Rectangle: Rounded Corners 24">
            <a:extLst>
              <a:ext uri="{FF2B5EF4-FFF2-40B4-BE49-F238E27FC236}">
                <a16:creationId xmlns:a16="http://schemas.microsoft.com/office/drawing/2014/main" id="{B13A3F92-84CD-4D79-A145-224D16A274D7}"/>
              </a:ext>
            </a:extLst>
          </p:cNvPr>
          <p:cNvSpPr/>
          <p:nvPr/>
        </p:nvSpPr>
        <p:spPr>
          <a:xfrm>
            <a:off x="8026400" y="13716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6" name="Rectangle: Rounded Corners 25">
            <a:extLst>
              <a:ext uri="{FF2B5EF4-FFF2-40B4-BE49-F238E27FC236}">
                <a16:creationId xmlns:a16="http://schemas.microsoft.com/office/drawing/2014/main" id="{84E330FC-436A-4484-8FF8-54FBED11794C}"/>
              </a:ext>
            </a:extLst>
          </p:cNvPr>
          <p:cNvSpPr/>
          <p:nvPr/>
        </p:nvSpPr>
        <p:spPr>
          <a:xfrm>
            <a:off x="8204200" y="16764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7" name="TextBox 26">
            <a:extLst>
              <a:ext uri="{FF2B5EF4-FFF2-40B4-BE49-F238E27FC236}">
                <a16:creationId xmlns:a16="http://schemas.microsoft.com/office/drawing/2014/main" id="{7CA4F5D5-2FB9-4B57-9836-5DA55CDF93CE}"/>
              </a:ext>
            </a:extLst>
          </p:cNvPr>
          <p:cNvSpPr txBox="1"/>
          <p:nvPr/>
        </p:nvSpPr>
        <p:spPr>
          <a:xfrm>
            <a:off x="8788400" y="15494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Customer Support</a:t>
            </a:r>
          </a:p>
        </p:txBody>
      </p:sp>
      <p:sp>
        <p:nvSpPr>
          <p:cNvPr id="28" name="TextBox 27">
            <a:extLst>
              <a:ext uri="{FF2B5EF4-FFF2-40B4-BE49-F238E27FC236}">
                <a16:creationId xmlns:a16="http://schemas.microsoft.com/office/drawing/2014/main" id="{714E8F59-E5A1-4A83-B36A-6B789B8A2F0D}"/>
              </a:ext>
            </a:extLst>
          </p:cNvPr>
          <p:cNvSpPr txBox="1"/>
          <p:nvPr/>
        </p:nvSpPr>
        <p:spPr>
          <a:xfrm>
            <a:off x="8788400" y="18288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Answers grounded in product docs, not guesswork</a:t>
            </a:r>
            <a:endParaRPr lang="en-IN" sz="1300">
              <a:solidFill>
                <a:srgbClr val="B8C2D3"/>
              </a:solidFill>
              <a:latin typeface="Segoe UI"/>
              <a:cs typeface="Segoe UI"/>
            </a:endParaRPr>
          </a:p>
        </p:txBody>
      </p:sp>
      <p:sp>
        <p:nvSpPr>
          <p:cNvPr id="29" name="Rectangle: Rounded Corners 28">
            <a:extLst>
              <a:ext uri="{FF2B5EF4-FFF2-40B4-BE49-F238E27FC236}">
                <a16:creationId xmlns:a16="http://schemas.microsoft.com/office/drawing/2014/main" id="{DB5E9525-B999-4D14-90BB-D0006EF698C6}"/>
              </a:ext>
            </a:extLst>
          </p:cNvPr>
          <p:cNvSpPr/>
          <p:nvPr/>
        </p:nvSpPr>
        <p:spPr>
          <a:xfrm>
            <a:off x="635000" y="25908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0" name="Rectangle: Rounded Corners 29">
            <a:extLst>
              <a:ext uri="{FF2B5EF4-FFF2-40B4-BE49-F238E27FC236}">
                <a16:creationId xmlns:a16="http://schemas.microsoft.com/office/drawing/2014/main" id="{863C9378-9DDB-4061-AA53-D03B0E811C93}"/>
              </a:ext>
            </a:extLst>
          </p:cNvPr>
          <p:cNvSpPr/>
          <p:nvPr/>
        </p:nvSpPr>
        <p:spPr>
          <a:xfrm>
            <a:off x="812800" y="28956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1" name="TextBox 30">
            <a:extLst>
              <a:ext uri="{FF2B5EF4-FFF2-40B4-BE49-F238E27FC236}">
                <a16:creationId xmlns:a16="http://schemas.microsoft.com/office/drawing/2014/main" id="{DA7ACC70-18BB-4CF3-B039-21A2BFDA72B2}"/>
              </a:ext>
            </a:extLst>
          </p:cNvPr>
          <p:cNvSpPr txBox="1"/>
          <p:nvPr/>
        </p:nvSpPr>
        <p:spPr>
          <a:xfrm>
            <a:off x="1397000" y="27686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Healthcare</a:t>
            </a:r>
          </a:p>
        </p:txBody>
      </p:sp>
      <p:sp>
        <p:nvSpPr>
          <p:cNvPr id="32" name="TextBox 31">
            <a:extLst>
              <a:ext uri="{FF2B5EF4-FFF2-40B4-BE49-F238E27FC236}">
                <a16:creationId xmlns:a16="http://schemas.microsoft.com/office/drawing/2014/main" id="{47C9BF28-0AF8-4BF2-8BC7-8C47069114B3}"/>
              </a:ext>
            </a:extLst>
          </p:cNvPr>
          <p:cNvSpPr txBox="1"/>
          <p:nvPr/>
        </p:nvSpPr>
        <p:spPr>
          <a:xfrm>
            <a:off x="1397000" y="30480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Clinical guideline lookup — high governance bar</a:t>
            </a:r>
            <a:endParaRPr lang="en-IN" sz="1300">
              <a:solidFill>
                <a:srgbClr val="B8C2D3"/>
              </a:solidFill>
              <a:latin typeface="Segoe UI"/>
              <a:cs typeface="Segoe UI"/>
            </a:endParaRPr>
          </a:p>
        </p:txBody>
      </p:sp>
      <p:sp>
        <p:nvSpPr>
          <p:cNvPr id="33" name="Rectangle: Rounded Corners 32">
            <a:extLst>
              <a:ext uri="{FF2B5EF4-FFF2-40B4-BE49-F238E27FC236}">
                <a16:creationId xmlns:a16="http://schemas.microsoft.com/office/drawing/2014/main" id="{57D500DA-61F4-4595-9214-D24F0D127603}"/>
              </a:ext>
            </a:extLst>
          </p:cNvPr>
          <p:cNvSpPr/>
          <p:nvPr/>
        </p:nvSpPr>
        <p:spPr>
          <a:xfrm>
            <a:off x="4330700" y="25908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4" name="Rectangle: Rounded Corners 33">
            <a:extLst>
              <a:ext uri="{FF2B5EF4-FFF2-40B4-BE49-F238E27FC236}">
                <a16:creationId xmlns:a16="http://schemas.microsoft.com/office/drawing/2014/main" id="{33225AC9-9CD6-413C-8CEE-A6D8CC23F0BA}"/>
              </a:ext>
            </a:extLst>
          </p:cNvPr>
          <p:cNvSpPr/>
          <p:nvPr/>
        </p:nvSpPr>
        <p:spPr>
          <a:xfrm>
            <a:off x="4508500" y="28956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5" name="TextBox 34">
            <a:extLst>
              <a:ext uri="{FF2B5EF4-FFF2-40B4-BE49-F238E27FC236}">
                <a16:creationId xmlns:a16="http://schemas.microsoft.com/office/drawing/2014/main" id="{FCABD6B9-B267-4D93-BEEA-1A698CDF057C}"/>
              </a:ext>
            </a:extLst>
          </p:cNvPr>
          <p:cNvSpPr txBox="1"/>
          <p:nvPr/>
        </p:nvSpPr>
        <p:spPr>
          <a:xfrm>
            <a:off x="5092700" y="27686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Insurance</a:t>
            </a:r>
          </a:p>
        </p:txBody>
      </p:sp>
      <p:sp>
        <p:nvSpPr>
          <p:cNvPr id="36" name="TextBox 35">
            <a:extLst>
              <a:ext uri="{FF2B5EF4-FFF2-40B4-BE49-F238E27FC236}">
                <a16:creationId xmlns:a16="http://schemas.microsoft.com/office/drawing/2014/main" id="{55701140-53DF-43BC-B10F-BFE62C1058D0}"/>
              </a:ext>
            </a:extLst>
          </p:cNvPr>
          <p:cNvSpPr txBox="1"/>
          <p:nvPr/>
        </p:nvSpPr>
        <p:spPr>
          <a:xfrm>
            <a:off x="5092700" y="30480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Policy and claims document search</a:t>
            </a:r>
            <a:endParaRPr lang="en-IN" sz="1300">
              <a:solidFill>
                <a:srgbClr val="B8C2D3"/>
              </a:solidFill>
              <a:latin typeface="Segoe UI"/>
              <a:cs typeface="Segoe UI"/>
            </a:endParaRPr>
          </a:p>
        </p:txBody>
      </p:sp>
      <p:sp>
        <p:nvSpPr>
          <p:cNvPr id="37" name="Rectangle: Rounded Corners 36">
            <a:extLst>
              <a:ext uri="{FF2B5EF4-FFF2-40B4-BE49-F238E27FC236}">
                <a16:creationId xmlns:a16="http://schemas.microsoft.com/office/drawing/2014/main" id="{93094581-6771-4698-9E56-69E84D76873D}"/>
              </a:ext>
            </a:extLst>
          </p:cNvPr>
          <p:cNvSpPr/>
          <p:nvPr/>
        </p:nvSpPr>
        <p:spPr>
          <a:xfrm>
            <a:off x="8026400" y="25908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8" name="Rectangle: Rounded Corners 37">
            <a:extLst>
              <a:ext uri="{FF2B5EF4-FFF2-40B4-BE49-F238E27FC236}">
                <a16:creationId xmlns:a16="http://schemas.microsoft.com/office/drawing/2014/main" id="{BCCF104F-B02F-4D3A-A526-4178FFDFBE32}"/>
              </a:ext>
            </a:extLst>
          </p:cNvPr>
          <p:cNvSpPr/>
          <p:nvPr/>
        </p:nvSpPr>
        <p:spPr>
          <a:xfrm>
            <a:off x="8204200" y="28956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D134FE90-5017-48BD-B5C9-9CC94D804CEF}"/>
              </a:ext>
            </a:extLst>
          </p:cNvPr>
          <p:cNvSpPr txBox="1"/>
          <p:nvPr/>
        </p:nvSpPr>
        <p:spPr>
          <a:xfrm>
            <a:off x="8788400" y="27686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Banking</a:t>
            </a:r>
          </a:p>
        </p:txBody>
      </p:sp>
      <p:sp>
        <p:nvSpPr>
          <p:cNvPr id="40" name="TextBox 39">
            <a:extLst>
              <a:ext uri="{FF2B5EF4-FFF2-40B4-BE49-F238E27FC236}">
                <a16:creationId xmlns:a16="http://schemas.microsoft.com/office/drawing/2014/main" id="{578BBB43-BBF0-4D26-9633-D036A6990753}"/>
              </a:ext>
            </a:extLst>
          </p:cNvPr>
          <p:cNvSpPr txBox="1"/>
          <p:nvPr/>
        </p:nvSpPr>
        <p:spPr>
          <a:xfrm>
            <a:off x="8788400" y="30480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Regulatory and product knowledge, audit-traceable</a:t>
            </a:r>
            <a:endParaRPr lang="en-IN" sz="1300">
              <a:solidFill>
                <a:srgbClr val="B8C2D3"/>
              </a:solidFill>
              <a:latin typeface="Segoe UI"/>
              <a:cs typeface="Segoe UI"/>
            </a:endParaRPr>
          </a:p>
        </p:txBody>
      </p:sp>
      <p:sp>
        <p:nvSpPr>
          <p:cNvPr id="41" name="Rectangle: Rounded Corners 40">
            <a:extLst>
              <a:ext uri="{FF2B5EF4-FFF2-40B4-BE49-F238E27FC236}">
                <a16:creationId xmlns:a16="http://schemas.microsoft.com/office/drawing/2014/main" id="{60878AC7-98C2-4587-980B-DA4DA0B5E18D}"/>
              </a:ext>
            </a:extLst>
          </p:cNvPr>
          <p:cNvSpPr/>
          <p:nvPr/>
        </p:nvSpPr>
        <p:spPr>
          <a:xfrm>
            <a:off x="635000" y="38100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2" name="Rectangle: Rounded Corners 41">
            <a:extLst>
              <a:ext uri="{FF2B5EF4-FFF2-40B4-BE49-F238E27FC236}">
                <a16:creationId xmlns:a16="http://schemas.microsoft.com/office/drawing/2014/main" id="{BB07740A-E27D-4D75-98C5-ADAC8A00F2A5}"/>
              </a:ext>
            </a:extLst>
          </p:cNvPr>
          <p:cNvSpPr/>
          <p:nvPr/>
        </p:nvSpPr>
        <p:spPr>
          <a:xfrm>
            <a:off x="812800" y="41148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3" name="TextBox 42">
            <a:extLst>
              <a:ext uri="{FF2B5EF4-FFF2-40B4-BE49-F238E27FC236}">
                <a16:creationId xmlns:a16="http://schemas.microsoft.com/office/drawing/2014/main" id="{D763EFDC-80A3-4204-924D-0AD5B71AE277}"/>
              </a:ext>
            </a:extLst>
          </p:cNvPr>
          <p:cNvSpPr txBox="1"/>
          <p:nvPr/>
        </p:nvSpPr>
        <p:spPr>
          <a:xfrm>
            <a:off x="1397000" y="39878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Legal</a:t>
            </a:r>
          </a:p>
        </p:txBody>
      </p:sp>
      <p:sp>
        <p:nvSpPr>
          <p:cNvPr id="44" name="TextBox 43">
            <a:extLst>
              <a:ext uri="{FF2B5EF4-FFF2-40B4-BE49-F238E27FC236}">
                <a16:creationId xmlns:a16="http://schemas.microsoft.com/office/drawing/2014/main" id="{BA7987D0-0509-4096-8A3F-670FF53BF2AD}"/>
              </a:ext>
            </a:extLst>
          </p:cNvPr>
          <p:cNvSpPr txBox="1"/>
          <p:nvPr/>
        </p:nvSpPr>
        <p:spPr>
          <a:xfrm>
            <a:off x="1397000" y="42672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Contract/case search with strict citation requirements</a:t>
            </a:r>
            <a:endParaRPr lang="en-IN" sz="1300">
              <a:solidFill>
                <a:srgbClr val="B8C2D3"/>
              </a:solidFill>
              <a:latin typeface="Segoe UI"/>
              <a:cs typeface="Segoe UI"/>
            </a:endParaRPr>
          </a:p>
        </p:txBody>
      </p:sp>
      <p:sp>
        <p:nvSpPr>
          <p:cNvPr id="45" name="Rectangle: Rounded Corners 44">
            <a:extLst>
              <a:ext uri="{FF2B5EF4-FFF2-40B4-BE49-F238E27FC236}">
                <a16:creationId xmlns:a16="http://schemas.microsoft.com/office/drawing/2014/main" id="{3531671A-1A87-486A-8EFB-76A75571D217}"/>
              </a:ext>
            </a:extLst>
          </p:cNvPr>
          <p:cNvSpPr/>
          <p:nvPr/>
        </p:nvSpPr>
        <p:spPr>
          <a:xfrm>
            <a:off x="4330700" y="38100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6" name="Rectangle: Rounded Corners 45">
            <a:extLst>
              <a:ext uri="{FF2B5EF4-FFF2-40B4-BE49-F238E27FC236}">
                <a16:creationId xmlns:a16="http://schemas.microsoft.com/office/drawing/2014/main" id="{FB0D4B45-68CA-46E2-A9BE-24CE2516FDF8}"/>
              </a:ext>
            </a:extLst>
          </p:cNvPr>
          <p:cNvSpPr/>
          <p:nvPr/>
        </p:nvSpPr>
        <p:spPr>
          <a:xfrm>
            <a:off x="4508500" y="41148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47" name="TextBox 46">
            <a:extLst>
              <a:ext uri="{FF2B5EF4-FFF2-40B4-BE49-F238E27FC236}">
                <a16:creationId xmlns:a16="http://schemas.microsoft.com/office/drawing/2014/main" id="{FA391DD2-7DA4-4D6E-8E16-DF6D524403FD}"/>
              </a:ext>
            </a:extLst>
          </p:cNvPr>
          <p:cNvSpPr txBox="1"/>
          <p:nvPr/>
        </p:nvSpPr>
        <p:spPr>
          <a:xfrm>
            <a:off x="5092700" y="39878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Engineering Knowledge Base</a:t>
            </a:r>
          </a:p>
        </p:txBody>
      </p:sp>
      <p:sp>
        <p:nvSpPr>
          <p:cNvPr id="48" name="TextBox 47">
            <a:extLst>
              <a:ext uri="{FF2B5EF4-FFF2-40B4-BE49-F238E27FC236}">
                <a16:creationId xmlns:a16="http://schemas.microsoft.com/office/drawing/2014/main" id="{4BE1A7F2-2DBB-4D79-9D96-CFE18F62396E}"/>
              </a:ext>
            </a:extLst>
          </p:cNvPr>
          <p:cNvSpPr txBox="1"/>
          <p:nvPr/>
        </p:nvSpPr>
        <p:spPr>
          <a:xfrm>
            <a:off x="5092700" y="4267200"/>
            <a:ext cx="2654300" cy="5588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Internal wikis, runbooks, architecture docs</a:t>
            </a:r>
            <a:endParaRPr lang="en-IN" sz="1300">
              <a:solidFill>
                <a:srgbClr val="B8C2D3"/>
              </a:solidFill>
              <a:latin typeface="Segoe UI"/>
              <a:cs typeface="Segoe UI"/>
            </a:endParaRPr>
          </a:p>
        </p:txBody>
      </p:sp>
      <p:sp>
        <p:nvSpPr>
          <p:cNvPr id="49" name="Rectangle: Rounded Corners 48">
            <a:extLst>
              <a:ext uri="{FF2B5EF4-FFF2-40B4-BE49-F238E27FC236}">
                <a16:creationId xmlns:a16="http://schemas.microsoft.com/office/drawing/2014/main" id="{19813977-8578-4629-B845-CE0DE963708F}"/>
              </a:ext>
            </a:extLst>
          </p:cNvPr>
          <p:cNvSpPr/>
          <p:nvPr/>
        </p:nvSpPr>
        <p:spPr>
          <a:xfrm>
            <a:off x="8026400" y="3810000"/>
            <a:ext cx="3517900" cy="1066800"/>
          </a:xfrm>
          <a:prstGeom prst="roundRect">
            <a:avLst>
              <a:gd name="adj" fmla="val 10000"/>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0" name="Rectangle: Rounded Corners 49">
            <a:extLst>
              <a:ext uri="{FF2B5EF4-FFF2-40B4-BE49-F238E27FC236}">
                <a16:creationId xmlns:a16="http://schemas.microsoft.com/office/drawing/2014/main" id="{CB9364DC-E82E-4B51-94EA-8C61C41BC26C}"/>
              </a:ext>
            </a:extLst>
          </p:cNvPr>
          <p:cNvSpPr/>
          <p:nvPr/>
        </p:nvSpPr>
        <p:spPr>
          <a:xfrm>
            <a:off x="8204200" y="4114800"/>
            <a:ext cx="457200" cy="457200"/>
          </a:xfrm>
          <a:prstGeom prst="roundRect">
            <a:avLst>
              <a:gd name="adj" fmla="val 15000"/>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1" name="TextBox 50">
            <a:extLst>
              <a:ext uri="{FF2B5EF4-FFF2-40B4-BE49-F238E27FC236}">
                <a16:creationId xmlns:a16="http://schemas.microsoft.com/office/drawing/2014/main" id="{48C6125A-9C4E-4B8E-A09E-201C36F82021}"/>
              </a:ext>
            </a:extLst>
          </p:cNvPr>
          <p:cNvSpPr txBox="1"/>
          <p:nvPr/>
        </p:nvSpPr>
        <p:spPr>
          <a:xfrm>
            <a:off x="8788400" y="3987800"/>
            <a:ext cx="2654300" cy="2794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AI Assisted Reporting</a:t>
            </a:r>
          </a:p>
        </p:txBody>
      </p:sp>
      <p:sp>
        <p:nvSpPr>
          <p:cNvPr id="52" name="TextBox 51">
            <a:extLst>
              <a:ext uri="{FF2B5EF4-FFF2-40B4-BE49-F238E27FC236}">
                <a16:creationId xmlns:a16="http://schemas.microsoft.com/office/drawing/2014/main" id="{78852BF2-63B3-4CAE-8073-67E63FC722A9}"/>
              </a:ext>
            </a:extLst>
          </p:cNvPr>
          <p:cNvSpPr txBox="1"/>
          <p:nvPr/>
        </p:nvSpPr>
        <p:spPr>
          <a:xfrm>
            <a:off x="8788400" y="4267200"/>
            <a:ext cx="2654300" cy="558800"/>
          </a:xfrm>
          <a:prstGeom prst="rect">
            <a:avLst/>
          </a:prstGeom>
          <a:noFill/>
          <a:ln>
            <a:noFill/>
          </a:ln>
        </p:spPr>
        <p:txBody>
          <a:bodyPr vertOverflow="overflow" vert="horz" wrap="square" rtlCol="0" anchor="t" anchorCtr="0">
            <a:noAutofit/>
          </a:bodyPr>
          <a:lstStyle/>
          <a:p>
            <a:pPr algn="l"/>
            <a:r>
              <a:rPr lang="en-IN" sz="1300">
                <a:solidFill>
                  <a:srgbClr val="B8C2D3"/>
                </a:solidFill>
                <a:latin typeface="Segoe UI"/>
                <a:cs typeface="Segoe UI"/>
              </a:rPr>
              <a:t>Codebase- and docs-aware assistants</a:t>
            </a:r>
          </a:p>
        </p:txBody>
      </p:sp>
      <p:sp>
        <p:nvSpPr>
          <p:cNvPr id="53" name="Rectangle: Rounded Corners 52">
            <a:extLst>
              <a:ext uri="{FF2B5EF4-FFF2-40B4-BE49-F238E27FC236}">
                <a16:creationId xmlns:a16="http://schemas.microsoft.com/office/drawing/2014/main" id="{0626A387-A7E7-4EB9-B27B-2C1C4409450F}"/>
              </a:ext>
            </a:extLst>
          </p:cNvPr>
          <p:cNvSpPr/>
          <p:nvPr/>
        </p:nvSpPr>
        <p:spPr>
          <a:xfrm>
            <a:off x="635000" y="5029200"/>
            <a:ext cx="10909300" cy="1346200"/>
          </a:xfrm>
          <a:prstGeom prst="roundRect">
            <a:avLst>
              <a:gd name="adj" fmla="val 6780"/>
            </a:avLst>
          </a:prstGeom>
          <a:solidFill>
            <a:srgbClr val="0F2A30"/>
          </a:solidFill>
          <a:ln w="12700"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4" name="TextBox 53">
            <a:extLst>
              <a:ext uri="{FF2B5EF4-FFF2-40B4-BE49-F238E27FC236}">
                <a16:creationId xmlns:a16="http://schemas.microsoft.com/office/drawing/2014/main" id="{E58773AF-CA95-4BDA-83DC-164619F968E1}"/>
              </a:ext>
            </a:extLst>
          </p:cNvPr>
          <p:cNvSpPr txBox="1"/>
          <p:nvPr/>
        </p:nvSpPr>
        <p:spPr>
          <a:xfrm>
            <a:off x="838200" y="5130800"/>
            <a:ext cx="10502900" cy="228600"/>
          </a:xfrm>
          <a:prstGeom prst="rect">
            <a:avLst/>
          </a:prstGeom>
          <a:noFill/>
          <a:ln>
            <a:noFill/>
          </a:ln>
        </p:spPr>
        <p:txBody>
          <a:bodyPr vertOverflow="overflow" vert="horz" wrap="square" rtlCol="0" anchor="t" anchorCtr="0">
            <a:noAutofit/>
          </a:bodyPr>
          <a:lstStyle/>
          <a:p>
            <a:pPr algn="l"/>
            <a:r>
              <a:rPr lang="en-US" sz="1050" b="1">
                <a:solidFill>
                  <a:srgbClr val="2DD4BF"/>
                </a:solidFill>
                <a:latin typeface="Segoe UI"/>
                <a:cs typeface="Segoe UI"/>
              </a:rPr>
              <a:t>SAME ARCHITECTURE IN EVERY DOMAIN. WHAT CHANGES:</a:t>
            </a:r>
            <a:endParaRPr lang="en-IN" sz="1050" b="1">
              <a:solidFill>
                <a:srgbClr val="2DD4BF"/>
              </a:solidFill>
              <a:latin typeface="Segoe UI"/>
              <a:cs typeface="Segoe UI"/>
            </a:endParaRPr>
          </a:p>
        </p:txBody>
      </p:sp>
      <p:sp>
        <p:nvSpPr>
          <p:cNvPr id="55" name="Rectangle: Rounded Corners 54">
            <a:extLst>
              <a:ext uri="{FF2B5EF4-FFF2-40B4-BE49-F238E27FC236}">
                <a16:creationId xmlns:a16="http://schemas.microsoft.com/office/drawing/2014/main" id="{5EA06C26-D3C8-4BDF-8D2A-005CF077309A}"/>
              </a:ext>
            </a:extLst>
          </p:cNvPr>
          <p:cNvSpPr/>
          <p:nvPr/>
        </p:nvSpPr>
        <p:spPr>
          <a:xfrm>
            <a:off x="838200" y="5384800"/>
            <a:ext cx="2511425" cy="889000"/>
          </a:xfrm>
          <a:prstGeom prst="roundRect">
            <a:avLst>
              <a:gd name="adj" fmla="val 11765"/>
            </a:avLst>
          </a:prstGeom>
          <a:solidFill>
            <a:srgbClr val="131C31"/>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6" name="TextBox 55">
            <a:extLst>
              <a:ext uri="{FF2B5EF4-FFF2-40B4-BE49-F238E27FC236}">
                <a16:creationId xmlns:a16="http://schemas.microsoft.com/office/drawing/2014/main" id="{6EB58FD4-6BBE-4393-9DA4-18546FBCB628}"/>
              </a:ext>
            </a:extLst>
          </p:cNvPr>
          <p:cNvSpPr txBox="1"/>
          <p:nvPr/>
        </p:nvSpPr>
        <p:spPr>
          <a:xfrm>
            <a:off x="990600" y="5473700"/>
            <a:ext cx="2206625" cy="2540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Corpus</a:t>
            </a:r>
          </a:p>
        </p:txBody>
      </p:sp>
      <p:sp>
        <p:nvSpPr>
          <p:cNvPr id="57" name="TextBox 56">
            <a:extLst>
              <a:ext uri="{FF2B5EF4-FFF2-40B4-BE49-F238E27FC236}">
                <a16:creationId xmlns:a16="http://schemas.microsoft.com/office/drawing/2014/main" id="{998AB956-337E-46C4-841F-512D9B5EE619}"/>
              </a:ext>
            </a:extLst>
          </p:cNvPr>
          <p:cNvSpPr txBox="1"/>
          <p:nvPr/>
        </p:nvSpPr>
        <p:spPr>
          <a:xfrm>
            <a:off x="990600" y="5727700"/>
            <a:ext cx="2206625" cy="4826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HR handbooks vs. case law</a:t>
            </a:r>
            <a:endParaRPr lang="en-IN" sz="1300">
              <a:solidFill>
                <a:srgbClr val="B8C2D3"/>
              </a:solidFill>
              <a:latin typeface="Segoe UI"/>
              <a:cs typeface="Segoe UI"/>
            </a:endParaRPr>
          </a:p>
        </p:txBody>
      </p:sp>
      <p:sp>
        <p:nvSpPr>
          <p:cNvPr id="58" name="Rectangle: Rounded Corners 57">
            <a:extLst>
              <a:ext uri="{FF2B5EF4-FFF2-40B4-BE49-F238E27FC236}">
                <a16:creationId xmlns:a16="http://schemas.microsoft.com/office/drawing/2014/main" id="{26B0CDA8-2F53-472D-B87E-C36FC9E23A11}"/>
              </a:ext>
            </a:extLst>
          </p:cNvPr>
          <p:cNvSpPr/>
          <p:nvPr/>
        </p:nvSpPr>
        <p:spPr>
          <a:xfrm>
            <a:off x="3502025" y="5384800"/>
            <a:ext cx="2511425" cy="889000"/>
          </a:xfrm>
          <a:prstGeom prst="roundRect">
            <a:avLst>
              <a:gd name="adj" fmla="val 11765"/>
            </a:avLst>
          </a:prstGeom>
          <a:solidFill>
            <a:srgbClr val="131C31"/>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59" name="TextBox 58">
            <a:extLst>
              <a:ext uri="{FF2B5EF4-FFF2-40B4-BE49-F238E27FC236}">
                <a16:creationId xmlns:a16="http://schemas.microsoft.com/office/drawing/2014/main" id="{30ABB17E-9CA1-40DA-8825-2B00407A3A02}"/>
              </a:ext>
            </a:extLst>
          </p:cNvPr>
          <p:cNvSpPr txBox="1"/>
          <p:nvPr/>
        </p:nvSpPr>
        <p:spPr>
          <a:xfrm>
            <a:off x="3654425" y="5473700"/>
            <a:ext cx="2206625" cy="2540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Authorization model</a:t>
            </a:r>
          </a:p>
        </p:txBody>
      </p:sp>
      <p:sp>
        <p:nvSpPr>
          <p:cNvPr id="60" name="TextBox 59">
            <a:extLst>
              <a:ext uri="{FF2B5EF4-FFF2-40B4-BE49-F238E27FC236}">
                <a16:creationId xmlns:a16="http://schemas.microsoft.com/office/drawing/2014/main" id="{0559F11C-F0EB-4251-9021-5B8255946A74}"/>
              </a:ext>
            </a:extLst>
          </p:cNvPr>
          <p:cNvSpPr txBox="1"/>
          <p:nvPr/>
        </p:nvSpPr>
        <p:spPr>
          <a:xfrm>
            <a:off x="3654425" y="5727700"/>
            <a:ext cx="2206625" cy="482600"/>
          </a:xfrm>
          <a:prstGeom prst="rect">
            <a:avLst/>
          </a:prstGeom>
          <a:noFill/>
          <a:ln>
            <a:noFill/>
          </a:ln>
        </p:spPr>
        <p:txBody>
          <a:bodyPr vertOverflow="overflow" vert="horz" wrap="square" rtlCol="0" anchor="t" anchorCtr="0">
            <a:noAutofit/>
          </a:bodyPr>
          <a:lstStyle/>
          <a:p>
            <a:pPr algn="l"/>
            <a:r>
              <a:rPr lang="en-IN" sz="1300">
                <a:solidFill>
                  <a:srgbClr val="B8C2D3"/>
                </a:solidFill>
                <a:latin typeface="Segoe UI"/>
                <a:cs typeface="Segoe UI"/>
              </a:rPr>
              <a:t>Per employee vs. per client matter</a:t>
            </a:r>
          </a:p>
        </p:txBody>
      </p:sp>
      <p:sp>
        <p:nvSpPr>
          <p:cNvPr id="61" name="Rectangle: Rounded Corners 60">
            <a:extLst>
              <a:ext uri="{FF2B5EF4-FFF2-40B4-BE49-F238E27FC236}">
                <a16:creationId xmlns:a16="http://schemas.microsoft.com/office/drawing/2014/main" id="{8DEE3617-F233-4C71-8915-6C78E2B33CC0}"/>
              </a:ext>
            </a:extLst>
          </p:cNvPr>
          <p:cNvSpPr/>
          <p:nvPr/>
        </p:nvSpPr>
        <p:spPr>
          <a:xfrm>
            <a:off x="6165850" y="5384800"/>
            <a:ext cx="2511425" cy="889000"/>
          </a:xfrm>
          <a:prstGeom prst="roundRect">
            <a:avLst>
              <a:gd name="adj" fmla="val 11765"/>
            </a:avLst>
          </a:prstGeom>
          <a:solidFill>
            <a:srgbClr val="131C31"/>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2" name="TextBox 61">
            <a:extLst>
              <a:ext uri="{FF2B5EF4-FFF2-40B4-BE49-F238E27FC236}">
                <a16:creationId xmlns:a16="http://schemas.microsoft.com/office/drawing/2014/main" id="{622EBA63-7308-4321-A55C-79F2DFF1049F}"/>
              </a:ext>
            </a:extLst>
          </p:cNvPr>
          <p:cNvSpPr txBox="1"/>
          <p:nvPr/>
        </p:nvSpPr>
        <p:spPr>
          <a:xfrm>
            <a:off x="6318250" y="5473700"/>
            <a:ext cx="2206625" cy="2540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Retrieval strategy</a:t>
            </a:r>
          </a:p>
        </p:txBody>
      </p:sp>
      <p:sp>
        <p:nvSpPr>
          <p:cNvPr id="63" name="TextBox 62">
            <a:extLst>
              <a:ext uri="{FF2B5EF4-FFF2-40B4-BE49-F238E27FC236}">
                <a16:creationId xmlns:a16="http://schemas.microsoft.com/office/drawing/2014/main" id="{28151966-A76D-41D3-8382-03A7E812C986}"/>
              </a:ext>
            </a:extLst>
          </p:cNvPr>
          <p:cNvSpPr txBox="1"/>
          <p:nvPr/>
        </p:nvSpPr>
        <p:spPr>
          <a:xfrm>
            <a:off x="6318250" y="5727700"/>
            <a:ext cx="2206625" cy="482600"/>
          </a:xfrm>
          <a:prstGeom prst="rect">
            <a:avLst/>
          </a:prstGeom>
          <a:noFill/>
          <a:ln>
            <a:noFill/>
          </a:ln>
        </p:spPr>
        <p:txBody>
          <a:bodyPr vertOverflow="overflow" vert="horz" wrap="square" rtlCol="0" anchor="t" anchorCtr="0">
            <a:noAutofit/>
          </a:bodyPr>
          <a:lstStyle/>
          <a:p>
            <a:pPr algn="l"/>
            <a:r>
              <a:rPr lang="en-US" sz="1300">
                <a:solidFill>
                  <a:srgbClr val="B8C2D3"/>
                </a:solidFill>
                <a:latin typeface="Segoe UI"/>
                <a:cs typeface="Segoe UI"/>
              </a:rPr>
              <a:t>Semantic match vs. exact clause lookup</a:t>
            </a:r>
            <a:endParaRPr lang="en-IN" sz="1300">
              <a:solidFill>
                <a:srgbClr val="B8C2D3"/>
              </a:solidFill>
              <a:latin typeface="Segoe UI"/>
              <a:cs typeface="Segoe UI"/>
            </a:endParaRPr>
          </a:p>
        </p:txBody>
      </p:sp>
      <p:sp>
        <p:nvSpPr>
          <p:cNvPr id="64" name="Rectangle: Rounded Corners 63">
            <a:extLst>
              <a:ext uri="{FF2B5EF4-FFF2-40B4-BE49-F238E27FC236}">
                <a16:creationId xmlns:a16="http://schemas.microsoft.com/office/drawing/2014/main" id="{364944DD-C9C4-48E8-8B53-C522F6FD2093}"/>
              </a:ext>
            </a:extLst>
          </p:cNvPr>
          <p:cNvSpPr/>
          <p:nvPr/>
        </p:nvSpPr>
        <p:spPr>
          <a:xfrm>
            <a:off x="8829675" y="5384800"/>
            <a:ext cx="2511425" cy="889000"/>
          </a:xfrm>
          <a:prstGeom prst="roundRect">
            <a:avLst>
              <a:gd name="adj" fmla="val 11765"/>
            </a:avLst>
          </a:prstGeom>
          <a:solidFill>
            <a:srgbClr val="131C31"/>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5" name="TextBox 64">
            <a:extLst>
              <a:ext uri="{FF2B5EF4-FFF2-40B4-BE49-F238E27FC236}">
                <a16:creationId xmlns:a16="http://schemas.microsoft.com/office/drawing/2014/main" id="{CA793145-5BEE-4CD4-9293-433A1778CCBF}"/>
              </a:ext>
            </a:extLst>
          </p:cNvPr>
          <p:cNvSpPr txBox="1"/>
          <p:nvPr/>
        </p:nvSpPr>
        <p:spPr>
          <a:xfrm>
            <a:off x="8982075" y="5473700"/>
            <a:ext cx="2206625" cy="254000"/>
          </a:xfrm>
          <a:prstGeom prst="rect">
            <a:avLst/>
          </a:prstGeom>
          <a:noFill/>
          <a:ln>
            <a:noFill/>
          </a:ln>
        </p:spPr>
        <p:txBody>
          <a:bodyPr vertOverflow="overflow" vert="horz" wrap="square" rtlCol="0" anchor="t" anchorCtr="0">
            <a:noAutofit/>
          </a:bodyPr>
          <a:lstStyle/>
          <a:p>
            <a:pPr algn="l"/>
            <a:r>
              <a:rPr lang="en-IN" sz="1400" b="1">
                <a:solidFill>
                  <a:srgbClr val="F1F5F9"/>
                </a:solidFill>
                <a:latin typeface="Segoe UI"/>
                <a:cs typeface="Segoe UI"/>
              </a:rPr>
              <a:t>Evaluation criteria</a:t>
            </a:r>
          </a:p>
        </p:txBody>
      </p:sp>
      <p:sp>
        <p:nvSpPr>
          <p:cNvPr id="66" name="TextBox 65">
            <a:extLst>
              <a:ext uri="{FF2B5EF4-FFF2-40B4-BE49-F238E27FC236}">
                <a16:creationId xmlns:a16="http://schemas.microsoft.com/office/drawing/2014/main" id="{123F9C51-3B0C-4580-8300-A313E76D082C}"/>
              </a:ext>
            </a:extLst>
          </p:cNvPr>
          <p:cNvSpPr txBox="1"/>
          <p:nvPr/>
        </p:nvSpPr>
        <p:spPr>
          <a:xfrm>
            <a:off x="8982075" y="5727700"/>
            <a:ext cx="2206625" cy="482600"/>
          </a:xfrm>
          <a:prstGeom prst="rect">
            <a:avLst/>
          </a:prstGeom>
          <a:noFill/>
          <a:ln>
            <a:noFill/>
          </a:ln>
        </p:spPr>
        <p:txBody>
          <a:bodyPr vertOverflow="overflow" vert="horz" wrap="square" rtlCol="0" anchor="t" anchorCtr="0">
            <a:noAutofit/>
          </a:bodyPr>
          <a:lstStyle/>
          <a:p>
            <a:pPr algn="l"/>
            <a:r>
              <a:rPr lang="en-IN" sz="1300">
                <a:solidFill>
                  <a:srgbClr val="B8C2D3"/>
                </a:solidFill>
                <a:latin typeface="Segoe UI"/>
                <a:cs typeface="Segoe UI"/>
              </a:rPr>
              <a:t>Helpfulness vs. citation accuracy</a:t>
            </a:r>
          </a:p>
        </p:txBody>
      </p:sp>
      <p:pic>
        <p:nvPicPr>
          <p:cNvPr id="67" name="Graphic 67" descr="H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9000" y="1752600"/>
            <a:ext cx="304800" cy="304800"/>
          </a:xfrm>
          <a:prstGeom prst="rect">
            <a:avLst/>
          </a:prstGeom>
        </p:spPr>
      </p:pic>
      <p:pic>
        <p:nvPicPr>
          <p:cNvPr id="68" name="Graphic 68" descr="Policy search"/>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4700" y="1752600"/>
            <a:ext cx="304800" cy="304800"/>
          </a:xfrm>
          <a:prstGeom prst="rect">
            <a:avLst/>
          </a:prstGeom>
        </p:spPr>
      </p:pic>
      <p:pic>
        <p:nvPicPr>
          <p:cNvPr id="69" name="Graphic 69" descr="Customer suppor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80400" y="1752600"/>
            <a:ext cx="304800" cy="304800"/>
          </a:xfrm>
          <a:prstGeom prst="rect">
            <a:avLst/>
          </a:prstGeom>
        </p:spPr>
      </p:pic>
      <p:pic>
        <p:nvPicPr>
          <p:cNvPr id="70" name="Graphic 70" descr="Healthcar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9000" y="2971800"/>
            <a:ext cx="304800" cy="304800"/>
          </a:xfrm>
          <a:prstGeom prst="rect">
            <a:avLst/>
          </a:prstGeom>
        </p:spPr>
      </p:pic>
      <p:pic>
        <p:nvPicPr>
          <p:cNvPr id="71" name="Graphic 71" descr="Insuranc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84700" y="2971800"/>
            <a:ext cx="304800" cy="304800"/>
          </a:xfrm>
          <a:prstGeom prst="rect">
            <a:avLst/>
          </a:prstGeom>
        </p:spPr>
      </p:pic>
      <p:pic>
        <p:nvPicPr>
          <p:cNvPr id="72" name="Graphic 72" descr="Banki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80400" y="2971800"/>
            <a:ext cx="304800" cy="304800"/>
          </a:xfrm>
          <a:prstGeom prst="rect">
            <a:avLst/>
          </a:prstGeom>
        </p:spPr>
      </p:pic>
      <p:pic>
        <p:nvPicPr>
          <p:cNvPr id="73" name="Graphic 73" descr="Legal"/>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9000" y="4191000"/>
            <a:ext cx="304800" cy="304800"/>
          </a:xfrm>
          <a:prstGeom prst="rect">
            <a:avLst/>
          </a:prstGeom>
        </p:spPr>
      </p:pic>
      <p:pic>
        <p:nvPicPr>
          <p:cNvPr id="74" name="Graphic 74" descr="Engineeri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584700" y="4191000"/>
            <a:ext cx="304800" cy="304800"/>
          </a:xfrm>
          <a:prstGeom prst="rect">
            <a:avLst/>
          </a:prstGeom>
        </p:spPr>
      </p:pic>
      <p:pic>
        <p:nvPicPr>
          <p:cNvPr id="75" name="Graphic 75" descr="Reporti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80400" y="4191000"/>
            <a:ext cx="304800" cy="304800"/>
          </a:xfrm>
          <a:prstGeom prst="rect">
            <a:avLst/>
          </a:prstGeom>
        </p:spPr>
      </p:pic>
    </p:spTree>
    <p:extLst>
      <p:ext uri="{BB962C8B-B14F-4D97-AF65-F5344CB8AC3E}">
        <p14:creationId xmlns:p14="http://schemas.microsoft.com/office/powerpoint/2010/main" val="3437440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828800" y="-2286000"/>
            <a:ext cx="9144000" cy="91440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2286000"/>
            <a:ext cx="1554480" cy="54864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800" b="1">
                <a:solidFill>
                  <a:srgbClr val="2DD4BF"/>
                </a:solidFill>
                <a:latin typeface="Segoe UI"/>
              </a:rPr>
              <a:t>PART II</a:t>
            </a:r>
          </a:p>
        </p:txBody>
      </p:sp>
      <p:sp>
        <p:nvSpPr>
          <p:cNvPr id="5" name="TextBox 4"/>
          <p:cNvSpPr txBox="1"/>
          <p:nvPr/>
        </p:nvSpPr>
        <p:spPr>
          <a:xfrm>
            <a:off x="777240" y="3017520"/>
            <a:ext cx="10058400" cy="1005840"/>
          </a:xfrm>
          <a:prstGeom prst="rect">
            <a:avLst/>
          </a:prstGeom>
          <a:noFill/>
        </p:spPr>
        <p:txBody>
          <a:bodyPr wrap="square" lIns="0" tIns="0" rIns="0" bIns="0" anchor="t">
            <a:spAutoFit/>
          </a:bodyPr>
          <a:lstStyle/>
          <a:p>
            <a:pPr algn="l"/>
            <a:r>
              <a:rPr sz="3600" b="1" i="0">
                <a:solidFill>
                  <a:srgbClr val="F1F5F9"/>
                </a:solidFill>
                <a:latin typeface="Segoe UI"/>
              </a:rPr>
              <a:t>How RAG Works</a:t>
            </a:r>
          </a:p>
        </p:txBody>
      </p:sp>
      <p:sp>
        <p:nvSpPr>
          <p:cNvPr id="6" name="TextBox 5"/>
          <p:cNvSpPr txBox="1"/>
          <p:nvPr/>
        </p:nvSpPr>
        <p:spPr>
          <a:xfrm>
            <a:off x="822960" y="3977639"/>
            <a:ext cx="9418320" cy="640080"/>
          </a:xfrm>
          <a:prstGeom prst="rect">
            <a:avLst/>
          </a:prstGeom>
          <a:noFill/>
        </p:spPr>
        <p:txBody>
          <a:bodyPr wrap="square" lIns="0" tIns="0" rIns="0" bIns="0" anchor="t">
            <a:spAutoFit/>
          </a:bodyPr>
          <a:lstStyle/>
          <a:p>
            <a:pPr algn="l"/>
            <a:r>
              <a:rPr sz="1500" b="0" i="0">
                <a:solidFill>
                  <a:srgbClr val="94A3B8"/>
                </a:solidFill>
                <a:latin typeface="Segoe UI"/>
              </a:rPr>
              <a:t>Architecture, indexing, chunking, embeddings, retrieval, and prompting — the engineering underneath the concept</a:t>
            </a:r>
          </a:p>
        </p:txBody>
      </p:sp>
      <p:sp>
        <p:nvSpPr>
          <p:cNvPr id="7" name="TextBox 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15</a:t>
            </a:r>
          </a:p>
        </p:txBody>
      </p:sp>
    </p:spTree>
    <p:extLst>
      <p:ext uri="{BB962C8B-B14F-4D97-AF65-F5344CB8AC3E}">
        <p14:creationId xmlns:p14="http://schemas.microsoft.com/office/powerpoint/2010/main" val="1218166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COMPLETE RAG ARCHITECTURE</a:t>
            </a:r>
          </a:p>
        </p:txBody>
      </p:sp>
      <p:sp>
        <p:nvSpPr>
          <p:cNvPr id="4" name="TextBox 3"/>
          <p:cNvSpPr txBox="1"/>
          <p:nvPr/>
        </p:nvSpPr>
        <p:spPr>
          <a:xfrm>
            <a:off x="640080" y="566928"/>
            <a:ext cx="10881360" cy="384721"/>
          </a:xfrm>
          <a:prstGeom prst="rect">
            <a:avLst/>
          </a:prstGeom>
          <a:noFill/>
        </p:spPr>
        <p:txBody>
          <a:bodyPr wrap="square" lIns="0" tIns="0" rIns="0" bIns="0" anchor="t">
            <a:spAutoFit/>
          </a:bodyPr>
          <a:lstStyle/>
          <a:p>
            <a:pPr algn="l"/>
            <a:r>
              <a:rPr sz="2500" b="1" i="0">
                <a:solidFill>
                  <a:srgbClr val="F1F5F9"/>
                </a:solidFill>
                <a:latin typeface="Segoe UI"/>
              </a:rPr>
              <a:t>The reference architecture: ingestion + retrieval</a:t>
            </a:r>
          </a:p>
        </p:txBody>
      </p:sp>
      <p:cxnSp>
        <p:nvCxnSpPr>
          <p:cNvPr id="101" name="Connector 101"/>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2" name="Label 102"/>
          <p:cNvSpPr txBox="1"/>
          <p:nvPr/>
        </p:nvSpPr>
        <p:spPr>
          <a:xfrm>
            <a:off x="635000" y="1270000"/>
            <a:ext cx="5994400" cy="169277"/>
          </a:xfrm>
          <a:prstGeom prst="rect">
            <a:avLst/>
          </a:prstGeom>
          <a:noFill/>
        </p:spPr>
        <p:txBody>
          <a:bodyPr wrap="square" lIns="0" tIns="0" rIns="0" bIns="0" anchor="t">
            <a:spAutoFit/>
          </a:bodyPr>
          <a:lstStyle/>
          <a:p>
            <a:pPr algn="l"/>
            <a:r>
              <a:rPr sz="1100" b="1" i="0">
                <a:solidFill>
                  <a:srgbClr val="2DD4BF"/>
                </a:solidFill>
                <a:latin typeface="Segoe UI"/>
              </a:rPr>
              <a:t>1  ·  INGESTION  (offline — runs once per document)</a:t>
            </a:r>
          </a:p>
        </p:txBody>
      </p:sp>
      <p:sp>
        <p:nvSpPr>
          <p:cNvPr id="110" name="Label 110"/>
          <p:cNvSpPr txBox="1"/>
          <p:nvPr/>
        </p:nvSpPr>
        <p:spPr>
          <a:xfrm>
            <a:off x="635000" y="3352800"/>
            <a:ext cx="5994400" cy="169277"/>
          </a:xfrm>
          <a:prstGeom prst="rect">
            <a:avLst/>
          </a:prstGeom>
          <a:noFill/>
        </p:spPr>
        <p:txBody>
          <a:bodyPr wrap="square" lIns="0" tIns="0" rIns="0" bIns="0" anchor="t">
            <a:spAutoFit/>
          </a:bodyPr>
          <a:lstStyle/>
          <a:p>
            <a:pPr algn="l"/>
            <a:r>
              <a:rPr sz="1100" b="1" i="0">
                <a:solidFill>
                  <a:srgbClr val="818CF8"/>
                </a:solidFill>
                <a:latin typeface="Segoe UI"/>
              </a:rPr>
              <a:t>2  ·  RETRIEVAL  (online — runs on every question)</a:t>
            </a:r>
          </a:p>
        </p:txBody>
      </p:sp>
      <p:cxnSp>
        <p:nvCxnSpPr>
          <p:cNvPr id="112" name="Connector 112"/>
          <p:cNvCxnSpPr/>
          <p:nvPr/>
        </p:nvCxnSpPr>
        <p:spPr>
          <a:xfrm>
            <a:off x="2140080" y="4953000"/>
            <a:ext cx="382368"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0" name="Connector 120"/>
          <p:cNvCxnSpPr/>
          <p:nvPr/>
        </p:nvCxnSpPr>
        <p:spPr>
          <a:xfrm>
            <a:off x="9669552" y="4953000"/>
            <a:ext cx="382368"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2" name="Connector 122"/>
          <p:cNvCxnSpPr>
            <a:cxnSpLocks/>
          </p:cNvCxnSpPr>
          <p:nvPr/>
        </p:nvCxnSpPr>
        <p:spPr>
          <a:xfrm rot="5400000">
            <a:off x="6738458" y="3231734"/>
            <a:ext cx="836676" cy="748608"/>
          </a:xfrm>
          <a:prstGeom prst="curvedConnector3">
            <a:avLst>
              <a:gd name="adj1" fmla="val 50000"/>
            </a:avLst>
          </a:prstGeom>
          <a:ln w="19050">
            <a:solidFill>
              <a:srgbClr val="2DD4BF"/>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7" name="TextBox 26"/>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16</a:t>
            </a:r>
          </a:p>
        </p:txBody>
      </p:sp>
      <p:sp>
        <p:nvSpPr>
          <p:cNvPr id="200" name="MiniLabel"/>
          <p:cNvSpPr/>
          <p:nvPr/>
        </p:nvSpPr>
        <p:spPr>
          <a:xfrm>
            <a:off x="4597400" y="1524000"/>
            <a:ext cx="1270000" cy="177800"/>
          </a:xfrm>
          <a:prstGeom prst="rect">
            <a:avLst/>
          </a:prstGeom>
          <a:noFill/>
        </p:spPr>
        <p:txBody>
          <a:bodyPr wrap="square" lIns="45720" tIns="27432" rIns="45720" bIns="27432" anchor="ctr">
            <a:noAutofit/>
          </a:bodyPr>
          <a:lstStyle/>
          <a:p>
            <a:pPr algn="ctr"/>
            <a:r>
              <a:rPr sz="1000" b="1">
                <a:solidFill>
                  <a:srgbClr val="94A3B8"/>
                </a:solidFill>
                <a:latin typeface="Segoe UI"/>
              </a:rPr>
              <a:t>2,000 chunks</a:t>
            </a:r>
          </a:p>
        </p:txBody>
      </p:sp>
      <p:sp>
        <p:nvSpPr>
          <p:cNvPr id="201" name="MiniLabel"/>
          <p:cNvSpPr/>
          <p:nvPr/>
        </p:nvSpPr>
        <p:spPr>
          <a:xfrm>
            <a:off x="7213600" y="1524000"/>
            <a:ext cx="1270000" cy="177800"/>
          </a:xfrm>
          <a:prstGeom prst="rect">
            <a:avLst/>
          </a:prstGeom>
          <a:noFill/>
        </p:spPr>
        <p:txBody>
          <a:bodyPr wrap="square" lIns="45720" tIns="27432" rIns="45720" bIns="27432" anchor="ctr">
            <a:noAutofit/>
          </a:bodyPr>
          <a:lstStyle/>
          <a:p>
            <a:pPr algn="ctr"/>
            <a:r>
              <a:rPr sz="1000" b="1">
                <a:solidFill>
                  <a:srgbClr val="94A3B8"/>
                </a:solidFill>
                <a:latin typeface="Segoe UI"/>
              </a:rPr>
              <a:t>2,000 embeddings</a:t>
            </a:r>
          </a:p>
        </p:txBody>
      </p:sp>
      <p:sp>
        <p:nvSpPr>
          <p:cNvPr id="202" name="Node SourceDocs"/>
          <p:cNvSpPr/>
          <p:nvPr/>
        </p:nvSpPr>
        <p:spPr>
          <a:xfrm>
            <a:off x="635000" y="2019300"/>
            <a:ext cx="1524000" cy="8128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150" b="1">
                <a:solidFill>
                  <a:srgbClr val="F1F5F9"/>
                </a:solidFill>
                <a:latin typeface="Segoe UI"/>
              </a:rPr>
              <a:t>Source Documents</a:t>
            </a:r>
          </a:p>
          <a:p>
            <a:pPr algn="ctr"/>
            <a:r>
              <a:rPr sz="1000">
                <a:solidFill>
                  <a:srgbClr val="94A3B8"/>
                </a:solidFill>
                <a:latin typeface="Segoe UI"/>
              </a:rPr>
              <a:t>~10M tokens</a:t>
            </a:r>
          </a:p>
        </p:txBody>
      </p:sp>
      <p:cxnSp>
        <p:nvCxnSpPr>
          <p:cNvPr id="203" name="Arrow"/>
          <p:cNvCxnSpPr/>
          <p:nvPr/>
        </p:nvCxnSpPr>
        <p:spPr>
          <a:xfrm>
            <a:off x="2159000" y="2425700"/>
            <a:ext cx="457200" cy="12700"/>
          </a:xfrm>
          <a:prstGeom prst="line">
            <a:avLst/>
          </a:prstGeom>
          <a:ln w="15875">
            <a:solidFill>
              <a:srgbClr val="64748B"/>
            </a:solidFill>
            <a:tailEnd type="triangle" w="med" len="med"/>
          </a:ln>
        </p:spPr>
      </p:cxnSp>
      <p:sp>
        <p:nvSpPr>
          <p:cNvPr id="204" name="Node Chunking"/>
          <p:cNvSpPr/>
          <p:nvPr/>
        </p:nvSpPr>
        <p:spPr>
          <a:xfrm>
            <a:off x="2616200" y="2019300"/>
            <a:ext cx="1524000" cy="812800"/>
          </a:xfrm>
          <a:prstGeom prst="roundRect">
            <a:avLst/>
          </a:prstGeom>
          <a:solidFill>
            <a:srgbClr val="4A390A"/>
          </a:solidFill>
          <a:ln w="12700">
            <a:solidFill>
              <a:srgbClr val="FBBF24"/>
            </a:solidFill>
          </a:ln>
        </p:spPr>
        <p:txBody>
          <a:bodyPr wrap="square" lIns="45720" tIns="27432" rIns="45720" bIns="27432" anchor="ctr">
            <a:noAutofit/>
          </a:bodyPr>
          <a:lstStyle/>
          <a:p>
            <a:pPr algn="ctr"/>
            <a:r>
              <a:rPr sz="1150" b="1">
                <a:solidFill>
                  <a:srgbClr val="FBBF24"/>
                </a:solidFill>
                <a:latin typeface="Segoe UI"/>
              </a:rPr>
              <a:t>Chunking</a:t>
            </a:r>
          </a:p>
          <a:p>
            <a:pPr algn="ctr"/>
            <a:r>
              <a:rPr sz="1000">
                <a:solidFill>
                  <a:srgbClr val="94A3B8"/>
                </a:solidFill>
                <a:latin typeface="Segoe UI"/>
              </a:rPr>
              <a:t>~5K tokens each</a:t>
            </a:r>
          </a:p>
        </p:txBody>
      </p:sp>
      <p:cxnSp>
        <p:nvCxnSpPr>
          <p:cNvPr id="205" name="Arrow"/>
          <p:cNvCxnSpPr/>
          <p:nvPr/>
        </p:nvCxnSpPr>
        <p:spPr>
          <a:xfrm>
            <a:off x="4140200" y="2425700"/>
            <a:ext cx="457200" cy="12700"/>
          </a:xfrm>
          <a:prstGeom prst="line">
            <a:avLst/>
          </a:prstGeom>
          <a:ln w="15875">
            <a:solidFill>
              <a:srgbClr val="64748B"/>
            </a:solidFill>
            <a:tailEnd type="triangle" w="med" len="med"/>
          </a:ln>
        </p:spPr>
      </p:cxnSp>
      <p:sp>
        <p:nvSpPr>
          <p:cNvPr id="206" name="ChunksGroup"/>
          <p:cNvSpPr/>
          <p:nvPr/>
        </p:nvSpPr>
        <p:spPr>
          <a:xfrm>
            <a:off x="4597400" y="1752600"/>
            <a:ext cx="1270000" cy="1346200"/>
          </a:xfrm>
          <a:prstGeom prst="roundRect">
            <a:avLst/>
          </a:prstGeom>
          <a:noFill/>
          <a:ln w="19050">
            <a:solidFill>
              <a:srgbClr val="64748B"/>
            </a:solidFill>
            <a:prstDash val="dash"/>
          </a:ln>
        </p:spPr>
        <p:txBody>
          <a:bodyPr/>
          <a:lstStyle/>
          <a:p>
            <a:endParaRPr/>
          </a:p>
        </p:txBody>
      </p:sp>
      <p:sp>
        <p:nvSpPr>
          <p:cNvPr id="207" name="ChunkBox"/>
          <p:cNvSpPr/>
          <p:nvPr/>
        </p:nvSpPr>
        <p:spPr>
          <a:xfrm>
            <a:off x="4749800" y="1905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sp>
        <p:nvSpPr>
          <p:cNvPr id="208" name="ChunkBox"/>
          <p:cNvSpPr/>
          <p:nvPr/>
        </p:nvSpPr>
        <p:spPr>
          <a:xfrm>
            <a:off x="4749800" y="2286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sp>
        <p:nvSpPr>
          <p:cNvPr id="209" name="ChunkBox"/>
          <p:cNvSpPr/>
          <p:nvPr/>
        </p:nvSpPr>
        <p:spPr>
          <a:xfrm>
            <a:off x="4749800" y="2667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cxnSp>
        <p:nvCxnSpPr>
          <p:cNvPr id="210" name="Arrow"/>
          <p:cNvCxnSpPr/>
          <p:nvPr/>
        </p:nvCxnSpPr>
        <p:spPr>
          <a:xfrm>
            <a:off x="5867400" y="2425700"/>
            <a:ext cx="457200" cy="12700"/>
          </a:xfrm>
          <a:prstGeom prst="line">
            <a:avLst/>
          </a:prstGeom>
          <a:ln w="15875">
            <a:solidFill>
              <a:srgbClr val="64748B"/>
            </a:solidFill>
            <a:tailEnd type="triangle" w="med" len="med"/>
          </a:ln>
        </p:spPr>
      </p:cxnSp>
      <p:sp>
        <p:nvSpPr>
          <p:cNvPr id="211" name="IconBgRow1"/>
          <p:cNvSpPr/>
          <p:nvPr/>
        </p:nvSpPr>
        <p:spPr>
          <a:xfrm>
            <a:off x="6324600" y="2260600"/>
            <a:ext cx="431800" cy="330200"/>
          </a:xfrm>
          <a:prstGeom prst="ellipse">
            <a:avLst/>
          </a:prstGeom>
          <a:solidFill>
            <a:srgbClr val="35307A"/>
          </a:solidFill>
          <a:ln w="12700">
            <a:solidFill>
              <a:srgbClr val="818CF8"/>
            </a:solidFill>
          </a:ln>
        </p:spPr>
        <p:txBody>
          <a:bodyPr/>
          <a:lstStyle/>
          <a:p>
            <a:endParaRPr/>
          </a:p>
        </p:txBody>
      </p:sp>
      <p:cxnSp>
        <p:nvCxnSpPr>
          <p:cNvPr id="212" name="Arrow"/>
          <p:cNvCxnSpPr/>
          <p:nvPr/>
        </p:nvCxnSpPr>
        <p:spPr>
          <a:xfrm>
            <a:off x="6756400" y="2425700"/>
            <a:ext cx="457200" cy="12700"/>
          </a:xfrm>
          <a:prstGeom prst="line">
            <a:avLst/>
          </a:prstGeom>
          <a:ln w="15875">
            <a:solidFill>
              <a:srgbClr val="64748B"/>
            </a:solidFill>
            <a:tailEnd type="triangle" w="med" len="med"/>
          </a:ln>
        </p:spPr>
      </p:cxnSp>
      <p:sp>
        <p:nvSpPr>
          <p:cNvPr id="213" name="VectorGroup"/>
          <p:cNvSpPr/>
          <p:nvPr/>
        </p:nvSpPr>
        <p:spPr>
          <a:xfrm>
            <a:off x="7245350" y="1762760"/>
            <a:ext cx="1270000" cy="1346200"/>
          </a:xfrm>
          <a:prstGeom prst="roundRect">
            <a:avLst/>
          </a:prstGeom>
          <a:noFill/>
          <a:ln w="19050">
            <a:solidFill>
              <a:srgbClr val="2DD4BF"/>
            </a:solidFill>
            <a:prstDash val="dash"/>
          </a:ln>
        </p:spPr>
        <p:txBody>
          <a:bodyPr/>
          <a:lstStyle/>
          <a:p>
            <a:endParaRPr/>
          </a:p>
        </p:txBody>
      </p:sp>
      <p:sp>
        <p:nvSpPr>
          <p:cNvPr id="214" name="VectorBoxSmall"/>
          <p:cNvSpPr/>
          <p:nvPr/>
        </p:nvSpPr>
        <p:spPr>
          <a:xfrm>
            <a:off x="7366000" y="1905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850">
                <a:solidFill>
                  <a:srgbClr val="94A3B8"/>
                </a:solidFill>
                <a:latin typeface="Segoe UI"/>
              </a:rPr>
              <a:t>[0.1, 0.8, ...]</a:t>
            </a:r>
          </a:p>
        </p:txBody>
      </p:sp>
      <p:sp>
        <p:nvSpPr>
          <p:cNvPr id="215" name="VectorBoxSmall"/>
          <p:cNvSpPr/>
          <p:nvPr/>
        </p:nvSpPr>
        <p:spPr>
          <a:xfrm>
            <a:off x="7366000" y="2286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850">
                <a:solidFill>
                  <a:srgbClr val="94A3B8"/>
                </a:solidFill>
                <a:latin typeface="Segoe UI"/>
              </a:rPr>
              <a:t>[0.1, 0.8, ...]</a:t>
            </a:r>
          </a:p>
        </p:txBody>
      </p:sp>
      <p:sp>
        <p:nvSpPr>
          <p:cNvPr id="216" name="VectorBoxSmall"/>
          <p:cNvSpPr/>
          <p:nvPr/>
        </p:nvSpPr>
        <p:spPr>
          <a:xfrm>
            <a:off x="7366000" y="2667000"/>
            <a:ext cx="965200" cy="2794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850">
                <a:solidFill>
                  <a:srgbClr val="94A3B8"/>
                </a:solidFill>
                <a:latin typeface="Segoe UI"/>
              </a:rPr>
              <a:t>[0.1, 0.8, ...]</a:t>
            </a:r>
          </a:p>
        </p:txBody>
      </p:sp>
      <p:cxnSp>
        <p:nvCxnSpPr>
          <p:cNvPr id="217" name="Arrow"/>
          <p:cNvCxnSpPr/>
          <p:nvPr/>
        </p:nvCxnSpPr>
        <p:spPr>
          <a:xfrm>
            <a:off x="8483600" y="2425700"/>
            <a:ext cx="457200" cy="12700"/>
          </a:xfrm>
          <a:prstGeom prst="line">
            <a:avLst/>
          </a:prstGeom>
          <a:ln w="15875">
            <a:solidFill>
              <a:srgbClr val="64748B"/>
            </a:solidFill>
            <a:tailEnd type="triangle" w="med" len="med"/>
          </a:ln>
        </p:spPr>
      </p:cxnSp>
      <p:sp>
        <p:nvSpPr>
          <p:cNvPr id="218" name="Node VectorDB"/>
          <p:cNvSpPr/>
          <p:nvPr/>
        </p:nvSpPr>
        <p:spPr>
          <a:xfrm>
            <a:off x="8940800" y="2019300"/>
            <a:ext cx="1524000" cy="812800"/>
          </a:xfrm>
          <a:prstGeom prst="roundRect">
            <a:avLst/>
          </a:prstGeom>
          <a:solidFill>
            <a:srgbClr val="0F3D38"/>
          </a:solidFill>
          <a:ln w="12700">
            <a:solidFill>
              <a:srgbClr val="2DD4BF"/>
            </a:solidFill>
          </a:ln>
        </p:spPr>
        <p:txBody>
          <a:bodyPr wrap="square" lIns="45720" tIns="27432" rIns="45720" bIns="27432" anchor="ctr">
            <a:noAutofit/>
          </a:bodyPr>
          <a:lstStyle/>
          <a:p>
            <a:pPr algn="ctr"/>
            <a:r>
              <a:rPr sz="1150" b="1">
                <a:solidFill>
                  <a:srgbClr val="2DD4BF"/>
                </a:solidFill>
                <a:latin typeface="Segoe UI"/>
              </a:rPr>
              <a:t>Vector DB</a:t>
            </a:r>
          </a:p>
          <a:p>
            <a:pPr algn="ctr"/>
            <a:r>
              <a:rPr sz="1000">
                <a:solidFill>
                  <a:srgbClr val="94A3B8"/>
                </a:solidFill>
                <a:latin typeface="Segoe UI"/>
              </a:rPr>
              <a:t>stored, indexed</a:t>
            </a:r>
          </a:p>
        </p:txBody>
      </p:sp>
      <p:cxnSp>
        <p:nvCxnSpPr>
          <p:cNvPr id="219" name="SameStoreArrow"/>
          <p:cNvCxnSpPr/>
          <p:nvPr/>
        </p:nvCxnSpPr>
        <p:spPr>
          <a:xfrm flipH="1">
            <a:off x="6718300" y="2768600"/>
            <a:ext cx="2933700" cy="1193800"/>
          </a:xfrm>
          <a:prstGeom prst="line">
            <a:avLst/>
          </a:prstGeom>
          <a:ln w="15875">
            <a:prstDash val="dash"/>
            <a:tailEnd type="triangle" w="med" len="med"/>
          </a:ln>
        </p:spPr>
      </p:cxnSp>
      <p:sp>
        <p:nvSpPr>
          <p:cNvPr id="220" name="SameStoreLabel"/>
          <p:cNvSpPr/>
          <p:nvPr/>
        </p:nvSpPr>
        <p:spPr>
          <a:xfrm>
            <a:off x="7620000" y="3276600"/>
            <a:ext cx="1905000" cy="228600"/>
          </a:xfrm>
          <a:prstGeom prst="rect">
            <a:avLst/>
          </a:prstGeom>
          <a:noFill/>
        </p:spPr>
        <p:txBody>
          <a:bodyPr wrap="square" lIns="45720" tIns="27432" rIns="45720" bIns="27432" anchor="ctr">
            <a:noAutofit/>
          </a:bodyPr>
          <a:lstStyle/>
          <a:p>
            <a:pPr algn="l"/>
            <a:r>
              <a:rPr sz="900" i="1">
                <a:solidFill>
                  <a:srgbClr val="2DD4BF"/>
                </a:solidFill>
                <a:latin typeface="Segoe UI"/>
              </a:rPr>
              <a:t>same vector store</a:t>
            </a:r>
          </a:p>
        </p:txBody>
      </p:sp>
      <p:sp>
        <p:nvSpPr>
          <p:cNvPr id="221" name="IconBgUser"/>
          <p:cNvSpPr/>
          <p:nvPr/>
        </p:nvSpPr>
        <p:spPr>
          <a:xfrm>
            <a:off x="635000" y="4470400"/>
            <a:ext cx="508000" cy="508000"/>
          </a:xfrm>
          <a:prstGeom prst="ellipse">
            <a:avLst/>
          </a:prstGeom>
          <a:solidFill>
            <a:srgbClr val="1B2640"/>
          </a:solidFill>
          <a:ln w="12700">
            <a:solidFill>
              <a:srgbClr val="2A3752"/>
            </a:solidFill>
          </a:ln>
        </p:spPr>
        <p:txBody>
          <a:bodyPr/>
          <a:lstStyle/>
          <a:p>
            <a:endParaRPr/>
          </a:p>
        </p:txBody>
      </p:sp>
      <p:cxnSp>
        <p:nvCxnSpPr>
          <p:cNvPr id="222" name="Arrow"/>
          <p:cNvCxnSpPr/>
          <p:nvPr/>
        </p:nvCxnSpPr>
        <p:spPr>
          <a:xfrm>
            <a:off x="1143000" y="4724400"/>
            <a:ext cx="457200" cy="12700"/>
          </a:xfrm>
          <a:prstGeom prst="line">
            <a:avLst/>
          </a:prstGeom>
          <a:ln w="15875">
            <a:solidFill>
              <a:srgbClr val="64748B"/>
            </a:solidFill>
            <a:tailEnd type="triangle" w="med" len="med"/>
          </a:ln>
        </p:spPr>
      </p:cxnSp>
      <p:sp>
        <p:nvSpPr>
          <p:cNvPr id="223" name="Node Query"/>
          <p:cNvSpPr/>
          <p:nvPr/>
        </p:nvSpPr>
        <p:spPr>
          <a:xfrm>
            <a:off x="1600200" y="4318000"/>
            <a:ext cx="1397000" cy="8128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150" b="1">
                <a:solidFill>
                  <a:srgbClr val="F1F5F9"/>
                </a:solidFill>
                <a:latin typeface="Segoe UI"/>
              </a:rPr>
              <a:t>User Query</a:t>
            </a:r>
          </a:p>
        </p:txBody>
      </p:sp>
      <p:cxnSp>
        <p:nvCxnSpPr>
          <p:cNvPr id="224" name="Arrow"/>
          <p:cNvCxnSpPr/>
          <p:nvPr/>
        </p:nvCxnSpPr>
        <p:spPr>
          <a:xfrm>
            <a:off x="2997200" y="4724400"/>
            <a:ext cx="457200" cy="12700"/>
          </a:xfrm>
          <a:prstGeom prst="line">
            <a:avLst/>
          </a:prstGeom>
          <a:ln w="15875">
            <a:solidFill>
              <a:srgbClr val="64748B"/>
            </a:solidFill>
            <a:tailEnd type="triangle" w="med" len="med"/>
          </a:ln>
        </p:spPr>
      </p:cxnSp>
      <p:sp>
        <p:nvSpPr>
          <p:cNvPr id="225" name="IconBgRow2"/>
          <p:cNvSpPr/>
          <p:nvPr/>
        </p:nvSpPr>
        <p:spPr>
          <a:xfrm>
            <a:off x="3454400" y="4559300"/>
            <a:ext cx="431800" cy="330200"/>
          </a:xfrm>
          <a:prstGeom prst="ellipse">
            <a:avLst/>
          </a:prstGeom>
          <a:solidFill>
            <a:srgbClr val="35307A"/>
          </a:solidFill>
          <a:ln w="12700">
            <a:solidFill>
              <a:srgbClr val="818CF8"/>
            </a:solidFill>
          </a:ln>
        </p:spPr>
        <p:txBody>
          <a:bodyPr/>
          <a:lstStyle/>
          <a:p>
            <a:endParaRPr/>
          </a:p>
        </p:txBody>
      </p:sp>
      <p:cxnSp>
        <p:nvCxnSpPr>
          <p:cNvPr id="226" name="Arrow"/>
          <p:cNvCxnSpPr/>
          <p:nvPr/>
        </p:nvCxnSpPr>
        <p:spPr>
          <a:xfrm>
            <a:off x="3886200" y="4724400"/>
            <a:ext cx="457200" cy="12700"/>
          </a:xfrm>
          <a:prstGeom prst="line">
            <a:avLst/>
          </a:prstGeom>
          <a:ln w="15875">
            <a:solidFill>
              <a:srgbClr val="64748B"/>
            </a:solidFill>
            <a:tailEnd type="triangle" w="med" len="med"/>
          </a:ln>
        </p:spPr>
      </p:cxnSp>
      <p:sp>
        <p:nvSpPr>
          <p:cNvPr id="227" name="Node QueryVector"/>
          <p:cNvSpPr/>
          <p:nvPr/>
        </p:nvSpPr>
        <p:spPr>
          <a:xfrm>
            <a:off x="4343400" y="4318000"/>
            <a:ext cx="1270000" cy="812800"/>
          </a:xfrm>
          <a:prstGeom prst="roundRect">
            <a:avLst/>
          </a:prstGeom>
          <a:solidFill>
            <a:srgbClr val="35307A"/>
          </a:solidFill>
          <a:ln w="12700">
            <a:solidFill>
              <a:srgbClr val="818CF8"/>
            </a:solidFill>
          </a:ln>
        </p:spPr>
        <p:txBody>
          <a:bodyPr wrap="square" lIns="45720" tIns="27432" rIns="45720" bIns="27432" anchor="ctr">
            <a:noAutofit/>
          </a:bodyPr>
          <a:lstStyle/>
          <a:p>
            <a:pPr algn="ctr"/>
            <a:r>
              <a:rPr sz="1000" b="1">
                <a:solidFill>
                  <a:srgbClr val="818CF8"/>
                </a:solidFill>
                <a:latin typeface="Segoe UI"/>
              </a:rPr>
              <a:t>Query Vector</a:t>
            </a:r>
          </a:p>
          <a:p>
            <a:pPr algn="ctr"/>
            <a:r>
              <a:rPr sz="850">
                <a:solidFill>
                  <a:srgbClr val="94A3B8"/>
                </a:solidFill>
                <a:latin typeface="Segoe UI"/>
              </a:rPr>
              <a:t>[0.1, 0.8, ...]</a:t>
            </a:r>
          </a:p>
        </p:txBody>
      </p:sp>
      <p:cxnSp>
        <p:nvCxnSpPr>
          <p:cNvPr id="228" name="Arrow"/>
          <p:cNvCxnSpPr/>
          <p:nvPr/>
        </p:nvCxnSpPr>
        <p:spPr>
          <a:xfrm>
            <a:off x="5613400" y="4724400"/>
            <a:ext cx="457200" cy="12700"/>
          </a:xfrm>
          <a:prstGeom prst="line">
            <a:avLst/>
          </a:prstGeom>
          <a:ln w="15875">
            <a:solidFill>
              <a:srgbClr val="64748B"/>
            </a:solidFill>
            <a:tailEnd type="triangle" w="med" len="med"/>
          </a:ln>
        </p:spPr>
      </p:cxnSp>
      <p:sp>
        <p:nvSpPr>
          <p:cNvPr id="229" name="Node Retriever"/>
          <p:cNvSpPr/>
          <p:nvPr/>
        </p:nvSpPr>
        <p:spPr>
          <a:xfrm>
            <a:off x="6070600" y="4025900"/>
            <a:ext cx="1397000" cy="1397000"/>
          </a:xfrm>
          <a:prstGeom prst="diamond">
            <a:avLst/>
          </a:prstGeom>
          <a:solidFill>
            <a:srgbClr val="35307A"/>
          </a:solidFill>
          <a:ln w="12700">
            <a:solidFill>
              <a:srgbClr val="818CF8"/>
            </a:solidFill>
          </a:ln>
        </p:spPr>
        <p:txBody>
          <a:bodyPr wrap="none" lIns="45720" tIns="27432" rIns="45720" bIns="27432" anchor="ctr">
            <a:noAutofit/>
          </a:bodyPr>
          <a:lstStyle/>
          <a:p>
            <a:pPr algn="ctr"/>
            <a:r>
              <a:rPr sz="1150" b="1">
                <a:solidFill>
                  <a:srgbClr val="F1F5F9"/>
                </a:solidFill>
                <a:latin typeface="Segoe UI"/>
              </a:rPr>
              <a:t>Retriever</a:t>
            </a:r>
          </a:p>
        </p:txBody>
      </p:sp>
      <p:cxnSp>
        <p:nvCxnSpPr>
          <p:cNvPr id="230" name="Arrow"/>
          <p:cNvCxnSpPr/>
          <p:nvPr/>
        </p:nvCxnSpPr>
        <p:spPr>
          <a:xfrm>
            <a:off x="7467600" y="4724400"/>
            <a:ext cx="457200" cy="12700"/>
          </a:xfrm>
          <a:prstGeom prst="line">
            <a:avLst/>
          </a:prstGeom>
          <a:ln w="15875">
            <a:solidFill>
              <a:srgbClr val="64748B"/>
            </a:solidFill>
            <a:tailEnd type="triangle" w="med" len="med"/>
          </a:ln>
        </p:spPr>
      </p:cxnSp>
      <p:sp>
        <p:nvSpPr>
          <p:cNvPr id="231" name="MiniLabel"/>
          <p:cNvSpPr/>
          <p:nvPr/>
        </p:nvSpPr>
        <p:spPr>
          <a:xfrm>
            <a:off x="7924800" y="3606800"/>
            <a:ext cx="1270000" cy="177800"/>
          </a:xfrm>
          <a:prstGeom prst="rect">
            <a:avLst/>
          </a:prstGeom>
          <a:noFill/>
        </p:spPr>
        <p:txBody>
          <a:bodyPr wrap="square" lIns="45720" tIns="27432" rIns="45720" bIns="27432" anchor="ctr">
            <a:noAutofit/>
          </a:bodyPr>
          <a:lstStyle/>
          <a:p>
            <a:pPr algn="ctr"/>
            <a:r>
              <a:rPr sz="1000" b="1">
                <a:solidFill>
                  <a:srgbClr val="94A3B8"/>
                </a:solidFill>
                <a:latin typeface="Segoe UI"/>
              </a:rPr>
              <a:t>top-3 chunks</a:t>
            </a:r>
          </a:p>
        </p:txBody>
      </p:sp>
      <p:sp>
        <p:nvSpPr>
          <p:cNvPr id="232" name="ChunksGroup2"/>
          <p:cNvSpPr/>
          <p:nvPr/>
        </p:nvSpPr>
        <p:spPr>
          <a:xfrm>
            <a:off x="7924800" y="3835400"/>
            <a:ext cx="1270000" cy="1778000"/>
          </a:xfrm>
          <a:prstGeom prst="roundRect">
            <a:avLst/>
          </a:prstGeom>
          <a:noFill/>
          <a:ln w="19050">
            <a:solidFill>
              <a:srgbClr val="64748B"/>
            </a:solidFill>
            <a:prstDash val="dash"/>
          </a:ln>
        </p:spPr>
        <p:txBody>
          <a:bodyPr/>
          <a:lstStyle/>
          <a:p>
            <a:endParaRPr/>
          </a:p>
        </p:txBody>
      </p:sp>
      <p:sp>
        <p:nvSpPr>
          <p:cNvPr id="233" name="ChunkBox2"/>
          <p:cNvSpPr/>
          <p:nvPr/>
        </p:nvSpPr>
        <p:spPr>
          <a:xfrm>
            <a:off x="8077200" y="4102100"/>
            <a:ext cx="965200" cy="3302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sp>
        <p:nvSpPr>
          <p:cNvPr id="234" name="ChunkBox2"/>
          <p:cNvSpPr/>
          <p:nvPr/>
        </p:nvSpPr>
        <p:spPr>
          <a:xfrm>
            <a:off x="8077200" y="4559300"/>
            <a:ext cx="965200" cy="3302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sp>
        <p:nvSpPr>
          <p:cNvPr id="235" name="ChunkBox2"/>
          <p:cNvSpPr/>
          <p:nvPr/>
        </p:nvSpPr>
        <p:spPr>
          <a:xfrm>
            <a:off x="8077200" y="5016500"/>
            <a:ext cx="965200" cy="330200"/>
          </a:xfrm>
          <a:prstGeom prst="roundRect">
            <a:avLst/>
          </a:prstGeom>
          <a:solidFill>
            <a:srgbClr val="1B2640"/>
          </a:solidFill>
          <a:ln w="12700">
            <a:solidFill>
              <a:srgbClr val="2A3752"/>
            </a:solidFill>
          </a:ln>
        </p:spPr>
        <p:txBody>
          <a:bodyPr wrap="square" lIns="45720" tIns="27432" rIns="45720" bIns="27432" anchor="ctr">
            <a:noAutofit/>
          </a:bodyPr>
          <a:lstStyle/>
          <a:p>
            <a:pPr algn="ctr"/>
            <a:r>
              <a:rPr sz="1000">
                <a:solidFill>
                  <a:srgbClr val="F1F5F9"/>
                </a:solidFill>
                <a:latin typeface="Segoe UI"/>
              </a:rPr>
              <a:t>Chunk</a:t>
            </a:r>
          </a:p>
        </p:txBody>
      </p:sp>
      <p:cxnSp>
        <p:nvCxnSpPr>
          <p:cNvPr id="236" name="Arrow"/>
          <p:cNvCxnSpPr/>
          <p:nvPr/>
        </p:nvCxnSpPr>
        <p:spPr>
          <a:xfrm>
            <a:off x="9194800" y="4724400"/>
            <a:ext cx="457200" cy="12700"/>
          </a:xfrm>
          <a:prstGeom prst="line">
            <a:avLst/>
          </a:prstGeom>
          <a:ln w="15875">
            <a:solidFill>
              <a:srgbClr val="64748B"/>
            </a:solidFill>
            <a:tailEnd type="triangle" w="med" len="med"/>
          </a:ln>
        </p:spPr>
      </p:cxnSp>
      <p:sp>
        <p:nvSpPr>
          <p:cNvPr id="237" name="PromptLabel"/>
          <p:cNvSpPr/>
          <p:nvPr/>
        </p:nvSpPr>
        <p:spPr>
          <a:xfrm>
            <a:off x="9652000" y="3606800"/>
            <a:ext cx="1905000" cy="177800"/>
          </a:xfrm>
          <a:prstGeom prst="rect">
            <a:avLst/>
          </a:prstGeom>
          <a:noFill/>
        </p:spPr>
        <p:txBody>
          <a:bodyPr wrap="square" lIns="45720" tIns="27432" rIns="45720" bIns="27432" anchor="ctr">
            <a:noAutofit/>
          </a:bodyPr>
          <a:lstStyle/>
          <a:p>
            <a:pPr algn="ctr"/>
            <a:r>
              <a:rPr sz="1000" b="1">
                <a:solidFill>
                  <a:srgbClr val="94A3B8"/>
                </a:solidFill>
                <a:latin typeface="Segoe UI"/>
              </a:rPr>
              <a:t>prompt sent to LLM</a:t>
            </a:r>
          </a:p>
        </p:txBody>
      </p:sp>
      <p:sp>
        <p:nvSpPr>
          <p:cNvPr id="238" name="FinalPromptBox"/>
          <p:cNvSpPr/>
          <p:nvPr/>
        </p:nvSpPr>
        <p:spPr>
          <a:xfrm>
            <a:off x="9652000" y="3835400"/>
            <a:ext cx="1905000" cy="1828800"/>
          </a:xfrm>
          <a:prstGeom prst="roundRect">
            <a:avLst/>
          </a:prstGeom>
          <a:solidFill>
            <a:srgbClr val="12172E"/>
          </a:solidFill>
          <a:ln w="12700">
            <a:prstDash val="dash"/>
          </a:ln>
        </p:spPr>
        <p:txBody>
          <a:bodyPr wrap="square" lIns="45720" tIns="27432" rIns="45720" bIns="27432" anchor="t">
            <a:noAutofit/>
          </a:bodyPr>
          <a:lstStyle/>
          <a:p>
            <a:pPr algn="l"/>
            <a:r>
              <a:rPr sz="900">
                <a:solidFill>
                  <a:srgbClr val="94A3B8"/>
                </a:solidFill>
                <a:latin typeface="Consolas"/>
              </a:rPr>
              <a:t>"""</a:t>
            </a:r>
          </a:p>
          <a:p>
            <a:pPr algn="l"/>
            <a:r>
              <a:rPr sz="900" i="1">
                <a:solidFill>
                  <a:srgbClr val="4ADE80"/>
                </a:solidFill>
                <a:latin typeface="Consolas"/>
              </a:rPr>
              <a:t>Chunk 1 text</a:t>
            </a:r>
          </a:p>
          <a:p>
            <a:pPr algn="l"/>
            <a:r>
              <a:rPr sz="900" i="1">
                <a:solidFill>
                  <a:srgbClr val="4ADE80"/>
                </a:solidFill>
                <a:latin typeface="Consolas"/>
              </a:rPr>
              <a:t>Chunk 2 text</a:t>
            </a:r>
          </a:p>
          <a:p>
            <a:pPr algn="l"/>
            <a:r>
              <a:rPr sz="900" i="1">
                <a:solidFill>
                  <a:srgbClr val="4ADE80"/>
                </a:solidFill>
                <a:latin typeface="Consolas"/>
              </a:rPr>
              <a:t>Chunk 3 text</a:t>
            </a:r>
          </a:p>
          <a:p>
            <a:pPr algn="l"/>
            <a:r>
              <a:rPr sz="900" b="1">
                <a:solidFill>
                  <a:srgbClr val="F1F5F9"/>
                </a:solidFill>
                <a:latin typeface="Consolas"/>
              </a:rPr>
              <a:t>Question:</a:t>
            </a:r>
          </a:p>
          <a:p>
            <a:pPr algn="l"/>
            <a:r>
              <a:rPr sz="900">
                <a:solidFill>
                  <a:srgbClr val="94A3B8"/>
                </a:solidFill>
                <a:latin typeface="Consolas"/>
              </a:rPr>
              <a:t>"""</a:t>
            </a:r>
          </a:p>
        </p:txBody>
      </p:sp>
      <p:pic>
        <p:nvPicPr>
          <p:cNvPr id="239" name="Graphic 239" descr="Embedding mode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8100" y="2286000"/>
            <a:ext cx="279400" cy="279400"/>
          </a:xfrm>
          <a:prstGeom prst="rect">
            <a:avLst/>
          </a:prstGeom>
        </p:spPr>
      </p:pic>
      <p:pic>
        <p:nvPicPr>
          <p:cNvPr id="240" name="Graphic 240" descr="Embedding mode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17900" y="4584700"/>
            <a:ext cx="279400" cy="279400"/>
          </a:xfrm>
          <a:prstGeom prst="rect">
            <a:avLst/>
          </a:prstGeom>
        </p:spPr>
      </p:pic>
      <p:pic>
        <p:nvPicPr>
          <p:cNvPr id="241" name="Graphic 241" descr="Us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900" y="4559300"/>
            <a:ext cx="330200" cy="330200"/>
          </a:xfrm>
          <a:prstGeom prst="rect">
            <a:avLst/>
          </a:prstGeom>
        </p:spPr>
      </p:pic>
      <p:sp>
        <p:nvSpPr>
          <p:cNvPr id="300" name="RefArchCaption"/>
          <p:cNvSpPr txBox="1"/>
          <p:nvPr/>
        </p:nvSpPr>
        <p:spPr>
          <a:xfrm>
            <a:off x="635000" y="6045200"/>
            <a:ext cx="10909300" cy="330200"/>
          </a:xfrm>
          <a:prstGeom prst="rect">
            <a:avLst/>
          </a:prstGeom>
        </p:spPr>
        <p:txBody>
          <a:bodyPr wrap="square" rtlCol="0">
            <a:spAutoFit/>
          </a:bodyPr>
          <a:lstStyle/>
          <a:p>
            <a:pPr algn="l"/>
            <a:r>
              <a:rPr sz="1300" b="0" i="1" dirty="0">
                <a:solidFill>
                  <a:srgbClr val="818CF8"/>
                </a:solidFill>
                <a:latin typeface="Segoe UI"/>
              </a:rPr>
              <a:t>Everything that follows is an engineering decision around one of these stages.</a:t>
            </a:r>
          </a:p>
        </p:txBody>
      </p:sp>
    </p:spTree>
    <p:extLst>
      <p:ext uri="{BB962C8B-B14F-4D97-AF65-F5344CB8AC3E}">
        <p14:creationId xmlns:p14="http://schemas.microsoft.com/office/powerpoint/2010/main" val="57157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DOCUMENT INDEXING PIPELINE</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Inside the indexing pipeline</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691640"/>
            <a:ext cx="1481328" cy="1234440"/>
          </a:xfrm>
          <a:prstGeom prst="roundRect">
            <a:avLst>
              <a:gd name="adj" fmla="val 8000"/>
            </a:avLst>
          </a:prstGeom>
          <a:solidFill>
            <a:srgbClr val="1B2640"/>
          </a:solidFill>
          <a:ln w="19050">
            <a:solidFill>
              <a:srgbClr val="2A375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1F5F9"/>
                </a:solidFill>
                <a:latin typeface="Segoe UI"/>
              </a:rPr>
              <a:t>Upload</a:t>
            </a:r>
          </a:p>
        </p:txBody>
      </p:sp>
      <p:cxnSp>
        <p:nvCxnSpPr>
          <p:cNvPr id="7" name="Connector 6"/>
          <p:cNvCxnSpPr/>
          <p:nvPr/>
        </p:nvCxnSpPr>
        <p:spPr>
          <a:xfrm>
            <a:off x="1938528"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29968" y="1691640"/>
            <a:ext cx="1481328" cy="1234440"/>
          </a:xfrm>
          <a:prstGeom prst="roundRect">
            <a:avLst>
              <a:gd name="adj" fmla="val 8000"/>
            </a:avLst>
          </a:prstGeom>
          <a:solidFill>
            <a:srgbClr val="4A390A"/>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BBF24"/>
                </a:solidFill>
                <a:latin typeface="Segoe UI"/>
              </a:rPr>
              <a:t>Parsing</a:t>
            </a:r>
          </a:p>
        </p:txBody>
      </p:sp>
      <p:cxnSp>
        <p:nvCxnSpPr>
          <p:cNvPr id="9" name="Connector 8"/>
          <p:cNvCxnSpPr/>
          <p:nvPr/>
        </p:nvCxnSpPr>
        <p:spPr>
          <a:xfrm>
            <a:off x="3511296"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02736" y="1691640"/>
            <a:ext cx="1481328" cy="1234440"/>
          </a:xfrm>
          <a:prstGeom prst="roundRect">
            <a:avLst>
              <a:gd name="adj" fmla="val 8000"/>
            </a:avLst>
          </a:prstGeom>
          <a:solidFill>
            <a:srgbClr val="4A390A"/>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BBF24"/>
                </a:solidFill>
                <a:latin typeface="Segoe UI"/>
              </a:rPr>
              <a:t>Cleaning</a:t>
            </a:r>
          </a:p>
        </p:txBody>
      </p:sp>
      <p:cxnSp>
        <p:nvCxnSpPr>
          <p:cNvPr id="11" name="Connector 10"/>
          <p:cNvCxnSpPr/>
          <p:nvPr/>
        </p:nvCxnSpPr>
        <p:spPr>
          <a:xfrm>
            <a:off x="5084064"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75504" y="1691640"/>
            <a:ext cx="1481328" cy="1234440"/>
          </a:xfrm>
          <a:prstGeom prst="roundRect">
            <a:avLst>
              <a:gd name="adj" fmla="val 8000"/>
            </a:avLst>
          </a:prstGeom>
          <a:solidFill>
            <a:srgbClr val="4A390A"/>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BBF24"/>
                </a:solidFill>
                <a:latin typeface="Segoe UI"/>
              </a:rPr>
              <a:t>Metadata
Extraction</a:t>
            </a:r>
          </a:p>
        </p:txBody>
      </p:sp>
      <p:cxnSp>
        <p:nvCxnSpPr>
          <p:cNvPr id="13" name="Connector 12"/>
          <p:cNvCxnSpPr/>
          <p:nvPr/>
        </p:nvCxnSpPr>
        <p:spPr>
          <a:xfrm>
            <a:off x="6656832"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748272" y="1691640"/>
            <a:ext cx="1481328" cy="1234440"/>
          </a:xfrm>
          <a:prstGeom prst="roundRect">
            <a:avLst>
              <a:gd name="adj" fmla="val 8000"/>
            </a:avLst>
          </a:prstGeom>
          <a:solidFill>
            <a:srgbClr val="C084FC"/>
          </a:solidFill>
          <a:ln w="19050">
            <a:solidFill>
              <a:srgbClr val="C084F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1F5F9"/>
                </a:solidFill>
                <a:latin typeface="Segoe UI"/>
              </a:rPr>
              <a:t>Chunking</a:t>
            </a:r>
          </a:p>
        </p:txBody>
      </p:sp>
      <p:cxnSp>
        <p:nvCxnSpPr>
          <p:cNvPr id="15" name="Connector 14"/>
          <p:cNvCxnSpPr/>
          <p:nvPr/>
        </p:nvCxnSpPr>
        <p:spPr>
          <a:xfrm>
            <a:off x="8229600"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321040" y="1691640"/>
            <a:ext cx="1481328" cy="1234440"/>
          </a:xfrm>
          <a:prstGeom prst="roundRect">
            <a:avLst>
              <a:gd name="adj" fmla="val 8000"/>
            </a:avLst>
          </a:prstGeom>
          <a:solidFill>
            <a:srgbClr val="35307A"/>
          </a:solidFill>
          <a:ln w="19050">
            <a:solidFill>
              <a:srgbClr val="818CF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818CF8"/>
                </a:solidFill>
                <a:latin typeface="Segoe UI"/>
              </a:rPr>
              <a:t>Embedding</a:t>
            </a:r>
          </a:p>
        </p:txBody>
      </p:sp>
      <p:cxnSp>
        <p:nvCxnSpPr>
          <p:cNvPr id="17" name="Connector 16"/>
          <p:cNvCxnSpPr/>
          <p:nvPr/>
        </p:nvCxnSpPr>
        <p:spPr>
          <a:xfrm>
            <a:off x="9802368" y="2308860"/>
            <a:ext cx="91440" cy="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893808" y="1691640"/>
            <a:ext cx="1481328" cy="1234440"/>
          </a:xfrm>
          <a:prstGeom prst="roundRect">
            <a:avLst>
              <a:gd name="adj" fmla="val 8000"/>
            </a:avLst>
          </a:prstGeom>
          <a:solidFill>
            <a:srgbClr val="0F3D38"/>
          </a:solidFill>
          <a:ln w="19050">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DD4BF"/>
                </a:solidFill>
                <a:latin typeface="Segoe UI"/>
              </a:rPr>
              <a:t>Vector
Storage</a:t>
            </a:r>
          </a:p>
        </p:txBody>
      </p:sp>
      <p:sp>
        <p:nvSpPr>
          <p:cNvPr id="19" name="Rounded Rectangle 18"/>
          <p:cNvSpPr/>
          <p:nvPr/>
        </p:nvSpPr>
        <p:spPr>
          <a:xfrm>
            <a:off x="640080" y="3246120"/>
            <a:ext cx="10908792" cy="1874519"/>
          </a:xfrm>
          <a:prstGeom prst="roundRect">
            <a:avLst>
              <a:gd name="adj" fmla="val 8000"/>
            </a:avLst>
          </a:prstGeom>
          <a:solidFill>
            <a:srgbClr val="131C31"/>
          </a:solidFill>
          <a:ln w="12700">
            <a:solidFill>
              <a:srgbClr val="2A37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429000"/>
            <a:ext cx="10332720" cy="1600200"/>
          </a:xfrm>
          <a:prstGeom prst="rect">
            <a:avLst/>
          </a:prstGeom>
          <a:noFill/>
        </p:spPr>
        <p:txBody>
          <a:bodyPr wrap="square">
            <a:spAutoFit/>
          </a:bodyPr>
          <a:lstStyle/>
          <a:p>
            <a:pPr>
              <a:spcAft>
                <a:spcPts val="600"/>
              </a:spcAft>
            </a:pPr>
            <a:r>
              <a:rPr sz="1250" b="1">
                <a:solidFill>
                  <a:srgbClr val="F1F5F9"/>
                </a:solidFill>
                <a:latin typeface="Segoe UI"/>
              </a:rPr>
              <a:t>›  Parsing</a:t>
            </a:r>
            <a:r>
              <a:rPr sz="1250">
                <a:solidFill>
                  <a:srgbClr val="94A3B8"/>
                </a:solidFill>
                <a:latin typeface="Segoe UI"/>
              </a:rPr>
              <a:t> — extract raw text (and tables/images) from the source format, whatever it is.</a:t>
            </a:r>
          </a:p>
          <a:p>
            <a:pPr>
              <a:spcAft>
                <a:spcPts val="600"/>
              </a:spcAft>
            </a:pPr>
            <a:r>
              <a:rPr sz="1250" b="1">
                <a:solidFill>
                  <a:srgbClr val="F1F5F9"/>
                </a:solidFill>
                <a:latin typeface="Segoe UI"/>
              </a:rPr>
              <a:t>›  Cleaning</a:t>
            </a:r>
            <a:r>
              <a:rPr sz="1250">
                <a:solidFill>
                  <a:srgbClr val="94A3B8"/>
                </a:solidFill>
                <a:latin typeface="Segoe UI"/>
              </a:rPr>
              <a:t> — strip boilerplate: headers, footers, page numbers, repeated navigation text that adds noise, not signal.</a:t>
            </a:r>
          </a:p>
          <a:p>
            <a:pPr>
              <a:spcAft>
                <a:spcPts val="600"/>
              </a:spcAft>
            </a:pPr>
            <a:r>
              <a:rPr sz="1250" b="1">
                <a:solidFill>
                  <a:srgbClr val="F1F5F9"/>
                </a:solidFill>
                <a:latin typeface="Segoe UI"/>
              </a:rPr>
              <a:t>›  Metadata extraction</a:t>
            </a:r>
            <a:r>
              <a:rPr sz="1250">
                <a:solidFill>
                  <a:srgbClr val="94A3B8"/>
                </a:solidFill>
                <a:latin typeface="Segoe UI"/>
              </a:rPr>
              <a:t> — capture filename, page number, section heading, upload date — anything that later enables filtering or a citation.</a:t>
            </a:r>
          </a:p>
          <a:p>
            <a:pPr>
              <a:spcAft>
                <a:spcPts val="600"/>
              </a:spcAft>
            </a:pPr>
            <a:r>
              <a:rPr sz="1250" b="1">
                <a:solidFill>
                  <a:srgbClr val="F1F5F9"/>
                </a:solidFill>
                <a:latin typeface="Segoe UI"/>
              </a:rPr>
              <a:t>›  Chunking → Embedding → Storage</a:t>
            </a:r>
            <a:r>
              <a:rPr sz="1250">
                <a:solidFill>
                  <a:srgbClr val="94A3B8"/>
                </a:solidFill>
                <a:latin typeface="Segoe UI"/>
              </a:rPr>
              <a:t> — the three steps we'll each go deep on in the next few slides.</a:t>
            </a:r>
          </a:p>
        </p:txBody>
      </p:sp>
      <p:sp>
        <p:nvSpPr>
          <p:cNvPr id="21" name="Rounded Rectangle 20"/>
          <p:cNvSpPr/>
          <p:nvPr/>
        </p:nvSpPr>
        <p:spPr>
          <a:xfrm>
            <a:off x="640080" y="5257800"/>
            <a:ext cx="10908792" cy="868680"/>
          </a:xfrm>
          <a:prstGeom prst="roundRect">
            <a:avLst>
              <a:gd name="adj" fmla="val 8000"/>
            </a:avLst>
          </a:prstGeom>
          <a:solidFill>
            <a:srgbClr val="1B2640"/>
          </a:solidFill>
          <a:ln w="12700">
            <a:solidFill>
              <a:srgbClr val="818C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422392"/>
            <a:ext cx="10332720" cy="548640"/>
          </a:xfrm>
          <a:prstGeom prst="rect">
            <a:avLst/>
          </a:prstGeom>
          <a:noFill/>
        </p:spPr>
        <p:txBody>
          <a:bodyPr wrap="square" lIns="0" tIns="0" rIns="0" bIns="0" anchor="t">
            <a:spAutoFit/>
          </a:bodyPr>
          <a:lstStyle/>
          <a:p>
            <a:pPr algn="l"/>
            <a:r>
              <a:rPr sz="1200" b="0" i="0">
                <a:solidFill>
                  <a:srgbClr val="F1F5F9"/>
                </a:solidFill>
                <a:latin typeface="Segoe UI"/>
              </a:rPr>
              <a:t>Supported formats: PDF, DOCX (Word), Markdown, plain text.  OCR: scanned/image-based PDFs need an OCR pass before parsing — worth a line item in project estimation, it's slower and less reliable than native text extraction.</a:t>
            </a:r>
          </a:p>
        </p:txBody>
      </p:sp>
      <p:sp>
        <p:nvSpPr>
          <p:cNvPr id="23" name="TextBox 22"/>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4" name="TextBox 23"/>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19</a:t>
            </a:r>
          </a:p>
        </p:txBody>
      </p:sp>
    </p:spTree>
    <p:extLst>
      <p:ext uri="{BB962C8B-B14F-4D97-AF65-F5344CB8AC3E}">
        <p14:creationId xmlns:p14="http://schemas.microsoft.com/office/powerpoint/2010/main" val="3388053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CHUNKING STRATEGIES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Five chunking strategies, compared</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Shape 101"/>
          <p:cNvSpPr/>
          <p:nvPr/>
        </p:nvSpPr>
        <p:spPr>
          <a:xfrm>
            <a:off x="635000" y="1371600"/>
            <a:ext cx="2059940" cy="5003800"/>
          </a:xfrm>
          <a:prstGeom prst="roundRect">
            <a:avLst>
              <a:gd name="adj" fmla="val 8000"/>
            </a:avLst>
          </a:prstGeom>
          <a:solidFill>
            <a:srgbClr val="131C31"/>
          </a:solidFill>
          <a:ln w="12700">
            <a:solidFill>
              <a:srgbClr val="243049"/>
            </a:solidFill>
          </a:ln>
        </p:spPr>
        <p:txBody>
          <a:bodyPr/>
          <a:lstStyle/>
          <a:p>
            <a:endParaRPr lang="en-US"/>
          </a:p>
        </p:txBody>
      </p:sp>
      <p:sp>
        <p:nvSpPr>
          <p:cNvPr id="101" name="Card text 102"/>
          <p:cNvSpPr txBox="1"/>
          <p:nvPr/>
        </p:nvSpPr>
        <p:spPr>
          <a:xfrm>
            <a:off x="812800" y="1549400"/>
            <a:ext cx="1704340" cy="203200"/>
          </a:xfrm>
          <a:prstGeom prst="rect">
            <a:avLst/>
          </a:prstGeom>
          <a:noFill/>
        </p:spPr>
        <p:txBody>
          <a:bodyPr wrap="square" lIns="0" tIns="0" rIns="0" bIns="0" anchor="t">
            <a:noAutofit/>
          </a:bodyPr>
          <a:lstStyle/>
          <a:p>
            <a:pPr algn="l">
              <a:lnSpc>
                <a:spcPct val="100000"/>
              </a:lnSpc>
            </a:pPr>
            <a:r>
              <a:rPr lang="en-US" sz="1200" b="1" dirty="0">
                <a:solidFill>
                  <a:srgbClr val="2DD4BF"/>
                </a:solidFill>
                <a:latin typeface="Segoe UI"/>
              </a:rPr>
              <a:t>01</a:t>
            </a:r>
          </a:p>
        </p:txBody>
      </p:sp>
      <p:sp>
        <p:nvSpPr>
          <p:cNvPr id="102" name="Card text 103"/>
          <p:cNvSpPr txBox="1"/>
          <p:nvPr/>
        </p:nvSpPr>
        <p:spPr>
          <a:xfrm>
            <a:off x="812800" y="1778000"/>
            <a:ext cx="1704340" cy="304800"/>
          </a:xfrm>
          <a:prstGeom prst="rect">
            <a:avLst/>
          </a:prstGeom>
          <a:noFill/>
        </p:spPr>
        <p:txBody>
          <a:bodyPr wrap="square" lIns="0" tIns="0" rIns="0" bIns="0" anchor="t">
            <a:noAutofit/>
          </a:bodyPr>
          <a:lstStyle/>
          <a:p>
            <a:pPr algn="l">
              <a:lnSpc>
                <a:spcPct val="100000"/>
              </a:lnSpc>
            </a:pPr>
            <a:r>
              <a:rPr lang="en-US" sz="1600" b="1" dirty="0">
                <a:solidFill>
                  <a:srgbClr val="F1F5F9"/>
                </a:solidFill>
                <a:latin typeface="Segoe UI"/>
              </a:rPr>
              <a:t>Fixed Size</a:t>
            </a:r>
          </a:p>
        </p:txBody>
      </p:sp>
      <p:sp>
        <p:nvSpPr>
          <p:cNvPr id="103" name="Shape 104"/>
          <p:cNvSpPr/>
          <p:nvPr/>
        </p:nvSpPr>
        <p:spPr>
          <a:xfrm>
            <a:off x="812800" y="2184400"/>
            <a:ext cx="310388" cy="304800"/>
          </a:xfrm>
          <a:prstGeom prst="rect">
            <a:avLst/>
          </a:prstGeom>
          <a:solidFill>
            <a:srgbClr val="2DD4BF">
              <a:alpha val="30000"/>
            </a:srgbClr>
          </a:solidFill>
          <a:ln w="9525">
            <a:solidFill>
              <a:srgbClr val="2DD4BF"/>
            </a:solidFill>
          </a:ln>
        </p:spPr>
        <p:txBody>
          <a:bodyPr/>
          <a:lstStyle/>
          <a:p>
            <a:endParaRPr lang="en-US"/>
          </a:p>
        </p:txBody>
      </p:sp>
      <p:sp>
        <p:nvSpPr>
          <p:cNvPr id="104" name="Shape 105"/>
          <p:cNvSpPr/>
          <p:nvPr/>
        </p:nvSpPr>
        <p:spPr>
          <a:xfrm>
            <a:off x="1161288" y="2184400"/>
            <a:ext cx="310388" cy="304800"/>
          </a:xfrm>
          <a:prstGeom prst="rect">
            <a:avLst/>
          </a:prstGeom>
          <a:solidFill>
            <a:srgbClr val="2DD4BF">
              <a:alpha val="30000"/>
            </a:srgbClr>
          </a:solidFill>
          <a:ln w="9525">
            <a:solidFill>
              <a:srgbClr val="2DD4BF"/>
            </a:solidFill>
          </a:ln>
        </p:spPr>
        <p:txBody>
          <a:bodyPr/>
          <a:lstStyle/>
          <a:p>
            <a:endParaRPr lang="en-US"/>
          </a:p>
        </p:txBody>
      </p:sp>
      <p:sp>
        <p:nvSpPr>
          <p:cNvPr id="105" name="Shape 106"/>
          <p:cNvSpPr/>
          <p:nvPr/>
        </p:nvSpPr>
        <p:spPr>
          <a:xfrm>
            <a:off x="1509776" y="2184400"/>
            <a:ext cx="310388" cy="304800"/>
          </a:xfrm>
          <a:prstGeom prst="rect">
            <a:avLst/>
          </a:prstGeom>
          <a:solidFill>
            <a:srgbClr val="2DD4BF">
              <a:alpha val="30000"/>
            </a:srgbClr>
          </a:solidFill>
          <a:ln w="9525">
            <a:solidFill>
              <a:srgbClr val="2DD4BF"/>
            </a:solidFill>
          </a:ln>
        </p:spPr>
        <p:txBody>
          <a:bodyPr/>
          <a:lstStyle/>
          <a:p>
            <a:endParaRPr lang="en-US"/>
          </a:p>
        </p:txBody>
      </p:sp>
      <p:sp>
        <p:nvSpPr>
          <p:cNvPr id="106" name="Shape 107"/>
          <p:cNvSpPr/>
          <p:nvPr/>
        </p:nvSpPr>
        <p:spPr>
          <a:xfrm>
            <a:off x="1858264" y="2184400"/>
            <a:ext cx="310388" cy="304800"/>
          </a:xfrm>
          <a:prstGeom prst="rect">
            <a:avLst/>
          </a:prstGeom>
          <a:solidFill>
            <a:srgbClr val="2DD4BF">
              <a:alpha val="30000"/>
            </a:srgbClr>
          </a:solidFill>
          <a:ln w="9525">
            <a:solidFill>
              <a:srgbClr val="2DD4BF"/>
            </a:solidFill>
          </a:ln>
        </p:spPr>
        <p:txBody>
          <a:bodyPr/>
          <a:lstStyle/>
          <a:p>
            <a:endParaRPr lang="en-US"/>
          </a:p>
        </p:txBody>
      </p:sp>
      <p:sp>
        <p:nvSpPr>
          <p:cNvPr id="107" name="Shape 108"/>
          <p:cNvSpPr/>
          <p:nvPr/>
        </p:nvSpPr>
        <p:spPr>
          <a:xfrm>
            <a:off x="2206752" y="2184400"/>
            <a:ext cx="310388" cy="304800"/>
          </a:xfrm>
          <a:prstGeom prst="rect">
            <a:avLst/>
          </a:prstGeom>
          <a:solidFill>
            <a:srgbClr val="2DD4BF">
              <a:alpha val="30000"/>
            </a:srgbClr>
          </a:solidFill>
          <a:ln w="9525">
            <a:solidFill>
              <a:srgbClr val="2DD4BF"/>
            </a:solidFill>
          </a:ln>
        </p:spPr>
        <p:txBody>
          <a:bodyPr/>
          <a:lstStyle/>
          <a:p>
            <a:endParaRPr lang="en-US"/>
          </a:p>
        </p:txBody>
      </p:sp>
      <p:sp>
        <p:nvSpPr>
          <p:cNvPr id="108" name="Card text 109"/>
          <p:cNvSpPr txBox="1"/>
          <p:nvPr/>
        </p:nvSpPr>
        <p:spPr>
          <a:xfrm>
            <a:off x="812800" y="2641600"/>
            <a:ext cx="1704340" cy="711200"/>
          </a:xfrm>
          <a:prstGeom prst="rect">
            <a:avLst/>
          </a:prstGeom>
          <a:noFill/>
        </p:spPr>
        <p:txBody>
          <a:bodyPr wrap="square" lIns="0" tIns="0" rIns="0" bIns="0" anchor="t">
            <a:noAutofit/>
          </a:bodyPr>
          <a:lstStyle/>
          <a:p>
            <a:pPr algn="l">
              <a:lnSpc>
                <a:spcPct val="100000"/>
              </a:lnSpc>
            </a:pPr>
            <a:r>
              <a:rPr lang="en-US" sz="1300" b="0" dirty="0">
                <a:solidFill>
                  <a:srgbClr val="B8C2D3"/>
                </a:solidFill>
                <a:latin typeface="Segoe UI"/>
              </a:rPr>
              <a:t>Split every N chars/tokens</a:t>
            </a:r>
          </a:p>
        </p:txBody>
      </p:sp>
      <p:sp>
        <p:nvSpPr>
          <p:cNvPr id="109" name="Shape 110"/>
          <p:cNvSpPr/>
          <p:nvPr/>
        </p:nvSpPr>
        <p:spPr>
          <a:xfrm>
            <a:off x="812800" y="3429000"/>
            <a:ext cx="1704340" cy="127"/>
          </a:xfrm>
          <a:prstGeom prst="line">
            <a:avLst/>
          </a:prstGeom>
          <a:noFill/>
          <a:ln w="12700">
            <a:solidFill>
              <a:srgbClr val="2A3650"/>
            </a:solidFill>
          </a:ln>
        </p:spPr>
        <p:txBody>
          <a:bodyPr/>
          <a:lstStyle/>
          <a:p>
            <a:endParaRPr lang="en-US"/>
          </a:p>
        </p:txBody>
      </p:sp>
      <p:sp>
        <p:nvSpPr>
          <p:cNvPr id="110" name="Card text 111"/>
          <p:cNvSpPr txBox="1"/>
          <p:nvPr/>
        </p:nvSpPr>
        <p:spPr>
          <a:xfrm>
            <a:off x="812800" y="3556000"/>
            <a:ext cx="1704340" cy="889000"/>
          </a:xfrm>
          <a:prstGeom prst="rect">
            <a:avLst/>
          </a:prstGeom>
          <a:noFill/>
        </p:spPr>
        <p:txBody>
          <a:bodyPr wrap="square" lIns="0" tIns="0" rIns="0" bIns="0" anchor="t">
            <a:noAutofit/>
          </a:bodyPr>
          <a:lstStyle/>
          <a:p>
            <a:pPr algn="l">
              <a:lnSpc>
                <a:spcPct val="100000"/>
              </a:lnSpc>
            </a:pPr>
            <a:r>
              <a:rPr lang="en-US" sz="1050" b="1" dirty="0">
                <a:solidFill>
                  <a:srgbClr val="34D399"/>
                </a:solidFill>
                <a:latin typeface="Segoe UI"/>
              </a:rPr>
              <a:t>ADVANTAGE</a:t>
            </a:r>
          </a:p>
          <a:p>
            <a:pPr algn="l">
              <a:lnSpc>
                <a:spcPct val="100000"/>
              </a:lnSpc>
              <a:spcBef>
                <a:spcPts val="200"/>
              </a:spcBef>
            </a:pPr>
            <a:r>
              <a:rPr lang="en-US" sz="1300" b="0" dirty="0">
                <a:solidFill>
                  <a:srgbClr val="E2E8F0"/>
                </a:solidFill>
                <a:latin typeface="Segoe UI"/>
              </a:rPr>
              <a:t>Simple, fast, predictable</a:t>
            </a:r>
          </a:p>
        </p:txBody>
      </p:sp>
      <p:sp>
        <p:nvSpPr>
          <p:cNvPr id="111" name="Shape 112"/>
          <p:cNvSpPr/>
          <p:nvPr/>
        </p:nvSpPr>
        <p:spPr>
          <a:xfrm>
            <a:off x="812800" y="4470400"/>
            <a:ext cx="1704340" cy="127"/>
          </a:xfrm>
          <a:prstGeom prst="line">
            <a:avLst/>
          </a:prstGeom>
          <a:noFill/>
          <a:ln w="12700">
            <a:solidFill>
              <a:srgbClr val="2A3650"/>
            </a:solidFill>
          </a:ln>
        </p:spPr>
        <p:txBody>
          <a:bodyPr/>
          <a:lstStyle/>
          <a:p>
            <a:endParaRPr lang="en-US"/>
          </a:p>
        </p:txBody>
      </p:sp>
      <p:sp>
        <p:nvSpPr>
          <p:cNvPr id="112" name="Card text 113"/>
          <p:cNvSpPr txBox="1"/>
          <p:nvPr/>
        </p:nvSpPr>
        <p:spPr>
          <a:xfrm>
            <a:off x="812800" y="4597400"/>
            <a:ext cx="1704340" cy="889000"/>
          </a:xfrm>
          <a:prstGeom prst="rect">
            <a:avLst/>
          </a:prstGeom>
          <a:noFill/>
        </p:spPr>
        <p:txBody>
          <a:bodyPr wrap="square" lIns="0" tIns="0" rIns="0" bIns="0" anchor="t">
            <a:noAutofit/>
          </a:bodyPr>
          <a:lstStyle/>
          <a:p>
            <a:pPr algn="l">
              <a:lnSpc>
                <a:spcPct val="100000"/>
              </a:lnSpc>
            </a:pPr>
            <a:r>
              <a:rPr lang="en-US" sz="1050" b="1" dirty="0">
                <a:solidFill>
                  <a:srgbClr val="F87171"/>
                </a:solidFill>
                <a:latin typeface="Segoe UI"/>
              </a:rPr>
              <a:t>TRADE-OFF</a:t>
            </a:r>
          </a:p>
          <a:p>
            <a:pPr algn="l">
              <a:lnSpc>
                <a:spcPct val="100000"/>
              </a:lnSpc>
              <a:spcBef>
                <a:spcPts val="200"/>
              </a:spcBef>
            </a:pPr>
            <a:r>
              <a:rPr lang="en-US" sz="1300" b="0" dirty="0">
                <a:solidFill>
                  <a:srgbClr val="E2E8F0"/>
                </a:solidFill>
                <a:latin typeface="Segoe UI"/>
              </a:rPr>
              <a:t>Cuts mid-sentence, mid-table</a:t>
            </a:r>
          </a:p>
        </p:txBody>
      </p:sp>
      <p:sp>
        <p:nvSpPr>
          <p:cNvPr id="113" name="Shape 114"/>
          <p:cNvSpPr/>
          <p:nvPr/>
        </p:nvSpPr>
        <p:spPr>
          <a:xfrm>
            <a:off x="711200" y="5511800"/>
            <a:ext cx="1907540" cy="787400"/>
          </a:xfrm>
          <a:prstGeom prst="roundRect">
            <a:avLst>
              <a:gd name="adj" fmla="val 8000"/>
            </a:avLst>
          </a:prstGeom>
          <a:solidFill>
            <a:srgbClr val="0F2A30"/>
          </a:solidFill>
          <a:ln>
            <a:noFill/>
          </a:ln>
        </p:spPr>
        <p:txBody>
          <a:bodyPr/>
          <a:lstStyle/>
          <a:p>
            <a:endParaRPr lang="en-US"/>
          </a:p>
        </p:txBody>
      </p:sp>
      <p:sp>
        <p:nvSpPr>
          <p:cNvPr id="114" name="Card text 115"/>
          <p:cNvSpPr txBox="1"/>
          <p:nvPr/>
        </p:nvSpPr>
        <p:spPr>
          <a:xfrm>
            <a:off x="812800" y="5613400"/>
            <a:ext cx="1704340" cy="635000"/>
          </a:xfrm>
          <a:prstGeom prst="rect">
            <a:avLst/>
          </a:prstGeom>
          <a:noFill/>
        </p:spPr>
        <p:txBody>
          <a:bodyPr wrap="square" lIns="0" tIns="0" rIns="0" bIns="0" anchor="t">
            <a:noAutofit/>
          </a:bodyPr>
          <a:lstStyle/>
          <a:p>
            <a:pPr algn="l">
              <a:lnSpc>
                <a:spcPct val="100000"/>
              </a:lnSpc>
            </a:pPr>
            <a:r>
              <a:rPr lang="en-US" sz="1050" b="1" dirty="0">
                <a:solidFill>
                  <a:srgbClr val="2DD4BF"/>
                </a:solidFill>
                <a:latin typeface="Segoe UI"/>
              </a:rPr>
              <a:t>BEST FOR</a:t>
            </a:r>
          </a:p>
          <a:p>
            <a:pPr algn="l">
              <a:lnSpc>
                <a:spcPct val="100000"/>
              </a:lnSpc>
              <a:spcBef>
                <a:spcPts val="200"/>
              </a:spcBef>
            </a:pPr>
            <a:r>
              <a:rPr lang="en-US" sz="1250" b="1" dirty="0">
                <a:solidFill>
                  <a:srgbClr val="F1F5F9"/>
                </a:solidFill>
                <a:latin typeface="Segoe UI"/>
              </a:rPr>
              <a:t>Logs, transcripts, uniform text</a:t>
            </a:r>
          </a:p>
        </p:txBody>
      </p:sp>
      <p:sp>
        <p:nvSpPr>
          <p:cNvPr id="115" name="Shape 116"/>
          <p:cNvSpPr/>
          <p:nvPr/>
        </p:nvSpPr>
        <p:spPr>
          <a:xfrm>
            <a:off x="2847340" y="1371600"/>
            <a:ext cx="2059940" cy="5003800"/>
          </a:xfrm>
          <a:prstGeom prst="roundRect">
            <a:avLst>
              <a:gd name="adj" fmla="val 8000"/>
            </a:avLst>
          </a:prstGeom>
          <a:solidFill>
            <a:srgbClr val="131C31"/>
          </a:solidFill>
          <a:ln w="12700">
            <a:solidFill>
              <a:srgbClr val="243049"/>
            </a:solidFill>
          </a:ln>
        </p:spPr>
        <p:txBody>
          <a:bodyPr/>
          <a:lstStyle/>
          <a:p>
            <a:endParaRPr lang="en-US"/>
          </a:p>
        </p:txBody>
      </p:sp>
      <p:sp>
        <p:nvSpPr>
          <p:cNvPr id="116" name="Card text 117"/>
          <p:cNvSpPr txBox="1"/>
          <p:nvPr/>
        </p:nvSpPr>
        <p:spPr>
          <a:xfrm>
            <a:off x="3025140" y="1549400"/>
            <a:ext cx="1704340" cy="203200"/>
          </a:xfrm>
          <a:prstGeom prst="rect">
            <a:avLst/>
          </a:prstGeom>
          <a:noFill/>
        </p:spPr>
        <p:txBody>
          <a:bodyPr wrap="square" lIns="0" tIns="0" rIns="0" bIns="0" anchor="t">
            <a:noAutofit/>
          </a:bodyPr>
          <a:lstStyle/>
          <a:p>
            <a:pPr algn="l">
              <a:lnSpc>
                <a:spcPct val="100000"/>
              </a:lnSpc>
            </a:pPr>
            <a:r>
              <a:rPr lang="en-US" sz="1200" b="1" dirty="0">
                <a:solidFill>
                  <a:srgbClr val="2DD4BF"/>
                </a:solidFill>
                <a:latin typeface="Segoe UI"/>
              </a:rPr>
              <a:t>02</a:t>
            </a:r>
          </a:p>
        </p:txBody>
      </p:sp>
      <p:sp>
        <p:nvSpPr>
          <p:cNvPr id="117" name="Card text 118"/>
          <p:cNvSpPr txBox="1"/>
          <p:nvPr/>
        </p:nvSpPr>
        <p:spPr>
          <a:xfrm>
            <a:off x="3025140" y="1778000"/>
            <a:ext cx="1704340" cy="304800"/>
          </a:xfrm>
          <a:prstGeom prst="rect">
            <a:avLst/>
          </a:prstGeom>
          <a:noFill/>
        </p:spPr>
        <p:txBody>
          <a:bodyPr wrap="square" lIns="0" tIns="0" rIns="0" bIns="0" anchor="t">
            <a:noAutofit/>
          </a:bodyPr>
          <a:lstStyle/>
          <a:p>
            <a:pPr algn="l">
              <a:lnSpc>
                <a:spcPct val="100000"/>
              </a:lnSpc>
            </a:pPr>
            <a:r>
              <a:rPr lang="en-US" sz="1600" b="1" dirty="0">
                <a:solidFill>
                  <a:srgbClr val="F1F5F9"/>
                </a:solidFill>
                <a:latin typeface="Segoe UI"/>
              </a:rPr>
              <a:t>Recursive</a:t>
            </a:r>
          </a:p>
        </p:txBody>
      </p:sp>
      <p:sp>
        <p:nvSpPr>
          <p:cNvPr id="118" name="Shape 119"/>
          <p:cNvSpPr/>
          <p:nvPr/>
        </p:nvSpPr>
        <p:spPr>
          <a:xfrm>
            <a:off x="3025140" y="2184400"/>
            <a:ext cx="540614" cy="304800"/>
          </a:xfrm>
          <a:prstGeom prst="rect">
            <a:avLst/>
          </a:prstGeom>
          <a:solidFill>
            <a:srgbClr val="2DD4BF">
              <a:alpha val="30000"/>
            </a:srgbClr>
          </a:solidFill>
          <a:ln w="9525">
            <a:solidFill>
              <a:srgbClr val="2DD4BF"/>
            </a:solidFill>
          </a:ln>
        </p:spPr>
        <p:txBody>
          <a:bodyPr/>
          <a:lstStyle/>
          <a:p>
            <a:endParaRPr lang="en-US"/>
          </a:p>
        </p:txBody>
      </p:sp>
      <p:sp>
        <p:nvSpPr>
          <p:cNvPr id="119" name="Shape 120"/>
          <p:cNvSpPr/>
          <p:nvPr/>
        </p:nvSpPr>
        <p:spPr>
          <a:xfrm>
            <a:off x="3603854" y="2184400"/>
            <a:ext cx="318008" cy="304800"/>
          </a:xfrm>
          <a:prstGeom prst="rect">
            <a:avLst/>
          </a:prstGeom>
          <a:solidFill>
            <a:srgbClr val="2DD4BF">
              <a:alpha val="30000"/>
            </a:srgbClr>
          </a:solidFill>
          <a:ln w="9525">
            <a:solidFill>
              <a:srgbClr val="2DD4BF"/>
            </a:solidFill>
          </a:ln>
        </p:spPr>
        <p:txBody>
          <a:bodyPr/>
          <a:lstStyle/>
          <a:p>
            <a:endParaRPr lang="en-US"/>
          </a:p>
        </p:txBody>
      </p:sp>
      <p:sp>
        <p:nvSpPr>
          <p:cNvPr id="120" name="Shape 121"/>
          <p:cNvSpPr/>
          <p:nvPr/>
        </p:nvSpPr>
        <p:spPr>
          <a:xfrm>
            <a:off x="3959962" y="2184400"/>
            <a:ext cx="445211" cy="304800"/>
          </a:xfrm>
          <a:prstGeom prst="rect">
            <a:avLst/>
          </a:prstGeom>
          <a:solidFill>
            <a:srgbClr val="2DD4BF">
              <a:alpha val="30000"/>
            </a:srgbClr>
          </a:solidFill>
          <a:ln w="9525">
            <a:solidFill>
              <a:srgbClr val="2DD4BF"/>
            </a:solidFill>
          </a:ln>
        </p:spPr>
        <p:txBody>
          <a:bodyPr/>
          <a:lstStyle/>
          <a:p>
            <a:endParaRPr lang="en-US"/>
          </a:p>
        </p:txBody>
      </p:sp>
      <p:sp>
        <p:nvSpPr>
          <p:cNvPr id="121" name="Shape 122"/>
          <p:cNvSpPr/>
          <p:nvPr/>
        </p:nvSpPr>
        <p:spPr>
          <a:xfrm>
            <a:off x="4443273" y="2184400"/>
            <a:ext cx="286207" cy="304800"/>
          </a:xfrm>
          <a:prstGeom prst="rect">
            <a:avLst/>
          </a:prstGeom>
          <a:solidFill>
            <a:srgbClr val="2DD4BF">
              <a:alpha val="30000"/>
            </a:srgbClr>
          </a:solidFill>
          <a:ln w="9525">
            <a:solidFill>
              <a:srgbClr val="2DD4BF"/>
            </a:solidFill>
          </a:ln>
        </p:spPr>
        <p:txBody>
          <a:bodyPr/>
          <a:lstStyle/>
          <a:p>
            <a:endParaRPr lang="en-US"/>
          </a:p>
        </p:txBody>
      </p:sp>
      <p:sp>
        <p:nvSpPr>
          <p:cNvPr id="122" name="Card text 123"/>
          <p:cNvSpPr txBox="1"/>
          <p:nvPr/>
        </p:nvSpPr>
        <p:spPr>
          <a:xfrm>
            <a:off x="3025140" y="2641600"/>
            <a:ext cx="1704340" cy="711200"/>
          </a:xfrm>
          <a:prstGeom prst="rect">
            <a:avLst/>
          </a:prstGeom>
          <a:noFill/>
        </p:spPr>
        <p:txBody>
          <a:bodyPr wrap="square" lIns="0" tIns="0" rIns="0" bIns="0" anchor="t">
            <a:noAutofit/>
          </a:bodyPr>
          <a:lstStyle/>
          <a:p>
            <a:pPr algn="l">
              <a:lnSpc>
                <a:spcPct val="100000"/>
              </a:lnSpc>
            </a:pPr>
            <a:r>
              <a:rPr lang="en-US" sz="1300" b="0" dirty="0">
                <a:solidFill>
                  <a:srgbClr val="B8C2D3"/>
                </a:solidFill>
                <a:latin typeface="Segoe UI"/>
              </a:rPr>
              <a:t>Split by structure, falling back to smaller units</a:t>
            </a:r>
          </a:p>
        </p:txBody>
      </p:sp>
      <p:sp>
        <p:nvSpPr>
          <p:cNvPr id="123" name="Shape 124"/>
          <p:cNvSpPr/>
          <p:nvPr/>
        </p:nvSpPr>
        <p:spPr>
          <a:xfrm>
            <a:off x="3025140" y="3429000"/>
            <a:ext cx="1704340" cy="127"/>
          </a:xfrm>
          <a:prstGeom prst="line">
            <a:avLst/>
          </a:prstGeom>
          <a:noFill/>
          <a:ln w="12700">
            <a:solidFill>
              <a:srgbClr val="2A3650"/>
            </a:solidFill>
          </a:ln>
        </p:spPr>
        <p:txBody>
          <a:bodyPr/>
          <a:lstStyle/>
          <a:p>
            <a:endParaRPr lang="en-US"/>
          </a:p>
        </p:txBody>
      </p:sp>
      <p:sp>
        <p:nvSpPr>
          <p:cNvPr id="124" name="Card text 125"/>
          <p:cNvSpPr txBox="1"/>
          <p:nvPr/>
        </p:nvSpPr>
        <p:spPr>
          <a:xfrm>
            <a:off x="3025140" y="3556000"/>
            <a:ext cx="1704340" cy="889000"/>
          </a:xfrm>
          <a:prstGeom prst="rect">
            <a:avLst/>
          </a:prstGeom>
          <a:noFill/>
        </p:spPr>
        <p:txBody>
          <a:bodyPr wrap="square" lIns="0" tIns="0" rIns="0" bIns="0" anchor="t">
            <a:noAutofit/>
          </a:bodyPr>
          <a:lstStyle/>
          <a:p>
            <a:pPr algn="l">
              <a:lnSpc>
                <a:spcPct val="100000"/>
              </a:lnSpc>
            </a:pPr>
            <a:r>
              <a:rPr lang="en-US" sz="1050" b="1" dirty="0">
                <a:solidFill>
                  <a:srgbClr val="34D399"/>
                </a:solidFill>
                <a:latin typeface="Segoe UI"/>
              </a:rPr>
              <a:t>ADVANTAGE</a:t>
            </a:r>
          </a:p>
          <a:p>
            <a:pPr algn="l">
              <a:lnSpc>
                <a:spcPct val="100000"/>
              </a:lnSpc>
              <a:spcBef>
                <a:spcPts val="200"/>
              </a:spcBef>
            </a:pPr>
            <a:r>
              <a:rPr lang="en-US" sz="1300" b="0" dirty="0">
                <a:solidFill>
                  <a:srgbClr val="E2E8F0"/>
                </a:solidFill>
                <a:latin typeface="Segoe UI"/>
              </a:rPr>
              <a:t>Structure-aware, still simple</a:t>
            </a:r>
          </a:p>
        </p:txBody>
      </p:sp>
      <p:sp>
        <p:nvSpPr>
          <p:cNvPr id="125" name="Shape 126"/>
          <p:cNvSpPr/>
          <p:nvPr/>
        </p:nvSpPr>
        <p:spPr>
          <a:xfrm>
            <a:off x="3025140" y="4470400"/>
            <a:ext cx="1704340" cy="127"/>
          </a:xfrm>
          <a:prstGeom prst="line">
            <a:avLst/>
          </a:prstGeom>
          <a:noFill/>
          <a:ln w="12700">
            <a:solidFill>
              <a:srgbClr val="2A3650"/>
            </a:solidFill>
          </a:ln>
        </p:spPr>
        <p:txBody>
          <a:bodyPr/>
          <a:lstStyle/>
          <a:p>
            <a:endParaRPr lang="en-US"/>
          </a:p>
        </p:txBody>
      </p:sp>
      <p:sp>
        <p:nvSpPr>
          <p:cNvPr id="126" name="Card text 127"/>
          <p:cNvSpPr txBox="1"/>
          <p:nvPr/>
        </p:nvSpPr>
        <p:spPr>
          <a:xfrm>
            <a:off x="3025140" y="4597400"/>
            <a:ext cx="1704340" cy="889000"/>
          </a:xfrm>
          <a:prstGeom prst="rect">
            <a:avLst/>
          </a:prstGeom>
          <a:noFill/>
        </p:spPr>
        <p:txBody>
          <a:bodyPr wrap="square" lIns="0" tIns="0" rIns="0" bIns="0" anchor="t">
            <a:noAutofit/>
          </a:bodyPr>
          <a:lstStyle/>
          <a:p>
            <a:pPr algn="l">
              <a:lnSpc>
                <a:spcPct val="100000"/>
              </a:lnSpc>
            </a:pPr>
            <a:r>
              <a:rPr lang="en-US" sz="1050" b="1" dirty="0">
                <a:solidFill>
                  <a:srgbClr val="F87171"/>
                </a:solidFill>
                <a:latin typeface="Segoe UI"/>
              </a:rPr>
              <a:t>TRADE-OFF</a:t>
            </a:r>
          </a:p>
          <a:p>
            <a:pPr algn="l">
              <a:lnSpc>
                <a:spcPct val="100000"/>
              </a:lnSpc>
              <a:spcBef>
                <a:spcPts val="200"/>
              </a:spcBef>
            </a:pPr>
            <a:r>
              <a:rPr lang="en-US" sz="1300" b="0" dirty="0">
                <a:solidFill>
                  <a:srgbClr val="E2E8F0"/>
                </a:solidFill>
                <a:latin typeface="Segoe UI"/>
              </a:rPr>
              <a:t>Still somewhat arbitrary boundaries</a:t>
            </a:r>
          </a:p>
        </p:txBody>
      </p:sp>
      <p:sp>
        <p:nvSpPr>
          <p:cNvPr id="127" name="Shape 128"/>
          <p:cNvSpPr/>
          <p:nvPr/>
        </p:nvSpPr>
        <p:spPr>
          <a:xfrm>
            <a:off x="2923540" y="5511800"/>
            <a:ext cx="1907540" cy="787400"/>
          </a:xfrm>
          <a:prstGeom prst="roundRect">
            <a:avLst>
              <a:gd name="adj" fmla="val 8000"/>
            </a:avLst>
          </a:prstGeom>
          <a:solidFill>
            <a:srgbClr val="0F2A30"/>
          </a:solidFill>
          <a:ln>
            <a:noFill/>
          </a:ln>
        </p:spPr>
        <p:txBody>
          <a:bodyPr/>
          <a:lstStyle/>
          <a:p>
            <a:endParaRPr lang="en-US"/>
          </a:p>
        </p:txBody>
      </p:sp>
      <p:sp>
        <p:nvSpPr>
          <p:cNvPr id="128" name="Card text 129"/>
          <p:cNvSpPr txBox="1"/>
          <p:nvPr/>
        </p:nvSpPr>
        <p:spPr>
          <a:xfrm>
            <a:off x="3025140" y="5613400"/>
            <a:ext cx="1704340" cy="635000"/>
          </a:xfrm>
          <a:prstGeom prst="rect">
            <a:avLst/>
          </a:prstGeom>
          <a:noFill/>
        </p:spPr>
        <p:txBody>
          <a:bodyPr wrap="square" lIns="0" tIns="0" rIns="0" bIns="0" anchor="t">
            <a:noAutofit/>
          </a:bodyPr>
          <a:lstStyle/>
          <a:p>
            <a:pPr algn="l">
              <a:lnSpc>
                <a:spcPct val="100000"/>
              </a:lnSpc>
            </a:pPr>
            <a:r>
              <a:rPr lang="en-US" sz="1050" b="1" dirty="0">
                <a:solidFill>
                  <a:srgbClr val="2DD4BF"/>
                </a:solidFill>
                <a:latin typeface="Segoe UI"/>
              </a:rPr>
              <a:t>BEST FOR</a:t>
            </a:r>
          </a:p>
          <a:p>
            <a:pPr algn="l">
              <a:lnSpc>
                <a:spcPct val="100000"/>
              </a:lnSpc>
              <a:spcBef>
                <a:spcPts val="200"/>
              </a:spcBef>
            </a:pPr>
            <a:r>
              <a:rPr lang="en-US" sz="1250" b="1" dirty="0">
                <a:solidFill>
                  <a:srgbClr val="F1F5F9"/>
                </a:solidFill>
                <a:latin typeface="Segoe UI"/>
              </a:rPr>
              <a:t>Docs and wikis; the default</a:t>
            </a:r>
          </a:p>
        </p:txBody>
      </p:sp>
      <p:sp>
        <p:nvSpPr>
          <p:cNvPr id="129" name="Shape 130"/>
          <p:cNvSpPr/>
          <p:nvPr/>
        </p:nvSpPr>
        <p:spPr>
          <a:xfrm>
            <a:off x="5059680" y="1371600"/>
            <a:ext cx="2059940" cy="5003800"/>
          </a:xfrm>
          <a:prstGeom prst="roundRect">
            <a:avLst>
              <a:gd name="adj" fmla="val 8000"/>
            </a:avLst>
          </a:prstGeom>
          <a:solidFill>
            <a:srgbClr val="131C31"/>
          </a:solidFill>
          <a:ln w="12700">
            <a:solidFill>
              <a:srgbClr val="243049"/>
            </a:solidFill>
          </a:ln>
        </p:spPr>
        <p:txBody>
          <a:bodyPr/>
          <a:lstStyle/>
          <a:p>
            <a:endParaRPr lang="en-US"/>
          </a:p>
        </p:txBody>
      </p:sp>
      <p:sp>
        <p:nvSpPr>
          <p:cNvPr id="130" name="Card text 131"/>
          <p:cNvSpPr txBox="1"/>
          <p:nvPr/>
        </p:nvSpPr>
        <p:spPr>
          <a:xfrm>
            <a:off x="5237480" y="1549400"/>
            <a:ext cx="1704340" cy="203200"/>
          </a:xfrm>
          <a:prstGeom prst="rect">
            <a:avLst/>
          </a:prstGeom>
          <a:noFill/>
        </p:spPr>
        <p:txBody>
          <a:bodyPr wrap="square" lIns="0" tIns="0" rIns="0" bIns="0" anchor="t">
            <a:noAutofit/>
          </a:bodyPr>
          <a:lstStyle/>
          <a:p>
            <a:pPr algn="l">
              <a:lnSpc>
                <a:spcPct val="100000"/>
              </a:lnSpc>
            </a:pPr>
            <a:r>
              <a:rPr lang="en-US" sz="1200" b="1" dirty="0">
                <a:solidFill>
                  <a:srgbClr val="2DD4BF"/>
                </a:solidFill>
                <a:latin typeface="Segoe UI"/>
              </a:rPr>
              <a:t>03</a:t>
            </a:r>
          </a:p>
        </p:txBody>
      </p:sp>
      <p:sp>
        <p:nvSpPr>
          <p:cNvPr id="131" name="Card text 132"/>
          <p:cNvSpPr txBox="1"/>
          <p:nvPr/>
        </p:nvSpPr>
        <p:spPr>
          <a:xfrm>
            <a:off x="5237480" y="1778000"/>
            <a:ext cx="1704340" cy="304800"/>
          </a:xfrm>
          <a:prstGeom prst="rect">
            <a:avLst/>
          </a:prstGeom>
          <a:noFill/>
        </p:spPr>
        <p:txBody>
          <a:bodyPr wrap="square" lIns="0" tIns="0" rIns="0" bIns="0" anchor="t">
            <a:noAutofit/>
          </a:bodyPr>
          <a:lstStyle/>
          <a:p>
            <a:pPr algn="l">
              <a:lnSpc>
                <a:spcPct val="100000"/>
              </a:lnSpc>
            </a:pPr>
            <a:r>
              <a:rPr lang="en-US" sz="1600" b="1" dirty="0">
                <a:solidFill>
                  <a:srgbClr val="F1F5F9"/>
                </a:solidFill>
                <a:latin typeface="Segoe UI"/>
              </a:rPr>
              <a:t>Semantic</a:t>
            </a:r>
          </a:p>
        </p:txBody>
      </p:sp>
      <p:sp>
        <p:nvSpPr>
          <p:cNvPr id="132" name="Shape 133"/>
          <p:cNvSpPr/>
          <p:nvPr/>
        </p:nvSpPr>
        <p:spPr>
          <a:xfrm>
            <a:off x="5237480" y="2184400"/>
            <a:ext cx="683819" cy="304800"/>
          </a:xfrm>
          <a:prstGeom prst="rect">
            <a:avLst/>
          </a:prstGeom>
          <a:solidFill>
            <a:srgbClr val="2DD4BF">
              <a:alpha val="55000"/>
            </a:srgbClr>
          </a:solidFill>
          <a:ln w="9525">
            <a:solidFill>
              <a:srgbClr val="2DD4BF"/>
            </a:solidFill>
          </a:ln>
        </p:spPr>
        <p:txBody>
          <a:bodyPr/>
          <a:lstStyle/>
          <a:p>
            <a:endParaRPr lang="en-US"/>
          </a:p>
        </p:txBody>
      </p:sp>
      <p:sp>
        <p:nvSpPr>
          <p:cNvPr id="133" name="Shape 134"/>
          <p:cNvSpPr/>
          <p:nvPr/>
        </p:nvSpPr>
        <p:spPr>
          <a:xfrm>
            <a:off x="5959399" y="2184400"/>
            <a:ext cx="390754" cy="304800"/>
          </a:xfrm>
          <a:prstGeom prst="rect">
            <a:avLst/>
          </a:prstGeom>
          <a:solidFill>
            <a:srgbClr val="2DD4BF">
              <a:alpha val="30000"/>
            </a:srgbClr>
          </a:solidFill>
          <a:ln w="9525">
            <a:solidFill>
              <a:srgbClr val="2DD4BF"/>
            </a:solidFill>
          </a:ln>
        </p:spPr>
        <p:txBody>
          <a:bodyPr/>
          <a:lstStyle/>
          <a:p>
            <a:endParaRPr lang="en-US"/>
          </a:p>
        </p:txBody>
      </p:sp>
      <p:sp>
        <p:nvSpPr>
          <p:cNvPr id="134" name="Shape 135"/>
          <p:cNvSpPr/>
          <p:nvPr/>
        </p:nvSpPr>
        <p:spPr>
          <a:xfrm>
            <a:off x="6388252" y="2184400"/>
            <a:ext cx="553568" cy="304800"/>
          </a:xfrm>
          <a:prstGeom prst="rect">
            <a:avLst/>
          </a:prstGeom>
          <a:solidFill>
            <a:srgbClr val="2DD4BF">
              <a:alpha val="15000"/>
            </a:srgbClr>
          </a:solidFill>
          <a:ln w="9525">
            <a:solidFill>
              <a:srgbClr val="2DD4BF"/>
            </a:solidFill>
          </a:ln>
        </p:spPr>
        <p:txBody>
          <a:bodyPr/>
          <a:lstStyle/>
          <a:p>
            <a:endParaRPr lang="en-US"/>
          </a:p>
        </p:txBody>
      </p:sp>
      <p:sp>
        <p:nvSpPr>
          <p:cNvPr id="135" name="Card text 136"/>
          <p:cNvSpPr txBox="1"/>
          <p:nvPr/>
        </p:nvSpPr>
        <p:spPr>
          <a:xfrm>
            <a:off x="5237480" y="2641600"/>
            <a:ext cx="1704340" cy="711200"/>
          </a:xfrm>
          <a:prstGeom prst="rect">
            <a:avLst/>
          </a:prstGeom>
          <a:noFill/>
        </p:spPr>
        <p:txBody>
          <a:bodyPr wrap="square" lIns="0" tIns="0" rIns="0" bIns="0" anchor="t">
            <a:noAutofit/>
          </a:bodyPr>
          <a:lstStyle/>
          <a:p>
            <a:pPr algn="l">
              <a:lnSpc>
                <a:spcPct val="100000"/>
              </a:lnSpc>
            </a:pPr>
            <a:r>
              <a:rPr lang="en-US" sz="1300" b="0" dirty="0">
                <a:solidFill>
                  <a:srgbClr val="B8C2D3"/>
                </a:solidFill>
                <a:latin typeface="Segoe UI"/>
              </a:rPr>
              <a:t>Split where topic/meaning actually shifts</a:t>
            </a:r>
          </a:p>
        </p:txBody>
      </p:sp>
      <p:sp>
        <p:nvSpPr>
          <p:cNvPr id="136" name="Shape 137"/>
          <p:cNvSpPr/>
          <p:nvPr/>
        </p:nvSpPr>
        <p:spPr>
          <a:xfrm>
            <a:off x="5237480" y="3429000"/>
            <a:ext cx="1704340" cy="127"/>
          </a:xfrm>
          <a:prstGeom prst="line">
            <a:avLst/>
          </a:prstGeom>
          <a:noFill/>
          <a:ln w="12700">
            <a:solidFill>
              <a:srgbClr val="2A3650"/>
            </a:solidFill>
          </a:ln>
        </p:spPr>
        <p:txBody>
          <a:bodyPr/>
          <a:lstStyle/>
          <a:p>
            <a:endParaRPr lang="en-US"/>
          </a:p>
        </p:txBody>
      </p:sp>
      <p:sp>
        <p:nvSpPr>
          <p:cNvPr id="137" name="Card text 138"/>
          <p:cNvSpPr txBox="1"/>
          <p:nvPr/>
        </p:nvSpPr>
        <p:spPr>
          <a:xfrm>
            <a:off x="5237480" y="3556000"/>
            <a:ext cx="1704340" cy="889000"/>
          </a:xfrm>
          <a:prstGeom prst="rect">
            <a:avLst/>
          </a:prstGeom>
          <a:noFill/>
        </p:spPr>
        <p:txBody>
          <a:bodyPr wrap="square" lIns="0" tIns="0" rIns="0" bIns="0" anchor="t">
            <a:noAutofit/>
          </a:bodyPr>
          <a:lstStyle/>
          <a:p>
            <a:pPr algn="l">
              <a:lnSpc>
                <a:spcPct val="100000"/>
              </a:lnSpc>
            </a:pPr>
            <a:r>
              <a:rPr lang="en-US" sz="1050" b="1" dirty="0">
                <a:solidFill>
                  <a:srgbClr val="34D399"/>
                </a:solidFill>
                <a:latin typeface="Segoe UI"/>
              </a:rPr>
              <a:t>ADVANTAGE</a:t>
            </a:r>
          </a:p>
          <a:p>
            <a:pPr algn="l">
              <a:lnSpc>
                <a:spcPct val="100000"/>
              </a:lnSpc>
              <a:spcBef>
                <a:spcPts val="200"/>
              </a:spcBef>
            </a:pPr>
            <a:r>
              <a:rPr lang="en-US" sz="1300" b="0" dirty="0">
                <a:solidFill>
                  <a:srgbClr val="E2E8F0"/>
                </a:solidFill>
                <a:latin typeface="Segoe UI"/>
              </a:rPr>
              <a:t>Can improve retrieval precision when topic boundaries matter.</a:t>
            </a:r>
          </a:p>
        </p:txBody>
      </p:sp>
      <p:sp>
        <p:nvSpPr>
          <p:cNvPr id="138" name="Shape 139"/>
          <p:cNvSpPr/>
          <p:nvPr/>
        </p:nvSpPr>
        <p:spPr>
          <a:xfrm>
            <a:off x="5237480" y="4470400"/>
            <a:ext cx="1704340" cy="127"/>
          </a:xfrm>
          <a:prstGeom prst="line">
            <a:avLst/>
          </a:prstGeom>
          <a:noFill/>
          <a:ln w="12700">
            <a:solidFill>
              <a:srgbClr val="2A3650"/>
            </a:solidFill>
          </a:ln>
        </p:spPr>
        <p:txBody>
          <a:bodyPr/>
          <a:lstStyle/>
          <a:p>
            <a:endParaRPr lang="en-US"/>
          </a:p>
        </p:txBody>
      </p:sp>
      <p:sp>
        <p:nvSpPr>
          <p:cNvPr id="139" name="Card text 140"/>
          <p:cNvSpPr txBox="1"/>
          <p:nvPr/>
        </p:nvSpPr>
        <p:spPr>
          <a:xfrm>
            <a:off x="5237480" y="4597400"/>
            <a:ext cx="1704340" cy="889000"/>
          </a:xfrm>
          <a:prstGeom prst="rect">
            <a:avLst/>
          </a:prstGeom>
          <a:noFill/>
        </p:spPr>
        <p:txBody>
          <a:bodyPr wrap="square" lIns="0" tIns="0" rIns="0" bIns="0" anchor="t">
            <a:noAutofit/>
          </a:bodyPr>
          <a:lstStyle/>
          <a:p>
            <a:pPr algn="l">
              <a:lnSpc>
                <a:spcPct val="100000"/>
              </a:lnSpc>
            </a:pPr>
            <a:r>
              <a:rPr lang="en-US" sz="1050" b="1" dirty="0">
                <a:solidFill>
                  <a:srgbClr val="F87171"/>
                </a:solidFill>
                <a:latin typeface="Segoe UI"/>
              </a:rPr>
              <a:t>TRADE-OFF</a:t>
            </a:r>
          </a:p>
          <a:p>
            <a:pPr algn="l">
              <a:lnSpc>
                <a:spcPct val="100000"/>
              </a:lnSpc>
              <a:spcBef>
                <a:spcPts val="200"/>
              </a:spcBef>
            </a:pPr>
            <a:r>
              <a:rPr lang="en-US" sz="1300" b="0" dirty="0">
                <a:solidFill>
                  <a:srgbClr val="E2E8F0"/>
                </a:solidFill>
                <a:latin typeface="Segoe UI"/>
              </a:rPr>
              <a:t>Slower, needs an embedding pass to chunk</a:t>
            </a:r>
          </a:p>
        </p:txBody>
      </p:sp>
      <p:sp>
        <p:nvSpPr>
          <p:cNvPr id="140" name="Shape 141"/>
          <p:cNvSpPr/>
          <p:nvPr/>
        </p:nvSpPr>
        <p:spPr>
          <a:xfrm>
            <a:off x="5135880" y="5511800"/>
            <a:ext cx="1907540" cy="787400"/>
          </a:xfrm>
          <a:prstGeom prst="roundRect">
            <a:avLst>
              <a:gd name="adj" fmla="val 8000"/>
            </a:avLst>
          </a:prstGeom>
          <a:solidFill>
            <a:srgbClr val="0F2A30"/>
          </a:solidFill>
          <a:ln>
            <a:noFill/>
          </a:ln>
        </p:spPr>
        <p:txBody>
          <a:bodyPr/>
          <a:lstStyle/>
          <a:p>
            <a:endParaRPr lang="en-US"/>
          </a:p>
        </p:txBody>
      </p:sp>
      <p:sp>
        <p:nvSpPr>
          <p:cNvPr id="141" name="Card text 142"/>
          <p:cNvSpPr txBox="1"/>
          <p:nvPr/>
        </p:nvSpPr>
        <p:spPr>
          <a:xfrm>
            <a:off x="5237480" y="5613400"/>
            <a:ext cx="1704340" cy="635000"/>
          </a:xfrm>
          <a:prstGeom prst="rect">
            <a:avLst/>
          </a:prstGeom>
          <a:noFill/>
        </p:spPr>
        <p:txBody>
          <a:bodyPr wrap="square" lIns="0" tIns="0" rIns="0" bIns="0" anchor="t">
            <a:noAutofit/>
          </a:bodyPr>
          <a:lstStyle/>
          <a:p>
            <a:pPr algn="l">
              <a:lnSpc>
                <a:spcPct val="100000"/>
              </a:lnSpc>
            </a:pPr>
            <a:r>
              <a:rPr lang="en-US" sz="1050" b="1" dirty="0">
                <a:solidFill>
                  <a:srgbClr val="2DD4BF"/>
                </a:solidFill>
                <a:latin typeface="Segoe UI"/>
              </a:rPr>
              <a:t>BEST FOR</a:t>
            </a:r>
          </a:p>
          <a:p>
            <a:pPr algn="l">
              <a:lnSpc>
                <a:spcPct val="100000"/>
              </a:lnSpc>
              <a:spcBef>
                <a:spcPts val="200"/>
              </a:spcBef>
            </a:pPr>
            <a:r>
              <a:rPr lang="en-US" sz="1250" b="1" dirty="0">
                <a:solidFill>
                  <a:srgbClr val="F1F5F9"/>
                </a:solidFill>
                <a:latin typeface="Segoe UI"/>
              </a:rPr>
              <a:t>Long documents that mix many topics</a:t>
            </a:r>
          </a:p>
        </p:txBody>
      </p:sp>
      <p:sp>
        <p:nvSpPr>
          <p:cNvPr id="142" name="Shape 143"/>
          <p:cNvSpPr/>
          <p:nvPr/>
        </p:nvSpPr>
        <p:spPr>
          <a:xfrm>
            <a:off x="7272020" y="1371600"/>
            <a:ext cx="2059940" cy="5003800"/>
          </a:xfrm>
          <a:prstGeom prst="roundRect">
            <a:avLst>
              <a:gd name="adj" fmla="val 8000"/>
            </a:avLst>
          </a:prstGeom>
          <a:solidFill>
            <a:srgbClr val="131C31"/>
          </a:solidFill>
          <a:ln w="12700">
            <a:solidFill>
              <a:srgbClr val="243049"/>
            </a:solidFill>
          </a:ln>
        </p:spPr>
        <p:txBody>
          <a:bodyPr/>
          <a:lstStyle/>
          <a:p>
            <a:endParaRPr lang="en-US"/>
          </a:p>
        </p:txBody>
      </p:sp>
      <p:sp>
        <p:nvSpPr>
          <p:cNvPr id="143" name="Card text 144"/>
          <p:cNvSpPr txBox="1"/>
          <p:nvPr/>
        </p:nvSpPr>
        <p:spPr>
          <a:xfrm>
            <a:off x="7449820" y="1549400"/>
            <a:ext cx="1704340" cy="203200"/>
          </a:xfrm>
          <a:prstGeom prst="rect">
            <a:avLst/>
          </a:prstGeom>
          <a:noFill/>
        </p:spPr>
        <p:txBody>
          <a:bodyPr wrap="square" lIns="0" tIns="0" rIns="0" bIns="0" anchor="t">
            <a:noAutofit/>
          </a:bodyPr>
          <a:lstStyle/>
          <a:p>
            <a:pPr algn="l">
              <a:lnSpc>
                <a:spcPct val="100000"/>
              </a:lnSpc>
            </a:pPr>
            <a:r>
              <a:rPr lang="en-US" sz="1200" b="1" dirty="0">
                <a:solidFill>
                  <a:srgbClr val="2DD4BF"/>
                </a:solidFill>
                <a:latin typeface="Segoe UI"/>
              </a:rPr>
              <a:t>04</a:t>
            </a:r>
          </a:p>
        </p:txBody>
      </p:sp>
      <p:sp>
        <p:nvSpPr>
          <p:cNvPr id="144" name="Card text 145"/>
          <p:cNvSpPr txBox="1"/>
          <p:nvPr/>
        </p:nvSpPr>
        <p:spPr>
          <a:xfrm>
            <a:off x="7449820" y="1778000"/>
            <a:ext cx="1704340" cy="304800"/>
          </a:xfrm>
          <a:prstGeom prst="rect">
            <a:avLst/>
          </a:prstGeom>
          <a:noFill/>
        </p:spPr>
        <p:txBody>
          <a:bodyPr wrap="square" lIns="0" tIns="0" rIns="0" bIns="0" anchor="t">
            <a:noAutofit/>
          </a:bodyPr>
          <a:lstStyle/>
          <a:p>
            <a:pPr algn="l">
              <a:lnSpc>
                <a:spcPct val="100000"/>
              </a:lnSpc>
            </a:pPr>
            <a:r>
              <a:rPr lang="en-US" sz="1600" b="1" dirty="0">
                <a:solidFill>
                  <a:srgbClr val="F1F5F9"/>
                </a:solidFill>
                <a:latin typeface="Segoe UI"/>
              </a:rPr>
              <a:t>Sliding Window</a:t>
            </a:r>
          </a:p>
        </p:txBody>
      </p:sp>
      <p:sp>
        <p:nvSpPr>
          <p:cNvPr id="145" name="Shape 146"/>
          <p:cNvSpPr/>
          <p:nvPr/>
        </p:nvSpPr>
        <p:spPr>
          <a:xfrm>
            <a:off x="7449820" y="2184400"/>
            <a:ext cx="715823" cy="177800"/>
          </a:xfrm>
          <a:prstGeom prst="rect">
            <a:avLst/>
          </a:prstGeom>
          <a:solidFill>
            <a:srgbClr val="2DD4BF">
              <a:alpha val="35000"/>
            </a:srgbClr>
          </a:solidFill>
          <a:ln w="9525">
            <a:solidFill>
              <a:srgbClr val="2DD4BF"/>
            </a:solidFill>
          </a:ln>
        </p:spPr>
        <p:txBody>
          <a:bodyPr/>
          <a:lstStyle/>
          <a:p>
            <a:endParaRPr lang="en-US"/>
          </a:p>
        </p:txBody>
      </p:sp>
      <p:sp>
        <p:nvSpPr>
          <p:cNvPr id="146" name="Shape 147"/>
          <p:cNvSpPr/>
          <p:nvPr/>
        </p:nvSpPr>
        <p:spPr>
          <a:xfrm>
            <a:off x="7944079" y="2311400"/>
            <a:ext cx="715823" cy="177800"/>
          </a:xfrm>
          <a:prstGeom prst="rect">
            <a:avLst/>
          </a:prstGeom>
          <a:solidFill>
            <a:srgbClr val="2DD4BF">
              <a:alpha val="35000"/>
            </a:srgbClr>
          </a:solidFill>
          <a:ln w="9525">
            <a:solidFill>
              <a:srgbClr val="2DD4BF"/>
            </a:solidFill>
          </a:ln>
        </p:spPr>
        <p:txBody>
          <a:bodyPr/>
          <a:lstStyle/>
          <a:p>
            <a:endParaRPr lang="en-US"/>
          </a:p>
        </p:txBody>
      </p:sp>
      <p:sp>
        <p:nvSpPr>
          <p:cNvPr id="147" name="Shape 148"/>
          <p:cNvSpPr/>
          <p:nvPr/>
        </p:nvSpPr>
        <p:spPr>
          <a:xfrm>
            <a:off x="8438337" y="2184400"/>
            <a:ext cx="715823" cy="177800"/>
          </a:xfrm>
          <a:prstGeom prst="rect">
            <a:avLst/>
          </a:prstGeom>
          <a:solidFill>
            <a:srgbClr val="2DD4BF">
              <a:alpha val="35000"/>
            </a:srgbClr>
          </a:solidFill>
          <a:ln w="9525">
            <a:solidFill>
              <a:srgbClr val="2DD4BF"/>
            </a:solidFill>
          </a:ln>
        </p:spPr>
        <p:txBody>
          <a:bodyPr/>
          <a:lstStyle/>
          <a:p>
            <a:endParaRPr lang="en-US"/>
          </a:p>
        </p:txBody>
      </p:sp>
      <p:sp>
        <p:nvSpPr>
          <p:cNvPr id="148" name="Card text 149"/>
          <p:cNvSpPr txBox="1"/>
          <p:nvPr/>
        </p:nvSpPr>
        <p:spPr>
          <a:xfrm>
            <a:off x="7449820" y="2641600"/>
            <a:ext cx="1704340" cy="711200"/>
          </a:xfrm>
          <a:prstGeom prst="rect">
            <a:avLst/>
          </a:prstGeom>
          <a:noFill/>
        </p:spPr>
        <p:txBody>
          <a:bodyPr wrap="square" lIns="0" tIns="0" rIns="0" bIns="0" anchor="t">
            <a:noAutofit/>
          </a:bodyPr>
          <a:lstStyle/>
          <a:p>
            <a:pPr algn="l">
              <a:lnSpc>
                <a:spcPct val="100000"/>
              </a:lnSpc>
            </a:pPr>
            <a:r>
              <a:rPr lang="en-US" sz="1300" b="0" dirty="0">
                <a:solidFill>
                  <a:srgbClr val="B8C2D3"/>
                </a:solidFill>
                <a:latin typeface="Segoe UI"/>
              </a:rPr>
              <a:t>Overlapping chunks share boundary text</a:t>
            </a:r>
          </a:p>
        </p:txBody>
      </p:sp>
      <p:sp>
        <p:nvSpPr>
          <p:cNvPr id="149" name="Shape 150"/>
          <p:cNvSpPr/>
          <p:nvPr/>
        </p:nvSpPr>
        <p:spPr>
          <a:xfrm>
            <a:off x="7449820" y="3429000"/>
            <a:ext cx="1704340" cy="127"/>
          </a:xfrm>
          <a:prstGeom prst="line">
            <a:avLst/>
          </a:prstGeom>
          <a:noFill/>
          <a:ln w="12700">
            <a:solidFill>
              <a:srgbClr val="2A3650"/>
            </a:solidFill>
          </a:ln>
        </p:spPr>
        <p:txBody>
          <a:bodyPr/>
          <a:lstStyle/>
          <a:p>
            <a:endParaRPr lang="en-US"/>
          </a:p>
        </p:txBody>
      </p:sp>
      <p:sp>
        <p:nvSpPr>
          <p:cNvPr id="150" name="Card text 151"/>
          <p:cNvSpPr txBox="1"/>
          <p:nvPr/>
        </p:nvSpPr>
        <p:spPr>
          <a:xfrm>
            <a:off x="7449820" y="3556000"/>
            <a:ext cx="1704340" cy="889000"/>
          </a:xfrm>
          <a:prstGeom prst="rect">
            <a:avLst/>
          </a:prstGeom>
          <a:noFill/>
        </p:spPr>
        <p:txBody>
          <a:bodyPr wrap="square" lIns="0" tIns="0" rIns="0" bIns="0" anchor="t">
            <a:noAutofit/>
          </a:bodyPr>
          <a:lstStyle/>
          <a:p>
            <a:pPr algn="l">
              <a:lnSpc>
                <a:spcPct val="100000"/>
              </a:lnSpc>
            </a:pPr>
            <a:r>
              <a:rPr lang="en-US" sz="1050" b="1" dirty="0">
                <a:solidFill>
                  <a:srgbClr val="34D399"/>
                </a:solidFill>
                <a:latin typeface="Segoe UI"/>
              </a:rPr>
              <a:t>ADVANTAGE</a:t>
            </a:r>
          </a:p>
          <a:p>
            <a:pPr algn="l">
              <a:lnSpc>
                <a:spcPct val="100000"/>
              </a:lnSpc>
              <a:spcBef>
                <a:spcPts val="200"/>
              </a:spcBef>
            </a:pPr>
            <a:r>
              <a:rPr lang="en-US" sz="1300" b="0" dirty="0">
                <a:solidFill>
                  <a:srgbClr val="E2E8F0"/>
                </a:solidFill>
                <a:latin typeface="Segoe UI"/>
              </a:rPr>
              <a:t>No fact lost at a chunk edge</a:t>
            </a:r>
          </a:p>
        </p:txBody>
      </p:sp>
      <p:sp>
        <p:nvSpPr>
          <p:cNvPr id="151" name="Shape 152"/>
          <p:cNvSpPr/>
          <p:nvPr/>
        </p:nvSpPr>
        <p:spPr>
          <a:xfrm>
            <a:off x="7449820" y="4470400"/>
            <a:ext cx="1704340" cy="127"/>
          </a:xfrm>
          <a:prstGeom prst="line">
            <a:avLst/>
          </a:prstGeom>
          <a:noFill/>
          <a:ln w="12700">
            <a:solidFill>
              <a:srgbClr val="2A3650"/>
            </a:solidFill>
          </a:ln>
        </p:spPr>
        <p:txBody>
          <a:bodyPr/>
          <a:lstStyle/>
          <a:p>
            <a:endParaRPr lang="en-US"/>
          </a:p>
        </p:txBody>
      </p:sp>
      <p:sp>
        <p:nvSpPr>
          <p:cNvPr id="152" name="Card text 153"/>
          <p:cNvSpPr txBox="1"/>
          <p:nvPr/>
        </p:nvSpPr>
        <p:spPr>
          <a:xfrm>
            <a:off x="7449820" y="4597400"/>
            <a:ext cx="1704340" cy="889000"/>
          </a:xfrm>
          <a:prstGeom prst="rect">
            <a:avLst/>
          </a:prstGeom>
          <a:noFill/>
        </p:spPr>
        <p:txBody>
          <a:bodyPr wrap="square" lIns="0" tIns="0" rIns="0" bIns="0" anchor="t">
            <a:noAutofit/>
          </a:bodyPr>
          <a:lstStyle/>
          <a:p>
            <a:pPr algn="l">
              <a:lnSpc>
                <a:spcPct val="100000"/>
              </a:lnSpc>
            </a:pPr>
            <a:r>
              <a:rPr lang="en-US" sz="1050" b="1" dirty="0">
                <a:solidFill>
                  <a:srgbClr val="F87171"/>
                </a:solidFill>
                <a:latin typeface="Segoe UI"/>
              </a:rPr>
              <a:t>TRADE-OFF</a:t>
            </a:r>
          </a:p>
          <a:p>
            <a:pPr algn="l">
              <a:lnSpc>
                <a:spcPct val="100000"/>
              </a:lnSpc>
              <a:spcBef>
                <a:spcPts val="200"/>
              </a:spcBef>
            </a:pPr>
            <a:r>
              <a:rPr lang="en-US" sz="1300" b="0" dirty="0">
                <a:solidFill>
                  <a:srgbClr val="E2E8F0"/>
                </a:solidFill>
                <a:latin typeface="Segoe UI"/>
              </a:rPr>
              <a:t>More chunks, more storage, some duplication</a:t>
            </a:r>
          </a:p>
        </p:txBody>
      </p:sp>
      <p:sp>
        <p:nvSpPr>
          <p:cNvPr id="153" name="Shape 154"/>
          <p:cNvSpPr/>
          <p:nvPr/>
        </p:nvSpPr>
        <p:spPr>
          <a:xfrm>
            <a:off x="7348220" y="5511800"/>
            <a:ext cx="1907540" cy="787400"/>
          </a:xfrm>
          <a:prstGeom prst="roundRect">
            <a:avLst>
              <a:gd name="adj" fmla="val 8000"/>
            </a:avLst>
          </a:prstGeom>
          <a:solidFill>
            <a:srgbClr val="0F2A30"/>
          </a:solidFill>
          <a:ln>
            <a:noFill/>
          </a:ln>
        </p:spPr>
        <p:txBody>
          <a:bodyPr/>
          <a:lstStyle/>
          <a:p>
            <a:endParaRPr lang="en-US"/>
          </a:p>
        </p:txBody>
      </p:sp>
      <p:sp>
        <p:nvSpPr>
          <p:cNvPr id="154" name="Card text 155"/>
          <p:cNvSpPr txBox="1"/>
          <p:nvPr/>
        </p:nvSpPr>
        <p:spPr>
          <a:xfrm>
            <a:off x="7449820" y="5613400"/>
            <a:ext cx="1704340" cy="635000"/>
          </a:xfrm>
          <a:prstGeom prst="rect">
            <a:avLst/>
          </a:prstGeom>
          <a:noFill/>
        </p:spPr>
        <p:txBody>
          <a:bodyPr wrap="square" lIns="0" tIns="0" rIns="0" bIns="0" anchor="t">
            <a:noAutofit/>
          </a:bodyPr>
          <a:lstStyle/>
          <a:p>
            <a:pPr algn="l">
              <a:lnSpc>
                <a:spcPct val="100000"/>
              </a:lnSpc>
            </a:pPr>
            <a:r>
              <a:rPr lang="en-US" sz="1050" b="1" dirty="0">
                <a:solidFill>
                  <a:srgbClr val="2DD4BF"/>
                </a:solidFill>
                <a:latin typeface="Segoe UI"/>
              </a:rPr>
              <a:t>BEST FOR</a:t>
            </a:r>
          </a:p>
          <a:p>
            <a:pPr algn="l">
              <a:lnSpc>
                <a:spcPct val="100000"/>
              </a:lnSpc>
              <a:spcBef>
                <a:spcPts val="200"/>
              </a:spcBef>
            </a:pPr>
            <a:r>
              <a:rPr lang="en-US" sz="1250" b="1" dirty="0">
                <a:solidFill>
                  <a:srgbClr val="F1F5F9"/>
                </a:solidFill>
                <a:latin typeface="Segoe UI"/>
              </a:rPr>
              <a:t>Dense prose: contracts, specs</a:t>
            </a:r>
          </a:p>
        </p:txBody>
      </p:sp>
      <p:sp>
        <p:nvSpPr>
          <p:cNvPr id="155" name="Shape 156"/>
          <p:cNvSpPr/>
          <p:nvPr/>
        </p:nvSpPr>
        <p:spPr>
          <a:xfrm>
            <a:off x="9484360" y="1371600"/>
            <a:ext cx="2059940" cy="5003800"/>
          </a:xfrm>
          <a:prstGeom prst="roundRect">
            <a:avLst>
              <a:gd name="adj" fmla="val 8000"/>
            </a:avLst>
          </a:prstGeom>
          <a:solidFill>
            <a:srgbClr val="131C31"/>
          </a:solidFill>
          <a:ln w="12700">
            <a:solidFill>
              <a:srgbClr val="243049"/>
            </a:solidFill>
          </a:ln>
        </p:spPr>
        <p:txBody>
          <a:bodyPr/>
          <a:lstStyle/>
          <a:p>
            <a:endParaRPr lang="en-US"/>
          </a:p>
        </p:txBody>
      </p:sp>
      <p:sp>
        <p:nvSpPr>
          <p:cNvPr id="156" name="Card text 157"/>
          <p:cNvSpPr txBox="1"/>
          <p:nvPr/>
        </p:nvSpPr>
        <p:spPr>
          <a:xfrm>
            <a:off x="9662160" y="1549400"/>
            <a:ext cx="1704340" cy="203200"/>
          </a:xfrm>
          <a:prstGeom prst="rect">
            <a:avLst/>
          </a:prstGeom>
          <a:noFill/>
        </p:spPr>
        <p:txBody>
          <a:bodyPr wrap="square" lIns="0" tIns="0" rIns="0" bIns="0" anchor="t">
            <a:noAutofit/>
          </a:bodyPr>
          <a:lstStyle/>
          <a:p>
            <a:pPr algn="l">
              <a:lnSpc>
                <a:spcPct val="100000"/>
              </a:lnSpc>
            </a:pPr>
            <a:r>
              <a:rPr lang="en-US" sz="1200" b="1" dirty="0">
                <a:solidFill>
                  <a:srgbClr val="2DD4BF"/>
                </a:solidFill>
                <a:latin typeface="Segoe UI"/>
              </a:rPr>
              <a:t>05</a:t>
            </a:r>
          </a:p>
        </p:txBody>
      </p:sp>
      <p:sp>
        <p:nvSpPr>
          <p:cNvPr id="157" name="Card text 158"/>
          <p:cNvSpPr txBox="1"/>
          <p:nvPr/>
        </p:nvSpPr>
        <p:spPr>
          <a:xfrm>
            <a:off x="9662160" y="1778000"/>
            <a:ext cx="1704340" cy="304800"/>
          </a:xfrm>
          <a:prstGeom prst="rect">
            <a:avLst/>
          </a:prstGeom>
          <a:noFill/>
        </p:spPr>
        <p:txBody>
          <a:bodyPr wrap="square" lIns="0" tIns="0" rIns="0" bIns="0" anchor="t">
            <a:noAutofit/>
          </a:bodyPr>
          <a:lstStyle/>
          <a:p>
            <a:pPr algn="l">
              <a:lnSpc>
                <a:spcPct val="100000"/>
              </a:lnSpc>
            </a:pPr>
            <a:r>
              <a:rPr lang="en-US" sz="1600" b="1" dirty="0">
                <a:solidFill>
                  <a:srgbClr val="F1F5F9"/>
                </a:solidFill>
                <a:latin typeface="Segoe UI"/>
              </a:rPr>
              <a:t>Parent-Child</a:t>
            </a:r>
          </a:p>
        </p:txBody>
      </p:sp>
      <p:sp>
        <p:nvSpPr>
          <p:cNvPr id="158" name="Shape 159"/>
          <p:cNvSpPr/>
          <p:nvPr/>
        </p:nvSpPr>
        <p:spPr>
          <a:xfrm>
            <a:off x="9662160" y="2159000"/>
            <a:ext cx="1704340" cy="355600"/>
          </a:xfrm>
          <a:prstGeom prst="rect">
            <a:avLst/>
          </a:prstGeom>
          <a:noFill/>
          <a:ln w="12700">
            <a:solidFill>
              <a:srgbClr val="2DD4BF"/>
            </a:solidFill>
          </a:ln>
        </p:spPr>
        <p:txBody>
          <a:bodyPr/>
          <a:lstStyle/>
          <a:p>
            <a:endParaRPr lang="en-US"/>
          </a:p>
        </p:txBody>
      </p:sp>
      <p:sp>
        <p:nvSpPr>
          <p:cNvPr id="159" name="Shape 160"/>
          <p:cNvSpPr/>
          <p:nvPr/>
        </p:nvSpPr>
        <p:spPr>
          <a:xfrm>
            <a:off x="9712960" y="2235200"/>
            <a:ext cx="362585" cy="203200"/>
          </a:xfrm>
          <a:prstGeom prst="rect">
            <a:avLst/>
          </a:prstGeom>
          <a:solidFill>
            <a:srgbClr val="2DD4BF">
              <a:alpha val="30000"/>
            </a:srgbClr>
          </a:solidFill>
          <a:ln w="9525">
            <a:solidFill>
              <a:srgbClr val="2DD4BF"/>
            </a:solidFill>
          </a:ln>
        </p:spPr>
        <p:txBody>
          <a:bodyPr/>
          <a:lstStyle/>
          <a:p>
            <a:endParaRPr lang="en-US"/>
          </a:p>
        </p:txBody>
      </p:sp>
      <p:sp>
        <p:nvSpPr>
          <p:cNvPr id="160" name="Shape 161"/>
          <p:cNvSpPr/>
          <p:nvPr/>
        </p:nvSpPr>
        <p:spPr>
          <a:xfrm>
            <a:off x="10126345" y="2235200"/>
            <a:ext cx="362585" cy="203200"/>
          </a:xfrm>
          <a:prstGeom prst="rect">
            <a:avLst/>
          </a:prstGeom>
          <a:solidFill>
            <a:srgbClr val="2DD4BF">
              <a:alpha val="90000"/>
            </a:srgbClr>
          </a:solidFill>
          <a:ln w="9525">
            <a:solidFill>
              <a:srgbClr val="2DD4BF"/>
            </a:solidFill>
          </a:ln>
        </p:spPr>
        <p:txBody>
          <a:bodyPr/>
          <a:lstStyle/>
          <a:p>
            <a:endParaRPr lang="en-US"/>
          </a:p>
        </p:txBody>
      </p:sp>
      <p:sp>
        <p:nvSpPr>
          <p:cNvPr id="161" name="Shape 162"/>
          <p:cNvSpPr/>
          <p:nvPr/>
        </p:nvSpPr>
        <p:spPr>
          <a:xfrm>
            <a:off x="10539730" y="2235200"/>
            <a:ext cx="362585" cy="203200"/>
          </a:xfrm>
          <a:prstGeom prst="rect">
            <a:avLst/>
          </a:prstGeom>
          <a:solidFill>
            <a:srgbClr val="2DD4BF">
              <a:alpha val="30000"/>
            </a:srgbClr>
          </a:solidFill>
          <a:ln w="9525">
            <a:solidFill>
              <a:srgbClr val="2DD4BF"/>
            </a:solidFill>
          </a:ln>
        </p:spPr>
        <p:txBody>
          <a:bodyPr/>
          <a:lstStyle/>
          <a:p>
            <a:endParaRPr lang="en-US"/>
          </a:p>
        </p:txBody>
      </p:sp>
      <p:sp>
        <p:nvSpPr>
          <p:cNvPr id="162" name="Shape 163"/>
          <p:cNvSpPr/>
          <p:nvPr/>
        </p:nvSpPr>
        <p:spPr>
          <a:xfrm>
            <a:off x="10953115" y="2235200"/>
            <a:ext cx="362585" cy="203200"/>
          </a:xfrm>
          <a:prstGeom prst="rect">
            <a:avLst/>
          </a:prstGeom>
          <a:solidFill>
            <a:srgbClr val="2DD4BF">
              <a:alpha val="30000"/>
            </a:srgbClr>
          </a:solidFill>
          <a:ln w="9525">
            <a:solidFill>
              <a:srgbClr val="2DD4BF"/>
            </a:solidFill>
          </a:ln>
        </p:spPr>
        <p:txBody>
          <a:bodyPr/>
          <a:lstStyle/>
          <a:p>
            <a:endParaRPr lang="en-US"/>
          </a:p>
        </p:txBody>
      </p:sp>
      <p:sp>
        <p:nvSpPr>
          <p:cNvPr id="163" name="Card text 164"/>
          <p:cNvSpPr txBox="1"/>
          <p:nvPr/>
        </p:nvSpPr>
        <p:spPr>
          <a:xfrm>
            <a:off x="9662160" y="2641600"/>
            <a:ext cx="1704340" cy="711200"/>
          </a:xfrm>
          <a:prstGeom prst="rect">
            <a:avLst/>
          </a:prstGeom>
          <a:noFill/>
        </p:spPr>
        <p:txBody>
          <a:bodyPr wrap="square" lIns="0" tIns="0" rIns="0" bIns="0" anchor="t">
            <a:noAutofit/>
          </a:bodyPr>
          <a:lstStyle/>
          <a:p>
            <a:pPr algn="l">
              <a:lnSpc>
                <a:spcPct val="100000"/>
              </a:lnSpc>
            </a:pPr>
            <a:r>
              <a:rPr lang="en-US" sz="1300" b="0" dirty="0">
                <a:solidFill>
                  <a:srgbClr val="B8C2D3"/>
                </a:solidFill>
                <a:latin typeface="Segoe UI"/>
              </a:rPr>
              <a:t>Index small chunks, return larger parent context</a:t>
            </a:r>
          </a:p>
        </p:txBody>
      </p:sp>
      <p:sp>
        <p:nvSpPr>
          <p:cNvPr id="164" name="Shape 165"/>
          <p:cNvSpPr/>
          <p:nvPr/>
        </p:nvSpPr>
        <p:spPr>
          <a:xfrm>
            <a:off x="9662160" y="3429000"/>
            <a:ext cx="1704340" cy="127"/>
          </a:xfrm>
          <a:prstGeom prst="line">
            <a:avLst/>
          </a:prstGeom>
          <a:noFill/>
          <a:ln w="12700">
            <a:solidFill>
              <a:srgbClr val="2A3650"/>
            </a:solidFill>
          </a:ln>
        </p:spPr>
        <p:txBody>
          <a:bodyPr/>
          <a:lstStyle/>
          <a:p>
            <a:endParaRPr lang="en-US"/>
          </a:p>
        </p:txBody>
      </p:sp>
      <p:sp>
        <p:nvSpPr>
          <p:cNvPr id="165" name="Card text 166"/>
          <p:cNvSpPr txBox="1"/>
          <p:nvPr/>
        </p:nvSpPr>
        <p:spPr>
          <a:xfrm>
            <a:off x="9662160" y="3556000"/>
            <a:ext cx="1704340" cy="889000"/>
          </a:xfrm>
          <a:prstGeom prst="rect">
            <a:avLst/>
          </a:prstGeom>
          <a:noFill/>
        </p:spPr>
        <p:txBody>
          <a:bodyPr wrap="square" lIns="0" tIns="0" rIns="0" bIns="0" anchor="t">
            <a:noAutofit/>
          </a:bodyPr>
          <a:lstStyle/>
          <a:p>
            <a:pPr algn="l">
              <a:lnSpc>
                <a:spcPct val="100000"/>
              </a:lnSpc>
            </a:pPr>
            <a:r>
              <a:rPr lang="en-US" sz="1050" b="1" dirty="0">
                <a:solidFill>
                  <a:srgbClr val="34D399"/>
                </a:solidFill>
                <a:latin typeface="Segoe UI"/>
              </a:rPr>
              <a:t>ADVANTAGE</a:t>
            </a:r>
          </a:p>
          <a:p>
            <a:pPr algn="l">
              <a:lnSpc>
                <a:spcPct val="100000"/>
              </a:lnSpc>
              <a:spcBef>
                <a:spcPts val="200"/>
              </a:spcBef>
            </a:pPr>
            <a:r>
              <a:rPr lang="en-US" sz="1300" b="0" dirty="0">
                <a:solidFill>
                  <a:srgbClr val="E2E8F0"/>
                </a:solidFill>
                <a:latin typeface="Segoe UI"/>
              </a:rPr>
              <a:t>Precise retrieval + complete context</a:t>
            </a:r>
          </a:p>
        </p:txBody>
      </p:sp>
      <p:sp>
        <p:nvSpPr>
          <p:cNvPr id="166" name="Shape 167"/>
          <p:cNvSpPr/>
          <p:nvPr/>
        </p:nvSpPr>
        <p:spPr>
          <a:xfrm>
            <a:off x="9662160" y="4470400"/>
            <a:ext cx="1704340" cy="127"/>
          </a:xfrm>
          <a:prstGeom prst="line">
            <a:avLst/>
          </a:prstGeom>
          <a:noFill/>
          <a:ln w="12700">
            <a:solidFill>
              <a:srgbClr val="2A3650"/>
            </a:solidFill>
          </a:ln>
        </p:spPr>
        <p:txBody>
          <a:bodyPr/>
          <a:lstStyle/>
          <a:p>
            <a:endParaRPr lang="en-US"/>
          </a:p>
        </p:txBody>
      </p:sp>
      <p:sp>
        <p:nvSpPr>
          <p:cNvPr id="167" name="Card text 168"/>
          <p:cNvSpPr txBox="1"/>
          <p:nvPr/>
        </p:nvSpPr>
        <p:spPr>
          <a:xfrm>
            <a:off x="9662160" y="4597400"/>
            <a:ext cx="1704340" cy="889000"/>
          </a:xfrm>
          <a:prstGeom prst="rect">
            <a:avLst/>
          </a:prstGeom>
          <a:noFill/>
        </p:spPr>
        <p:txBody>
          <a:bodyPr wrap="square" lIns="0" tIns="0" rIns="0" bIns="0" anchor="t">
            <a:noAutofit/>
          </a:bodyPr>
          <a:lstStyle/>
          <a:p>
            <a:pPr algn="l">
              <a:lnSpc>
                <a:spcPct val="100000"/>
              </a:lnSpc>
            </a:pPr>
            <a:r>
              <a:rPr lang="en-US" sz="1050" b="1" dirty="0">
                <a:solidFill>
                  <a:srgbClr val="F87171"/>
                </a:solidFill>
                <a:latin typeface="Segoe UI"/>
              </a:rPr>
              <a:t>TRADE-OFF</a:t>
            </a:r>
          </a:p>
          <a:p>
            <a:pPr algn="l">
              <a:lnSpc>
                <a:spcPct val="100000"/>
              </a:lnSpc>
              <a:spcBef>
                <a:spcPts val="200"/>
              </a:spcBef>
            </a:pPr>
            <a:r>
              <a:rPr lang="en-US" sz="1300" b="0" dirty="0">
                <a:solidFill>
                  <a:srgbClr val="E2E8F0"/>
                </a:solidFill>
                <a:latin typeface="Segoe UI"/>
              </a:rPr>
              <a:t>More moving parts to implement</a:t>
            </a:r>
          </a:p>
        </p:txBody>
      </p:sp>
      <p:sp>
        <p:nvSpPr>
          <p:cNvPr id="168" name="Shape 169"/>
          <p:cNvSpPr/>
          <p:nvPr/>
        </p:nvSpPr>
        <p:spPr>
          <a:xfrm>
            <a:off x="9560560" y="5511800"/>
            <a:ext cx="1907540" cy="787400"/>
          </a:xfrm>
          <a:prstGeom prst="roundRect">
            <a:avLst>
              <a:gd name="adj" fmla="val 8000"/>
            </a:avLst>
          </a:prstGeom>
          <a:solidFill>
            <a:srgbClr val="0F2A30"/>
          </a:solidFill>
          <a:ln>
            <a:noFill/>
          </a:ln>
        </p:spPr>
        <p:txBody>
          <a:bodyPr/>
          <a:lstStyle/>
          <a:p>
            <a:endParaRPr lang="en-US"/>
          </a:p>
        </p:txBody>
      </p:sp>
      <p:sp>
        <p:nvSpPr>
          <p:cNvPr id="169" name="Card text 170"/>
          <p:cNvSpPr txBox="1"/>
          <p:nvPr/>
        </p:nvSpPr>
        <p:spPr>
          <a:xfrm>
            <a:off x="9662160" y="5613400"/>
            <a:ext cx="1704340" cy="635000"/>
          </a:xfrm>
          <a:prstGeom prst="rect">
            <a:avLst/>
          </a:prstGeom>
          <a:noFill/>
        </p:spPr>
        <p:txBody>
          <a:bodyPr wrap="square" lIns="0" tIns="0" rIns="0" bIns="0" anchor="t">
            <a:noAutofit/>
          </a:bodyPr>
          <a:lstStyle/>
          <a:p>
            <a:pPr algn="l">
              <a:lnSpc>
                <a:spcPct val="100000"/>
              </a:lnSpc>
            </a:pPr>
            <a:r>
              <a:rPr lang="en-US" sz="1050" b="1" dirty="0">
                <a:solidFill>
                  <a:srgbClr val="2DD4BF"/>
                </a:solidFill>
                <a:latin typeface="Segoe UI"/>
              </a:rPr>
              <a:t>BEST FOR</a:t>
            </a:r>
          </a:p>
          <a:p>
            <a:pPr algn="l">
              <a:lnSpc>
                <a:spcPct val="100000"/>
              </a:lnSpc>
              <a:spcBef>
                <a:spcPts val="200"/>
              </a:spcBef>
            </a:pPr>
            <a:r>
              <a:rPr lang="en-US" sz="1250" b="1" dirty="0">
                <a:solidFill>
                  <a:srgbClr val="F1F5F9"/>
                </a:solidFill>
                <a:latin typeface="Segoe UI"/>
              </a:rPr>
              <a:t>Manuals and policies that need context</a:t>
            </a:r>
          </a:p>
        </p:txBody>
      </p:sp>
      <p:sp>
        <p:nvSpPr>
          <p:cNvPr id="34" name="TextBox 3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5" name="TextBox 3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20</a:t>
            </a:r>
          </a:p>
        </p:txBody>
      </p:sp>
    </p:spTree>
    <p:extLst>
      <p:ext uri="{BB962C8B-B14F-4D97-AF65-F5344CB8AC3E}">
        <p14:creationId xmlns:p14="http://schemas.microsoft.com/office/powerpoint/2010/main" val="2739396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CHUNKING STRATEGIES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One leave policy, chunked five ways</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Example 101"/>
          <p:cNvSpPr/>
          <p:nvPr/>
        </p:nvSpPr>
        <p:spPr>
          <a:xfrm>
            <a:off x="635000" y="1397000"/>
            <a:ext cx="3175000" cy="4953000"/>
          </a:xfrm>
          <a:prstGeom prst="roundRect">
            <a:avLst>
              <a:gd name="adj" fmla="val 10000"/>
            </a:avLst>
          </a:prstGeom>
          <a:solidFill>
            <a:srgbClr val="131C31"/>
          </a:solidFill>
          <a:ln w="12700">
            <a:solidFill>
              <a:srgbClr val="243049"/>
            </a:solidFill>
          </a:ln>
        </p:spPr>
        <p:txBody>
          <a:bodyPr wrap="square" lIns="0" tIns="0" rIns="0" bIns="0" anchor="t">
            <a:noAutofit/>
          </a:bodyPr>
          <a:lstStyle/>
          <a:p>
            <a:endParaRPr lang="en-US"/>
          </a:p>
        </p:txBody>
      </p:sp>
      <p:sp>
        <p:nvSpPr>
          <p:cNvPr id="101" name="Example 102"/>
          <p:cNvSpPr txBox="1"/>
          <p:nvPr/>
        </p:nvSpPr>
        <p:spPr>
          <a:xfrm>
            <a:off x="838200" y="1600200"/>
            <a:ext cx="2768600" cy="45720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SAMPLE DOCUMENT</a:t>
            </a:r>
          </a:p>
          <a:p>
            <a:pPr algn="l">
              <a:spcBef>
                <a:spcPts val="1200"/>
              </a:spcBef>
            </a:pPr>
            <a:r>
              <a:rPr lang="en-US" sz="1400" b="1" dirty="0">
                <a:solidFill>
                  <a:srgbClr val="F1F5F9"/>
                </a:solidFill>
                <a:latin typeface="Segoe UI"/>
              </a:rPr>
              <a:t>Annual leave</a:t>
            </a:r>
          </a:p>
          <a:p>
            <a:pPr algn="l">
              <a:spcBef>
                <a:spcPts val="400"/>
              </a:spcBef>
            </a:pPr>
            <a:r>
              <a:rPr lang="en-US" sz="1300" b="0" dirty="0">
                <a:solidFill>
                  <a:srgbClr val="E2E8F0"/>
                </a:solidFill>
                <a:latin typeface="Segoe UI"/>
              </a:rPr>
              <a:t>Employees accrue 1.5 days of leave per month. Up to 10 unused days carry over. Public holidays follow the local office calendar.</a:t>
            </a:r>
          </a:p>
          <a:p>
            <a:pPr algn="l">
              <a:spcBef>
                <a:spcPts val="1200"/>
              </a:spcBef>
            </a:pPr>
            <a:r>
              <a:rPr lang="en-US" sz="1400" b="1" dirty="0">
                <a:solidFill>
                  <a:srgbClr val="F1F5F9"/>
                </a:solidFill>
                <a:latin typeface="Segoe UI"/>
              </a:rPr>
              <a:t>Sick leave</a:t>
            </a:r>
          </a:p>
          <a:p>
            <a:pPr algn="l">
              <a:spcBef>
                <a:spcPts val="400"/>
              </a:spcBef>
            </a:pPr>
            <a:r>
              <a:rPr lang="en-US" sz="1300" b="0" dirty="0">
                <a:solidFill>
                  <a:srgbClr val="E2E8F0"/>
                </a:solidFill>
                <a:latin typeface="Segoe UI"/>
              </a:rPr>
              <a:t>A doctor's note is required after 3 consecutive sick days.</a:t>
            </a:r>
          </a:p>
        </p:txBody>
      </p:sp>
      <p:sp>
        <p:nvSpPr>
          <p:cNvPr id="102" name="Example 103"/>
          <p:cNvSpPr txBox="1"/>
          <p:nvPr/>
        </p:nvSpPr>
        <p:spPr>
          <a:xfrm>
            <a:off x="4038600" y="1397000"/>
            <a:ext cx="7505700" cy="228600"/>
          </a:xfrm>
          <a:prstGeom prst="rect">
            <a:avLst/>
          </a:prstGeom>
          <a:noFill/>
          <a:ln>
            <a:noFill/>
          </a:ln>
        </p:spPr>
        <p:txBody>
          <a:bodyPr wrap="square" lIns="0" tIns="0" rIns="0" bIns="0" anchor="t">
            <a:noAutofit/>
          </a:bodyPr>
          <a:lstStyle/>
          <a:p>
            <a:pPr algn="l"/>
            <a:r>
              <a:rPr lang="en-US" sz="1350" b="1" dirty="0">
                <a:solidFill>
                  <a:srgbClr val="F1F5F9"/>
                </a:solidFill>
                <a:latin typeface="Segoe UI"/>
              </a:rPr>
              <a:t>Fixed size   </a:t>
            </a:r>
            <a:r>
              <a:rPr lang="en-US" sz="1200" b="0" dirty="0">
                <a:solidFill>
                  <a:srgbClr val="B8C2D3"/>
                </a:solidFill>
                <a:latin typeface="Segoe UI"/>
              </a:rPr>
              <a:t>Every ~45 characters; cuts words in half</a:t>
            </a:r>
          </a:p>
        </p:txBody>
      </p:sp>
      <p:sp>
        <p:nvSpPr>
          <p:cNvPr id="103" name="Example 104"/>
          <p:cNvSpPr/>
          <p:nvPr/>
        </p:nvSpPr>
        <p:spPr>
          <a:xfrm>
            <a:off x="4038600" y="1676400"/>
            <a:ext cx="2434167"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Employees accrue 1.5 days of leave per </a:t>
            </a:r>
            <a:r>
              <a:rPr lang="en-US" sz="1200" b="1" dirty="0">
                <a:solidFill>
                  <a:srgbClr val="F87171"/>
                </a:solidFill>
                <a:latin typeface="Segoe UI"/>
              </a:rPr>
              <a:t>mo</a:t>
            </a:r>
          </a:p>
        </p:txBody>
      </p:sp>
      <p:sp>
        <p:nvSpPr>
          <p:cNvPr id="104" name="Example 105"/>
          <p:cNvSpPr/>
          <p:nvPr/>
        </p:nvSpPr>
        <p:spPr>
          <a:xfrm>
            <a:off x="6574367" y="1676400"/>
            <a:ext cx="2434167"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1" dirty="0">
                <a:solidFill>
                  <a:srgbClr val="F87171"/>
                </a:solidFill>
                <a:latin typeface="Segoe UI"/>
              </a:rPr>
              <a:t>nth</a:t>
            </a:r>
            <a:r>
              <a:rPr lang="en-US" sz="1200" b="0" dirty="0">
                <a:solidFill>
                  <a:srgbClr val="E2E8F0"/>
                </a:solidFill>
                <a:latin typeface="Segoe UI"/>
              </a:rPr>
              <a:t>. Up to 10 unused days carry over. </a:t>
            </a:r>
            <a:r>
              <a:rPr lang="en-US" sz="1200" b="1" dirty="0">
                <a:solidFill>
                  <a:srgbClr val="F87171"/>
                </a:solidFill>
                <a:latin typeface="Segoe UI"/>
              </a:rPr>
              <a:t>Pu</a:t>
            </a:r>
          </a:p>
        </p:txBody>
      </p:sp>
      <p:sp>
        <p:nvSpPr>
          <p:cNvPr id="105" name="Example 106"/>
          <p:cNvSpPr/>
          <p:nvPr/>
        </p:nvSpPr>
        <p:spPr>
          <a:xfrm>
            <a:off x="9110133" y="1676400"/>
            <a:ext cx="2434167"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1" dirty="0">
                <a:solidFill>
                  <a:srgbClr val="F87171"/>
                </a:solidFill>
                <a:latin typeface="Segoe UI"/>
              </a:rPr>
              <a:t>blic</a:t>
            </a:r>
            <a:r>
              <a:rPr lang="en-US" sz="1200" b="0" dirty="0">
                <a:solidFill>
                  <a:srgbClr val="E2E8F0"/>
                </a:solidFill>
                <a:latin typeface="Segoe UI"/>
              </a:rPr>
              <a:t> holidays follow the local office cal…</a:t>
            </a:r>
          </a:p>
        </p:txBody>
      </p:sp>
      <p:sp>
        <p:nvSpPr>
          <p:cNvPr id="106" name="Example 107"/>
          <p:cNvSpPr txBox="1"/>
          <p:nvPr/>
        </p:nvSpPr>
        <p:spPr>
          <a:xfrm>
            <a:off x="4038600" y="2387600"/>
            <a:ext cx="7505700" cy="228600"/>
          </a:xfrm>
          <a:prstGeom prst="rect">
            <a:avLst/>
          </a:prstGeom>
          <a:noFill/>
          <a:ln>
            <a:noFill/>
          </a:ln>
        </p:spPr>
        <p:txBody>
          <a:bodyPr wrap="square" lIns="0" tIns="0" rIns="0" bIns="0" anchor="t">
            <a:noAutofit/>
          </a:bodyPr>
          <a:lstStyle/>
          <a:p>
            <a:pPr algn="l"/>
            <a:r>
              <a:rPr lang="en-US" sz="1350" b="1" dirty="0">
                <a:solidFill>
                  <a:srgbClr val="F1F5F9"/>
                </a:solidFill>
                <a:latin typeface="Segoe UI"/>
              </a:rPr>
              <a:t>Recursive   </a:t>
            </a:r>
            <a:r>
              <a:rPr lang="en-US" sz="1200" b="0" dirty="0">
                <a:solidFill>
                  <a:srgbClr val="B8C2D3"/>
                </a:solidFill>
                <a:latin typeface="Segoe UI"/>
              </a:rPr>
              <a:t>Splits on headings first, then paragraphs</a:t>
            </a:r>
          </a:p>
        </p:txBody>
      </p:sp>
      <p:sp>
        <p:nvSpPr>
          <p:cNvPr id="107" name="Example 108"/>
          <p:cNvSpPr/>
          <p:nvPr/>
        </p:nvSpPr>
        <p:spPr>
          <a:xfrm>
            <a:off x="4038600" y="2667000"/>
            <a:ext cx="4382018"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Annual leave · Employees accrue 1.5 days of leave per month. Up to 10 unused days carry over. Public holidays follow…</a:t>
            </a:r>
          </a:p>
        </p:txBody>
      </p:sp>
      <p:sp>
        <p:nvSpPr>
          <p:cNvPr id="108" name="Example 109"/>
          <p:cNvSpPr/>
          <p:nvPr/>
        </p:nvSpPr>
        <p:spPr>
          <a:xfrm>
            <a:off x="8522218" y="2667000"/>
            <a:ext cx="3022082"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Sick leave · A doctor's note is required after 3 consecutive sick days.</a:t>
            </a:r>
          </a:p>
        </p:txBody>
      </p:sp>
      <p:sp>
        <p:nvSpPr>
          <p:cNvPr id="109" name="Example 110"/>
          <p:cNvSpPr txBox="1"/>
          <p:nvPr/>
        </p:nvSpPr>
        <p:spPr>
          <a:xfrm>
            <a:off x="4038600" y="3378200"/>
            <a:ext cx="7505700" cy="228600"/>
          </a:xfrm>
          <a:prstGeom prst="rect">
            <a:avLst/>
          </a:prstGeom>
          <a:noFill/>
          <a:ln>
            <a:noFill/>
          </a:ln>
        </p:spPr>
        <p:txBody>
          <a:bodyPr wrap="square" lIns="0" tIns="0" rIns="0" bIns="0" anchor="t">
            <a:noAutofit/>
          </a:bodyPr>
          <a:lstStyle/>
          <a:p>
            <a:pPr algn="l"/>
            <a:r>
              <a:rPr lang="en-US" sz="1350" b="1" dirty="0">
                <a:solidFill>
                  <a:srgbClr val="F1F5F9"/>
                </a:solidFill>
                <a:latin typeface="Segoe UI"/>
              </a:rPr>
              <a:t>Semantic   </a:t>
            </a:r>
            <a:r>
              <a:rPr lang="en-US" sz="1200" b="0" dirty="0">
                <a:solidFill>
                  <a:srgbClr val="B8C2D3"/>
                </a:solidFill>
                <a:latin typeface="Segoe UI"/>
              </a:rPr>
              <a:t>Splits where the topic changes, even inside a section</a:t>
            </a:r>
          </a:p>
        </p:txBody>
      </p:sp>
      <p:sp>
        <p:nvSpPr>
          <p:cNvPr id="110" name="Example 111"/>
          <p:cNvSpPr/>
          <p:nvPr/>
        </p:nvSpPr>
        <p:spPr>
          <a:xfrm>
            <a:off x="4038600" y="3657600"/>
            <a:ext cx="2966641"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Employees accrue 1.5 days of leave per month. Up to 10 unused days carry over.</a:t>
            </a:r>
          </a:p>
        </p:txBody>
      </p:sp>
      <p:sp>
        <p:nvSpPr>
          <p:cNvPr id="111" name="Example 112"/>
          <p:cNvSpPr/>
          <p:nvPr/>
        </p:nvSpPr>
        <p:spPr>
          <a:xfrm>
            <a:off x="7106841" y="3657600"/>
            <a:ext cx="2053828"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Public holidays follow the local office calendar.</a:t>
            </a:r>
          </a:p>
        </p:txBody>
      </p:sp>
      <p:sp>
        <p:nvSpPr>
          <p:cNvPr id="112" name="Example 113"/>
          <p:cNvSpPr/>
          <p:nvPr/>
        </p:nvSpPr>
        <p:spPr>
          <a:xfrm>
            <a:off x="9262269" y="3657600"/>
            <a:ext cx="2282031"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A doctor's note is required after 3 consecutive sick days.</a:t>
            </a:r>
          </a:p>
        </p:txBody>
      </p:sp>
      <p:sp>
        <p:nvSpPr>
          <p:cNvPr id="113" name="Example 114"/>
          <p:cNvSpPr txBox="1"/>
          <p:nvPr/>
        </p:nvSpPr>
        <p:spPr>
          <a:xfrm>
            <a:off x="4038600" y="4368800"/>
            <a:ext cx="7505700" cy="228600"/>
          </a:xfrm>
          <a:prstGeom prst="rect">
            <a:avLst/>
          </a:prstGeom>
          <a:noFill/>
          <a:ln>
            <a:noFill/>
          </a:ln>
        </p:spPr>
        <p:txBody>
          <a:bodyPr wrap="square" lIns="0" tIns="0" rIns="0" bIns="0" anchor="t">
            <a:noAutofit/>
          </a:bodyPr>
          <a:lstStyle/>
          <a:p>
            <a:pPr algn="l"/>
            <a:r>
              <a:rPr lang="en-US" sz="1350" b="1" dirty="0">
                <a:solidFill>
                  <a:srgbClr val="F1F5F9"/>
                </a:solidFill>
                <a:latin typeface="Segoe UI"/>
              </a:rPr>
              <a:t>Sliding window   </a:t>
            </a:r>
            <a:r>
              <a:rPr lang="en-US" sz="1200" b="0" dirty="0">
                <a:solidFill>
                  <a:srgbClr val="B8C2D3"/>
                </a:solidFill>
                <a:latin typeface="Segoe UI"/>
              </a:rPr>
              <a:t>Each chunk repeats the end of the one before</a:t>
            </a:r>
          </a:p>
        </p:txBody>
      </p:sp>
      <p:sp>
        <p:nvSpPr>
          <p:cNvPr id="114" name="Example 115"/>
          <p:cNvSpPr/>
          <p:nvPr/>
        </p:nvSpPr>
        <p:spPr>
          <a:xfrm>
            <a:off x="4038600" y="4648200"/>
            <a:ext cx="3702050"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0" dirty="0">
                <a:solidFill>
                  <a:srgbClr val="E2E8F0"/>
                </a:solidFill>
                <a:latin typeface="Segoe UI"/>
              </a:rPr>
              <a:t>Employees accrue 1.5 days of leave per month. Up to 10 unused days carry over.</a:t>
            </a:r>
          </a:p>
        </p:txBody>
      </p:sp>
      <p:sp>
        <p:nvSpPr>
          <p:cNvPr id="115" name="Example 116"/>
          <p:cNvSpPr/>
          <p:nvPr/>
        </p:nvSpPr>
        <p:spPr>
          <a:xfrm>
            <a:off x="7842250" y="4648200"/>
            <a:ext cx="3702050"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1" dirty="0">
                <a:solidFill>
                  <a:srgbClr val="2DD4BF"/>
                </a:solidFill>
                <a:latin typeface="Segoe UI"/>
              </a:rPr>
              <a:t>Up to 10 unused days carry over.</a:t>
            </a:r>
            <a:r>
              <a:rPr lang="en-US" sz="1200" b="0" dirty="0">
                <a:solidFill>
                  <a:srgbClr val="E2E8F0"/>
                </a:solidFill>
                <a:latin typeface="Segoe UI"/>
              </a:rPr>
              <a:t> Public holidays follow the local office calendar.</a:t>
            </a:r>
          </a:p>
        </p:txBody>
      </p:sp>
      <p:sp>
        <p:nvSpPr>
          <p:cNvPr id="116" name="Example 117"/>
          <p:cNvSpPr txBox="1"/>
          <p:nvPr/>
        </p:nvSpPr>
        <p:spPr>
          <a:xfrm>
            <a:off x="4038600" y="5359400"/>
            <a:ext cx="7505700" cy="228600"/>
          </a:xfrm>
          <a:prstGeom prst="rect">
            <a:avLst/>
          </a:prstGeom>
          <a:noFill/>
          <a:ln>
            <a:noFill/>
          </a:ln>
        </p:spPr>
        <p:txBody>
          <a:bodyPr wrap="square" lIns="0" tIns="0" rIns="0" bIns="0" anchor="t">
            <a:noAutofit/>
          </a:bodyPr>
          <a:lstStyle/>
          <a:p>
            <a:pPr algn="l"/>
            <a:r>
              <a:rPr lang="en-US" sz="1350" b="1" dirty="0">
                <a:solidFill>
                  <a:srgbClr val="F1F5F9"/>
                </a:solidFill>
                <a:latin typeface="Segoe UI"/>
              </a:rPr>
              <a:t>Parent-child   </a:t>
            </a:r>
            <a:r>
              <a:rPr lang="en-US" sz="1200" b="0" dirty="0">
                <a:solidFill>
                  <a:srgbClr val="B8C2D3"/>
                </a:solidFill>
                <a:latin typeface="Segoe UI"/>
              </a:rPr>
              <a:t>Search matches the small chunk; the LLM gets the whole section</a:t>
            </a:r>
          </a:p>
        </p:txBody>
      </p:sp>
      <p:sp>
        <p:nvSpPr>
          <p:cNvPr id="117" name="Example 118"/>
          <p:cNvSpPr/>
          <p:nvPr/>
        </p:nvSpPr>
        <p:spPr>
          <a:xfrm>
            <a:off x="4038600" y="5638800"/>
            <a:ext cx="2413000" cy="635000"/>
          </a:xfrm>
          <a:prstGeom prst="roundRect">
            <a:avLst>
              <a:gd name="adj" fmla="val 10000"/>
            </a:avLst>
          </a:prstGeom>
          <a:solidFill>
            <a:srgbClr val="0F2A30"/>
          </a:solidFill>
          <a:ln w="12700">
            <a:solidFill>
              <a:srgbClr val="2DD4BF"/>
            </a:solidFill>
          </a:ln>
        </p:spPr>
        <p:txBody>
          <a:bodyPr wrap="square" lIns="114300" tIns="50800" rIns="114300" bIns="50800" anchor="ctr">
            <a:noAutofit/>
          </a:bodyPr>
          <a:lstStyle/>
          <a:p>
            <a:pPr algn="l"/>
            <a:r>
              <a:rPr lang="en-US" sz="1200" b="1" dirty="0">
                <a:solidFill>
                  <a:srgbClr val="2DD4BF"/>
                </a:solidFill>
                <a:latin typeface="Segoe UI"/>
              </a:rPr>
              <a:t>Matched child: </a:t>
            </a:r>
            <a:r>
              <a:rPr lang="en-US" sz="1200" b="0" dirty="0">
                <a:solidFill>
                  <a:srgbClr val="E2E8F0"/>
                </a:solidFill>
                <a:latin typeface="Segoe UI"/>
              </a:rPr>
              <a:t>"Up to 10 unused days carry over."</a:t>
            </a:r>
          </a:p>
        </p:txBody>
      </p:sp>
      <p:sp>
        <p:nvSpPr>
          <p:cNvPr id="118" name="Example 119"/>
          <p:cNvSpPr/>
          <p:nvPr/>
        </p:nvSpPr>
        <p:spPr>
          <a:xfrm>
            <a:off x="6553200" y="5842000"/>
            <a:ext cx="330200" cy="228600"/>
          </a:xfrm>
          <a:prstGeom prst="rightArrow">
            <a:avLst/>
          </a:prstGeom>
          <a:solidFill>
            <a:srgbClr val="475569"/>
          </a:solidFill>
          <a:ln>
            <a:noFill/>
          </a:ln>
        </p:spPr>
        <p:txBody>
          <a:bodyPr wrap="square" lIns="0" tIns="0" rIns="0" bIns="0" anchor="t">
            <a:noAutofit/>
          </a:bodyPr>
          <a:lstStyle/>
          <a:p>
            <a:endParaRPr lang="en-US"/>
          </a:p>
        </p:txBody>
      </p:sp>
      <p:sp>
        <p:nvSpPr>
          <p:cNvPr id="119" name="Example 120"/>
          <p:cNvSpPr/>
          <p:nvPr/>
        </p:nvSpPr>
        <p:spPr>
          <a:xfrm>
            <a:off x="6985000" y="5638800"/>
            <a:ext cx="4559300" cy="635000"/>
          </a:xfrm>
          <a:prstGeom prst="roundRect">
            <a:avLst>
              <a:gd name="adj" fmla="val 10000"/>
            </a:avLst>
          </a:prstGeom>
          <a:solidFill>
            <a:srgbClr val="131C31"/>
          </a:solidFill>
          <a:ln w="12700">
            <a:solidFill>
              <a:srgbClr val="2A3650"/>
            </a:solidFill>
          </a:ln>
        </p:spPr>
        <p:txBody>
          <a:bodyPr wrap="square" lIns="114300" tIns="50800" rIns="114300" bIns="50800" anchor="ctr">
            <a:noAutofit/>
          </a:bodyPr>
          <a:lstStyle/>
          <a:p>
            <a:pPr algn="l"/>
            <a:r>
              <a:rPr lang="en-US" sz="1200" b="1" dirty="0">
                <a:solidFill>
                  <a:srgbClr val="2DD4BF"/>
                </a:solidFill>
                <a:latin typeface="Segoe UI"/>
              </a:rPr>
              <a:t>Parent returned: </a:t>
            </a:r>
            <a:r>
              <a:rPr lang="en-US" sz="1200" b="0" dirty="0">
                <a:solidFill>
                  <a:srgbClr val="E2E8F0"/>
                </a:solidFill>
                <a:latin typeface="Segoe UI"/>
              </a:rPr>
              <a:t>the full Annual leave section, all three sentences, goes to the LLM</a:t>
            </a:r>
          </a:p>
        </p:txBody>
      </p:sp>
      <p:sp>
        <p:nvSpPr>
          <p:cNvPr id="34" name="TextBox 3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5" name="TextBox 3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21</a:t>
            </a:r>
          </a:p>
        </p:txBody>
      </p:sp>
    </p:spTree>
    <p:extLst>
      <p:ext uri="{BB962C8B-B14F-4D97-AF65-F5344CB8AC3E}">
        <p14:creationId xmlns:p14="http://schemas.microsoft.com/office/powerpoint/2010/main" val="427672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EMBEDDINGS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What embeddings are, and why they work</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71600"/>
            <a:ext cx="10881360" cy="457200"/>
          </a:xfrm>
          <a:prstGeom prst="rect">
            <a:avLst/>
          </a:prstGeom>
          <a:noFill/>
        </p:spPr>
        <p:txBody>
          <a:bodyPr wrap="square" lIns="0" tIns="0" rIns="0" bIns="0" anchor="t">
            <a:spAutoFit/>
          </a:bodyPr>
          <a:lstStyle/>
          <a:p>
            <a:pPr algn="l"/>
            <a:r>
              <a:rPr sz="1350" b="0" i="0">
                <a:solidFill>
                  <a:srgbClr val="94A3B8"/>
                </a:solidFill>
                <a:latin typeface="Segoe UI"/>
              </a:rPr>
              <a:t>An embedding model converts text into a vector of numbers such that texts with similar meaning land close together in that vector space.</a:t>
            </a:r>
          </a:p>
        </p:txBody>
      </p:sp>
      <p:sp>
        <p:nvSpPr>
          <p:cNvPr id="21" name="TextBox 20"/>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2" name="TextBox 21"/>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22</a:t>
            </a:r>
          </a:p>
        </p:txBody>
      </p:sp>
      <p:sp>
        <p:nvSpPr>
          <p:cNvPr id="3" name="Rectangle: Rounded Corners 2">
            <a:extLst>
              <a:ext uri="{FF2B5EF4-FFF2-40B4-BE49-F238E27FC236}">
                <a16:creationId xmlns:a16="http://schemas.microsoft.com/office/drawing/2014/main" id="{85219574-65F6-4801-B656-D7B33CDC5EDC}"/>
              </a:ext>
            </a:extLst>
          </p:cNvPr>
          <p:cNvSpPr/>
          <p:nvPr/>
        </p:nvSpPr>
        <p:spPr>
          <a:xfrm>
            <a:off x="635000" y="1930400"/>
            <a:ext cx="10909300" cy="711200"/>
          </a:xfrm>
          <a:prstGeom prst="roundRect">
            <a:avLst>
              <a:gd name="adj" fmla="val 14286"/>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3" name="TextBox 22">
            <a:extLst>
              <a:ext uri="{FF2B5EF4-FFF2-40B4-BE49-F238E27FC236}">
                <a16:creationId xmlns:a16="http://schemas.microsoft.com/office/drawing/2014/main" id="{C7981A30-7F4B-4091-B42D-0E083782A82C}"/>
              </a:ext>
            </a:extLst>
          </p:cNvPr>
          <p:cNvSpPr txBox="1"/>
          <p:nvPr/>
        </p:nvSpPr>
        <p:spPr>
          <a:xfrm>
            <a:off x="838200" y="2032000"/>
            <a:ext cx="3175000" cy="177800"/>
          </a:xfrm>
          <a:prstGeom prst="rect">
            <a:avLst/>
          </a:prstGeom>
          <a:noFill/>
        </p:spPr>
        <p:txBody>
          <a:bodyPr vertOverflow="overflow" vert="horz" wrap="square" lIns="0" tIns="0" rIns="0" bIns="0" rtlCol="0" anchor="t">
            <a:noAutofit/>
          </a:bodyPr>
          <a:lstStyle/>
          <a:p>
            <a:r>
              <a:rPr lang="en-IN" sz="1000" b="1">
                <a:solidFill>
                  <a:srgbClr val="94A3B8"/>
                </a:solidFill>
                <a:latin typeface="Segoe UI"/>
                <a:cs typeface="Segoe UI"/>
              </a:rPr>
              <a:t>TEXT</a:t>
            </a:r>
          </a:p>
        </p:txBody>
      </p:sp>
      <p:sp>
        <p:nvSpPr>
          <p:cNvPr id="24" name="TextBox 23">
            <a:extLst>
              <a:ext uri="{FF2B5EF4-FFF2-40B4-BE49-F238E27FC236}">
                <a16:creationId xmlns:a16="http://schemas.microsoft.com/office/drawing/2014/main" id="{F4D6D8B0-7727-4651-BB1C-7AC68AA42A1D}"/>
              </a:ext>
            </a:extLst>
          </p:cNvPr>
          <p:cNvSpPr txBox="1"/>
          <p:nvPr/>
        </p:nvSpPr>
        <p:spPr>
          <a:xfrm>
            <a:off x="838200" y="2235200"/>
            <a:ext cx="3556000" cy="279400"/>
          </a:xfrm>
          <a:prstGeom prst="rect">
            <a:avLst/>
          </a:prstGeom>
          <a:noFill/>
        </p:spPr>
        <p:txBody>
          <a:bodyPr vertOverflow="overflow" vert="horz" wrap="square" lIns="0" tIns="0" rIns="0" bIns="0" rtlCol="0" anchor="t">
            <a:noAutofit/>
          </a:bodyPr>
          <a:lstStyle/>
          <a:p>
            <a:r>
              <a:rPr lang="en-IN" sz="1400">
                <a:solidFill>
                  <a:srgbClr val="F1F5F9"/>
                </a:solidFill>
                <a:latin typeface="Segoe UI"/>
                <a:cs typeface="Segoe UI"/>
              </a:rPr>
              <a:t>“Unused leave carries over”</a:t>
            </a:r>
          </a:p>
        </p:txBody>
      </p:sp>
      <p:sp>
        <p:nvSpPr>
          <p:cNvPr id="25" name="Arrow: Right 24">
            <a:extLst>
              <a:ext uri="{FF2B5EF4-FFF2-40B4-BE49-F238E27FC236}">
                <a16:creationId xmlns:a16="http://schemas.microsoft.com/office/drawing/2014/main" id="{D4031ECF-0E34-4703-B806-38DD528FAF68}"/>
              </a:ext>
            </a:extLst>
          </p:cNvPr>
          <p:cNvSpPr/>
          <p:nvPr/>
        </p:nvSpPr>
        <p:spPr>
          <a:xfrm>
            <a:off x="4292600" y="2184400"/>
            <a:ext cx="330200" cy="203200"/>
          </a:xfrm>
          <a:prstGeom prst="rightArrow">
            <a:avLst/>
          </a:prstGeom>
          <a:solidFill>
            <a:srgbClr val="47556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6" name="Rectangle: Rounded Corners 25">
            <a:extLst>
              <a:ext uri="{FF2B5EF4-FFF2-40B4-BE49-F238E27FC236}">
                <a16:creationId xmlns:a16="http://schemas.microsoft.com/office/drawing/2014/main" id="{9425B3E3-B86D-481E-A785-C18E835EF2EE}"/>
              </a:ext>
            </a:extLst>
          </p:cNvPr>
          <p:cNvSpPr/>
          <p:nvPr/>
        </p:nvSpPr>
        <p:spPr>
          <a:xfrm>
            <a:off x="4775200" y="2082800"/>
            <a:ext cx="2413000" cy="406400"/>
          </a:xfrm>
          <a:prstGeom prst="roundRect">
            <a:avLst>
              <a:gd name="adj" fmla="val 25000"/>
            </a:avLst>
          </a:prstGeom>
          <a:solidFill>
            <a:srgbClr val="0F2A30"/>
          </a:solidFill>
          <a:ln w="15875" cap="flat" cmpd="sng" algn="ctr">
            <a:solidFill>
              <a:srgbClr val="2DD4B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7" name="TextBox 26">
            <a:extLst>
              <a:ext uri="{FF2B5EF4-FFF2-40B4-BE49-F238E27FC236}">
                <a16:creationId xmlns:a16="http://schemas.microsoft.com/office/drawing/2014/main" id="{1AF2D0E0-D670-4B4C-9A47-F49980188DA0}"/>
              </a:ext>
            </a:extLst>
          </p:cNvPr>
          <p:cNvSpPr txBox="1"/>
          <p:nvPr/>
        </p:nvSpPr>
        <p:spPr>
          <a:xfrm>
            <a:off x="4775200" y="2171700"/>
            <a:ext cx="2413000" cy="254000"/>
          </a:xfrm>
          <a:prstGeom prst="rect">
            <a:avLst/>
          </a:prstGeom>
          <a:noFill/>
        </p:spPr>
        <p:txBody>
          <a:bodyPr vertOverflow="overflow" vert="horz" wrap="square" lIns="0" tIns="0" rIns="0" bIns="0" rtlCol="0" anchor="t">
            <a:noAutofit/>
          </a:bodyPr>
          <a:lstStyle/>
          <a:p>
            <a:pPr algn="ctr"/>
            <a:r>
              <a:rPr lang="en-IN" sz="1400" b="1">
                <a:solidFill>
                  <a:srgbClr val="2DD4BF"/>
                </a:solidFill>
                <a:latin typeface="Segoe UI"/>
                <a:cs typeface="Segoe UI"/>
              </a:rPr>
              <a:t>Embedding model</a:t>
            </a:r>
          </a:p>
        </p:txBody>
      </p:sp>
      <p:sp>
        <p:nvSpPr>
          <p:cNvPr id="28" name="Arrow: Right 27">
            <a:extLst>
              <a:ext uri="{FF2B5EF4-FFF2-40B4-BE49-F238E27FC236}">
                <a16:creationId xmlns:a16="http://schemas.microsoft.com/office/drawing/2014/main" id="{FB8FE679-2060-47E1-8F8D-903597246E05}"/>
              </a:ext>
            </a:extLst>
          </p:cNvPr>
          <p:cNvSpPr/>
          <p:nvPr/>
        </p:nvSpPr>
        <p:spPr>
          <a:xfrm>
            <a:off x="7340600" y="2184400"/>
            <a:ext cx="330200" cy="203200"/>
          </a:xfrm>
          <a:prstGeom prst="rightArrow">
            <a:avLst/>
          </a:prstGeom>
          <a:solidFill>
            <a:srgbClr val="47556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29" name="TextBox 28">
            <a:extLst>
              <a:ext uri="{FF2B5EF4-FFF2-40B4-BE49-F238E27FC236}">
                <a16:creationId xmlns:a16="http://schemas.microsoft.com/office/drawing/2014/main" id="{19728B24-CBDB-4C66-9F96-845D5DE91477}"/>
              </a:ext>
            </a:extLst>
          </p:cNvPr>
          <p:cNvSpPr txBox="1"/>
          <p:nvPr/>
        </p:nvSpPr>
        <p:spPr>
          <a:xfrm>
            <a:off x="7823200" y="2032000"/>
            <a:ext cx="3556000" cy="177800"/>
          </a:xfrm>
          <a:prstGeom prst="rect">
            <a:avLst/>
          </a:prstGeom>
          <a:noFill/>
        </p:spPr>
        <p:txBody>
          <a:bodyPr vertOverflow="overflow" vert="horz" wrap="square" lIns="0" tIns="0" rIns="0" bIns="0" rtlCol="0" anchor="t">
            <a:noAutofit/>
          </a:bodyPr>
          <a:lstStyle/>
          <a:p>
            <a:r>
              <a:rPr lang="en-IN" sz="1000" b="1">
                <a:solidFill>
                  <a:srgbClr val="94A3B8"/>
                </a:solidFill>
                <a:latin typeface="Segoe UI"/>
                <a:cs typeface="Segoe UI"/>
              </a:rPr>
              <a:t>VECTOR  ·  ONE PER CHUNK</a:t>
            </a:r>
          </a:p>
        </p:txBody>
      </p:sp>
      <p:sp>
        <p:nvSpPr>
          <p:cNvPr id="30" name="TextBox 29">
            <a:extLst>
              <a:ext uri="{FF2B5EF4-FFF2-40B4-BE49-F238E27FC236}">
                <a16:creationId xmlns:a16="http://schemas.microsoft.com/office/drawing/2014/main" id="{057C3A8F-45E4-4E2F-A5C0-CB14609CE941}"/>
              </a:ext>
            </a:extLst>
          </p:cNvPr>
          <p:cNvSpPr txBox="1"/>
          <p:nvPr/>
        </p:nvSpPr>
        <p:spPr>
          <a:xfrm>
            <a:off x="7823200" y="2235200"/>
            <a:ext cx="3619500" cy="279400"/>
          </a:xfrm>
          <a:prstGeom prst="rect">
            <a:avLst/>
          </a:prstGeom>
          <a:noFill/>
        </p:spPr>
        <p:txBody>
          <a:bodyPr vertOverflow="overflow" vert="horz" wrap="square" lIns="0" tIns="0" rIns="0" bIns="0" rtlCol="0" anchor="t">
            <a:noAutofit/>
          </a:bodyPr>
          <a:lstStyle/>
          <a:p>
            <a:r>
              <a:rPr lang="en-IN" sz="1400">
                <a:solidFill>
                  <a:srgbClr val="2DD4BF"/>
                </a:solidFill>
                <a:latin typeface="Consolas"/>
              </a:rPr>
              <a:t>[0.12, −0.48, 0.91, …, 0.07]</a:t>
            </a:r>
          </a:p>
        </p:txBody>
      </p:sp>
      <p:sp>
        <p:nvSpPr>
          <p:cNvPr id="7" name="Rectangle: Rounded Corners 6">
            <a:extLst>
              <a:ext uri="{FF2B5EF4-FFF2-40B4-BE49-F238E27FC236}">
                <a16:creationId xmlns:a16="http://schemas.microsoft.com/office/drawing/2014/main" id="{3832B132-DD63-4516-8B49-0C79B4CEE177}"/>
              </a:ext>
            </a:extLst>
          </p:cNvPr>
          <p:cNvSpPr/>
          <p:nvPr/>
        </p:nvSpPr>
        <p:spPr>
          <a:xfrm>
            <a:off x="635000" y="2794000"/>
            <a:ext cx="5334000" cy="3581400"/>
          </a:xfrm>
          <a:prstGeom prst="roundRect">
            <a:avLst>
              <a:gd name="adj" fmla="val 283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 name="TextBox 7">
            <a:extLst>
              <a:ext uri="{FF2B5EF4-FFF2-40B4-BE49-F238E27FC236}">
                <a16:creationId xmlns:a16="http://schemas.microsoft.com/office/drawing/2014/main" id="{4F3B5710-9D28-4069-8A31-6DDFB9118BB0}"/>
              </a:ext>
            </a:extLst>
          </p:cNvPr>
          <p:cNvSpPr txBox="1"/>
          <p:nvPr/>
        </p:nvSpPr>
        <p:spPr>
          <a:xfrm>
            <a:off x="838200" y="2946400"/>
            <a:ext cx="4826000" cy="177800"/>
          </a:xfrm>
          <a:prstGeom prst="rect">
            <a:avLst/>
          </a:prstGeom>
          <a:noFill/>
        </p:spPr>
        <p:txBody>
          <a:bodyPr vertOverflow="overflow" vert="horz" wrap="square" lIns="0" tIns="0" rIns="0" bIns="0" rtlCol="0" anchor="t">
            <a:noAutofit/>
          </a:bodyPr>
          <a:lstStyle/>
          <a:p>
            <a:r>
              <a:rPr lang="en-IN" sz="1050" b="1">
                <a:solidFill>
                  <a:srgbClr val="2DD4BF"/>
                </a:solidFill>
                <a:latin typeface="Segoe UI"/>
                <a:cs typeface="Segoe UI"/>
              </a:rPr>
              <a:t>VECTOR SPACE · 2D PROJECTION</a:t>
            </a:r>
          </a:p>
        </p:txBody>
      </p:sp>
      <p:cxnSp>
        <p:nvCxnSpPr>
          <p:cNvPr id="9" name="Straight Arrow Connector 8">
            <a:extLst>
              <a:ext uri="{FF2B5EF4-FFF2-40B4-BE49-F238E27FC236}">
                <a16:creationId xmlns:a16="http://schemas.microsoft.com/office/drawing/2014/main" id="{31F1C68E-F0DC-4065-9F8B-2B552ED66C80}"/>
              </a:ext>
            </a:extLst>
          </p:cNvPr>
          <p:cNvCxnSpPr/>
          <p:nvPr/>
        </p:nvCxnSpPr>
        <p:spPr>
          <a:xfrm>
            <a:off x="1016000" y="3276600"/>
            <a:ext cx="127" cy="2692400"/>
          </a:xfrm>
          <a:prstGeom prst="straightConnector1">
            <a:avLst/>
          </a:prstGeom>
          <a:ln w="12700" cap="flat" cmpd="sng" algn="ctr">
            <a:solidFill>
              <a:srgbClr val="475569"/>
            </a:solidFill>
            <a:prstDash val="solid"/>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9D9FECE-D6A6-4690-B4B8-5DA0734CB2A1}"/>
              </a:ext>
            </a:extLst>
          </p:cNvPr>
          <p:cNvCxnSpPr/>
          <p:nvPr/>
        </p:nvCxnSpPr>
        <p:spPr>
          <a:xfrm>
            <a:off x="1016000" y="5969000"/>
            <a:ext cx="4762500" cy="127"/>
          </a:xfrm>
          <a:prstGeom prst="straightConnector1">
            <a:avLst/>
          </a:prstGeom>
          <a:ln w="12700" cap="flat" cmpd="sng" algn="ctr">
            <a:solidFill>
              <a:srgbClr val="475569"/>
            </a:solidFill>
            <a:prstDash val="solid"/>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A9B82F7-4975-4101-85E9-A973DDB6D3DA}"/>
              </a:ext>
            </a:extLst>
          </p:cNvPr>
          <p:cNvSpPr txBox="1"/>
          <p:nvPr/>
        </p:nvSpPr>
        <p:spPr>
          <a:xfrm>
            <a:off x="1092200" y="3251200"/>
            <a:ext cx="762000" cy="177800"/>
          </a:xfrm>
          <a:prstGeom prst="rect">
            <a:avLst/>
          </a:prstGeom>
          <a:noFill/>
        </p:spPr>
        <p:txBody>
          <a:bodyPr vertOverflow="overflow" vert="horz" wrap="square" lIns="0" tIns="0" rIns="0" bIns="0" rtlCol="0" anchor="t">
            <a:noAutofit/>
          </a:bodyPr>
          <a:lstStyle/>
          <a:p>
            <a:r>
              <a:rPr lang="en-IN" sz="1000">
                <a:solidFill>
                  <a:srgbClr val="64748B"/>
                </a:solidFill>
                <a:latin typeface="Segoe UI"/>
                <a:cs typeface="Segoe UI"/>
              </a:rPr>
              <a:t>dim 2</a:t>
            </a:r>
          </a:p>
        </p:txBody>
      </p:sp>
      <p:sp>
        <p:nvSpPr>
          <p:cNvPr id="12" name="TextBox 11">
            <a:extLst>
              <a:ext uri="{FF2B5EF4-FFF2-40B4-BE49-F238E27FC236}">
                <a16:creationId xmlns:a16="http://schemas.microsoft.com/office/drawing/2014/main" id="{280B2C17-48B1-499E-B747-F37A8EFF2DD3}"/>
              </a:ext>
            </a:extLst>
          </p:cNvPr>
          <p:cNvSpPr txBox="1"/>
          <p:nvPr/>
        </p:nvSpPr>
        <p:spPr>
          <a:xfrm>
            <a:off x="5334000" y="6019800"/>
            <a:ext cx="508000" cy="177800"/>
          </a:xfrm>
          <a:prstGeom prst="rect">
            <a:avLst/>
          </a:prstGeom>
          <a:noFill/>
        </p:spPr>
        <p:txBody>
          <a:bodyPr vertOverflow="overflow" vert="horz" wrap="square" lIns="0" tIns="0" rIns="0" bIns="0" rtlCol="0" anchor="t">
            <a:noAutofit/>
          </a:bodyPr>
          <a:lstStyle/>
          <a:p>
            <a:r>
              <a:rPr lang="en-IN" sz="1000">
                <a:solidFill>
                  <a:srgbClr val="64748B"/>
                </a:solidFill>
                <a:latin typeface="Segoe UI"/>
                <a:cs typeface="Segoe UI"/>
              </a:rPr>
              <a:t>dim 1</a:t>
            </a:r>
          </a:p>
        </p:txBody>
      </p:sp>
      <p:sp>
        <p:nvSpPr>
          <p:cNvPr id="13" name="Oval 12">
            <a:extLst>
              <a:ext uri="{FF2B5EF4-FFF2-40B4-BE49-F238E27FC236}">
                <a16:creationId xmlns:a16="http://schemas.microsoft.com/office/drawing/2014/main" id="{BC7580FC-3754-4AAC-9DFE-FA6034CCDE09}"/>
              </a:ext>
            </a:extLst>
          </p:cNvPr>
          <p:cNvSpPr/>
          <p:nvPr/>
        </p:nvSpPr>
        <p:spPr>
          <a:xfrm>
            <a:off x="1206500" y="3454400"/>
            <a:ext cx="2921000" cy="1651000"/>
          </a:xfrm>
          <a:prstGeom prst="ellipse">
            <a:avLst/>
          </a:prstGeom>
          <a:solidFill>
            <a:srgbClr val="0F2A30"/>
          </a:solidFill>
          <a:ln w="12700" cap="flat" cmpd="sng" algn="ctr">
            <a:solidFill>
              <a:srgbClr val="1F5F5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D1D787F4-8C4F-4C3C-A2DB-CB8E65DFE07D}"/>
              </a:ext>
            </a:extLst>
          </p:cNvPr>
          <p:cNvSpPr txBox="1"/>
          <p:nvPr/>
        </p:nvSpPr>
        <p:spPr>
          <a:xfrm>
            <a:off x="1397000" y="3581400"/>
            <a:ext cx="762000" cy="177800"/>
          </a:xfrm>
          <a:prstGeom prst="rect">
            <a:avLst/>
          </a:prstGeom>
          <a:noFill/>
        </p:spPr>
        <p:txBody>
          <a:bodyPr vertOverflow="overflow" vert="horz" wrap="square" lIns="0" tIns="0" rIns="0" bIns="0" rtlCol="0" anchor="t">
            <a:noAutofit/>
          </a:bodyPr>
          <a:lstStyle/>
          <a:p>
            <a:r>
              <a:rPr lang="en-IN" sz="1000" b="1">
                <a:solidFill>
                  <a:srgbClr val="2DD4BF"/>
                </a:solidFill>
                <a:latin typeface="Segoe UI"/>
                <a:cs typeface="Segoe UI"/>
              </a:rPr>
              <a:t>LEAVE</a:t>
            </a:r>
          </a:p>
        </p:txBody>
      </p:sp>
      <p:sp>
        <p:nvSpPr>
          <p:cNvPr id="15" name="Oval 14">
            <a:extLst>
              <a:ext uri="{FF2B5EF4-FFF2-40B4-BE49-F238E27FC236}">
                <a16:creationId xmlns:a16="http://schemas.microsoft.com/office/drawing/2014/main" id="{97FDF500-9644-4ECC-8F4B-5ED2138C0D72}"/>
              </a:ext>
            </a:extLst>
          </p:cNvPr>
          <p:cNvSpPr/>
          <p:nvPr/>
        </p:nvSpPr>
        <p:spPr>
          <a:xfrm>
            <a:off x="4191000" y="3327400"/>
            <a:ext cx="1587500" cy="1016000"/>
          </a:xfrm>
          <a:prstGeom prst="ellipse">
            <a:avLst/>
          </a:prstGeom>
          <a:solidFill>
            <a:srgbClr val="1A2438"/>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6" name="TextBox 15">
            <a:extLst>
              <a:ext uri="{FF2B5EF4-FFF2-40B4-BE49-F238E27FC236}">
                <a16:creationId xmlns:a16="http://schemas.microsoft.com/office/drawing/2014/main" id="{C24F9F5F-5F45-450B-8211-36E1893006BC}"/>
              </a:ext>
            </a:extLst>
          </p:cNvPr>
          <p:cNvSpPr txBox="1"/>
          <p:nvPr/>
        </p:nvSpPr>
        <p:spPr>
          <a:xfrm>
            <a:off x="4572000" y="3429000"/>
            <a:ext cx="508000" cy="177800"/>
          </a:xfrm>
          <a:prstGeom prst="rect">
            <a:avLst/>
          </a:prstGeom>
          <a:noFill/>
        </p:spPr>
        <p:txBody>
          <a:bodyPr vertOverflow="overflow" vert="horz" wrap="square" lIns="0" tIns="0" rIns="0" bIns="0" rtlCol="0" anchor="t">
            <a:noAutofit/>
          </a:bodyPr>
          <a:lstStyle/>
          <a:p>
            <a:r>
              <a:rPr lang="en-IN" sz="1000" b="1">
                <a:solidFill>
                  <a:srgbClr val="94A3B8"/>
                </a:solidFill>
                <a:latin typeface="Segoe UI"/>
                <a:cs typeface="Segoe UI"/>
              </a:rPr>
              <a:t>IT</a:t>
            </a:r>
          </a:p>
        </p:txBody>
      </p:sp>
      <p:sp>
        <p:nvSpPr>
          <p:cNvPr id="17" name="Oval 16">
            <a:extLst>
              <a:ext uri="{FF2B5EF4-FFF2-40B4-BE49-F238E27FC236}">
                <a16:creationId xmlns:a16="http://schemas.microsoft.com/office/drawing/2014/main" id="{93817027-6099-4306-B8DD-6C9E519884C7}"/>
              </a:ext>
            </a:extLst>
          </p:cNvPr>
          <p:cNvSpPr/>
          <p:nvPr/>
        </p:nvSpPr>
        <p:spPr>
          <a:xfrm>
            <a:off x="4064000" y="5143500"/>
            <a:ext cx="1714500" cy="762000"/>
          </a:xfrm>
          <a:prstGeom prst="ellipse">
            <a:avLst/>
          </a:prstGeom>
          <a:solidFill>
            <a:srgbClr val="1A2438"/>
          </a:solidFill>
          <a:ln w="12700" cap="flat" cmpd="sng" algn="ctr">
            <a:solidFill>
              <a:srgbClr val="2A365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18" name="TextBox 17">
            <a:extLst>
              <a:ext uri="{FF2B5EF4-FFF2-40B4-BE49-F238E27FC236}">
                <a16:creationId xmlns:a16="http://schemas.microsoft.com/office/drawing/2014/main" id="{B95B27A8-86CD-40DF-BA5D-9B3231F9BC86}"/>
              </a:ext>
            </a:extLst>
          </p:cNvPr>
          <p:cNvSpPr txBox="1"/>
          <p:nvPr/>
        </p:nvSpPr>
        <p:spPr>
          <a:xfrm>
            <a:off x="4445000" y="5207000"/>
            <a:ext cx="889000" cy="177800"/>
          </a:xfrm>
          <a:prstGeom prst="rect">
            <a:avLst/>
          </a:prstGeom>
          <a:noFill/>
        </p:spPr>
        <p:txBody>
          <a:bodyPr vertOverflow="overflow" vert="horz" wrap="square" lIns="0" tIns="0" rIns="0" bIns="0" rtlCol="0" anchor="t">
            <a:noAutofit/>
          </a:bodyPr>
          <a:lstStyle/>
          <a:p>
            <a:r>
              <a:rPr lang="en-IN" sz="1000" b="1">
                <a:solidFill>
                  <a:srgbClr val="94A3B8"/>
                </a:solidFill>
                <a:latin typeface="Segoe UI"/>
                <a:cs typeface="Segoe UI"/>
              </a:rPr>
              <a:t>FINANCE</a:t>
            </a:r>
          </a:p>
        </p:txBody>
      </p:sp>
      <p:cxnSp>
        <p:nvCxnSpPr>
          <p:cNvPr id="19" name="Straight Arrow Connector 18">
            <a:extLst>
              <a:ext uri="{FF2B5EF4-FFF2-40B4-BE49-F238E27FC236}">
                <a16:creationId xmlns:a16="http://schemas.microsoft.com/office/drawing/2014/main" id="{B9F455A0-7AC7-42AD-AF80-B71925B9AC8C}"/>
              </a:ext>
            </a:extLst>
          </p:cNvPr>
          <p:cNvCxnSpPr/>
          <p:nvPr/>
        </p:nvCxnSpPr>
        <p:spPr>
          <a:xfrm>
            <a:off x="1714500" y="4318000"/>
            <a:ext cx="723900" cy="279400"/>
          </a:xfrm>
          <a:prstGeom prst="straightConnector1">
            <a:avLst/>
          </a:prstGeom>
          <a:ln w="15875" cap="flat" cmpd="sng" algn="ctr">
            <a:solidFill>
              <a:srgbClr val="FBBF24"/>
            </a:solidFill>
            <a:prstDash val="dash"/>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F71E1B39-4D9F-4439-AAE2-173F882D45C4}"/>
              </a:ext>
            </a:extLst>
          </p:cNvPr>
          <p:cNvSpPr/>
          <p:nvPr/>
        </p:nvSpPr>
        <p:spPr>
          <a:xfrm>
            <a:off x="2730500" y="3695700"/>
            <a:ext cx="127000" cy="127000"/>
          </a:xfrm>
          <a:prstGeom prst="ellipse">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0" name="TextBox 59">
            <a:extLst>
              <a:ext uri="{FF2B5EF4-FFF2-40B4-BE49-F238E27FC236}">
                <a16:creationId xmlns:a16="http://schemas.microsoft.com/office/drawing/2014/main" id="{2CAC640F-438B-4C49-A078-5F2714A2C683}"/>
              </a:ext>
            </a:extLst>
          </p:cNvPr>
          <p:cNvSpPr txBox="1"/>
          <p:nvPr/>
        </p:nvSpPr>
        <p:spPr>
          <a:xfrm>
            <a:off x="2921000" y="3657600"/>
            <a:ext cx="1206500" cy="203200"/>
          </a:xfrm>
          <a:prstGeom prst="rect">
            <a:avLst/>
          </a:prstGeom>
          <a:noFill/>
        </p:spPr>
        <p:txBody>
          <a:bodyPr vertOverflow="overflow" vert="horz" wrap="square" lIns="0" tIns="0" rIns="0" bIns="0" rtlCol="0" anchor="t">
            <a:noAutofit/>
          </a:bodyPr>
          <a:lstStyle/>
          <a:p>
            <a:r>
              <a:rPr lang="en-IN" sz="1200">
                <a:solidFill>
                  <a:srgbClr val="E2E8F0"/>
                </a:solidFill>
                <a:latin typeface="Segoe UI"/>
                <a:cs typeface="Segoe UI"/>
              </a:rPr>
              <a:t>Leave accrual</a:t>
            </a:r>
          </a:p>
        </p:txBody>
      </p:sp>
      <p:sp>
        <p:nvSpPr>
          <p:cNvPr id="61" name="Oval 60">
            <a:extLst>
              <a:ext uri="{FF2B5EF4-FFF2-40B4-BE49-F238E27FC236}">
                <a16:creationId xmlns:a16="http://schemas.microsoft.com/office/drawing/2014/main" id="{FE6909C1-E388-4D0F-B28A-F1E90A3154AB}"/>
              </a:ext>
            </a:extLst>
          </p:cNvPr>
          <p:cNvSpPr/>
          <p:nvPr/>
        </p:nvSpPr>
        <p:spPr>
          <a:xfrm>
            <a:off x="1587500" y="4191000"/>
            <a:ext cx="127000" cy="127000"/>
          </a:xfrm>
          <a:prstGeom prst="ellipse">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2" name="TextBox 61">
            <a:extLst>
              <a:ext uri="{FF2B5EF4-FFF2-40B4-BE49-F238E27FC236}">
                <a16:creationId xmlns:a16="http://schemas.microsoft.com/office/drawing/2014/main" id="{1214E7AB-6348-4A14-B79A-8D0FDC2DD9A7}"/>
              </a:ext>
            </a:extLst>
          </p:cNvPr>
          <p:cNvSpPr txBox="1"/>
          <p:nvPr/>
        </p:nvSpPr>
        <p:spPr>
          <a:xfrm>
            <a:off x="1778000" y="4127500"/>
            <a:ext cx="1397000" cy="203200"/>
          </a:xfrm>
          <a:prstGeom prst="rect">
            <a:avLst/>
          </a:prstGeom>
          <a:noFill/>
        </p:spPr>
        <p:txBody>
          <a:bodyPr vertOverflow="overflow" vert="horz" wrap="square" lIns="0" tIns="0" rIns="0" bIns="0" rtlCol="0" anchor="t">
            <a:noAutofit/>
          </a:bodyPr>
          <a:lstStyle/>
          <a:p>
            <a:r>
              <a:rPr lang="en-IN" sz="1200">
                <a:solidFill>
                  <a:srgbClr val="E2E8F0"/>
                </a:solidFill>
                <a:latin typeface="Segoe UI"/>
                <a:cs typeface="Segoe UI"/>
              </a:rPr>
              <a:t>Carry-over rule</a:t>
            </a:r>
          </a:p>
        </p:txBody>
      </p:sp>
      <p:sp>
        <p:nvSpPr>
          <p:cNvPr id="63" name="Oval 62">
            <a:extLst>
              <a:ext uri="{FF2B5EF4-FFF2-40B4-BE49-F238E27FC236}">
                <a16:creationId xmlns:a16="http://schemas.microsoft.com/office/drawing/2014/main" id="{BF5B6060-F20B-4FF4-9722-262E0F0688EC}"/>
              </a:ext>
            </a:extLst>
          </p:cNvPr>
          <p:cNvSpPr/>
          <p:nvPr/>
        </p:nvSpPr>
        <p:spPr>
          <a:xfrm>
            <a:off x="2349500" y="4508500"/>
            <a:ext cx="177800" cy="177800"/>
          </a:xfrm>
          <a:prstGeom prst="ellipse">
            <a:avLst/>
          </a:prstGeom>
          <a:solidFill>
            <a:srgbClr val="FBBF2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4" name="TextBox 63">
            <a:extLst>
              <a:ext uri="{FF2B5EF4-FFF2-40B4-BE49-F238E27FC236}">
                <a16:creationId xmlns:a16="http://schemas.microsoft.com/office/drawing/2014/main" id="{99A06880-0D4B-42D2-9CCA-578362DC6BC5}"/>
              </a:ext>
            </a:extLst>
          </p:cNvPr>
          <p:cNvSpPr txBox="1"/>
          <p:nvPr/>
        </p:nvSpPr>
        <p:spPr>
          <a:xfrm>
            <a:off x="2603500" y="4495800"/>
            <a:ext cx="762000" cy="203200"/>
          </a:xfrm>
          <a:prstGeom prst="rect">
            <a:avLst/>
          </a:prstGeom>
          <a:noFill/>
        </p:spPr>
        <p:txBody>
          <a:bodyPr vertOverflow="overflow" vert="horz" wrap="square" lIns="0" tIns="0" rIns="0" bIns="0" rtlCol="0" anchor="t">
            <a:noAutofit/>
          </a:bodyPr>
          <a:lstStyle/>
          <a:p>
            <a:r>
              <a:rPr lang="en-IN" sz="1200" b="1">
                <a:solidFill>
                  <a:srgbClr val="FBBF24"/>
                </a:solidFill>
                <a:latin typeface="Segoe UI"/>
                <a:cs typeface="Segoe UI"/>
              </a:rPr>
              <a:t>Query</a:t>
            </a:r>
          </a:p>
        </p:txBody>
      </p:sp>
      <p:sp>
        <p:nvSpPr>
          <p:cNvPr id="65" name="Oval 64">
            <a:extLst>
              <a:ext uri="{FF2B5EF4-FFF2-40B4-BE49-F238E27FC236}">
                <a16:creationId xmlns:a16="http://schemas.microsoft.com/office/drawing/2014/main" id="{CC7E5136-0105-47E6-B979-48C67F3EA7C8}"/>
              </a:ext>
            </a:extLst>
          </p:cNvPr>
          <p:cNvSpPr/>
          <p:nvPr/>
        </p:nvSpPr>
        <p:spPr>
          <a:xfrm>
            <a:off x="3492500" y="4864100"/>
            <a:ext cx="127000" cy="127000"/>
          </a:xfrm>
          <a:prstGeom prst="ellipse">
            <a:avLst/>
          </a:prstGeom>
          <a:solidFill>
            <a:srgbClr val="64748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6" name="TextBox 65">
            <a:extLst>
              <a:ext uri="{FF2B5EF4-FFF2-40B4-BE49-F238E27FC236}">
                <a16:creationId xmlns:a16="http://schemas.microsoft.com/office/drawing/2014/main" id="{84CCFA5B-6C92-45F6-9C81-DEB2ED1FAE18}"/>
              </a:ext>
            </a:extLst>
          </p:cNvPr>
          <p:cNvSpPr txBox="1"/>
          <p:nvPr/>
        </p:nvSpPr>
        <p:spPr>
          <a:xfrm>
            <a:off x="3683000" y="4826000"/>
            <a:ext cx="1397000" cy="203200"/>
          </a:xfrm>
          <a:prstGeom prst="rect">
            <a:avLst/>
          </a:prstGeom>
          <a:noFill/>
        </p:spPr>
        <p:txBody>
          <a:bodyPr vertOverflow="overflow" vert="horz" wrap="square" lIns="0" tIns="0" rIns="0" bIns="0" rtlCol="0" anchor="t">
            <a:noAutofit/>
          </a:bodyPr>
          <a:lstStyle/>
          <a:p>
            <a:r>
              <a:rPr lang="en-IN" sz="1200">
                <a:solidFill>
                  <a:srgbClr val="94A3B8"/>
                </a:solidFill>
                <a:latin typeface="Segoe UI"/>
                <a:cs typeface="Segoe UI"/>
              </a:rPr>
              <a:t>Public holidays</a:t>
            </a:r>
          </a:p>
        </p:txBody>
      </p:sp>
      <p:sp>
        <p:nvSpPr>
          <p:cNvPr id="67" name="Oval 66">
            <a:extLst>
              <a:ext uri="{FF2B5EF4-FFF2-40B4-BE49-F238E27FC236}">
                <a16:creationId xmlns:a16="http://schemas.microsoft.com/office/drawing/2014/main" id="{DB156B72-45CA-4FBB-A000-DBCDF478EDC0}"/>
              </a:ext>
            </a:extLst>
          </p:cNvPr>
          <p:cNvSpPr/>
          <p:nvPr/>
        </p:nvSpPr>
        <p:spPr>
          <a:xfrm>
            <a:off x="4508500" y="3771900"/>
            <a:ext cx="127000" cy="127000"/>
          </a:xfrm>
          <a:prstGeom prst="ellipse">
            <a:avLst/>
          </a:prstGeom>
          <a:solidFill>
            <a:srgbClr val="64748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68" name="TextBox 67">
            <a:extLst>
              <a:ext uri="{FF2B5EF4-FFF2-40B4-BE49-F238E27FC236}">
                <a16:creationId xmlns:a16="http://schemas.microsoft.com/office/drawing/2014/main" id="{7B0834EE-D5E8-4DEB-8293-4400BED3DD3A}"/>
              </a:ext>
            </a:extLst>
          </p:cNvPr>
          <p:cNvSpPr txBox="1"/>
          <p:nvPr/>
        </p:nvSpPr>
        <p:spPr>
          <a:xfrm>
            <a:off x="4699000" y="3721100"/>
            <a:ext cx="1016000" cy="203200"/>
          </a:xfrm>
          <a:prstGeom prst="rect">
            <a:avLst/>
          </a:prstGeom>
          <a:noFill/>
        </p:spPr>
        <p:txBody>
          <a:bodyPr vertOverflow="overflow" vert="horz" wrap="square" lIns="0" tIns="0" rIns="0" bIns="0" rtlCol="0" anchor="t">
            <a:noAutofit/>
          </a:bodyPr>
          <a:lstStyle/>
          <a:p>
            <a:r>
              <a:rPr lang="en-IN" sz="1200">
                <a:solidFill>
                  <a:srgbClr val="94A3B8"/>
                </a:solidFill>
                <a:latin typeface="Segoe UI"/>
                <a:cs typeface="Segoe UI"/>
              </a:rPr>
              <a:t>VPN setup</a:t>
            </a:r>
          </a:p>
        </p:txBody>
      </p:sp>
      <p:sp>
        <p:nvSpPr>
          <p:cNvPr id="69" name="Oval 68">
            <a:extLst>
              <a:ext uri="{FF2B5EF4-FFF2-40B4-BE49-F238E27FC236}">
                <a16:creationId xmlns:a16="http://schemas.microsoft.com/office/drawing/2014/main" id="{9544306C-BE93-4C88-A50F-8DE8B7DEC01D}"/>
              </a:ext>
            </a:extLst>
          </p:cNvPr>
          <p:cNvSpPr/>
          <p:nvPr/>
        </p:nvSpPr>
        <p:spPr>
          <a:xfrm>
            <a:off x="4318000" y="5549900"/>
            <a:ext cx="127000" cy="127000"/>
          </a:xfrm>
          <a:prstGeom prst="ellipse">
            <a:avLst/>
          </a:prstGeom>
          <a:solidFill>
            <a:srgbClr val="64748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70" name="TextBox 69">
            <a:extLst>
              <a:ext uri="{FF2B5EF4-FFF2-40B4-BE49-F238E27FC236}">
                <a16:creationId xmlns:a16="http://schemas.microsoft.com/office/drawing/2014/main" id="{FD5CA0F6-1F8B-461A-B913-2B63BC24EF2F}"/>
              </a:ext>
            </a:extLst>
          </p:cNvPr>
          <p:cNvSpPr txBox="1"/>
          <p:nvPr/>
        </p:nvSpPr>
        <p:spPr>
          <a:xfrm>
            <a:off x="4508500" y="5499100"/>
            <a:ext cx="1206500" cy="203200"/>
          </a:xfrm>
          <a:prstGeom prst="rect">
            <a:avLst/>
          </a:prstGeom>
          <a:noFill/>
        </p:spPr>
        <p:txBody>
          <a:bodyPr vertOverflow="overflow" vert="horz" wrap="square" lIns="0" tIns="0" rIns="0" bIns="0" rtlCol="0" anchor="t">
            <a:noAutofit/>
          </a:bodyPr>
          <a:lstStyle/>
          <a:p>
            <a:r>
              <a:rPr lang="en-IN" sz="1200">
                <a:solidFill>
                  <a:srgbClr val="94A3B8"/>
                </a:solidFill>
                <a:latin typeface="Segoe UI"/>
                <a:cs typeface="Segoe UI"/>
              </a:rPr>
              <a:t>Expense claims</a:t>
            </a:r>
          </a:p>
        </p:txBody>
      </p:sp>
      <p:sp>
        <p:nvSpPr>
          <p:cNvPr id="71" name="Rectangle: Rounded Corners 70">
            <a:extLst>
              <a:ext uri="{FF2B5EF4-FFF2-40B4-BE49-F238E27FC236}">
                <a16:creationId xmlns:a16="http://schemas.microsoft.com/office/drawing/2014/main" id="{4A60027D-934C-4F97-88E1-311CD48E7587}"/>
              </a:ext>
            </a:extLst>
          </p:cNvPr>
          <p:cNvSpPr/>
          <p:nvPr/>
        </p:nvSpPr>
        <p:spPr>
          <a:xfrm>
            <a:off x="6121400" y="2794000"/>
            <a:ext cx="5422900" cy="2082800"/>
          </a:xfrm>
          <a:prstGeom prst="roundRect">
            <a:avLst>
              <a:gd name="adj" fmla="val 4878"/>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72" name="TextBox 71">
            <a:extLst>
              <a:ext uri="{FF2B5EF4-FFF2-40B4-BE49-F238E27FC236}">
                <a16:creationId xmlns:a16="http://schemas.microsoft.com/office/drawing/2014/main" id="{0315A211-0521-4D7F-9385-38AFFE5BC4DC}"/>
              </a:ext>
            </a:extLst>
          </p:cNvPr>
          <p:cNvSpPr txBox="1"/>
          <p:nvPr/>
        </p:nvSpPr>
        <p:spPr>
          <a:xfrm>
            <a:off x="6324600" y="2946400"/>
            <a:ext cx="2921000" cy="177800"/>
          </a:xfrm>
          <a:prstGeom prst="rect">
            <a:avLst/>
          </a:prstGeom>
          <a:noFill/>
        </p:spPr>
        <p:txBody>
          <a:bodyPr vertOverflow="overflow" vert="horz" wrap="square" lIns="0" tIns="0" rIns="0" bIns="0" rtlCol="0" anchor="t">
            <a:noAutofit/>
          </a:bodyPr>
          <a:lstStyle/>
          <a:p>
            <a:r>
              <a:rPr lang="en-IN" sz="1050" b="1">
                <a:solidFill>
                  <a:srgbClr val="2DD4BF"/>
                </a:solidFill>
                <a:latin typeface="Segoe UI"/>
                <a:cs typeface="Segoe UI"/>
              </a:rPr>
              <a:t>SIMILARITY TO QUERY (COSINE)</a:t>
            </a:r>
          </a:p>
        </p:txBody>
      </p:sp>
      <p:sp>
        <p:nvSpPr>
          <p:cNvPr id="73" name="TextBox 72">
            <a:extLst>
              <a:ext uri="{FF2B5EF4-FFF2-40B4-BE49-F238E27FC236}">
                <a16:creationId xmlns:a16="http://schemas.microsoft.com/office/drawing/2014/main" id="{DF3A44EA-9D0E-4CDA-850A-AC8517B6F9DA}"/>
              </a:ext>
            </a:extLst>
          </p:cNvPr>
          <p:cNvSpPr txBox="1"/>
          <p:nvPr/>
        </p:nvSpPr>
        <p:spPr>
          <a:xfrm>
            <a:off x="8890000" y="2946400"/>
            <a:ext cx="2476500" cy="177800"/>
          </a:xfrm>
          <a:prstGeom prst="rect">
            <a:avLst/>
          </a:prstGeom>
          <a:noFill/>
        </p:spPr>
        <p:txBody>
          <a:bodyPr vertOverflow="overflow" vert="horz" wrap="square" lIns="0" tIns="0" rIns="0" bIns="0" rtlCol="0" anchor="t">
            <a:noAutofit/>
          </a:bodyPr>
          <a:lstStyle/>
          <a:p>
            <a:pPr algn="r"/>
            <a:r>
              <a:rPr lang="en-US" sz="1050" b="1">
                <a:solidFill>
                  <a:srgbClr val="FBBF24"/>
                </a:solidFill>
                <a:latin typeface="Segoe UI"/>
                <a:cs typeface="Segoe UI"/>
              </a:rPr>
              <a:t>Top 2 go to the LLM</a:t>
            </a:r>
            <a:endParaRPr lang="en-IN" sz="1050" b="1">
              <a:solidFill>
                <a:srgbClr val="FBBF24"/>
              </a:solidFill>
              <a:latin typeface="Segoe UI"/>
              <a:cs typeface="Segoe UI"/>
            </a:endParaRPr>
          </a:p>
        </p:txBody>
      </p:sp>
      <p:sp>
        <p:nvSpPr>
          <p:cNvPr id="74" name="TextBox 73">
            <a:extLst>
              <a:ext uri="{FF2B5EF4-FFF2-40B4-BE49-F238E27FC236}">
                <a16:creationId xmlns:a16="http://schemas.microsoft.com/office/drawing/2014/main" id="{66CFBC14-180B-4DFE-A397-581DE5B4322C}"/>
              </a:ext>
            </a:extLst>
          </p:cNvPr>
          <p:cNvSpPr txBox="1"/>
          <p:nvPr/>
        </p:nvSpPr>
        <p:spPr>
          <a:xfrm>
            <a:off x="6324600" y="3251200"/>
            <a:ext cx="1587500" cy="203200"/>
          </a:xfrm>
          <a:prstGeom prst="rect">
            <a:avLst/>
          </a:prstGeom>
          <a:noFill/>
        </p:spPr>
        <p:txBody>
          <a:bodyPr vertOverflow="overflow" vert="horz" wrap="square" lIns="0" tIns="0" rIns="0" bIns="0" rtlCol="0" anchor="t">
            <a:noAutofit/>
          </a:bodyPr>
          <a:lstStyle/>
          <a:p>
            <a:r>
              <a:rPr lang="en-IN" sz="1250" b="1">
                <a:solidFill>
                  <a:srgbClr val="F1F5F9"/>
                </a:solidFill>
                <a:latin typeface="Segoe UI"/>
                <a:cs typeface="Segoe UI"/>
              </a:rPr>
              <a:t>Carry-over rule</a:t>
            </a:r>
          </a:p>
        </p:txBody>
      </p:sp>
      <p:sp>
        <p:nvSpPr>
          <p:cNvPr id="75" name="Rectangle 74">
            <a:extLst>
              <a:ext uri="{FF2B5EF4-FFF2-40B4-BE49-F238E27FC236}">
                <a16:creationId xmlns:a16="http://schemas.microsoft.com/office/drawing/2014/main" id="{1A8DCB1A-6484-48B0-91B3-C270BA1C9881}"/>
              </a:ext>
            </a:extLst>
          </p:cNvPr>
          <p:cNvSpPr/>
          <p:nvPr/>
        </p:nvSpPr>
        <p:spPr>
          <a:xfrm>
            <a:off x="7975600" y="3314700"/>
            <a:ext cx="2730500" cy="101600"/>
          </a:xfrm>
          <a:prstGeom prst="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76" name="Rectangle 75">
            <a:extLst>
              <a:ext uri="{FF2B5EF4-FFF2-40B4-BE49-F238E27FC236}">
                <a16:creationId xmlns:a16="http://schemas.microsoft.com/office/drawing/2014/main" id="{5503CE20-ACE6-401E-848D-4B17880B2FCE}"/>
              </a:ext>
            </a:extLst>
          </p:cNvPr>
          <p:cNvSpPr/>
          <p:nvPr/>
        </p:nvSpPr>
        <p:spPr>
          <a:xfrm>
            <a:off x="7975600" y="3314700"/>
            <a:ext cx="2484755" cy="1016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77" name="TextBox 76">
            <a:extLst>
              <a:ext uri="{FF2B5EF4-FFF2-40B4-BE49-F238E27FC236}">
                <a16:creationId xmlns:a16="http://schemas.microsoft.com/office/drawing/2014/main" id="{5F2E3349-B0BB-46C9-A296-F2EBB5416554}"/>
              </a:ext>
            </a:extLst>
          </p:cNvPr>
          <p:cNvSpPr txBox="1"/>
          <p:nvPr/>
        </p:nvSpPr>
        <p:spPr>
          <a:xfrm>
            <a:off x="10795000" y="3251200"/>
            <a:ext cx="571500" cy="203200"/>
          </a:xfrm>
          <a:prstGeom prst="rect">
            <a:avLst/>
          </a:prstGeom>
          <a:noFill/>
        </p:spPr>
        <p:txBody>
          <a:bodyPr vertOverflow="overflow" vert="horz" wrap="square" lIns="0" tIns="0" rIns="0" bIns="0" rtlCol="0" anchor="t">
            <a:noAutofit/>
          </a:bodyPr>
          <a:lstStyle/>
          <a:p>
            <a:pPr algn="r"/>
            <a:r>
              <a:rPr lang="en-IN" sz="1250" b="1">
                <a:solidFill>
                  <a:srgbClr val="2DD4BF"/>
                </a:solidFill>
                <a:latin typeface="Consolas"/>
              </a:rPr>
              <a:t>0.91</a:t>
            </a:r>
          </a:p>
        </p:txBody>
      </p:sp>
      <p:sp>
        <p:nvSpPr>
          <p:cNvPr id="78" name="TextBox 77">
            <a:extLst>
              <a:ext uri="{FF2B5EF4-FFF2-40B4-BE49-F238E27FC236}">
                <a16:creationId xmlns:a16="http://schemas.microsoft.com/office/drawing/2014/main" id="{02D2BD39-B71A-4139-822E-E23145DBE12E}"/>
              </a:ext>
            </a:extLst>
          </p:cNvPr>
          <p:cNvSpPr txBox="1"/>
          <p:nvPr/>
        </p:nvSpPr>
        <p:spPr>
          <a:xfrm>
            <a:off x="6324600" y="3556000"/>
            <a:ext cx="1587500" cy="203200"/>
          </a:xfrm>
          <a:prstGeom prst="rect">
            <a:avLst/>
          </a:prstGeom>
          <a:noFill/>
        </p:spPr>
        <p:txBody>
          <a:bodyPr vertOverflow="overflow" vert="horz" wrap="square" lIns="0" tIns="0" rIns="0" bIns="0" rtlCol="0" anchor="t">
            <a:noAutofit/>
          </a:bodyPr>
          <a:lstStyle/>
          <a:p>
            <a:r>
              <a:rPr lang="en-IN" sz="1250" b="1">
                <a:solidFill>
                  <a:srgbClr val="F1F5F9"/>
                </a:solidFill>
                <a:latin typeface="Segoe UI"/>
                <a:cs typeface="Segoe UI"/>
              </a:rPr>
              <a:t>Leave accrual</a:t>
            </a:r>
          </a:p>
        </p:txBody>
      </p:sp>
      <p:sp>
        <p:nvSpPr>
          <p:cNvPr id="79" name="Rectangle 78">
            <a:extLst>
              <a:ext uri="{FF2B5EF4-FFF2-40B4-BE49-F238E27FC236}">
                <a16:creationId xmlns:a16="http://schemas.microsoft.com/office/drawing/2014/main" id="{FAB4E035-9CBA-4A0A-96F3-87179310AF9D}"/>
              </a:ext>
            </a:extLst>
          </p:cNvPr>
          <p:cNvSpPr/>
          <p:nvPr/>
        </p:nvSpPr>
        <p:spPr>
          <a:xfrm>
            <a:off x="7975600" y="3619500"/>
            <a:ext cx="2730500" cy="101600"/>
          </a:xfrm>
          <a:prstGeom prst="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0" name="Rectangle 79">
            <a:extLst>
              <a:ext uri="{FF2B5EF4-FFF2-40B4-BE49-F238E27FC236}">
                <a16:creationId xmlns:a16="http://schemas.microsoft.com/office/drawing/2014/main" id="{198BC9C8-8B57-455A-8ED0-9B47A522051D}"/>
              </a:ext>
            </a:extLst>
          </p:cNvPr>
          <p:cNvSpPr/>
          <p:nvPr/>
        </p:nvSpPr>
        <p:spPr>
          <a:xfrm>
            <a:off x="7975600" y="3619500"/>
            <a:ext cx="2293620" cy="101600"/>
          </a:xfrm>
          <a:prstGeom prst="rect">
            <a:avLst/>
          </a:prstGeom>
          <a:solidFill>
            <a:srgbClr val="2DD4B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1" name="TextBox 80">
            <a:extLst>
              <a:ext uri="{FF2B5EF4-FFF2-40B4-BE49-F238E27FC236}">
                <a16:creationId xmlns:a16="http://schemas.microsoft.com/office/drawing/2014/main" id="{C0F7E532-E7BC-4C29-8475-53CFEDFF8299}"/>
              </a:ext>
            </a:extLst>
          </p:cNvPr>
          <p:cNvSpPr txBox="1"/>
          <p:nvPr/>
        </p:nvSpPr>
        <p:spPr>
          <a:xfrm>
            <a:off x="10795000" y="3556000"/>
            <a:ext cx="571500" cy="203200"/>
          </a:xfrm>
          <a:prstGeom prst="rect">
            <a:avLst/>
          </a:prstGeom>
          <a:noFill/>
        </p:spPr>
        <p:txBody>
          <a:bodyPr vertOverflow="overflow" vert="horz" wrap="square" lIns="0" tIns="0" rIns="0" bIns="0" rtlCol="0" anchor="t">
            <a:noAutofit/>
          </a:bodyPr>
          <a:lstStyle/>
          <a:p>
            <a:pPr algn="r"/>
            <a:r>
              <a:rPr lang="en-IN" sz="1250" b="1">
                <a:solidFill>
                  <a:srgbClr val="2DD4BF"/>
                </a:solidFill>
                <a:latin typeface="Consolas"/>
              </a:rPr>
              <a:t>0.84</a:t>
            </a:r>
          </a:p>
        </p:txBody>
      </p:sp>
      <p:sp>
        <p:nvSpPr>
          <p:cNvPr id="82" name="TextBox 81">
            <a:extLst>
              <a:ext uri="{FF2B5EF4-FFF2-40B4-BE49-F238E27FC236}">
                <a16:creationId xmlns:a16="http://schemas.microsoft.com/office/drawing/2014/main" id="{E32A0D08-6998-4152-96E6-7C44DBCA421B}"/>
              </a:ext>
            </a:extLst>
          </p:cNvPr>
          <p:cNvSpPr txBox="1"/>
          <p:nvPr/>
        </p:nvSpPr>
        <p:spPr>
          <a:xfrm>
            <a:off x="6324600" y="3860800"/>
            <a:ext cx="1587500" cy="203200"/>
          </a:xfrm>
          <a:prstGeom prst="rect">
            <a:avLst/>
          </a:prstGeom>
          <a:noFill/>
        </p:spPr>
        <p:txBody>
          <a:bodyPr vertOverflow="overflow" vert="horz" wrap="square" lIns="0" tIns="0" rIns="0" bIns="0" rtlCol="0" anchor="t">
            <a:noAutofit/>
          </a:bodyPr>
          <a:lstStyle/>
          <a:p>
            <a:r>
              <a:rPr lang="en-IN" sz="1250">
                <a:solidFill>
                  <a:srgbClr val="94A3B8"/>
                </a:solidFill>
                <a:latin typeface="Segoe UI"/>
                <a:cs typeface="Segoe UI"/>
              </a:rPr>
              <a:t>Public holidays</a:t>
            </a:r>
          </a:p>
        </p:txBody>
      </p:sp>
      <p:sp>
        <p:nvSpPr>
          <p:cNvPr id="83" name="Rectangle 82">
            <a:extLst>
              <a:ext uri="{FF2B5EF4-FFF2-40B4-BE49-F238E27FC236}">
                <a16:creationId xmlns:a16="http://schemas.microsoft.com/office/drawing/2014/main" id="{F484EC6D-0680-4B65-8673-33DD8F0AA328}"/>
              </a:ext>
            </a:extLst>
          </p:cNvPr>
          <p:cNvSpPr/>
          <p:nvPr/>
        </p:nvSpPr>
        <p:spPr>
          <a:xfrm>
            <a:off x="7975600" y="3924300"/>
            <a:ext cx="2730500" cy="101600"/>
          </a:xfrm>
          <a:prstGeom prst="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4" name="Rectangle 83">
            <a:extLst>
              <a:ext uri="{FF2B5EF4-FFF2-40B4-BE49-F238E27FC236}">
                <a16:creationId xmlns:a16="http://schemas.microsoft.com/office/drawing/2014/main" id="{D806B0B3-9C50-4E63-8E4C-6316926D69E6}"/>
              </a:ext>
            </a:extLst>
          </p:cNvPr>
          <p:cNvSpPr/>
          <p:nvPr/>
        </p:nvSpPr>
        <p:spPr>
          <a:xfrm>
            <a:off x="7975600" y="3924300"/>
            <a:ext cx="1692910" cy="101600"/>
          </a:xfrm>
          <a:prstGeom prst="rect">
            <a:avLst/>
          </a:prstGeom>
          <a:solidFill>
            <a:srgbClr val="47556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5" name="TextBox 84">
            <a:extLst>
              <a:ext uri="{FF2B5EF4-FFF2-40B4-BE49-F238E27FC236}">
                <a16:creationId xmlns:a16="http://schemas.microsoft.com/office/drawing/2014/main" id="{8747CCAB-7F7F-40A0-8565-E542767116A1}"/>
              </a:ext>
            </a:extLst>
          </p:cNvPr>
          <p:cNvSpPr txBox="1"/>
          <p:nvPr/>
        </p:nvSpPr>
        <p:spPr>
          <a:xfrm>
            <a:off x="10795000" y="3860800"/>
            <a:ext cx="571500" cy="203200"/>
          </a:xfrm>
          <a:prstGeom prst="rect">
            <a:avLst/>
          </a:prstGeom>
          <a:noFill/>
        </p:spPr>
        <p:txBody>
          <a:bodyPr vertOverflow="overflow" vert="horz" wrap="square" lIns="0" tIns="0" rIns="0" bIns="0" rtlCol="0" anchor="t">
            <a:noAutofit/>
          </a:bodyPr>
          <a:lstStyle/>
          <a:p>
            <a:pPr algn="r"/>
            <a:r>
              <a:rPr lang="en-IN" sz="1250">
                <a:solidFill>
                  <a:srgbClr val="94A3B8"/>
                </a:solidFill>
                <a:latin typeface="Consolas"/>
              </a:rPr>
              <a:t>0.62</a:t>
            </a:r>
          </a:p>
        </p:txBody>
      </p:sp>
      <p:sp>
        <p:nvSpPr>
          <p:cNvPr id="86" name="TextBox 85">
            <a:extLst>
              <a:ext uri="{FF2B5EF4-FFF2-40B4-BE49-F238E27FC236}">
                <a16:creationId xmlns:a16="http://schemas.microsoft.com/office/drawing/2014/main" id="{3175F9FD-278E-47C5-9524-1AA2A93C74BA}"/>
              </a:ext>
            </a:extLst>
          </p:cNvPr>
          <p:cNvSpPr txBox="1"/>
          <p:nvPr/>
        </p:nvSpPr>
        <p:spPr>
          <a:xfrm>
            <a:off x="6324600" y="4165600"/>
            <a:ext cx="1587500" cy="203200"/>
          </a:xfrm>
          <a:prstGeom prst="rect">
            <a:avLst/>
          </a:prstGeom>
          <a:noFill/>
        </p:spPr>
        <p:txBody>
          <a:bodyPr vertOverflow="overflow" vert="horz" wrap="square" lIns="0" tIns="0" rIns="0" bIns="0" rtlCol="0" anchor="t">
            <a:noAutofit/>
          </a:bodyPr>
          <a:lstStyle/>
          <a:p>
            <a:r>
              <a:rPr lang="en-IN" sz="1250">
                <a:solidFill>
                  <a:srgbClr val="94A3B8"/>
                </a:solidFill>
                <a:latin typeface="Segoe UI"/>
                <a:cs typeface="Segoe UI"/>
              </a:rPr>
              <a:t>Expense claims</a:t>
            </a:r>
          </a:p>
        </p:txBody>
      </p:sp>
      <p:sp>
        <p:nvSpPr>
          <p:cNvPr id="87" name="Rectangle 86">
            <a:extLst>
              <a:ext uri="{FF2B5EF4-FFF2-40B4-BE49-F238E27FC236}">
                <a16:creationId xmlns:a16="http://schemas.microsoft.com/office/drawing/2014/main" id="{55DA49A6-77C1-4EC6-9E53-92934BFA66EA}"/>
              </a:ext>
            </a:extLst>
          </p:cNvPr>
          <p:cNvSpPr/>
          <p:nvPr/>
        </p:nvSpPr>
        <p:spPr>
          <a:xfrm>
            <a:off x="7975600" y="4229100"/>
            <a:ext cx="2730500" cy="101600"/>
          </a:xfrm>
          <a:prstGeom prst="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8" name="Rectangle 87">
            <a:extLst>
              <a:ext uri="{FF2B5EF4-FFF2-40B4-BE49-F238E27FC236}">
                <a16:creationId xmlns:a16="http://schemas.microsoft.com/office/drawing/2014/main" id="{911B732F-76D0-4F77-91EC-6505B9BFC6E2}"/>
              </a:ext>
            </a:extLst>
          </p:cNvPr>
          <p:cNvSpPr/>
          <p:nvPr/>
        </p:nvSpPr>
        <p:spPr>
          <a:xfrm>
            <a:off x="7975600" y="4229100"/>
            <a:ext cx="573405" cy="101600"/>
          </a:xfrm>
          <a:prstGeom prst="rect">
            <a:avLst/>
          </a:prstGeom>
          <a:solidFill>
            <a:srgbClr val="47556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89" name="TextBox 88">
            <a:extLst>
              <a:ext uri="{FF2B5EF4-FFF2-40B4-BE49-F238E27FC236}">
                <a16:creationId xmlns:a16="http://schemas.microsoft.com/office/drawing/2014/main" id="{2A9D6EA5-6E0B-45A6-9681-7364D43359E9}"/>
              </a:ext>
            </a:extLst>
          </p:cNvPr>
          <p:cNvSpPr txBox="1"/>
          <p:nvPr/>
        </p:nvSpPr>
        <p:spPr>
          <a:xfrm>
            <a:off x="10795000" y="4165600"/>
            <a:ext cx="571500" cy="203200"/>
          </a:xfrm>
          <a:prstGeom prst="rect">
            <a:avLst/>
          </a:prstGeom>
          <a:noFill/>
        </p:spPr>
        <p:txBody>
          <a:bodyPr vertOverflow="overflow" vert="horz" wrap="square" lIns="0" tIns="0" rIns="0" bIns="0" rtlCol="0" anchor="t">
            <a:noAutofit/>
          </a:bodyPr>
          <a:lstStyle/>
          <a:p>
            <a:pPr algn="r"/>
            <a:r>
              <a:rPr lang="en-IN" sz="1250">
                <a:solidFill>
                  <a:srgbClr val="94A3B8"/>
                </a:solidFill>
                <a:latin typeface="Consolas"/>
              </a:rPr>
              <a:t>0.21</a:t>
            </a:r>
          </a:p>
        </p:txBody>
      </p:sp>
      <p:sp>
        <p:nvSpPr>
          <p:cNvPr id="90" name="TextBox 89">
            <a:extLst>
              <a:ext uri="{FF2B5EF4-FFF2-40B4-BE49-F238E27FC236}">
                <a16:creationId xmlns:a16="http://schemas.microsoft.com/office/drawing/2014/main" id="{D2E71A33-AE2F-41E9-A7F9-4FD176A934F1}"/>
              </a:ext>
            </a:extLst>
          </p:cNvPr>
          <p:cNvSpPr txBox="1"/>
          <p:nvPr/>
        </p:nvSpPr>
        <p:spPr>
          <a:xfrm>
            <a:off x="6324600" y="4470400"/>
            <a:ext cx="1587500" cy="203200"/>
          </a:xfrm>
          <a:prstGeom prst="rect">
            <a:avLst/>
          </a:prstGeom>
          <a:noFill/>
        </p:spPr>
        <p:txBody>
          <a:bodyPr vertOverflow="overflow" vert="horz" wrap="square" lIns="0" tIns="0" rIns="0" bIns="0" rtlCol="0" anchor="t">
            <a:noAutofit/>
          </a:bodyPr>
          <a:lstStyle/>
          <a:p>
            <a:r>
              <a:rPr lang="en-IN" sz="1250">
                <a:solidFill>
                  <a:srgbClr val="94A3B8"/>
                </a:solidFill>
                <a:latin typeface="Segoe UI"/>
                <a:cs typeface="Segoe UI"/>
              </a:rPr>
              <a:t>VPN setup</a:t>
            </a:r>
          </a:p>
        </p:txBody>
      </p:sp>
      <p:sp>
        <p:nvSpPr>
          <p:cNvPr id="91" name="Rectangle 90">
            <a:extLst>
              <a:ext uri="{FF2B5EF4-FFF2-40B4-BE49-F238E27FC236}">
                <a16:creationId xmlns:a16="http://schemas.microsoft.com/office/drawing/2014/main" id="{CD0B9E8D-303E-4C5B-9D68-530E5F572028}"/>
              </a:ext>
            </a:extLst>
          </p:cNvPr>
          <p:cNvSpPr/>
          <p:nvPr/>
        </p:nvSpPr>
        <p:spPr>
          <a:xfrm>
            <a:off x="7975600" y="4533900"/>
            <a:ext cx="2730500" cy="101600"/>
          </a:xfrm>
          <a:prstGeom prst="rect">
            <a:avLst/>
          </a:prstGeom>
          <a:solidFill>
            <a:srgbClr val="1E293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92" name="Rectangle 91">
            <a:extLst>
              <a:ext uri="{FF2B5EF4-FFF2-40B4-BE49-F238E27FC236}">
                <a16:creationId xmlns:a16="http://schemas.microsoft.com/office/drawing/2014/main" id="{1A67D527-B81B-4EE6-9B72-C8B722E0EDDC}"/>
              </a:ext>
            </a:extLst>
          </p:cNvPr>
          <p:cNvSpPr/>
          <p:nvPr/>
        </p:nvSpPr>
        <p:spPr>
          <a:xfrm>
            <a:off x="7975600" y="4533900"/>
            <a:ext cx="327660" cy="101600"/>
          </a:xfrm>
          <a:prstGeom prst="rect">
            <a:avLst/>
          </a:prstGeom>
          <a:solidFill>
            <a:srgbClr val="47556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93" name="TextBox 92">
            <a:extLst>
              <a:ext uri="{FF2B5EF4-FFF2-40B4-BE49-F238E27FC236}">
                <a16:creationId xmlns:a16="http://schemas.microsoft.com/office/drawing/2014/main" id="{6FE28E15-CE5E-48A4-8811-B78151B27D23}"/>
              </a:ext>
            </a:extLst>
          </p:cNvPr>
          <p:cNvSpPr txBox="1"/>
          <p:nvPr/>
        </p:nvSpPr>
        <p:spPr>
          <a:xfrm>
            <a:off x="10795000" y="4470400"/>
            <a:ext cx="571500" cy="203200"/>
          </a:xfrm>
          <a:prstGeom prst="rect">
            <a:avLst/>
          </a:prstGeom>
          <a:noFill/>
        </p:spPr>
        <p:txBody>
          <a:bodyPr vertOverflow="overflow" vert="horz" wrap="square" lIns="0" tIns="0" rIns="0" bIns="0" rtlCol="0" anchor="t">
            <a:noAutofit/>
          </a:bodyPr>
          <a:lstStyle/>
          <a:p>
            <a:pPr algn="r"/>
            <a:r>
              <a:rPr lang="en-IN" sz="1250">
                <a:solidFill>
                  <a:srgbClr val="94A3B8"/>
                </a:solidFill>
                <a:latin typeface="Consolas"/>
              </a:rPr>
              <a:t>0.12</a:t>
            </a:r>
          </a:p>
        </p:txBody>
      </p:sp>
      <p:cxnSp>
        <p:nvCxnSpPr>
          <p:cNvPr id="94" name="Straight Arrow Connector 93">
            <a:extLst>
              <a:ext uri="{FF2B5EF4-FFF2-40B4-BE49-F238E27FC236}">
                <a16:creationId xmlns:a16="http://schemas.microsoft.com/office/drawing/2014/main" id="{C6BD6F5A-1342-4E06-A0BD-ABF68DA3BC67}"/>
              </a:ext>
            </a:extLst>
          </p:cNvPr>
          <p:cNvCxnSpPr/>
          <p:nvPr/>
        </p:nvCxnSpPr>
        <p:spPr>
          <a:xfrm>
            <a:off x="6324600" y="3848100"/>
            <a:ext cx="5041900" cy="127"/>
          </a:xfrm>
          <a:prstGeom prst="straightConnector1">
            <a:avLst/>
          </a:prstGeom>
          <a:ln w="9525" cap="flat" cmpd="sng" algn="ctr">
            <a:solidFill>
              <a:srgbClr val="2A3650"/>
            </a:solidFill>
            <a:prstDash val="dash"/>
          </a:ln>
        </p:spPr>
        <p:style>
          <a:lnRef idx="2">
            <a:schemeClr val="accent1"/>
          </a:lnRef>
          <a:fillRef idx="0">
            <a:schemeClr val="accent1"/>
          </a:fillRef>
          <a:effectRef idx="1">
            <a:schemeClr val="accent1"/>
          </a:effectRef>
          <a:fontRef idx="minor">
            <a:schemeClr val="tx1"/>
          </a:fontRef>
        </p:style>
      </p:cxnSp>
      <p:sp>
        <p:nvSpPr>
          <p:cNvPr id="95" name="Rectangle: Rounded Corners 94">
            <a:extLst>
              <a:ext uri="{FF2B5EF4-FFF2-40B4-BE49-F238E27FC236}">
                <a16:creationId xmlns:a16="http://schemas.microsoft.com/office/drawing/2014/main" id="{E2788A20-713C-4497-A9F2-98FCA466A93E}"/>
              </a:ext>
            </a:extLst>
          </p:cNvPr>
          <p:cNvSpPr/>
          <p:nvPr/>
        </p:nvSpPr>
        <p:spPr>
          <a:xfrm>
            <a:off x="6121400" y="5003800"/>
            <a:ext cx="5422900" cy="1371600"/>
          </a:xfrm>
          <a:prstGeom prst="roundRect">
            <a:avLst>
              <a:gd name="adj" fmla="val 7407"/>
            </a:avLst>
          </a:prstGeom>
          <a:solidFill>
            <a:srgbClr val="131C31"/>
          </a:solidFill>
          <a:ln w="12700" cap="flat" cmpd="sng" algn="ctr">
            <a:solidFill>
              <a:srgbClr val="243049"/>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IN"/>
          </a:p>
        </p:txBody>
      </p:sp>
      <p:sp>
        <p:nvSpPr>
          <p:cNvPr id="96" name="TextBox 95">
            <a:extLst>
              <a:ext uri="{FF2B5EF4-FFF2-40B4-BE49-F238E27FC236}">
                <a16:creationId xmlns:a16="http://schemas.microsoft.com/office/drawing/2014/main" id="{1954C751-FE60-45FD-AF0C-FA84C3757CB8}"/>
              </a:ext>
            </a:extLst>
          </p:cNvPr>
          <p:cNvSpPr txBox="1"/>
          <p:nvPr/>
        </p:nvSpPr>
        <p:spPr>
          <a:xfrm>
            <a:off x="6324600" y="5168900"/>
            <a:ext cx="1397000" cy="177800"/>
          </a:xfrm>
          <a:prstGeom prst="rect">
            <a:avLst/>
          </a:prstGeom>
          <a:noFill/>
        </p:spPr>
        <p:txBody>
          <a:bodyPr vertOverflow="overflow" vert="horz" wrap="square" lIns="0" tIns="0" rIns="0" bIns="0" rtlCol="0" anchor="t">
            <a:noAutofit/>
          </a:bodyPr>
          <a:lstStyle/>
          <a:p>
            <a:r>
              <a:rPr lang="en-IN" sz="1000" b="1">
                <a:solidFill>
                  <a:srgbClr val="2DD4BF"/>
                </a:solidFill>
                <a:latin typeface="Segoe UI"/>
                <a:cs typeface="Segoe UI"/>
              </a:rPr>
              <a:t>DIMENSIONS</a:t>
            </a:r>
          </a:p>
        </p:txBody>
      </p:sp>
      <p:sp>
        <p:nvSpPr>
          <p:cNvPr id="97" name="TextBox 96">
            <a:extLst>
              <a:ext uri="{FF2B5EF4-FFF2-40B4-BE49-F238E27FC236}">
                <a16:creationId xmlns:a16="http://schemas.microsoft.com/office/drawing/2014/main" id="{919524C8-66A0-480E-A920-CDA3B3CD9788}"/>
              </a:ext>
            </a:extLst>
          </p:cNvPr>
          <p:cNvSpPr txBox="1"/>
          <p:nvPr/>
        </p:nvSpPr>
        <p:spPr>
          <a:xfrm>
            <a:off x="7747000" y="5156200"/>
            <a:ext cx="3683000" cy="228600"/>
          </a:xfrm>
          <a:prstGeom prst="rect">
            <a:avLst/>
          </a:prstGeom>
          <a:noFill/>
        </p:spPr>
        <p:txBody>
          <a:bodyPr vertOverflow="overflow" vert="horz" wrap="square" lIns="0" tIns="0" rIns="0" bIns="0" rtlCol="0" anchor="t">
            <a:noAutofit/>
          </a:bodyPr>
          <a:lstStyle/>
          <a:p>
            <a:r>
              <a:rPr lang="en-US" sz="1250">
                <a:solidFill>
                  <a:srgbClr val="E2E8F0"/>
                </a:solidFill>
                <a:latin typeface="Segoe UI"/>
                <a:cs typeface="Segoe UI"/>
              </a:rPr>
              <a:t>384–3,072 numbers; more nuance, more cost</a:t>
            </a:r>
            <a:endParaRPr lang="en-IN" sz="1250">
              <a:solidFill>
                <a:srgbClr val="E2E8F0"/>
              </a:solidFill>
              <a:latin typeface="Segoe UI"/>
              <a:cs typeface="Segoe UI"/>
            </a:endParaRPr>
          </a:p>
        </p:txBody>
      </p:sp>
      <p:cxnSp>
        <p:nvCxnSpPr>
          <p:cNvPr id="98" name="Straight Arrow Connector 97">
            <a:extLst>
              <a:ext uri="{FF2B5EF4-FFF2-40B4-BE49-F238E27FC236}">
                <a16:creationId xmlns:a16="http://schemas.microsoft.com/office/drawing/2014/main" id="{03F3C244-B1FF-4964-B71C-F9C163738DB8}"/>
              </a:ext>
            </a:extLst>
          </p:cNvPr>
          <p:cNvCxnSpPr/>
          <p:nvPr/>
        </p:nvCxnSpPr>
        <p:spPr>
          <a:xfrm>
            <a:off x="6324600" y="5473700"/>
            <a:ext cx="5041900" cy="127"/>
          </a:xfrm>
          <a:prstGeom prst="straightConnector1">
            <a:avLst/>
          </a:prstGeom>
          <a:ln w="9525" cap="flat" cmpd="sng" algn="ctr">
            <a:solidFill>
              <a:srgbClr val="1E293B"/>
            </a:solidFill>
            <a:prstDash val="solid"/>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67B913EE-FF46-443D-AF04-81663852BE96}"/>
              </a:ext>
            </a:extLst>
          </p:cNvPr>
          <p:cNvSpPr txBox="1"/>
          <p:nvPr/>
        </p:nvSpPr>
        <p:spPr>
          <a:xfrm>
            <a:off x="6324600" y="5575300"/>
            <a:ext cx="1397000" cy="177800"/>
          </a:xfrm>
          <a:prstGeom prst="rect">
            <a:avLst/>
          </a:prstGeom>
          <a:noFill/>
        </p:spPr>
        <p:txBody>
          <a:bodyPr vertOverflow="overflow" vert="horz" wrap="square" lIns="0" tIns="0" rIns="0" bIns="0" rtlCol="0" anchor="t">
            <a:noAutofit/>
          </a:bodyPr>
          <a:lstStyle/>
          <a:p>
            <a:r>
              <a:rPr lang="en-IN" sz="1000" b="1">
                <a:solidFill>
                  <a:srgbClr val="2DD4BF"/>
                </a:solidFill>
                <a:latin typeface="Segoe UI"/>
                <a:cs typeface="Segoe UI"/>
              </a:rPr>
              <a:t>MEANING</a:t>
            </a:r>
          </a:p>
        </p:txBody>
      </p:sp>
      <p:sp>
        <p:nvSpPr>
          <p:cNvPr id="100" name="TextBox 99">
            <a:extLst>
              <a:ext uri="{FF2B5EF4-FFF2-40B4-BE49-F238E27FC236}">
                <a16:creationId xmlns:a16="http://schemas.microsoft.com/office/drawing/2014/main" id="{6D8AC4D5-B985-42FB-8CD4-9C311834F05C}"/>
              </a:ext>
            </a:extLst>
          </p:cNvPr>
          <p:cNvSpPr txBox="1"/>
          <p:nvPr/>
        </p:nvSpPr>
        <p:spPr>
          <a:xfrm>
            <a:off x="7747000" y="5562600"/>
            <a:ext cx="3683000" cy="228600"/>
          </a:xfrm>
          <a:prstGeom prst="rect">
            <a:avLst/>
          </a:prstGeom>
          <a:noFill/>
        </p:spPr>
        <p:txBody>
          <a:bodyPr vertOverflow="overflow" vert="horz" wrap="square" lIns="0" tIns="0" rIns="0" bIns="0" rtlCol="0" anchor="t">
            <a:noAutofit/>
          </a:bodyPr>
          <a:lstStyle/>
          <a:p>
            <a:r>
              <a:rPr lang="en-US" sz="1250">
                <a:solidFill>
                  <a:srgbClr val="E2E8F0"/>
                </a:solidFill>
                <a:latin typeface="Segoe UI"/>
                <a:cs typeface="Segoe UI"/>
              </a:rPr>
              <a:t>Context changes the vector, not just words</a:t>
            </a:r>
            <a:endParaRPr lang="en-IN" sz="1250">
              <a:solidFill>
                <a:srgbClr val="E2E8F0"/>
              </a:solidFill>
              <a:latin typeface="Segoe UI"/>
              <a:cs typeface="Segoe UI"/>
            </a:endParaRPr>
          </a:p>
        </p:txBody>
      </p:sp>
      <p:cxnSp>
        <p:nvCxnSpPr>
          <p:cNvPr id="101" name="Straight Arrow Connector 100">
            <a:extLst>
              <a:ext uri="{FF2B5EF4-FFF2-40B4-BE49-F238E27FC236}">
                <a16:creationId xmlns:a16="http://schemas.microsoft.com/office/drawing/2014/main" id="{526087C4-79DF-4E18-9B6A-A52A7B51DE1C}"/>
              </a:ext>
            </a:extLst>
          </p:cNvPr>
          <p:cNvCxnSpPr/>
          <p:nvPr/>
        </p:nvCxnSpPr>
        <p:spPr>
          <a:xfrm>
            <a:off x="6324600" y="5880100"/>
            <a:ext cx="5041900" cy="127"/>
          </a:xfrm>
          <a:prstGeom prst="straightConnector1">
            <a:avLst/>
          </a:prstGeom>
          <a:ln w="9525" cap="flat" cmpd="sng" algn="ctr">
            <a:solidFill>
              <a:srgbClr val="1E293B"/>
            </a:solidFill>
            <a:prstDash val="solid"/>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CEF3F206-0EC0-4A1A-B980-152440D6CE97}"/>
              </a:ext>
            </a:extLst>
          </p:cNvPr>
          <p:cNvSpPr txBox="1"/>
          <p:nvPr/>
        </p:nvSpPr>
        <p:spPr>
          <a:xfrm>
            <a:off x="6324600" y="5981700"/>
            <a:ext cx="1397000" cy="177800"/>
          </a:xfrm>
          <a:prstGeom prst="rect">
            <a:avLst/>
          </a:prstGeom>
          <a:noFill/>
        </p:spPr>
        <p:txBody>
          <a:bodyPr vertOverflow="overflow" vert="horz" wrap="square" lIns="0" tIns="0" rIns="0" bIns="0" rtlCol="0" anchor="t">
            <a:noAutofit/>
          </a:bodyPr>
          <a:lstStyle/>
          <a:p>
            <a:r>
              <a:rPr lang="en-IN" sz="1000" b="1">
                <a:solidFill>
                  <a:srgbClr val="2DD4BF"/>
                </a:solidFill>
                <a:latin typeface="Segoe UI"/>
                <a:cs typeface="Segoe UI"/>
              </a:rPr>
              <a:t>ONE-WAY</a:t>
            </a:r>
          </a:p>
        </p:txBody>
      </p:sp>
      <p:sp>
        <p:nvSpPr>
          <p:cNvPr id="103" name="TextBox 102">
            <a:extLst>
              <a:ext uri="{FF2B5EF4-FFF2-40B4-BE49-F238E27FC236}">
                <a16:creationId xmlns:a16="http://schemas.microsoft.com/office/drawing/2014/main" id="{6DC1D50A-6E46-43E0-A30D-12C816205D20}"/>
              </a:ext>
            </a:extLst>
          </p:cNvPr>
          <p:cNvSpPr txBox="1"/>
          <p:nvPr/>
        </p:nvSpPr>
        <p:spPr>
          <a:xfrm>
            <a:off x="7747000" y="5969000"/>
            <a:ext cx="3683000" cy="228600"/>
          </a:xfrm>
          <a:prstGeom prst="rect">
            <a:avLst/>
          </a:prstGeom>
          <a:noFill/>
        </p:spPr>
        <p:txBody>
          <a:bodyPr vertOverflow="overflow" vert="horz" wrap="square" lIns="0" tIns="0" rIns="0" bIns="0" rtlCol="0" anchor="t">
            <a:noAutofit/>
          </a:bodyPr>
          <a:lstStyle/>
          <a:p>
            <a:r>
              <a:rPr lang="en-US" sz="1250">
                <a:solidFill>
                  <a:srgbClr val="E2E8F0"/>
                </a:solidFill>
                <a:latin typeface="Segoe UI"/>
                <a:cs typeface="Segoe UI"/>
              </a:rPr>
              <a:t>Lossy fingerprint; you can't rebuild the text</a:t>
            </a:r>
            <a:endParaRPr lang="en-IN" sz="1250">
              <a:solidFill>
                <a:srgbClr val="E2E8F0"/>
              </a:solidFill>
              <a:latin typeface="Segoe UI"/>
              <a:cs typeface="Segoe UI"/>
            </a:endParaRPr>
          </a:p>
        </p:txBody>
      </p:sp>
    </p:spTree>
    <p:extLst>
      <p:ext uri="{BB962C8B-B14F-4D97-AF65-F5344CB8AC3E}">
        <p14:creationId xmlns:p14="http://schemas.microsoft.com/office/powerpoint/2010/main" val="3425901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EMBEDDINGS</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Comparing modern embedding models</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00" name="Model 101"/>
          <p:cNvSpPr/>
          <p:nvPr/>
        </p:nvSpPr>
        <p:spPr>
          <a:xfrm>
            <a:off x="635000" y="1397000"/>
            <a:ext cx="50800" cy="2362200"/>
          </a:xfrm>
          <a:prstGeom prst="rect">
            <a:avLst/>
          </a:prstGeom>
          <a:solidFill>
            <a:srgbClr val="2DD4BF"/>
          </a:solidFill>
          <a:ln>
            <a:noFill/>
          </a:ln>
        </p:spPr>
        <p:txBody>
          <a:bodyPr wrap="square" lIns="0" tIns="0" rIns="0" bIns="0" anchor="t">
            <a:noAutofit/>
          </a:bodyPr>
          <a:lstStyle/>
          <a:p>
            <a:endParaRPr lang="en-US"/>
          </a:p>
        </p:txBody>
      </p:sp>
      <p:sp>
        <p:nvSpPr>
          <p:cNvPr id="101" name="Model 102"/>
          <p:cNvSpPr/>
          <p:nvPr/>
        </p:nvSpPr>
        <p:spPr>
          <a:xfrm>
            <a:off x="812800" y="1473200"/>
            <a:ext cx="1244600" cy="22098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MANAGED API</a:t>
            </a:r>
          </a:p>
          <a:p>
            <a:pPr algn="l">
              <a:spcBef>
                <a:spcPts val="600"/>
              </a:spcBef>
            </a:pPr>
            <a:r>
              <a:rPr lang="en-US" sz="1200" b="0" dirty="0">
                <a:solidFill>
                  <a:srgbClr val="B8C2D3"/>
                </a:solidFill>
                <a:latin typeface="Segoe UI"/>
              </a:rPr>
              <a:t>Pay per token; the provider runs it</a:t>
            </a:r>
          </a:p>
        </p:txBody>
      </p:sp>
      <p:sp>
        <p:nvSpPr>
          <p:cNvPr id="102" name="Model 103"/>
          <p:cNvSpPr/>
          <p:nvPr/>
        </p:nvSpPr>
        <p:spPr>
          <a:xfrm>
            <a:off x="2209800" y="1397000"/>
            <a:ext cx="3009900" cy="2362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03" name="Model 104"/>
          <p:cNvSpPr/>
          <p:nvPr/>
        </p:nvSpPr>
        <p:spPr>
          <a:xfrm>
            <a:off x="2413000" y="157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OPENAI</a:t>
            </a:r>
          </a:p>
        </p:txBody>
      </p:sp>
      <p:sp>
        <p:nvSpPr>
          <p:cNvPr id="104" name="Model 105"/>
          <p:cNvSpPr/>
          <p:nvPr/>
        </p:nvSpPr>
        <p:spPr>
          <a:xfrm>
            <a:off x="2413000" y="177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text-embedding-3-small</a:t>
            </a:r>
          </a:p>
        </p:txBody>
      </p:sp>
      <p:sp>
        <p:nvSpPr>
          <p:cNvPr id="105" name="Model 106"/>
          <p:cNvSpPr/>
          <p:nvPr/>
        </p:nvSpPr>
        <p:spPr>
          <a:xfrm>
            <a:off x="2413000" y="215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1536</a:t>
            </a:r>
            <a:r>
              <a:rPr lang="en-US" sz="1100" b="0" dirty="0">
                <a:solidFill>
                  <a:srgbClr val="B8C2D3"/>
                </a:solidFill>
                <a:latin typeface="Segoe UI"/>
              </a:rPr>
              <a:t>  dims · configurable down</a:t>
            </a:r>
          </a:p>
        </p:txBody>
      </p:sp>
      <p:sp>
        <p:nvSpPr>
          <p:cNvPr id="106" name="Model 107"/>
          <p:cNvSpPr/>
          <p:nvPr/>
        </p:nvSpPr>
        <p:spPr>
          <a:xfrm>
            <a:off x="2413000" y="264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a:t>
            </a:r>
          </a:p>
        </p:txBody>
      </p:sp>
      <p:sp>
        <p:nvSpPr>
          <p:cNvPr id="107" name="Model 108"/>
          <p:cNvSpPr/>
          <p:nvPr/>
        </p:nvSpPr>
        <p:spPr>
          <a:xfrm>
            <a:off x="2413000" y="297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08" name="Model 109"/>
          <p:cNvSpPr/>
          <p:nvPr/>
        </p:nvSpPr>
        <p:spPr>
          <a:xfrm>
            <a:off x="2413000" y="307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Good default for cost-sensitive workloads</a:t>
            </a:r>
          </a:p>
        </p:txBody>
      </p:sp>
      <p:sp>
        <p:nvSpPr>
          <p:cNvPr id="109" name="Model 110"/>
          <p:cNvSpPr/>
          <p:nvPr/>
        </p:nvSpPr>
        <p:spPr>
          <a:xfrm>
            <a:off x="5372100" y="1397000"/>
            <a:ext cx="3009900" cy="2362200"/>
          </a:xfrm>
          <a:prstGeom prst="roundRect">
            <a:avLst>
              <a:gd name="adj" fmla="val 6000"/>
            </a:avLst>
          </a:prstGeom>
          <a:solidFill>
            <a:srgbClr val="0F2A30"/>
          </a:solidFill>
          <a:ln w="19050">
            <a:solidFill>
              <a:srgbClr val="2DD4BF"/>
            </a:solidFill>
          </a:ln>
        </p:spPr>
        <p:txBody>
          <a:bodyPr wrap="square" lIns="0" tIns="0" rIns="0" bIns="0" anchor="t">
            <a:noAutofit/>
          </a:bodyPr>
          <a:lstStyle/>
          <a:p>
            <a:endParaRPr lang="en-US"/>
          </a:p>
        </p:txBody>
      </p:sp>
      <p:sp>
        <p:nvSpPr>
          <p:cNvPr id="110" name="Model 111"/>
          <p:cNvSpPr/>
          <p:nvPr/>
        </p:nvSpPr>
        <p:spPr>
          <a:xfrm>
            <a:off x="5575300" y="157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OPENAI</a:t>
            </a:r>
          </a:p>
        </p:txBody>
      </p:sp>
      <p:sp>
        <p:nvSpPr>
          <p:cNvPr id="111" name="Model 112"/>
          <p:cNvSpPr/>
          <p:nvPr/>
        </p:nvSpPr>
        <p:spPr>
          <a:xfrm>
            <a:off x="6781800" y="1524000"/>
            <a:ext cx="1422400" cy="254000"/>
          </a:xfrm>
          <a:prstGeom prst="roundRect">
            <a:avLst>
              <a:gd name="adj" fmla="val 50000"/>
            </a:avLst>
          </a:prstGeom>
          <a:solidFill>
            <a:srgbClr val="2DD4BF"/>
          </a:solidFill>
          <a:ln>
            <a:noFill/>
          </a:ln>
        </p:spPr>
        <p:txBody>
          <a:bodyPr wrap="square" lIns="0" tIns="0" rIns="0" bIns="0" anchor="ctr">
            <a:noAutofit/>
          </a:bodyPr>
          <a:lstStyle/>
          <a:p>
            <a:pPr algn="ctr"/>
            <a:r>
              <a:rPr lang="en-US" sz="850" b="1" dirty="0">
                <a:solidFill>
                  <a:srgbClr val="0A0F1E"/>
                </a:solidFill>
                <a:latin typeface="Segoe UI"/>
              </a:rPr>
              <a:t>USED IN THIS PROJECT</a:t>
            </a:r>
          </a:p>
        </p:txBody>
      </p:sp>
      <p:sp>
        <p:nvSpPr>
          <p:cNvPr id="112" name="Model 113"/>
          <p:cNvSpPr/>
          <p:nvPr/>
        </p:nvSpPr>
        <p:spPr>
          <a:xfrm>
            <a:off x="5575300" y="177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text-embedding-3-large</a:t>
            </a:r>
          </a:p>
        </p:txBody>
      </p:sp>
      <p:sp>
        <p:nvSpPr>
          <p:cNvPr id="113" name="Model 114"/>
          <p:cNvSpPr/>
          <p:nvPr/>
        </p:nvSpPr>
        <p:spPr>
          <a:xfrm>
            <a:off x="5575300" y="215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3072</a:t>
            </a:r>
            <a:r>
              <a:rPr lang="en-US" sz="1100" b="0" dirty="0">
                <a:solidFill>
                  <a:srgbClr val="B8C2D3"/>
                </a:solidFill>
                <a:latin typeface="Segoe UI"/>
              </a:rPr>
              <a:t>  dims · configurable down</a:t>
            </a:r>
          </a:p>
        </p:txBody>
      </p:sp>
      <p:sp>
        <p:nvSpPr>
          <p:cNvPr id="114" name="Model 115"/>
          <p:cNvSpPr/>
          <p:nvPr/>
        </p:nvSpPr>
        <p:spPr>
          <a:xfrm>
            <a:off x="5575300" y="264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a:t>
            </a:r>
          </a:p>
        </p:txBody>
      </p:sp>
      <p:sp>
        <p:nvSpPr>
          <p:cNvPr id="115" name="Model 116"/>
          <p:cNvSpPr/>
          <p:nvPr/>
        </p:nvSpPr>
        <p:spPr>
          <a:xfrm>
            <a:off x="5575300" y="297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16" name="Model 117"/>
          <p:cNvSpPr/>
          <p:nvPr/>
        </p:nvSpPr>
        <p:spPr>
          <a:xfrm>
            <a:off x="5575300" y="307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Evaluate any embedding model against your corpus and query set</a:t>
            </a:r>
          </a:p>
        </p:txBody>
      </p:sp>
      <p:sp>
        <p:nvSpPr>
          <p:cNvPr id="117" name="Model 118"/>
          <p:cNvSpPr/>
          <p:nvPr/>
        </p:nvSpPr>
        <p:spPr>
          <a:xfrm>
            <a:off x="8534400" y="1397000"/>
            <a:ext cx="3009900" cy="2362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18" name="Model 119"/>
          <p:cNvSpPr/>
          <p:nvPr/>
        </p:nvSpPr>
        <p:spPr>
          <a:xfrm>
            <a:off x="8737600" y="157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VOYAGE AI</a:t>
            </a:r>
          </a:p>
        </p:txBody>
      </p:sp>
      <p:sp>
        <p:nvSpPr>
          <p:cNvPr id="119" name="Model 120"/>
          <p:cNvSpPr/>
          <p:nvPr/>
        </p:nvSpPr>
        <p:spPr>
          <a:xfrm>
            <a:off x="8737600" y="177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Voyage</a:t>
            </a:r>
          </a:p>
        </p:txBody>
      </p:sp>
      <p:sp>
        <p:nvSpPr>
          <p:cNvPr id="120" name="Model 121"/>
          <p:cNvSpPr/>
          <p:nvPr/>
        </p:nvSpPr>
        <p:spPr>
          <a:xfrm>
            <a:off x="8737600" y="215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1024–1536</a:t>
            </a:r>
            <a:r>
              <a:rPr lang="en-US" sz="1100" b="0" dirty="0">
                <a:solidFill>
                  <a:srgbClr val="B8C2D3"/>
                </a:solidFill>
                <a:latin typeface="Segoe UI"/>
              </a:rPr>
              <a:t>  dims</a:t>
            </a:r>
          </a:p>
        </p:txBody>
      </p:sp>
      <p:sp>
        <p:nvSpPr>
          <p:cNvPr id="121" name="Model 122"/>
          <p:cNvSpPr/>
          <p:nvPr/>
        </p:nvSpPr>
        <p:spPr>
          <a:xfrm>
            <a:off x="8737600" y="264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a:t>
            </a:r>
          </a:p>
        </p:txBody>
      </p:sp>
      <p:sp>
        <p:nvSpPr>
          <p:cNvPr id="122" name="Model 123"/>
          <p:cNvSpPr/>
          <p:nvPr/>
        </p:nvSpPr>
        <p:spPr>
          <a:xfrm>
            <a:off x="8737600" y="297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23" name="Model 124"/>
          <p:cNvSpPr/>
          <p:nvPr/>
        </p:nvSpPr>
        <p:spPr>
          <a:xfrm>
            <a:off x="8737600" y="307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Strong retrieval-tuned embeddings, managed API</a:t>
            </a:r>
          </a:p>
        </p:txBody>
      </p:sp>
      <p:sp>
        <p:nvSpPr>
          <p:cNvPr id="124" name="Model 125"/>
          <p:cNvSpPr/>
          <p:nvPr/>
        </p:nvSpPr>
        <p:spPr>
          <a:xfrm>
            <a:off x="635000" y="3937000"/>
            <a:ext cx="50800" cy="2362200"/>
          </a:xfrm>
          <a:prstGeom prst="rect">
            <a:avLst/>
          </a:prstGeom>
          <a:solidFill>
            <a:srgbClr val="475569"/>
          </a:solidFill>
          <a:ln>
            <a:noFill/>
          </a:ln>
        </p:spPr>
        <p:txBody>
          <a:bodyPr wrap="square" lIns="0" tIns="0" rIns="0" bIns="0" anchor="t">
            <a:noAutofit/>
          </a:bodyPr>
          <a:lstStyle/>
          <a:p>
            <a:endParaRPr lang="en-US"/>
          </a:p>
        </p:txBody>
      </p:sp>
      <p:sp>
        <p:nvSpPr>
          <p:cNvPr id="125" name="Model 126"/>
          <p:cNvSpPr/>
          <p:nvPr/>
        </p:nvSpPr>
        <p:spPr>
          <a:xfrm>
            <a:off x="812800" y="4013200"/>
            <a:ext cx="1244600" cy="22098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OPEN WEIGHTS</a:t>
            </a:r>
          </a:p>
          <a:p>
            <a:pPr algn="l">
              <a:spcBef>
                <a:spcPts val="600"/>
              </a:spcBef>
            </a:pPr>
            <a:r>
              <a:rPr lang="en-US" sz="1200" b="0" dirty="0">
                <a:solidFill>
                  <a:srgbClr val="B8C2D3"/>
                </a:solidFill>
                <a:latin typeface="Segoe UI"/>
              </a:rPr>
              <a:t>Self-host; you run the serving infra</a:t>
            </a:r>
          </a:p>
        </p:txBody>
      </p:sp>
      <p:sp>
        <p:nvSpPr>
          <p:cNvPr id="126" name="Model 127"/>
          <p:cNvSpPr/>
          <p:nvPr/>
        </p:nvSpPr>
        <p:spPr>
          <a:xfrm>
            <a:off x="2209800" y="3937000"/>
            <a:ext cx="3009900" cy="2362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27" name="Model 128"/>
          <p:cNvSpPr/>
          <p:nvPr/>
        </p:nvSpPr>
        <p:spPr>
          <a:xfrm>
            <a:off x="2413000" y="411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BAAI</a:t>
            </a:r>
          </a:p>
        </p:txBody>
      </p:sp>
      <p:sp>
        <p:nvSpPr>
          <p:cNvPr id="128" name="Model 129"/>
          <p:cNvSpPr/>
          <p:nvPr/>
        </p:nvSpPr>
        <p:spPr>
          <a:xfrm>
            <a:off x="2413000" y="431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BGE</a:t>
            </a:r>
          </a:p>
        </p:txBody>
      </p:sp>
      <p:sp>
        <p:nvSpPr>
          <p:cNvPr id="129" name="Model 130"/>
          <p:cNvSpPr/>
          <p:nvPr/>
        </p:nvSpPr>
        <p:spPr>
          <a:xfrm>
            <a:off x="2413000" y="469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1024</a:t>
            </a:r>
            <a:r>
              <a:rPr lang="en-US" sz="1100" b="0" dirty="0">
                <a:solidFill>
                  <a:srgbClr val="B8C2D3"/>
                </a:solidFill>
                <a:latin typeface="Segoe UI"/>
              </a:rPr>
              <a:t>  dims</a:t>
            </a:r>
          </a:p>
        </p:txBody>
      </p:sp>
      <p:sp>
        <p:nvSpPr>
          <p:cNvPr id="130" name="Model 131"/>
          <p:cNvSpPr/>
          <p:nvPr/>
        </p:nvSpPr>
        <p:spPr>
          <a:xfrm>
            <a:off x="2413000" y="518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Free (self-hosted compute)</a:t>
            </a:r>
          </a:p>
        </p:txBody>
      </p:sp>
      <p:sp>
        <p:nvSpPr>
          <p:cNvPr id="131" name="Model 132"/>
          <p:cNvSpPr/>
          <p:nvPr/>
        </p:nvSpPr>
        <p:spPr>
          <a:xfrm>
            <a:off x="2413000" y="551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32" name="Model 133"/>
          <p:cNvSpPr/>
          <p:nvPr/>
        </p:nvSpPr>
        <p:spPr>
          <a:xfrm>
            <a:off x="2413000" y="561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Strong open-weight option; needs your own serving infra</a:t>
            </a:r>
          </a:p>
        </p:txBody>
      </p:sp>
      <p:sp>
        <p:nvSpPr>
          <p:cNvPr id="133" name="Model 134"/>
          <p:cNvSpPr/>
          <p:nvPr/>
        </p:nvSpPr>
        <p:spPr>
          <a:xfrm>
            <a:off x="5372100" y="3937000"/>
            <a:ext cx="3009900" cy="2362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34" name="Model 135"/>
          <p:cNvSpPr/>
          <p:nvPr/>
        </p:nvSpPr>
        <p:spPr>
          <a:xfrm>
            <a:off x="5575300" y="411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MICROSOFT</a:t>
            </a:r>
          </a:p>
        </p:txBody>
      </p:sp>
      <p:sp>
        <p:nvSpPr>
          <p:cNvPr id="135" name="Model 136"/>
          <p:cNvSpPr/>
          <p:nvPr/>
        </p:nvSpPr>
        <p:spPr>
          <a:xfrm>
            <a:off x="5575300" y="431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E5</a:t>
            </a:r>
          </a:p>
        </p:txBody>
      </p:sp>
      <p:sp>
        <p:nvSpPr>
          <p:cNvPr id="136" name="Model 137"/>
          <p:cNvSpPr/>
          <p:nvPr/>
        </p:nvSpPr>
        <p:spPr>
          <a:xfrm>
            <a:off x="5575300" y="469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1024</a:t>
            </a:r>
            <a:r>
              <a:rPr lang="en-US" sz="1100" b="0" dirty="0">
                <a:solidFill>
                  <a:srgbClr val="B8C2D3"/>
                </a:solidFill>
                <a:latin typeface="Segoe UI"/>
              </a:rPr>
              <a:t>  dims</a:t>
            </a:r>
          </a:p>
        </p:txBody>
      </p:sp>
      <p:sp>
        <p:nvSpPr>
          <p:cNvPr id="137" name="Model 138"/>
          <p:cNvSpPr/>
          <p:nvPr/>
        </p:nvSpPr>
        <p:spPr>
          <a:xfrm>
            <a:off x="5575300" y="518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Free (self-hosted compute)</a:t>
            </a:r>
          </a:p>
        </p:txBody>
      </p:sp>
      <p:sp>
        <p:nvSpPr>
          <p:cNvPr id="138" name="Model 139"/>
          <p:cNvSpPr/>
          <p:nvPr/>
        </p:nvSpPr>
        <p:spPr>
          <a:xfrm>
            <a:off x="5575300" y="551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39" name="Model 140"/>
          <p:cNvSpPr/>
          <p:nvPr/>
        </p:nvSpPr>
        <p:spPr>
          <a:xfrm>
            <a:off x="5575300" y="561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Comparable to BGE, MTEB-competitive</a:t>
            </a:r>
          </a:p>
        </p:txBody>
      </p:sp>
      <p:sp>
        <p:nvSpPr>
          <p:cNvPr id="140" name="Model 141"/>
          <p:cNvSpPr/>
          <p:nvPr/>
        </p:nvSpPr>
        <p:spPr>
          <a:xfrm>
            <a:off x="8534400" y="3937000"/>
            <a:ext cx="3009900" cy="2362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41" name="Model 142"/>
          <p:cNvSpPr/>
          <p:nvPr/>
        </p:nvSpPr>
        <p:spPr>
          <a:xfrm>
            <a:off x="8737600" y="4114800"/>
            <a:ext cx="2603500" cy="1778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NOMIC</a:t>
            </a:r>
          </a:p>
        </p:txBody>
      </p:sp>
      <p:sp>
        <p:nvSpPr>
          <p:cNvPr id="142" name="Model 143"/>
          <p:cNvSpPr/>
          <p:nvPr/>
        </p:nvSpPr>
        <p:spPr>
          <a:xfrm>
            <a:off x="8737600" y="4318000"/>
            <a:ext cx="2603500" cy="3048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Nomic Embed</a:t>
            </a:r>
          </a:p>
        </p:txBody>
      </p:sp>
      <p:sp>
        <p:nvSpPr>
          <p:cNvPr id="143" name="Model 144"/>
          <p:cNvSpPr/>
          <p:nvPr/>
        </p:nvSpPr>
        <p:spPr>
          <a:xfrm>
            <a:off x="8737600" y="4699000"/>
            <a:ext cx="2603500" cy="406400"/>
          </a:xfrm>
          <a:prstGeom prst="rect">
            <a:avLst/>
          </a:prstGeom>
          <a:noFill/>
          <a:ln>
            <a:noFill/>
          </a:ln>
        </p:spPr>
        <p:txBody>
          <a:bodyPr wrap="square" lIns="0" tIns="0" rIns="0" bIns="0" anchor="t">
            <a:noAutofit/>
          </a:bodyPr>
          <a:lstStyle/>
          <a:p>
            <a:pPr algn="l"/>
            <a:r>
              <a:rPr lang="en-US" sz="2400" b="1" dirty="0">
                <a:solidFill>
                  <a:srgbClr val="2DD4BF"/>
                </a:solidFill>
                <a:latin typeface="Segoe UI"/>
              </a:rPr>
              <a:t>768</a:t>
            </a:r>
            <a:r>
              <a:rPr lang="en-US" sz="1100" b="0" dirty="0">
                <a:solidFill>
                  <a:srgbClr val="B8C2D3"/>
                </a:solidFill>
                <a:latin typeface="Segoe UI"/>
              </a:rPr>
              <a:t>  dims</a:t>
            </a:r>
          </a:p>
        </p:txBody>
      </p:sp>
      <p:sp>
        <p:nvSpPr>
          <p:cNvPr id="144" name="Model 145"/>
          <p:cNvSpPr/>
          <p:nvPr/>
        </p:nvSpPr>
        <p:spPr>
          <a:xfrm>
            <a:off x="8737600" y="5181600"/>
            <a:ext cx="2603500" cy="2286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COST  </a:t>
            </a:r>
            <a:r>
              <a:rPr lang="en-US" sz="1250" b="0" dirty="0">
                <a:solidFill>
                  <a:srgbClr val="E2E8F0"/>
                </a:solidFill>
                <a:latin typeface="Segoe UI"/>
              </a:rPr>
              <a:t>Low / free tiers</a:t>
            </a:r>
          </a:p>
        </p:txBody>
      </p:sp>
      <p:sp>
        <p:nvSpPr>
          <p:cNvPr id="145" name="Model 146"/>
          <p:cNvSpPr/>
          <p:nvPr/>
        </p:nvSpPr>
        <p:spPr>
          <a:xfrm>
            <a:off x="8737600" y="5511800"/>
            <a:ext cx="2603500" cy="127"/>
          </a:xfrm>
          <a:prstGeom prst="line">
            <a:avLst/>
          </a:prstGeom>
          <a:noFill/>
          <a:ln w="12700">
            <a:solidFill>
              <a:srgbClr val="2A3650"/>
            </a:solidFill>
          </a:ln>
        </p:spPr>
        <p:txBody>
          <a:bodyPr wrap="square" lIns="0" tIns="0" rIns="0" bIns="0" anchor="t">
            <a:noAutofit/>
          </a:bodyPr>
          <a:lstStyle/>
          <a:p>
            <a:endParaRPr lang="en-US"/>
          </a:p>
        </p:txBody>
      </p:sp>
      <p:sp>
        <p:nvSpPr>
          <p:cNvPr id="146" name="Model 147"/>
          <p:cNvSpPr/>
          <p:nvPr/>
        </p:nvSpPr>
        <p:spPr>
          <a:xfrm>
            <a:off x="8737600" y="5613400"/>
            <a:ext cx="2603500" cy="609600"/>
          </a:xfrm>
          <a:prstGeom prst="rect">
            <a:avLst/>
          </a:prstGeom>
          <a:noFill/>
          <a:ln>
            <a:noFill/>
          </a:ln>
        </p:spPr>
        <p:txBody>
          <a:bodyPr wrap="square" lIns="0" tIns="0" rIns="0" bIns="0" anchor="t">
            <a:noAutofit/>
          </a:bodyPr>
          <a:lstStyle/>
          <a:p>
            <a:pPr algn="l"/>
            <a:r>
              <a:rPr lang="en-US" sz="1250" b="0" dirty="0">
                <a:solidFill>
                  <a:srgbClr val="E2E8F0"/>
                </a:solidFill>
                <a:latin typeface="Segoe UI"/>
              </a:rPr>
              <a:t>Good balance for smaller deployments</a:t>
            </a:r>
          </a:p>
        </p:txBody>
      </p:sp>
      <p:sp>
        <p:nvSpPr>
          <p:cNvPr id="7" name="TextBox 6"/>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23</a:t>
            </a:r>
          </a:p>
        </p:txBody>
      </p:sp>
    </p:spTree>
    <p:extLst>
      <p:ext uri="{BB962C8B-B14F-4D97-AF65-F5344CB8AC3E}">
        <p14:creationId xmlns:p14="http://schemas.microsoft.com/office/powerpoint/2010/main" val="2472728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EMBEDDINGS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Measuring similarity: three common metrics</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Metric 101"/>
          <p:cNvSpPr/>
          <p:nvPr/>
        </p:nvSpPr>
        <p:spPr>
          <a:xfrm>
            <a:off x="635000" y="1397000"/>
            <a:ext cx="3534833" cy="4216400"/>
          </a:xfrm>
          <a:prstGeom prst="roundRect">
            <a:avLst>
              <a:gd name="adj" fmla="val 5000"/>
            </a:avLst>
          </a:prstGeom>
          <a:solidFill>
            <a:srgbClr val="0F2A30"/>
          </a:solidFill>
          <a:ln w="19050">
            <a:solidFill>
              <a:srgbClr val="2DD4BF"/>
            </a:solidFill>
          </a:ln>
        </p:spPr>
        <p:txBody>
          <a:bodyPr wrap="square" lIns="0" tIns="0" rIns="0" bIns="0" anchor="t">
            <a:noAutofit/>
          </a:bodyPr>
          <a:lstStyle/>
          <a:p>
            <a:endParaRPr lang="en-US"/>
          </a:p>
        </p:txBody>
      </p:sp>
      <p:sp>
        <p:nvSpPr>
          <p:cNvPr id="101" name="Metric 102"/>
          <p:cNvSpPr/>
          <p:nvPr/>
        </p:nvSpPr>
        <p:spPr>
          <a:xfrm>
            <a:off x="863600" y="1600200"/>
            <a:ext cx="3077633"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01</a:t>
            </a:r>
          </a:p>
        </p:txBody>
      </p:sp>
      <p:sp>
        <p:nvSpPr>
          <p:cNvPr id="102" name="Metric 103"/>
          <p:cNvSpPr/>
          <p:nvPr/>
        </p:nvSpPr>
        <p:spPr>
          <a:xfrm>
            <a:off x="863600" y="1828800"/>
            <a:ext cx="3077633" cy="330200"/>
          </a:xfrm>
          <a:prstGeom prst="rect">
            <a:avLst/>
          </a:prstGeom>
          <a:noFill/>
          <a:ln>
            <a:noFill/>
          </a:ln>
        </p:spPr>
        <p:txBody>
          <a:bodyPr wrap="square" lIns="0" tIns="0" rIns="0" bIns="0" anchor="t">
            <a:noAutofit/>
          </a:bodyPr>
          <a:lstStyle/>
          <a:p>
            <a:pPr algn="l"/>
            <a:r>
              <a:rPr lang="en-US" sz="1800" b="1" dirty="0">
                <a:solidFill>
                  <a:srgbClr val="F1F5F9"/>
                </a:solidFill>
                <a:latin typeface="Segoe UI"/>
              </a:rPr>
              <a:t>Cosine Similarity</a:t>
            </a:r>
          </a:p>
        </p:txBody>
      </p:sp>
      <p:sp>
        <p:nvSpPr>
          <p:cNvPr id="103" name="Metric 104"/>
          <p:cNvSpPr/>
          <p:nvPr/>
        </p:nvSpPr>
        <p:spPr>
          <a:xfrm>
            <a:off x="2544233" y="1574800"/>
            <a:ext cx="1422400" cy="254000"/>
          </a:xfrm>
          <a:prstGeom prst="roundRect">
            <a:avLst>
              <a:gd name="adj" fmla="val 50000"/>
            </a:avLst>
          </a:prstGeom>
          <a:solidFill>
            <a:srgbClr val="2DD4BF"/>
          </a:solidFill>
          <a:ln>
            <a:noFill/>
          </a:ln>
        </p:spPr>
        <p:txBody>
          <a:bodyPr wrap="square" lIns="0" tIns="0" rIns="0" bIns="0" anchor="ctr">
            <a:noAutofit/>
          </a:bodyPr>
          <a:lstStyle/>
          <a:p>
            <a:pPr algn="ctr"/>
            <a:r>
              <a:rPr lang="en-US" sz="850" b="1" dirty="0">
                <a:solidFill>
                  <a:srgbClr val="0A0F1E"/>
                </a:solidFill>
                <a:latin typeface="Segoe UI"/>
              </a:rPr>
              <a:t>USED IN THIS PROJECT</a:t>
            </a:r>
          </a:p>
        </p:txBody>
      </p:sp>
      <p:sp>
        <p:nvSpPr>
          <p:cNvPr id="104" name="Metric 105"/>
          <p:cNvSpPr/>
          <p:nvPr/>
        </p:nvSpPr>
        <p:spPr>
          <a:xfrm>
            <a:off x="863600" y="2286000"/>
            <a:ext cx="3077633" cy="1574800"/>
          </a:xfrm>
          <a:prstGeom prst="roundRect">
            <a:avLst>
              <a:gd name="adj" fmla="val 6000"/>
            </a:avLst>
          </a:prstGeom>
          <a:solidFill>
            <a:srgbClr val="0B2126"/>
          </a:solidFill>
          <a:ln>
            <a:noFill/>
          </a:ln>
        </p:spPr>
        <p:txBody>
          <a:bodyPr wrap="square" lIns="0" tIns="0" rIns="0" bIns="0" anchor="t">
            <a:noAutofit/>
          </a:bodyPr>
          <a:lstStyle/>
          <a:p>
            <a:endParaRPr lang="en-US"/>
          </a:p>
        </p:txBody>
      </p:sp>
      <p:sp>
        <p:nvSpPr>
          <p:cNvPr id="105" name="Metric 106"/>
          <p:cNvSpPr/>
          <p:nvPr/>
        </p:nvSpPr>
        <p:spPr>
          <a:xfrm>
            <a:off x="1257300" y="3594100"/>
            <a:ext cx="76200" cy="76200"/>
          </a:xfrm>
          <a:prstGeom prst="ellipse">
            <a:avLst/>
          </a:prstGeom>
          <a:solidFill>
            <a:srgbClr val="94A3B8"/>
          </a:solidFill>
          <a:ln>
            <a:noFill/>
          </a:ln>
        </p:spPr>
        <p:txBody>
          <a:bodyPr wrap="square" lIns="0" tIns="0" rIns="0" bIns="0" anchor="t">
            <a:noAutofit/>
          </a:bodyPr>
          <a:lstStyle/>
          <a:p>
            <a:endParaRPr lang="en-US"/>
          </a:p>
        </p:txBody>
      </p:sp>
      <p:cxnSp>
        <p:nvCxnSpPr>
          <p:cNvPr id="106" name="Vector 107"/>
          <p:cNvCxnSpPr/>
          <p:nvPr/>
        </p:nvCxnSpPr>
        <p:spPr>
          <a:xfrm flipV="1">
            <a:off x="1295400" y="2921000"/>
            <a:ext cx="2032000" cy="711200"/>
          </a:xfrm>
          <a:prstGeom prst="line">
            <a:avLst/>
          </a:prstGeom>
          <a:ln w="25400">
            <a:solidFill>
              <a:srgbClr val="B8C2D3"/>
            </a:solidFill>
            <a:tailEnd type="triangle" w="med" len="med"/>
          </a:ln>
        </p:spPr>
      </p:cxnSp>
      <p:cxnSp>
        <p:nvCxnSpPr>
          <p:cNvPr id="107" name="Vector 108"/>
          <p:cNvCxnSpPr/>
          <p:nvPr/>
        </p:nvCxnSpPr>
        <p:spPr>
          <a:xfrm flipV="1">
            <a:off x="1295400" y="2463800"/>
            <a:ext cx="812800" cy="1168400"/>
          </a:xfrm>
          <a:prstGeom prst="line">
            <a:avLst/>
          </a:prstGeom>
          <a:ln w="25400">
            <a:solidFill>
              <a:srgbClr val="B8C2D3"/>
            </a:solidFill>
            <a:tailEnd type="triangle" w="med" len="med"/>
          </a:ln>
        </p:spPr>
      </p:cxnSp>
      <p:sp>
        <p:nvSpPr>
          <p:cNvPr id="108" name="Metric 109"/>
          <p:cNvSpPr/>
          <p:nvPr/>
        </p:nvSpPr>
        <p:spPr>
          <a:xfrm>
            <a:off x="762000" y="3098800"/>
            <a:ext cx="1066800" cy="1066800"/>
          </a:xfrm>
          <a:prstGeom prst="arc">
            <a:avLst>
              <a:gd name="adj1" fmla="val 18300000"/>
              <a:gd name="adj2" fmla="val 20400000"/>
            </a:avLst>
          </a:prstGeom>
          <a:noFill/>
          <a:ln w="28575">
            <a:solidFill>
              <a:srgbClr val="2DD4BF"/>
            </a:solidFill>
          </a:ln>
        </p:spPr>
        <p:txBody>
          <a:bodyPr wrap="square" lIns="0" tIns="0" rIns="0" bIns="0" anchor="t">
            <a:noAutofit/>
          </a:bodyPr>
          <a:lstStyle/>
          <a:p>
            <a:endParaRPr lang="en-US"/>
          </a:p>
        </p:txBody>
      </p:sp>
      <p:sp>
        <p:nvSpPr>
          <p:cNvPr id="109" name="Metric 110"/>
          <p:cNvSpPr/>
          <p:nvPr/>
        </p:nvSpPr>
        <p:spPr>
          <a:xfrm>
            <a:off x="1854200" y="3048000"/>
            <a:ext cx="254000"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θ</a:t>
            </a:r>
          </a:p>
        </p:txBody>
      </p:sp>
      <p:sp>
        <p:nvSpPr>
          <p:cNvPr id="110" name="Metric 111"/>
          <p:cNvSpPr/>
          <p:nvPr/>
        </p:nvSpPr>
        <p:spPr>
          <a:xfrm>
            <a:off x="3378200" y="28194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A</a:t>
            </a:r>
          </a:p>
        </p:txBody>
      </p:sp>
      <p:sp>
        <p:nvSpPr>
          <p:cNvPr id="111" name="Metric 112"/>
          <p:cNvSpPr/>
          <p:nvPr/>
        </p:nvSpPr>
        <p:spPr>
          <a:xfrm>
            <a:off x="2184400" y="23876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B</a:t>
            </a:r>
          </a:p>
        </p:txBody>
      </p:sp>
      <p:sp>
        <p:nvSpPr>
          <p:cNvPr id="112" name="Metric 113"/>
          <p:cNvSpPr/>
          <p:nvPr/>
        </p:nvSpPr>
        <p:spPr>
          <a:xfrm>
            <a:off x="2311400" y="3644900"/>
            <a:ext cx="1651000" cy="2032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compares angle only</a:t>
            </a:r>
          </a:p>
        </p:txBody>
      </p:sp>
      <p:sp>
        <p:nvSpPr>
          <p:cNvPr id="113" name="Metric 114"/>
          <p:cNvSpPr/>
          <p:nvPr/>
        </p:nvSpPr>
        <p:spPr>
          <a:xfrm>
            <a:off x="863600" y="4013200"/>
            <a:ext cx="3077633" cy="7112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HOW IT WORKS</a:t>
            </a:r>
          </a:p>
          <a:p>
            <a:pPr algn="l">
              <a:spcBef>
                <a:spcPts val="300"/>
              </a:spcBef>
            </a:pPr>
            <a:r>
              <a:rPr lang="en-US" sz="1300" b="0" dirty="0">
                <a:solidFill>
                  <a:srgbClr val="E2E8F0"/>
                </a:solidFill>
                <a:latin typeface="Segoe UI"/>
              </a:rPr>
              <a:t>Angle between two vectors — direction of meaning, ignoring magnitude</a:t>
            </a:r>
          </a:p>
        </p:txBody>
      </p:sp>
      <p:sp>
        <p:nvSpPr>
          <p:cNvPr id="114" name="Metric 115"/>
          <p:cNvSpPr/>
          <p:nvPr/>
        </p:nvSpPr>
        <p:spPr>
          <a:xfrm>
            <a:off x="863600" y="4775200"/>
            <a:ext cx="3077633" cy="127"/>
          </a:xfrm>
          <a:prstGeom prst="line">
            <a:avLst/>
          </a:prstGeom>
          <a:noFill/>
          <a:ln w="12700">
            <a:solidFill>
              <a:srgbClr val="2A3650"/>
            </a:solidFill>
          </a:ln>
        </p:spPr>
        <p:txBody>
          <a:bodyPr wrap="square" lIns="0" tIns="0" rIns="0" bIns="0" anchor="t">
            <a:noAutofit/>
          </a:bodyPr>
          <a:lstStyle/>
          <a:p>
            <a:endParaRPr lang="en-US"/>
          </a:p>
        </p:txBody>
      </p:sp>
      <p:sp>
        <p:nvSpPr>
          <p:cNvPr id="115" name="Metric 116"/>
          <p:cNvSpPr/>
          <p:nvPr/>
        </p:nvSpPr>
        <p:spPr>
          <a:xfrm>
            <a:off x="863600" y="4876800"/>
            <a:ext cx="3077633" cy="6350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WHEN TO USE</a:t>
            </a:r>
          </a:p>
          <a:p>
            <a:pPr algn="l">
              <a:spcBef>
                <a:spcPts val="300"/>
              </a:spcBef>
            </a:pPr>
            <a:r>
              <a:rPr lang="en-US" sz="1300" b="0" dirty="0">
                <a:solidFill>
                  <a:srgbClr val="E2E8F0"/>
                </a:solidFill>
                <a:latin typeface="Segoe UI"/>
              </a:rPr>
              <a:t>Most common default; robust to text-length differences</a:t>
            </a:r>
          </a:p>
        </p:txBody>
      </p:sp>
      <p:sp>
        <p:nvSpPr>
          <p:cNvPr id="116" name="Metric 117"/>
          <p:cNvSpPr/>
          <p:nvPr/>
        </p:nvSpPr>
        <p:spPr>
          <a:xfrm>
            <a:off x="4322233" y="1397000"/>
            <a:ext cx="3534833"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117" name="Metric 118"/>
          <p:cNvSpPr/>
          <p:nvPr/>
        </p:nvSpPr>
        <p:spPr>
          <a:xfrm>
            <a:off x="4550833" y="1600200"/>
            <a:ext cx="3077633"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02</a:t>
            </a:r>
          </a:p>
        </p:txBody>
      </p:sp>
      <p:sp>
        <p:nvSpPr>
          <p:cNvPr id="118" name="Metric 119"/>
          <p:cNvSpPr/>
          <p:nvPr/>
        </p:nvSpPr>
        <p:spPr>
          <a:xfrm>
            <a:off x="4550833" y="1828800"/>
            <a:ext cx="3077633" cy="330200"/>
          </a:xfrm>
          <a:prstGeom prst="rect">
            <a:avLst/>
          </a:prstGeom>
          <a:noFill/>
          <a:ln>
            <a:noFill/>
          </a:ln>
        </p:spPr>
        <p:txBody>
          <a:bodyPr wrap="square" lIns="0" tIns="0" rIns="0" bIns="0" anchor="t">
            <a:noAutofit/>
          </a:bodyPr>
          <a:lstStyle/>
          <a:p>
            <a:pPr algn="l"/>
            <a:r>
              <a:rPr lang="en-US" sz="1800" b="1" dirty="0">
                <a:solidFill>
                  <a:srgbClr val="F1F5F9"/>
                </a:solidFill>
                <a:latin typeface="Segoe UI"/>
              </a:rPr>
              <a:t>Dot Product</a:t>
            </a:r>
          </a:p>
        </p:txBody>
      </p:sp>
      <p:sp>
        <p:nvSpPr>
          <p:cNvPr id="119" name="Metric 120"/>
          <p:cNvSpPr/>
          <p:nvPr/>
        </p:nvSpPr>
        <p:spPr>
          <a:xfrm>
            <a:off x="4550833" y="2286000"/>
            <a:ext cx="3077633" cy="1574800"/>
          </a:xfrm>
          <a:prstGeom prst="roundRect">
            <a:avLst>
              <a:gd name="adj" fmla="val 6000"/>
            </a:avLst>
          </a:prstGeom>
          <a:solidFill>
            <a:srgbClr val="0E1528"/>
          </a:solidFill>
          <a:ln>
            <a:noFill/>
          </a:ln>
        </p:spPr>
        <p:txBody>
          <a:bodyPr wrap="square" lIns="0" tIns="0" rIns="0" bIns="0" anchor="t">
            <a:noAutofit/>
          </a:bodyPr>
          <a:lstStyle/>
          <a:p>
            <a:endParaRPr lang="en-US"/>
          </a:p>
        </p:txBody>
      </p:sp>
      <p:sp>
        <p:nvSpPr>
          <p:cNvPr id="120" name="Metric 121"/>
          <p:cNvSpPr/>
          <p:nvPr/>
        </p:nvSpPr>
        <p:spPr>
          <a:xfrm>
            <a:off x="4944533" y="3441700"/>
            <a:ext cx="76200" cy="76200"/>
          </a:xfrm>
          <a:prstGeom prst="ellipse">
            <a:avLst/>
          </a:prstGeom>
          <a:solidFill>
            <a:srgbClr val="94A3B8"/>
          </a:solidFill>
          <a:ln>
            <a:noFill/>
          </a:ln>
        </p:spPr>
        <p:txBody>
          <a:bodyPr wrap="square" lIns="0" tIns="0" rIns="0" bIns="0" anchor="t">
            <a:noAutofit/>
          </a:bodyPr>
          <a:lstStyle/>
          <a:p>
            <a:endParaRPr lang="en-US"/>
          </a:p>
        </p:txBody>
      </p:sp>
      <p:cxnSp>
        <p:nvCxnSpPr>
          <p:cNvPr id="121" name="Vector 122"/>
          <p:cNvCxnSpPr/>
          <p:nvPr/>
        </p:nvCxnSpPr>
        <p:spPr>
          <a:xfrm>
            <a:off x="4982633" y="3479800"/>
            <a:ext cx="2413000" cy="0"/>
          </a:xfrm>
          <a:prstGeom prst="line">
            <a:avLst/>
          </a:prstGeom>
          <a:ln w="25400">
            <a:solidFill>
              <a:srgbClr val="B8C2D3"/>
            </a:solidFill>
            <a:tailEnd type="triangle" w="med" len="med"/>
          </a:ln>
        </p:spPr>
      </p:cxnSp>
      <p:cxnSp>
        <p:nvCxnSpPr>
          <p:cNvPr id="122" name="Vector 123"/>
          <p:cNvCxnSpPr/>
          <p:nvPr/>
        </p:nvCxnSpPr>
        <p:spPr>
          <a:xfrm flipV="1">
            <a:off x="4982633" y="2387600"/>
            <a:ext cx="1092200" cy="1092200"/>
          </a:xfrm>
          <a:prstGeom prst="line">
            <a:avLst/>
          </a:prstGeom>
          <a:ln w="25400">
            <a:solidFill>
              <a:srgbClr val="B8C2D3"/>
            </a:solidFill>
            <a:tailEnd type="triangle" w="med" len="med"/>
          </a:ln>
        </p:spPr>
      </p:cxnSp>
      <p:cxnSp>
        <p:nvCxnSpPr>
          <p:cNvPr id="123" name="Vector 124"/>
          <p:cNvCxnSpPr/>
          <p:nvPr/>
        </p:nvCxnSpPr>
        <p:spPr>
          <a:xfrm>
            <a:off x="6074833" y="2387600"/>
            <a:ext cx="0" cy="1092200"/>
          </a:xfrm>
          <a:prstGeom prst="line">
            <a:avLst/>
          </a:prstGeom>
          <a:ln w="15875">
            <a:solidFill>
              <a:srgbClr val="94A3B8"/>
            </a:solidFill>
            <a:prstDash val="dash"/>
          </a:ln>
        </p:spPr>
      </p:cxnSp>
      <p:cxnSp>
        <p:nvCxnSpPr>
          <p:cNvPr id="124" name="Vector 125"/>
          <p:cNvCxnSpPr/>
          <p:nvPr/>
        </p:nvCxnSpPr>
        <p:spPr>
          <a:xfrm>
            <a:off x="4982633" y="3479800"/>
            <a:ext cx="1092200" cy="0"/>
          </a:xfrm>
          <a:prstGeom prst="line">
            <a:avLst/>
          </a:prstGeom>
          <a:ln w="63500">
            <a:solidFill>
              <a:srgbClr val="2DD4BF"/>
            </a:solidFill>
          </a:ln>
        </p:spPr>
      </p:cxnSp>
      <p:sp>
        <p:nvSpPr>
          <p:cNvPr id="125" name="Metric 126"/>
          <p:cNvSpPr/>
          <p:nvPr/>
        </p:nvSpPr>
        <p:spPr>
          <a:xfrm>
            <a:off x="7319433" y="32258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A</a:t>
            </a:r>
          </a:p>
        </p:txBody>
      </p:sp>
      <p:sp>
        <p:nvSpPr>
          <p:cNvPr id="126" name="Metric 127"/>
          <p:cNvSpPr/>
          <p:nvPr/>
        </p:nvSpPr>
        <p:spPr>
          <a:xfrm>
            <a:off x="6151033" y="23114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B</a:t>
            </a:r>
          </a:p>
        </p:txBody>
      </p:sp>
      <p:sp>
        <p:nvSpPr>
          <p:cNvPr id="127" name="Metric 128"/>
          <p:cNvSpPr/>
          <p:nvPr/>
        </p:nvSpPr>
        <p:spPr>
          <a:xfrm>
            <a:off x="6172200" y="3568700"/>
            <a:ext cx="1651000"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projection × |A|</a:t>
            </a:r>
          </a:p>
        </p:txBody>
      </p:sp>
      <p:sp>
        <p:nvSpPr>
          <p:cNvPr id="128" name="Metric 129"/>
          <p:cNvSpPr/>
          <p:nvPr/>
        </p:nvSpPr>
        <p:spPr>
          <a:xfrm>
            <a:off x="4550833" y="4013200"/>
            <a:ext cx="3077633" cy="7112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HOW IT WORKS</a:t>
            </a:r>
          </a:p>
          <a:p>
            <a:pPr algn="l">
              <a:spcBef>
                <a:spcPts val="300"/>
              </a:spcBef>
            </a:pPr>
            <a:r>
              <a:rPr lang="en-US" sz="1300" b="0" dirty="0">
                <a:solidFill>
                  <a:srgbClr val="E2E8F0"/>
                </a:solidFill>
                <a:latin typeface="Segoe UI"/>
              </a:rPr>
              <a:t>Raw projection of one vector onto another — includes magnitude</a:t>
            </a:r>
          </a:p>
        </p:txBody>
      </p:sp>
      <p:sp>
        <p:nvSpPr>
          <p:cNvPr id="129" name="Metric 130"/>
          <p:cNvSpPr/>
          <p:nvPr/>
        </p:nvSpPr>
        <p:spPr>
          <a:xfrm>
            <a:off x="4550833" y="4775200"/>
            <a:ext cx="3077633" cy="127"/>
          </a:xfrm>
          <a:prstGeom prst="line">
            <a:avLst/>
          </a:prstGeom>
          <a:noFill/>
          <a:ln w="12700">
            <a:solidFill>
              <a:srgbClr val="2A3650"/>
            </a:solidFill>
          </a:ln>
        </p:spPr>
        <p:txBody>
          <a:bodyPr wrap="square" lIns="0" tIns="0" rIns="0" bIns="0" anchor="t">
            <a:noAutofit/>
          </a:bodyPr>
          <a:lstStyle/>
          <a:p>
            <a:endParaRPr lang="en-US"/>
          </a:p>
        </p:txBody>
      </p:sp>
      <p:sp>
        <p:nvSpPr>
          <p:cNvPr id="130" name="Metric 131"/>
          <p:cNvSpPr/>
          <p:nvPr/>
        </p:nvSpPr>
        <p:spPr>
          <a:xfrm>
            <a:off x="4550833" y="4876800"/>
            <a:ext cx="3077633" cy="6350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WHEN TO USE</a:t>
            </a:r>
          </a:p>
          <a:p>
            <a:pPr algn="l">
              <a:spcBef>
                <a:spcPts val="300"/>
              </a:spcBef>
            </a:pPr>
            <a:r>
              <a:rPr lang="en-US" sz="1300" b="0" dirty="0">
                <a:solidFill>
                  <a:srgbClr val="E2E8F0"/>
                </a:solidFill>
                <a:latin typeface="Segoe UI"/>
              </a:rPr>
              <a:t>Fast; works well when vectors are pre-normalized</a:t>
            </a:r>
          </a:p>
        </p:txBody>
      </p:sp>
      <p:sp>
        <p:nvSpPr>
          <p:cNvPr id="131" name="Metric 132"/>
          <p:cNvSpPr/>
          <p:nvPr/>
        </p:nvSpPr>
        <p:spPr>
          <a:xfrm>
            <a:off x="8009467" y="1397000"/>
            <a:ext cx="3534833"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132" name="Metric 133"/>
          <p:cNvSpPr/>
          <p:nvPr/>
        </p:nvSpPr>
        <p:spPr>
          <a:xfrm>
            <a:off x="8238067" y="1600200"/>
            <a:ext cx="3077633"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03</a:t>
            </a:r>
          </a:p>
        </p:txBody>
      </p:sp>
      <p:sp>
        <p:nvSpPr>
          <p:cNvPr id="133" name="Metric 134"/>
          <p:cNvSpPr/>
          <p:nvPr/>
        </p:nvSpPr>
        <p:spPr>
          <a:xfrm>
            <a:off x="8238067" y="1828800"/>
            <a:ext cx="3077633" cy="330200"/>
          </a:xfrm>
          <a:prstGeom prst="rect">
            <a:avLst/>
          </a:prstGeom>
          <a:noFill/>
          <a:ln>
            <a:noFill/>
          </a:ln>
        </p:spPr>
        <p:txBody>
          <a:bodyPr wrap="square" lIns="0" tIns="0" rIns="0" bIns="0" anchor="t">
            <a:noAutofit/>
          </a:bodyPr>
          <a:lstStyle/>
          <a:p>
            <a:pPr algn="l"/>
            <a:r>
              <a:rPr lang="en-US" sz="1800" b="1" dirty="0">
                <a:solidFill>
                  <a:srgbClr val="F1F5F9"/>
                </a:solidFill>
                <a:latin typeface="Segoe UI"/>
              </a:rPr>
              <a:t>Euclidean Distance</a:t>
            </a:r>
          </a:p>
        </p:txBody>
      </p:sp>
      <p:sp>
        <p:nvSpPr>
          <p:cNvPr id="134" name="Metric 135"/>
          <p:cNvSpPr/>
          <p:nvPr/>
        </p:nvSpPr>
        <p:spPr>
          <a:xfrm>
            <a:off x="8238067" y="2286000"/>
            <a:ext cx="3077633" cy="1574800"/>
          </a:xfrm>
          <a:prstGeom prst="roundRect">
            <a:avLst>
              <a:gd name="adj" fmla="val 6000"/>
            </a:avLst>
          </a:prstGeom>
          <a:solidFill>
            <a:srgbClr val="0E1528"/>
          </a:solidFill>
          <a:ln>
            <a:noFill/>
          </a:ln>
        </p:spPr>
        <p:txBody>
          <a:bodyPr wrap="square" lIns="0" tIns="0" rIns="0" bIns="0" anchor="t">
            <a:noAutofit/>
          </a:bodyPr>
          <a:lstStyle/>
          <a:p>
            <a:endParaRPr lang="en-US"/>
          </a:p>
        </p:txBody>
      </p:sp>
      <p:sp>
        <p:nvSpPr>
          <p:cNvPr id="135" name="Metric 136"/>
          <p:cNvSpPr/>
          <p:nvPr/>
        </p:nvSpPr>
        <p:spPr>
          <a:xfrm>
            <a:off x="8631767" y="3594100"/>
            <a:ext cx="76200" cy="76200"/>
          </a:xfrm>
          <a:prstGeom prst="ellipse">
            <a:avLst/>
          </a:prstGeom>
          <a:solidFill>
            <a:srgbClr val="94A3B8"/>
          </a:solidFill>
          <a:ln>
            <a:noFill/>
          </a:ln>
        </p:spPr>
        <p:txBody>
          <a:bodyPr wrap="square" lIns="0" tIns="0" rIns="0" bIns="0" anchor="t">
            <a:noAutofit/>
          </a:bodyPr>
          <a:lstStyle/>
          <a:p>
            <a:endParaRPr lang="en-US"/>
          </a:p>
        </p:txBody>
      </p:sp>
      <p:cxnSp>
        <p:nvCxnSpPr>
          <p:cNvPr id="136" name="Vector 137"/>
          <p:cNvCxnSpPr/>
          <p:nvPr/>
        </p:nvCxnSpPr>
        <p:spPr>
          <a:xfrm flipV="1">
            <a:off x="8669867" y="2921000"/>
            <a:ext cx="2032000" cy="711200"/>
          </a:xfrm>
          <a:prstGeom prst="line">
            <a:avLst/>
          </a:prstGeom>
          <a:ln w="19050">
            <a:solidFill>
              <a:srgbClr val="475569"/>
            </a:solidFill>
          </a:ln>
        </p:spPr>
      </p:cxnSp>
      <p:cxnSp>
        <p:nvCxnSpPr>
          <p:cNvPr id="137" name="Vector 138"/>
          <p:cNvCxnSpPr/>
          <p:nvPr/>
        </p:nvCxnSpPr>
        <p:spPr>
          <a:xfrm flipV="1">
            <a:off x="8669867" y="2463800"/>
            <a:ext cx="812800" cy="1168400"/>
          </a:xfrm>
          <a:prstGeom prst="line">
            <a:avLst/>
          </a:prstGeom>
          <a:ln w="19050">
            <a:solidFill>
              <a:srgbClr val="475569"/>
            </a:solidFill>
          </a:ln>
        </p:spPr>
      </p:cxnSp>
      <p:cxnSp>
        <p:nvCxnSpPr>
          <p:cNvPr id="138" name="Vector 139"/>
          <p:cNvCxnSpPr/>
          <p:nvPr/>
        </p:nvCxnSpPr>
        <p:spPr>
          <a:xfrm>
            <a:off x="9482667" y="2463800"/>
            <a:ext cx="1219200" cy="457200"/>
          </a:xfrm>
          <a:prstGeom prst="line">
            <a:avLst/>
          </a:prstGeom>
          <a:ln w="31750">
            <a:solidFill>
              <a:srgbClr val="2DD4BF"/>
            </a:solidFill>
            <a:prstDash val="dash"/>
          </a:ln>
        </p:spPr>
      </p:cxnSp>
      <p:sp>
        <p:nvSpPr>
          <p:cNvPr id="139" name="Metric 140"/>
          <p:cNvSpPr/>
          <p:nvPr/>
        </p:nvSpPr>
        <p:spPr>
          <a:xfrm>
            <a:off x="10651067" y="2870200"/>
            <a:ext cx="101600" cy="101600"/>
          </a:xfrm>
          <a:prstGeom prst="ellipse">
            <a:avLst/>
          </a:prstGeom>
          <a:solidFill>
            <a:srgbClr val="B8C2D3"/>
          </a:solidFill>
          <a:ln>
            <a:noFill/>
          </a:ln>
        </p:spPr>
        <p:txBody>
          <a:bodyPr wrap="square" lIns="0" tIns="0" rIns="0" bIns="0" anchor="t">
            <a:noAutofit/>
          </a:bodyPr>
          <a:lstStyle/>
          <a:p>
            <a:endParaRPr lang="en-US"/>
          </a:p>
        </p:txBody>
      </p:sp>
      <p:sp>
        <p:nvSpPr>
          <p:cNvPr id="140" name="Metric 141"/>
          <p:cNvSpPr/>
          <p:nvPr/>
        </p:nvSpPr>
        <p:spPr>
          <a:xfrm>
            <a:off x="9431867" y="2413000"/>
            <a:ext cx="101600" cy="101600"/>
          </a:xfrm>
          <a:prstGeom prst="ellipse">
            <a:avLst/>
          </a:prstGeom>
          <a:solidFill>
            <a:srgbClr val="B8C2D3"/>
          </a:solidFill>
          <a:ln>
            <a:noFill/>
          </a:ln>
        </p:spPr>
        <p:txBody>
          <a:bodyPr wrap="square" lIns="0" tIns="0" rIns="0" bIns="0" anchor="t">
            <a:noAutofit/>
          </a:bodyPr>
          <a:lstStyle/>
          <a:p>
            <a:endParaRPr lang="en-US"/>
          </a:p>
        </p:txBody>
      </p:sp>
      <p:sp>
        <p:nvSpPr>
          <p:cNvPr id="141" name="Metric 142"/>
          <p:cNvSpPr/>
          <p:nvPr/>
        </p:nvSpPr>
        <p:spPr>
          <a:xfrm>
            <a:off x="10143067" y="2362200"/>
            <a:ext cx="254000" cy="203200"/>
          </a:xfrm>
          <a:prstGeom prst="rect">
            <a:avLst/>
          </a:prstGeom>
          <a:noFill/>
          <a:ln>
            <a:noFill/>
          </a:ln>
        </p:spPr>
        <p:txBody>
          <a:bodyPr wrap="square" lIns="0" tIns="0" rIns="0" bIns="0" anchor="t">
            <a:noAutofit/>
          </a:bodyPr>
          <a:lstStyle/>
          <a:p>
            <a:pPr algn="l"/>
            <a:r>
              <a:rPr lang="en-US" sz="1100" b="1" dirty="0">
                <a:solidFill>
                  <a:srgbClr val="2DD4BF"/>
                </a:solidFill>
                <a:latin typeface="Segoe UI"/>
              </a:rPr>
              <a:t>d</a:t>
            </a:r>
          </a:p>
        </p:txBody>
      </p:sp>
      <p:sp>
        <p:nvSpPr>
          <p:cNvPr id="142" name="Metric 143"/>
          <p:cNvSpPr/>
          <p:nvPr/>
        </p:nvSpPr>
        <p:spPr>
          <a:xfrm>
            <a:off x="10803467" y="28448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A</a:t>
            </a:r>
          </a:p>
        </p:txBody>
      </p:sp>
      <p:sp>
        <p:nvSpPr>
          <p:cNvPr id="143" name="Metric 144"/>
          <p:cNvSpPr/>
          <p:nvPr/>
        </p:nvSpPr>
        <p:spPr>
          <a:xfrm>
            <a:off x="9254067" y="2362200"/>
            <a:ext cx="254000" cy="203200"/>
          </a:xfrm>
          <a:prstGeom prst="rect">
            <a:avLst/>
          </a:prstGeom>
          <a:noFill/>
          <a:ln>
            <a:noFill/>
          </a:ln>
        </p:spPr>
        <p:txBody>
          <a:bodyPr wrap="square" lIns="0" tIns="0" rIns="0" bIns="0" anchor="t">
            <a:noAutofit/>
          </a:bodyPr>
          <a:lstStyle/>
          <a:p>
            <a:pPr algn="l"/>
            <a:r>
              <a:rPr lang="en-US" sz="1100" b="1" dirty="0">
                <a:solidFill>
                  <a:srgbClr val="B8C2D3"/>
                </a:solidFill>
                <a:latin typeface="Segoe UI"/>
              </a:rPr>
              <a:t>B</a:t>
            </a:r>
          </a:p>
        </p:txBody>
      </p:sp>
      <p:sp>
        <p:nvSpPr>
          <p:cNvPr id="144" name="Metric 145"/>
          <p:cNvSpPr/>
          <p:nvPr/>
        </p:nvSpPr>
        <p:spPr>
          <a:xfrm>
            <a:off x="9685867" y="3644900"/>
            <a:ext cx="1778000" cy="2032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gap between the points</a:t>
            </a:r>
          </a:p>
        </p:txBody>
      </p:sp>
      <p:sp>
        <p:nvSpPr>
          <p:cNvPr id="145" name="Metric 146"/>
          <p:cNvSpPr/>
          <p:nvPr/>
        </p:nvSpPr>
        <p:spPr>
          <a:xfrm>
            <a:off x="8238067" y="4013200"/>
            <a:ext cx="3077633" cy="7112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HOW IT WORKS</a:t>
            </a:r>
          </a:p>
          <a:p>
            <a:pPr algn="l">
              <a:spcBef>
                <a:spcPts val="300"/>
              </a:spcBef>
            </a:pPr>
            <a:r>
              <a:rPr lang="en-US" sz="1300" b="0" dirty="0">
                <a:solidFill>
                  <a:srgbClr val="E2E8F0"/>
                </a:solidFill>
                <a:latin typeface="Segoe UI"/>
              </a:rPr>
              <a:t>Straight-line distance between two points in vector space</a:t>
            </a:r>
          </a:p>
        </p:txBody>
      </p:sp>
      <p:sp>
        <p:nvSpPr>
          <p:cNvPr id="146" name="Metric 147"/>
          <p:cNvSpPr/>
          <p:nvPr/>
        </p:nvSpPr>
        <p:spPr>
          <a:xfrm>
            <a:off x="8238067" y="4775200"/>
            <a:ext cx="3077633" cy="127"/>
          </a:xfrm>
          <a:prstGeom prst="line">
            <a:avLst/>
          </a:prstGeom>
          <a:noFill/>
          <a:ln w="12700">
            <a:solidFill>
              <a:srgbClr val="2A3650"/>
            </a:solidFill>
          </a:ln>
        </p:spPr>
        <p:txBody>
          <a:bodyPr wrap="square" lIns="0" tIns="0" rIns="0" bIns="0" anchor="t">
            <a:noAutofit/>
          </a:bodyPr>
          <a:lstStyle/>
          <a:p>
            <a:endParaRPr lang="en-US"/>
          </a:p>
        </p:txBody>
      </p:sp>
      <p:sp>
        <p:nvSpPr>
          <p:cNvPr id="147" name="Metric 148"/>
          <p:cNvSpPr/>
          <p:nvPr/>
        </p:nvSpPr>
        <p:spPr>
          <a:xfrm>
            <a:off x="8238067" y="4876800"/>
            <a:ext cx="3077633" cy="635000"/>
          </a:xfrm>
          <a:prstGeom prst="rect">
            <a:avLst/>
          </a:prstGeom>
          <a:noFill/>
          <a:ln>
            <a:noFill/>
          </a:ln>
        </p:spPr>
        <p:txBody>
          <a:bodyPr wrap="square" lIns="0" tIns="0" rIns="0" bIns="0" anchor="t">
            <a:noAutofit/>
          </a:bodyPr>
          <a:lstStyle/>
          <a:p>
            <a:pPr algn="l"/>
            <a:r>
              <a:rPr lang="en-US" sz="1000" b="1" dirty="0">
                <a:solidFill>
                  <a:srgbClr val="94A3B8"/>
                </a:solidFill>
                <a:latin typeface="Segoe UI"/>
              </a:rPr>
              <a:t>WHEN TO USE</a:t>
            </a:r>
          </a:p>
          <a:p>
            <a:pPr algn="l">
              <a:spcBef>
                <a:spcPts val="300"/>
              </a:spcBef>
            </a:pPr>
            <a:r>
              <a:rPr lang="en-US" sz="1300" b="0" dirty="0">
                <a:solidFill>
                  <a:srgbClr val="E2E8F0"/>
                </a:solidFill>
                <a:latin typeface="Segoe UI"/>
              </a:rPr>
              <a:t>Intuitive; more sensitive to magnitude than cosine</a:t>
            </a:r>
          </a:p>
        </p:txBody>
      </p:sp>
      <p:sp>
        <p:nvSpPr>
          <p:cNvPr id="148" name="Metric 149"/>
          <p:cNvSpPr/>
          <p:nvPr/>
        </p:nvSpPr>
        <p:spPr>
          <a:xfrm>
            <a:off x="635000" y="5765800"/>
            <a:ext cx="10909300" cy="609600"/>
          </a:xfrm>
          <a:prstGeom prst="roundRect">
            <a:avLst>
              <a:gd name="adj" fmla="val 12000"/>
            </a:avLst>
          </a:prstGeom>
          <a:solidFill>
            <a:srgbClr val="131C31"/>
          </a:solidFill>
          <a:ln w="12700">
            <a:solidFill>
              <a:srgbClr val="243049"/>
            </a:solidFill>
          </a:ln>
        </p:spPr>
        <p:txBody>
          <a:bodyPr wrap="square" lIns="0" tIns="0" rIns="0" bIns="0" anchor="t">
            <a:noAutofit/>
          </a:bodyPr>
          <a:lstStyle/>
          <a:p>
            <a:endParaRPr lang="en-US"/>
          </a:p>
        </p:txBody>
      </p:sp>
      <p:sp>
        <p:nvSpPr>
          <p:cNvPr id="149" name="Metric 150"/>
          <p:cNvSpPr/>
          <p:nvPr/>
        </p:nvSpPr>
        <p:spPr>
          <a:xfrm>
            <a:off x="635000" y="5765800"/>
            <a:ext cx="63500" cy="609600"/>
          </a:xfrm>
          <a:prstGeom prst="rect">
            <a:avLst/>
          </a:prstGeom>
          <a:solidFill>
            <a:srgbClr val="2DD4BF"/>
          </a:solidFill>
          <a:ln>
            <a:noFill/>
          </a:ln>
        </p:spPr>
        <p:txBody>
          <a:bodyPr wrap="square" lIns="0" tIns="0" rIns="0" bIns="0" anchor="t">
            <a:noAutofit/>
          </a:bodyPr>
          <a:lstStyle/>
          <a:p>
            <a:endParaRPr lang="en-US"/>
          </a:p>
        </p:txBody>
      </p:sp>
      <p:sp>
        <p:nvSpPr>
          <p:cNvPr id="150" name="Metric 151"/>
          <p:cNvSpPr/>
          <p:nvPr/>
        </p:nvSpPr>
        <p:spPr>
          <a:xfrm>
            <a:off x="914400" y="5765800"/>
            <a:ext cx="10414000" cy="609600"/>
          </a:xfrm>
          <a:prstGeom prst="rect">
            <a:avLst/>
          </a:prstGeom>
          <a:noFill/>
          <a:ln>
            <a:noFill/>
          </a:ln>
        </p:spPr>
        <p:txBody>
          <a:bodyPr wrap="square" lIns="0" tIns="0" rIns="0" bIns="0" anchor="ctr">
            <a:noAutofit/>
          </a:bodyPr>
          <a:lstStyle/>
          <a:p>
            <a:pPr algn="l"/>
            <a:r>
              <a:rPr lang="en-US" sz="1350" b="1" dirty="0">
                <a:solidFill>
                  <a:srgbClr val="2DD4BF"/>
                </a:solidFill>
                <a:latin typeface="Segoe UI"/>
              </a:rPr>
              <a:t>This project uses cosine similarity; </a:t>
            </a:r>
            <a:r>
              <a:rPr lang="en-US" sz="1350" b="0" dirty="0">
                <a:solidFill>
                  <a:srgbClr val="E2E8F0"/>
                </a:solidFill>
                <a:latin typeface="Segoe UI"/>
              </a:rPr>
              <a:t>the metric should match the embedding model and index configuration.</a:t>
            </a:r>
          </a:p>
        </p:txBody>
      </p:sp>
      <p:sp>
        <p:nvSpPr>
          <p:cNvPr id="20" name="TextBox 19"/>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1" name="TextBox 20"/>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24</a:t>
            </a:r>
          </a:p>
        </p:txBody>
      </p:sp>
    </p:spTree>
    <p:extLst>
      <p:ext uri="{BB962C8B-B14F-4D97-AF65-F5344CB8AC3E}">
        <p14:creationId xmlns:p14="http://schemas.microsoft.com/office/powerpoint/2010/main" val="3461139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VECTOR DATABASES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The vector database landscape</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Landscape 101"/>
          <p:cNvSpPr/>
          <p:nvPr/>
        </p:nvSpPr>
        <p:spPr>
          <a:xfrm>
            <a:off x="635000" y="1397000"/>
            <a:ext cx="2613025" cy="38100"/>
          </a:xfrm>
          <a:prstGeom prst="rect">
            <a:avLst/>
          </a:prstGeom>
          <a:solidFill>
            <a:srgbClr val="2DD4BF"/>
          </a:solidFill>
          <a:ln>
            <a:noFill/>
          </a:ln>
        </p:spPr>
        <p:txBody>
          <a:bodyPr wrap="square" lIns="0" tIns="0" rIns="0" bIns="0" anchor="t">
            <a:noAutofit/>
          </a:bodyPr>
          <a:lstStyle/>
          <a:p>
            <a:endParaRPr lang="en-US"/>
          </a:p>
        </p:txBody>
      </p:sp>
      <p:sp>
        <p:nvSpPr>
          <p:cNvPr id="101" name="Landscape 102"/>
          <p:cNvSpPr/>
          <p:nvPr/>
        </p:nvSpPr>
        <p:spPr>
          <a:xfrm>
            <a:off x="635000" y="1524000"/>
            <a:ext cx="2613025"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IN YOUR EXISTING DATABASE</a:t>
            </a:r>
          </a:p>
        </p:txBody>
      </p:sp>
      <p:sp>
        <p:nvSpPr>
          <p:cNvPr id="102" name="Landscape 103"/>
          <p:cNvSpPr/>
          <p:nvPr/>
        </p:nvSpPr>
        <p:spPr>
          <a:xfrm>
            <a:off x="635000" y="1752600"/>
            <a:ext cx="2613025" cy="228600"/>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No new system to run</a:t>
            </a:r>
          </a:p>
        </p:txBody>
      </p:sp>
      <p:sp>
        <p:nvSpPr>
          <p:cNvPr id="103" name="Landscape 104"/>
          <p:cNvSpPr/>
          <p:nvPr/>
        </p:nvSpPr>
        <p:spPr>
          <a:xfrm>
            <a:off x="635000" y="2108200"/>
            <a:ext cx="2613025" cy="1270000"/>
          </a:xfrm>
          <a:prstGeom prst="roundRect">
            <a:avLst>
              <a:gd name="adj" fmla="val 7000"/>
            </a:avLst>
          </a:prstGeom>
          <a:solidFill>
            <a:srgbClr val="0F2A30"/>
          </a:solidFill>
          <a:ln w="19050">
            <a:solidFill>
              <a:srgbClr val="2DD4BF"/>
            </a:solidFill>
          </a:ln>
        </p:spPr>
        <p:txBody>
          <a:bodyPr wrap="square" lIns="0" tIns="0" rIns="0" bIns="0" anchor="t">
            <a:noAutofit/>
          </a:bodyPr>
          <a:lstStyle/>
          <a:p>
            <a:endParaRPr lang="en-US"/>
          </a:p>
        </p:txBody>
      </p:sp>
      <p:sp>
        <p:nvSpPr>
          <p:cNvPr id="104" name="Landscape 105"/>
          <p:cNvSpPr/>
          <p:nvPr/>
        </p:nvSpPr>
        <p:spPr>
          <a:xfrm>
            <a:off x="812800" y="2260600"/>
            <a:ext cx="2257425" cy="279400"/>
          </a:xfrm>
          <a:prstGeom prst="rect">
            <a:avLst/>
          </a:prstGeom>
          <a:noFill/>
          <a:ln>
            <a:noFill/>
          </a:ln>
        </p:spPr>
        <p:txBody>
          <a:bodyPr wrap="square" lIns="0" tIns="0" rIns="0" bIns="0" anchor="t">
            <a:noAutofit/>
          </a:bodyPr>
          <a:lstStyle/>
          <a:p>
            <a:pPr algn="l"/>
            <a:r>
              <a:rPr lang="en-US" sz="1500" b="1" dirty="0">
                <a:solidFill>
                  <a:srgbClr val="2DD4BF"/>
                </a:solidFill>
                <a:latin typeface="Segoe UI"/>
              </a:rPr>
              <a:t>pgvector</a:t>
            </a:r>
          </a:p>
        </p:txBody>
      </p:sp>
      <p:sp>
        <p:nvSpPr>
          <p:cNvPr id="105" name="Landscape 106"/>
          <p:cNvSpPr/>
          <p:nvPr/>
        </p:nvSpPr>
        <p:spPr>
          <a:xfrm>
            <a:off x="812800" y="25400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Postgres extension</a:t>
            </a:r>
          </a:p>
        </p:txBody>
      </p:sp>
      <p:sp>
        <p:nvSpPr>
          <p:cNvPr id="106" name="Landscape 107"/>
          <p:cNvSpPr/>
          <p:nvPr/>
        </p:nvSpPr>
        <p:spPr>
          <a:xfrm>
            <a:off x="812800" y="27559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07" name="Landscape 108"/>
          <p:cNvSpPr/>
          <p:nvPr/>
        </p:nvSpPr>
        <p:spPr>
          <a:xfrm>
            <a:off x="812800" y="28448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Already using Postgres; want one database, not two</a:t>
            </a:r>
          </a:p>
        </p:txBody>
      </p:sp>
      <p:sp>
        <p:nvSpPr>
          <p:cNvPr id="108" name="Landscape 109"/>
          <p:cNvSpPr/>
          <p:nvPr/>
        </p:nvSpPr>
        <p:spPr>
          <a:xfrm>
            <a:off x="3400425" y="1397000"/>
            <a:ext cx="2613025" cy="38100"/>
          </a:xfrm>
          <a:prstGeom prst="rect">
            <a:avLst/>
          </a:prstGeom>
          <a:solidFill>
            <a:srgbClr val="334155"/>
          </a:solidFill>
          <a:ln>
            <a:noFill/>
          </a:ln>
        </p:spPr>
        <p:txBody>
          <a:bodyPr wrap="square" lIns="0" tIns="0" rIns="0" bIns="0" anchor="t">
            <a:noAutofit/>
          </a:bodyPr>
          <a:lstStyle/>
          <a:p>
            <a:endParaRPr lang="en-US"/>
          </a:p>
        </p:txBody>
      </p:sp>
      <p:sp>
        <p:nvSpPr>
          <p:cNvPr id="109" name="Landscape 110"/>
          <p:cNvSpPr/>
          <p:nvPr/>
        </p:nvSpPr>
        <p:spPr>
          <a:xfrm>
            <a:off x="3400425" y="1524000"/>
            <a:ext cx="2613025"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FULLY MANAGED</a:t>
            </a:r>
          </a:p>
        </p:txBody>
      </p:sp>
      <p:sp>
        <p:nvSpPr>
          <p:cNvPr id="110" name="Landscape 111"/>
          <p:cNvSpPr/>
          <p:nvPr/>
        </p:nvSpPr>
        <p:spPr>
          <a:xfrm>
            <a:off x="3400425" y="1752600"/>
            <a:ext cx="2613025" cy="228600"/>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Vendor runs the infrastructure</a:t>
            </a:r>
          </a:p>
        </p:txBody>
      </p:sp>
      <p:sp>
        <p:nvSpPr>
          <p:cNvPr id="111" name="Landscape 112"/>
          <p:cNvSpPr/>
          <p:nvPr/>
        </p:nvSpPr>
        <p:spPr>
          <a:xfrm>
            <a:off x="3400425" y="21082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12" name="Landscape 113"/>
          <p:cNvSpPr/>
          <p:nvPr/>
        </p:nvSpPr>
        <p:spPr>
          <a:xfrm>
            <a:off x="3578225" y="22606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Pinecone</a:t>
            </a:r>
          </a:p>
        </p:txBody>
      </p:sp>
      <p:sp>
        <p:nvSpPr>
          <p:cNvPr id="113" name="Landscape 114"/>
          <p:cNvSpPr/>
          <p:nvPr/>
        </p:nvSpPr>
        <p:spPr>
          <a:xfrm>
            <a:off x="3578225" y="25400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Managed, fully hosted</a:t>
            </a:r>
          </a:p>
        </p:txBody>
      </p:sp>
      <p:sp>
        <p:nvSpPr>
          <p:cNvPr id="114" name="Landscape 115"/>
          <p:cNvSpPr/>
          <p:nvPr/>
        </p:nvSpPr>
        <p:spPr>
          <a:xfrm>
            <a:off x="3578225" y="27559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15" name="Landscape 116"/>
          <p:cNvSpPr/>
          <p:nvPr/>
        </p:nvSpPr>
        <p:spPr>
          <a:xfrm>
            <a:off x="3578225" y="28448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Want zero ops, scale is the priority</a:t>
            </a:r>
          </a:p>
        </p:txBody>
      </p:sp>
      <p:sp>
        <p:nvSpPr>
          <p:cNvPr id="116" name="Landscape 117"/>
          <p:cNvSpPr/>
          <p:nvPr/>
        </p:nvSpPr>
        <p:spPr>
          <a:xfrm>
            <a:off x="3400425" y="34798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17" name="Landscape 118"/>
          <p:cNvSpPr/>
          <p:nvPr/>
        </p:nvSpPr>
        <p:spPr>
          <a:xfrm>
            <a:off x="3578225" y="36322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Azure AI Search</a:t>
            </a:r>
          </a:p>
        </p:txBody>
      </p:sp>
      <p:sp>
        <p:nvSpPr>
          <p:cNvPr id="118" name="Landscape 119"/>
          <p:cNvSpPr/>
          <p:nvPr/>
        </p:nvSpPr>
        <p:spPr>
          <a:xfrm>
            <a:off x="3578225" y="39116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Managed, Microsoft ecosystem</a:t>
            </a:r>
          </a:p>
        </p:txBody>
      </p:sp>
      <p:sp>
        <p:nvSpPr>
          <p:cNvPr id="119" name="Landscape 120"/>
          <p:cNvSpPr/>
          <p:nvPr/>
        </p:nvSpPr>
        <p:spPr>
          <a:xfrm>
            <a:off x="3578225" y="41275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20" name="Landscape 121"/>
          <p:cNvSpPr/>
          <p:nvPr/>
        </p:nvSpPr>
        <p:spPr>
          <a:xfrm>
            <a:off x="3578225" y="42164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Already deep in Azure, want hybrid search managed</a:t>
            </a:r>
          </a:p>
        </p:txBody>
      </p:sp>
      <p:sp>
        <p:nvSpPr>
          <p:cNvPr id="121" name="Landscape 122"/>
          <p:cNvSpPr/>
          <p:nvPr/>
        </p:nvSpPr>
        <p:spPr>
          <a:xfrm>
            <a:off x="6165850" y="1397000"/>
            <a:ext cx="2613025" cy="38100"/>
          </a:xfrm>
          <a:prstGeom prst="rect">
            <a:avLst/>
          </a:prstGeom>
          <a:solidFill>
            <a:srgbClr val="334155"/>
          </a:solidFill>
          <a:ln>
            <a:noFill/>
          </a:ln>
        </p:spPr>
        <p:txBody>
          <a:bodyPr wrap="square" lIns="0" tIns="0" rIns="0" bIns="0" anchor="t">
            <a:noAutofit/>
          </a:bodyPr>
          <a:lstStyle/>
          <a:p>
            <a:endParaRPr lang="en-US"/>
          </a:p>
        </p:txBody>
      </p:sp>
      <p:sp>
        <p:nvSpPr>
          <p:cNvPr id="122" name="Landscape 123"/>
          <p:cNvSpPr/>
          <p:nvPr/>
        </p:nvSpPr>
        <p:spPr>
          <a:xfrm>
            <a:off x="6165850" y="1524000"/>
            <a:ext cx="2613025"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SELF-HOSTED OPEN SOURCE</a:t>
            </a:r>
          </a:p>
        </p:txBody>
      </p:sp>
      <p:sp>
        <p:nvSpPr>
          <p:cNvPr id="123" name="Landscape 124"/>
          <p:cNvSpPr/>
          <p:nvPr/>
        </p:nvSpPr>
        <p:spPr>
          <a:xfrm>
            <a:off x="6165850" y="1752600"/>
            <a:ext cx="2613025" cy="228600"/>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You run it, you control it</a:t>
            </a:r>
          </a:p>
        </p:txBody>
      </p:sp>
      <p:sp>
        <p:nvSpPr>
          <p:cNvPr id="124" name="Landscape 125"/>
          <p:cNvSpPr/>
          <p:nvPr/>
        </p:nvSpPr>
        <p:spPr>
          <a:xfrm>
            <a:off x="6165850" y="21082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25" name="Landscape 126"/>
          <p:cNvSpPr/>
          <p:nvPr/>
        </p:nvSpPr>
        <p:spPr>
          <a:xfrm>
            <a:off x="6343650" y="22606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Qdrant</a:t>
            </a:r>
          </a:p>
        </p:txBody>
      </p:sp>
      <p:sp>
        <p:nvSpPr>
          <p:cNvPr id="126" name="Landscape 127"/>
          <p:cNvSpPr/>
          <p:nvPr/>
        </p:nvSpPr>
        <p:spPr>
          <a:xfrm>
            <a:off x="6343650" y="25400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Open-source, Rust</a:t>
            </a:r>
          </a:p>
        </p:txBody>
      </p:sp>
      <p:sp>
        <p:nvSpPr>
          <p:cNvPr id="127" name="Landscape 128"/>
          <p:cNvSpPr/>
          <p:nvPr/>
        </p:nvSpPr>
        <p:spPr>
          <a:xfrm>
            <a:off x="6343650" y="27559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28" name="Landscape 129"/>
          <p:cNvSpPr/>
          <p:nvPr/>
        </p:nvSpPr>
        <p:spPr>
          <a:xfrm>
            <a:off x="6343650" y="28448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Need rich metadata filtering, self-hosted</a:t>
            </a:r>
          </a:p>
        </p:txBody>
      </p:sp>
      <p:sp>
        <p:nvSpPr>
          <p:cNvPr id="129" name="Landscape 130"/>
          <p:cNvSpPr/>
          <p:nvPr/>
        </p:nvSpPr>
        <p:spPr>
          <a:xfrm>
            <a:off x="6165850" y="34798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30" name="Landscape 131"/>
          <p:cNvSpPr/>
          <p:nvPr/>
        </p:nvSpPr>
        <p:spPr>
          <a:xfrm>
            <a:off x="6343650" y="36322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Weaviate</a:t>
            </a:r>
          </a:p>
        </p:txBody>
      </p:sp>
      <p:sp>
        <p:nvSpPr>
          <p:cNvPr id="131" name="Landscape 132"/>
          <p:cNvSpPr/>
          <p:nvPr/>
        </p:nvSpPr>
        <p:spPr>
          <a:xfrm>
            <a:off x="6343650" y="39116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Open-source, GraphQL API</a:t>
            </a:r>
          </a:p>
        </p:txBody>
      </p:sp>
      <p:sp>
        <p:nvSpPr>
          <p:cNvPr id="132" name="Landscape 133"/>
          <p:cNvSpPr/>
          <p:nvPr/>
        </p:nvSpPr>
        <p:spPr>
          <a:xfrm>
            <a:off x="6343650" y="41275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33" name="Landscape 134"/>
          <p:cNvSpPr/>
          <p:nvPr/>
        </p:nvSpPr>
        <p:spPr>
          <a:xfrm>
            <a:off x="6343650" y="42164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Want built-in hybrid search modules</a:t>
            </a:r>
          </a:p>
        </p:txBody>
      </p:sp>
      <p:sp>
        <p:nvSpPr>
          <p:cNvPr id="134" name="Landscape 135"/>
          <p:cNvSpPr/>
          <p:nvPr/>
        </p:nvSpPr>
        <p:spPr>
          <a:xfrm>
            <a:off x="6165850" y="48514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35" name="Landscape 136"/>
          <p:cNvSpPr/>
          <p:nvPr/>
        </p:nvSpPr>
        <p:spPr>
          <a:xfrm>
            <a:off x="6343650" y="50038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Milvus</a:t>
            </a:r>
          </a:p>
        </p:txBody>
      </p:sp>
      <p:sp>
        <p:nvSpPr>
          <p:cNvPr id="136" name="Landscape 137"/>
          <p:cNvSpPr/>
          <p:nvPr/>
        </p:nvSpPr>
        <p:spPr>
          <a:xfrm>
            <a:off x="6343650" y="52832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Open-source, built for scale</a:t>
            </a:r>
          </a:p>
        </p:txBody>
      </p:sp>
      <p:sp>
        <p:nvSpPr>
          <p:cNvPr id="137" name="Landscape 138"/>
          <p:cNvSpPr/>
          <p:nvPr/>
        </p:nvSpPr>
        <p:spPr>
          <a:xfrm>
            <a:off x="6343650" y="54991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38" name="Landscape 139"/>
          <p:cNvSpPr/>
          <p:nvPr/>
        </p:nvSpPr>
        <p:spPr>
          <a:xfrm>
            <a:off x="6343650" y="55880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Billions of vectors, dedicated infra team</a:t>
            </a:r>
          </a:p>
        </p:txBody>
      </p:sp>
      <p:sp>
        <p:nvSpPr>
          <p:cNvPr id="139" name="Landscape 140"/>
          <p:cNvSpPr/>
          <p:nvPr/>
        </p:nvSpPr>
        <p:spPr>
          <a:xfrm>
            <a:off x="8931275" y="1397000"/>
            <a:ext cx="2613025" cy="38100"/>
          </a:xfrm>
          <a:prstGeom prst="rect">
            <a:avLst/>
          </a:prstGeom>
          <a:solidFill>
            <a:srgbClr val="334155"/>
          </a:solidFill>
          <a:ln>
            <a:noFill/>
          </a:ln>
        </p:spPr>
        <p:txBody>
          <a:bodyPr wrap="square" lIns="0" tIns="0" rIns="0" bIns="0" anchor="t">
            <a:noAutofit/>
          </a:bodyPr>
          <a:lstStyle/>
          <a:p>
            <a:endParaRPr lang="en-US"/>
          </a:p>
        </p:txBody>
      </p:sp>
      <p:sp>
        <p:nvSpPr>
          <p:cNvPr id="140" name="Landscape 141"/>
          <p:cNvSpPr/>
          <p:nvPr/>
        </p:nvSpPr>
        <p:spPr>
          <a:xfrm>
            <a:off x="8931275" y="1524000"/>
            <a:ext cx="2613025"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PROTOTYPE AND RESEARCH</a:t>
            </a:r>
          </a:p>
        </p:txBody>
      </p:sp>
      <p:sp>
        <p:nvSpPr>
          <p:cNvPr id="141" name="Landscape 142"/>
          <p:cNvSpPr/>
          <p:nvPr/>
        </p:nvSpPr>
        <p:spPr>
          <a:xfrm>
            <a:off x="8931275" y="1752600"/>
            <a:ext cx="2613025" cy="228600"/>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Not for production RAG</a:t>
            </a:r>
          </a:p>
        </p:txBody>
      </p:sp>
      <p:sp>
        <p:nvSpPr>
          <p:cNvPr id="142" name="Landscape 143"/>
          <p:cNvSpPr/>
          <p:nvPr/>
        </p:nvSpPr>
        <p:spPr>
          <a:xfrm>
            <a:off x="8931275" y="21082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43" name="Landscape 144"/>
          <p:cNvSpPr/>
          <p:nvPr/>
        </p:nvSpPr>
        <p:spPr>
          <a:xfrm>
            <a:off x="9109075" y="22606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Chroma</a:t>
            </a:r>
          </a:p>
        </p:txBody>
      </p:sp>
      <p:sp>
        <p:nvSpPr>
          <p:cNvPr id="144" name="Landscape 145"/>
          <p:cNvSpPr/>
          <p:nvPr/>
        </p:nvSpPr>
        <p:spPr>
          <a:xfrm>
            <a:off x="9109075" y="25400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Lightweight, dev-friendly</a:t>
            </a:r>
          </a:p>
        </p:txBody>
      </p:sp>
      <p:sp>
        <p:nvSpPr>
          <p:cNvPr id="145" name="Landscape 146"/>
          <p:cNvSpPr/>
          <p:nvPr/>
        </p:nvSpPr>
        <p:spPr>
          <a:xfrm>
            <a:off x="9109075" y="27559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46" name="Landscape 147"/>
          <p:cNvSpPr/>
          <p:nvPr/>
        </p:nvSpPr>
        <p:spPr>
          <a:xfrm>
            <a:off x="9109075" y="28448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Prototyping, small projects, local dev</a:t>
            </a:r>
          </a:p>
        </p:txBody>
      </p:sp>
      <p:sp>
        <p:nvSpPr>
          <p:cNvPr id="147" name="Landscape 148"/>
          <p:cNvSpPr/>
          <p:nvPr/>
        </p:nvSpPr>
        <p:spPr>
          <a:xfrm>
            <a:off x="8931275" y="3479800"/>
            <a:ext cx="2613025" cy="1270000"/>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48" name="Landscape 149"/>
          <p:cNvSpPr/>
          <p:nvPr/>
        </p:nvSpPr>
        <p:spPr>
          <a:xfrm>
            <a:off x="9109075" y="3632200"/>
            <a:ext cx="2257425" cy="279400"/>
          </a:xfrm>
          <a:prstGeom prst="rect">
            <a:avLst/>
          </a:prstGeom>
          <a:noFill/>
          <a:ln>
            <a:noFill/>
          </a:ln>
        </p:spPr>
        <p:txBody>
          <a:bodyPr wrap="square" lIns="0" tIns="0" rIns="0" bIns="0" anchor="t">
            <a:noAutofit/>
          </a:bodyPr>
          <a:lstStyle/>
          <a:p>
            <a:pPr algn="l"/>
            <a:r>
              <a:rPr lang="en-US" sz="1500" b="1" dirty="0">
                <a:solidFill>
                  <a:srgbClr val="F1F5F9"/>
                </a:solidFill>
                <a:latin typeface="Segoe UI"/>
              </a:rPr>
              <a:t>FAISS</a:t>
            </a:r>
          </a:p>
        </p:txBody>
      </p:sp>
      <p:sp>
        <p:nvSpPr>
          <p:cNvPr id="149" name="Landscape 150"/>
          <p:cNvSpPr/>
          <p:nvPr/>
        </p:nvSpPr>
        <p:spPr>
          <a:xfrm>
            <a:off x="9109075" y="3911600"/>
            <a:ext cx="2257425" cy="2032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In-memory library (Meta)</a:t>
            </a:r>
          </a:p>
        </p:txBody>
      </p:sp>
      <p:sp>
        <p:nvSpPr>
          <p:cNvPr id="150" name="Landscape 151"/>
          <p:cNvSpPr/>
          <p:nvPr/>
        </p:nvSpPr>
        <p:spPr>
          <a:xfrm>
            <a:off x="9109075" y="4127500"/>
            <a:ext cx="2257425" cy="127"/>
          </a:xfrm>
          <a:prstGeom prst="line">
            <a:avLst/>
          </a:prstGeom>
          <a:noFill/>
          <a:ln w="12700">
            <a:solidFill>
              <a:srgbClr val="2A3650"/>
            </a:solidFill>
          </a:ln>
        </p:spPr>
        <p:txBody>
          <a:bodyPr wrap="square" lIns="0" tIns="0" rIns="0" bIns="0" anchor="t">
            <a:noAutofit/>
          </a:bodyPr>
          <a:lstStyle/>
          <a:p>
            <a:endParaRPr lang="en-US"/>
          </a:p>
        </p:txBody>
      </p:sp>
      <p:sp>
        <p:nvSpPr>
          <p:cNvPr id="151" name="Landscape 152"/>
          <p:cNvSpPr/>
          <p:nvPr/>
        </p:nvSpPr>
        <p:spPr>
          <a:xfrm>
            <a:off x="9109075" y="4216400"/>
            <a:ext cx="2257425" cy="508000"/>
          </a:xfrm>
          <a:prstGeom prst="rect">
            <a:avLst/>
          </a:prstGeom>
          <a:noFill/>
          <a:ln>
            <a:noFill/>
          </a:ln>
        </p:spPr>
        <p:txBody>
          <a:bodyPr wrap="square" lIns="0" tIns="0" rIns="0" bIns="0" anchor="t">
            <a:noAutofit/>
          </a:bodyPr>
          <a:lstStyle/>
          <a:p>
            <a:pPr algn="l"/>
            <a:r>
              <a:rPr lang="en-US" sz="1200" b="0" dirty="0">
                <a:solidFill>
                  <a:srgbClr val="E2E8F0"/>
                </a:solidFill>
                <a:latin typeface="Segoe UI"/>
              </a:rPr>
              <a:t>Research/offline batch use, not a full DB</a:t>
            </a:r>
          </a:p>
        </p:txBody>
      </p:sp>
      <p:sp>
        <p:nvSpPr>
          <p:cNvPr id="38" name="TextBox 37"/>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B8C2D3"/>
                </a:solidFill>
                <a:latin typeface="Segoe UI"/>
              </a:rPr>
              <a:t>Building Enterprise RAG Applications with .NET  |  Taazaa X Talk</a:t>
            </a:r>
          </a:p>
        </p:txBody>
      </p:sp>
      <p:sp>
        <p:nvSpPr>
          <p:cNvPr id="39" name="TextBox 38"/>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B8C2D3"/>
                </a:solidFill>
                <a:latin typeface="Segoe UI"/>
              </a:rPr>
              <a:t>25</a:t>
            </a:r>
          </a:p>
        </p:txBody>
      </p:sp>
    </p:spTree>
    <p:extLst>
      <p:ext uri="{BB962C8B-B14F-4D97-AF65-F5344CB8AC3E}">
        <p14:creationId xmlns:p14="http://schemas.microsoft.com/office/powerpoint/2010/main" val="920339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VECTOR DATABASES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Why pgvector for this project</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Why 101"/>
          <p:cNvSpPr/>
          <p:nvPr/>
        </p:nvSpPr>
        <p:spPr>
          <a:xfrm>
            <a:off x="635000" y="1397000"/>
            <a:ext cx="3556000" cy="4978400"/>
          </a:xfrm>
          <a:prstGeom prst="roundRect">
            <a:avLst>
              <a:gd name="adj" fmla="val 4000"/>
            </a:avLst>
          </a:prstGeom>
          <a:solidFill>
            <a:srgbClr val="0E1528"/>
          </a:solidFill>
          <a:ln w="12700">
            <a:solidFill>
              <a:srgbClr val="243049"/>
            </a:solidFill>
          </a:ln>
        </p:spPr>
        <p:txBody>
          <a:bodyPr wrap="square" lIns="0" tIns="0" rIns="0" bIns="0" anchor="t">
            <a:noAutofit/>
          </a:bodyPr>
          <a:lstStyle/>
          <a:p>
            <a:endParaRPr lang="en-US"/>
          </a:p>
        </p:txBody>
      </p:sp>
      <p:sp>
        <p:nvSpPr>
          <p:cNvPr id="101" name="Why 102"/>
          <p:cNvSpPr/>
          <p:nvPr/>
        </p:nvSpPr>
        <p:spPr>
          <a:xfrm>
            <a:off x="863600" y="1600200"/>
            <a:ext cx="3098800"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ONE DATABASE FOR EVERYTHING</a:t>
            </a:r>
          </a:p>
        </p:txBody>
      </p:sp>
      <p:sp>
        <p:nvSpPr>
          <p:cNvPr id="102" name="Why 103"/>
          <p:cNvSpPr/>
          <p:nvPr/>
        </p:nvSpPr>
        <p:spPr>
          <a:xfrm>
            <a:off x="1270000" y="1930400"/>
            <a:ext cx="2286000" cy="508000"/>
          </a:xfrm>
          <a:prstGeom prst="roundRect">
            <a:avLst>
              <a:gd name="adj" fmla="val 8000"/>
            </a:avLst>
          </a:prstGeom>
          <a:solidFill>
            <a:srgbClr val="131C31"/>
          </a:solidFill>
          <a:ln w="12700">
            <a:solidFill>
              <a:srgbClr val="475569"/>
            </a:solidFill>
          </a:ln>
        </p:spPr>
        <p:txBody>
          <a:bodyPr wrap="square" lIns="0" tIns="0" rIns="0" bIns="0" anchor="ctr">
            <a:noAutofit/>
          </a:bodyPr>
          <a:lstStyle/>
          <a:p>
            <a:pPr algn="ctr"/>
            <a:r>
              <a:rPr lang="en-US" sz="1400" b="1" dirty="0">
                <a:solidFill>
                  <a:srgbClr val="F1F5F9"/>
                </a:solidFill>
                <a:latin typeface="Segoe UI"/>
              </a:rPr>
              <a:t>.NET API</a:t>
            </a:r>
          </a:p>
        </p:txBody>
      </p:sp>
      <p:sp>
        <p:nvSpPr>
          <p:cNvPr id="103" name="Why 104"/>
          <p:cNvSpPr/>
          <p:nvPr/>
        </p:nvSpPr>
        <p:spPr>
          <a:xfrm>
            <a:off x="2413000" y="2438400"/>
            <a:ext cx="127" cy="508000"/>
          </a:xfrm>
          <a:prstGeom prst="line">
            <a:avLst/>
          </a:prstGeom>
          <a:noFill/>
          <a:ln w="19050">
            <a:solidFill>
              <a:srgbClr val="2DD4BF"/>
            </a:solidFill>
            <a:tailEnd type="triangle"/>
          </a:ln>
        </p:spPr>
        <p:txBody>
          <a:bodyPr wrap="square" lIns="0" tIns="0" rIns="0" bIns="0" anchor="t">
            <a:noAutofit/>
          </a:bodyPr>
          <a:lstStyle/>
          <a:p>
            <a:endParaRPr lang="en-US"/>
          </a:p>
        </p:txBody>
      </p:sp>
      <p:sp>
        <p:nvSpPr>
          <p:cNvPr id="104" name="Why 105"/>
          <p:cNvSpPr/>
          <p:nvPr/>
        </p:nvSpPr>
        <p:spPr>
          <a:xfrm>
            <a:off x="2540000" y="2565400"/>
            <a:ext cx="1524000" cy="228600"/>
          </a:xfrm>
          <a:prstGeom prst="rect">
            <a:avLst/>
          </a:prstGeom>
          <a:noFill/>
          <a:ln>
            <a:noFill/>
          </a:ln>
        </p:spPr>
        <p:txBody>
          <a:bodyPr wrap="square" lIns="0" tIns="0" rIns="0" bIns="0" anchor="t">
            <a:noAutofit/>
          </a:bodyPr>
          <a:lstStyle/>
          <a:p>
            <a:pPr algn="l"/>
            <a:r>
              <a:rPr lang="en-US" sz="1100" b="0" dirty="0">
                <a:solidFill>
                  <a:srgbClr val="B8C2D3"/>
                </a:solidFill>
                <a:latin typeface="Segoe UI"/>
              </a:rPr>
              <a:t>SQL, one pool</a:t>
            </a:r>
          </a:p>
        </p:txBody>
      </p:sp>
      <p:sp>
        <p:nvSpPr>
          <p:cNvPr id="105" name="Why 106"/>
          <p:cNvSpPr/>
          <p:nvPr/>
        </p:nvSpPr>
        <p:spPr>
          <a:xfrm>
            <a:off x="863600" y="3022600"/>
            <a:ext cx="3098800" cy="3149600"/>
          </a:xfrm>
          <a:prstGeom prst="roundRect">
            <a:avLst>
              <a:gd name="adj" fmla="val 5000"/>
            </a:avLst>
          </a:prstGeom>
          <a:solidFill>
            <a:srgbClr val="0F2A30"/>
          </a:solidFill>
          <a:ln w="19050">
            <a:solidFill>
              <a:srgbClr val="2DD4BF"/>
            </a:solidFill>
          </a:ln>
        </p:spPr>
        <p:txBody>
          <a:bodyPr wrap="square" lIns="0" tIns="0" rIns="0" bIns="0" anchor="t">
            <a:noAutofit/>
          </a:bodyPr>
          <a:lstStyle/>
          <a:p>
            <a:endParaRPr lang="en-US"/>
          </a:p>
        </p:txBody>
      </p:sp>
      <p:sp>
        <p:nvSpPr>
          <p:cNvPr id="106" name="Why 107"/>
          <p:cNvSpPr/>
          <p:nvPr/>
        </p:nvSpPr>
        <p:spPr>
          <a:xfrm>
            <a:off x="1041400" y="3175000"/>
            <a:ext cx="2743200"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PostgreSQL + pgvector</a:t>
            </a:r>
          </a:p>
        </p:txBody>
      </p:sp>
      <p:sp>
        <p:nvSpPr>
          <p:cNvPr id="107" name="Why 108"/>
          <p:cNvSpPr/>
          <p:nvPr/>
        </p:nvSpPr>
        <p:spPr>
          <a:xfrm>
            <a:off x="1041400" y="3556000"/>
            <a:ext cx="2743200" cy="381000"/>
          </a:xfrm>
          <a:prstGeom prst="roundRect">
            <a:avLst>
              <a:gd name="adj" fmla="val 8000"/>
            </a:avLst>
          </a:prstGeom>
          <a:solidFill>
            <a:srgbClr val="131C31"/>
          </a:solidFill>
          <a:ln w="12700">
            <a:solidFill>
              <a:srgbClr val="2A3650"/>
            </a:solidFill>
          </a:ln>
        </p:spPr>
        <p:txBody>
          <a:bodyPr wrap="square" lIns="127000" tIns="0" rIns="127000" bIns="0" anchor="ctr">
            <a:noAutofit/>
          </a:bodyPr>
          <a:lstStyle/>
          <a:p>
            <a:pPr algn="l"/>
            <a:r>
              <a:rPr lang="en-US" sz="1200" b="0" dirty="0">
                <a:solidFill>
                  <a:srgbClr val="E2E8F0"/>
                </a:solidFill>
                <a:latin typeface="Segoe UI"/>
              </a:rPr>
              <a:t>projects</a:t>
            </a:r>
          </a:p>
        </p:txBody>
      </p:sp>
      <p:sp>
        <p:nvSpPr>
          <p:cNvPr id="108" name="Why 109"/>
          <p:cNvSpPr/>
          <p:nvPr/>
        </p:nvSpPr>
        <p:spPr>
          <a:xfrm>
            <a:off x="1041400" y="4013200"/>
            <a:ext cx="2743200" cy="381000"/>
          </a:xfrm>
          <a:prstGeom prst="roundRect">
            <a:avLst>
              <a:gd name="adj" fmla="val 8000"/>
            </a:avLst>
          </a:prstGeom>
          <a:solidFill>
            <a:srgbClr val="131C31"/>
          </a:solidFill>
          <a:ln w="12700">
            <a:solidFill>
              <a:srgbClr val="2A3650"/>
            </a:solidFill>
          </a:ln>
        </p:spPr>
        <p:txBody>
          <a:bodyPr wrap="square" lIns="127000" tIns="0" rIns="127000" bIns="0" anchor="ctr">
            <a:noAutofit/>
          </a:bodyPr>
          <a:lstStyle/>
          <a:p>
            <a:pPr algn="l"/>
            <a:r>
              <a:rPr lang="en-US" sz="1200" b="0" dirty="0">
                <a:solidFill>
                  <a:srgbClr val="E2E8F0"/>
                </a:solidFill>
                <a:latin typeface="Segoe UI"/>
              </a:rPr>
              <a:t>chats</a:t>
            </a:r>
          </a:p>
        </p:txBody>
      </p:sp>
      <p:sp>
        <p:nvSpPr>
          <p:cNvPr id="109" name="Why 110"/>
          <p:cNvSpPr/>
          <p:nvPr/>
        </p:nvSpPr>
        <p:spPr>
          <a:xfrm>
            <a:off x="1041400" y="4470400"/>
            <a:ext cx="2743200" cy="381000"/>
          </a:xfrm>
          <a:prstGeom prst="roundRect">
            <a:avLst>
              <a:gd name="adj" fmla="val 8000"/>
            </a:avLst>
          </a:prstGeom>
          <a:solidFill>
            <a:srgbClr val="131C31"/>
          </a:solidFill>
          <a:ln w="12700">
            <a:solidFill>
              <a:srgbClr val="2A3650"/>
            </a:solidFill>
          </a:ln>
        </p:spPr>
        <p:txBody>
          <a:bodyPr wrap="square" lIns="127000" tIns="0" rIns="127000" bIns="0" anchor="ctr">
            <a:noAutofit/>
          </a:bodyPr>
          <a:lstStyle/>
          <a:p>
            <a:pPr algn="l"/>
            <a:r>
              <a:rPr lang="en-US" sz="1200" b="0" dirty="0">
                <a:solidFill>
                  <a:srgbClr val="E2E8F0"/>
                </a:solidFill>
                <a:latin typeface="Segoe UI"/>
              </a:rPr>
              <a:t>users</a:t>
            </a:r>
          </a:p>
        </p:txBody>
      </p:sp>
      <p:sp>
        <p:nvSpPr>
          <p:cNvPr id="110" name="Why 111"/>
          <p:cNvSpPr/>
          <p:nvPr/>
        </p:nvSpPr>
        <p:spPr>
          <a:xfrm>
            <a:off x="1041400" y="4927600"/>
            <a:ext cx="2743200" cy="381000"/>
          </a:xfrm>
          <a:prstGeom prst="roundRect">
            <a:avLst>
              <a:gd name="adj" fmla="val 8000"/>
            </a:avLst>
          </a:prstGeom>
          <a:solidFill>
            <a:srgbClr val="134E4A"/>
          </a:solidFill>
          <a:ln w="12700">
            <a:solidFill>
              <a:srgbClr val="2DD4BF"/>
            </a:solidFill>
          </a:ln>
        </p:spPr>
        <p:txBody>
          <a:bodyPr wrap="square" lIns="127000" tIns="0" rIns="127000" bIns="0" anchor="ctr">
            <a:noAutofit/>
          </a:bodyPr>
          <a:lstStyle/>
          <a:p>
            <a:pPr algn="l"/>
            <a:r>
              <a:rPr lang="en-US" sz="1200" b="1" dirty="0">
                <a:solidFill>
                  <a:srgbClr val="F1F5F9"/>
                </a:solidFill>
                <a:latin typeface="Segoe UI"/>
              </a:rPr>
              <a:t>chunks  ·  vector</a:t>
            </a:r>
          </a:p>
        </p:txBody>
      </p:sp>
      <p:sp>
        <p:nvSpPr>
          <p:cNvPr id="111" name="Why 112"/>
          <p:cNvSpPr/>
          <p:nvPr/>
        </p:nvSpPr>
        <p:spPr>
          <a:xfrm>
            <a:off x="2794000" y="5003800"/>
            <a:ext cx="863600" cy="228600"/>
          </a:xfrm>
          <a:prstGeom prst="roundRect">
            <a:avLst>
              <a:gd name="adj" fmla="val 50000"/>
            </a:avLst>
          </a:prstGeom>
          <a:solidFill>
            <a:srgbClr val="2DD4BF"/>
          </a:solidFill>
          <a:ln>
            <a:noFill/>
          </a:ln>
        </p:spPr>
        <p:txBody>
          <a:bodyPr wrap="square" lIns="0" tIns="0" rIns="0" bIns="0" anchor="ctr">
            <a:noAutofit/>
          </a:bodyPr>
          <a:lstStyle/>
          <a:p>
            <a:pPr algn="ctr"/>
            <a:r>
              <a:rPr lang="en-US" sz="950" b="1" dirty="0">
                <a:solidFill>
                  <a:srgbClr val="0A0F1E"/>
                </a:solidFill>
                <a:latin typeface="Segoe UI"/>
              </a:rPr>
              <a:t>HNSW</a:t>
            </a:r>
          </a:p>
        </p:txBody>
      </p:sp>
      <p:sp>
        <p:nvSpPr>
          <p:cNvPr id="112" name="Why 113"/>
          <p:cNvSpPr/>
          <p:nvPr/>
        </p:nvSpPr>
        <p:spPr>
          <a:xfrm>
            <a:off x="1041400" y="5461000"/>
            <a:ext cx="2743200" cy="431800"/>
          </a:xfrm>
          <a:prstGeom prst="rect">
            <a:avLst/>
          </a:prstGeom>
          <a:noFill/>
          <a:ln>
            <a:noFill/>
          </a:ln>
        </p:spPr>
        <p:txBody>
          <a:bodyPr wrap="square" lIns="0" tIns="0" rIns="0" bIns="0" anchor="t">
            <a:noAutofit/>
          </a:bodyPr>
          <a:lstStyle/>
          <a:p>
            <a:pPr algn="l"/>
            <a:r>
              <a:rPr lang="en-US" sz="1150" b="0" dirty="0">
                <a:solidFill>
                  <a:srgbClr val="B8C2D3"/>
                </a:solidFill>
                <a:latin typeface="Segoe UI"/>
              </a:rPr>
              <a:t>One source of truth, one backup</a:t>
            </a:r>
          </a:p>
        </p:txBody>
      </p:sp>
      <p:sp>
        <p:nvSpPr>
          <p:cNvPr id="113" name="Why 114"/>
          <p:cNvSpPr/>
          <p:nvPr/>
        </p:nvSpPr>
        <p:spPr>
          <a:xfrm>
            <a:off x="4368800" y="1397000"/>
            <a:ext cx="3511550" cy="2413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14" name="Why 115"/>
          <p:cNvSpPr/>
          <p:nvPr/>
        </p:nvSpPr>
        <p:spPr>
          <a:xfrm>
            <a:off x="4622800" y="1651000"/>
            <a:ext cx="457200" cy="457200"/>
          </a:xfrm>
          <a:prstGeom prst="ellipse">
            <a:avLst/>
          </a:prstGeom>
          <a:solidFill>
            <a:srgbClr val="0F2A30"/>
          </a:solidFill>
          <a:ln w="12700">
            <a:solidFill>
              <a:srgbClr val="2DD4BF"/>
            </a:solidFill>
          </a:ln>
        </p:spPr>
        <p:txBody>
          <a:bodyPr wrap="square" lIns="0" tIns="0" rIns="0" bIns="0" anchor="ctr">
            <a:noAutofit/>
          </a:bodyPr>
          <a:lstStyle/>
          <a:p>
            <a:pPr algn="ctr"/>
            <a:r>
              <a:rPr lang="en-US" sz="1500" b="1" dirty="0">
                <a:solidFill>
                  <a:srgbClr val="2DD4BF"/>
                </a:solidFill>
                <a:latin typeface="Segoe UI"/>
              </a:rPr>
              <a:t>1</a:t>
            </a:r>
          </a:p>
        </p:txBody>
      </p:sp>
      <p:sp>
        <p:nvSpPr>
          <p:cNvPr id="115" name="Why 116"/>
          <p:cNvSpPr/>
          <p:nvPr/>
        </p:nvSpPr>
        <p:spPr>
          <a:xfrm>
            <a:off x="4622800" y="2286000"/>
            <a:ext cx="3003550" cy="3302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One database, not two</a:t>
            </a:r>
          </a:p>
        </p:txBody>
      </p:sp>
      <p:sp>
        <p:nvSpPr>
          <p:cNvPr id="116" name="Why 117"/>
          <p:cNvSpPr/>
          <p:nvPr/>
        </p:nvSpPr>
        <p:spPr>
          <a:xfrm>
            <a:off x="4622800" y="2692400"/>
            <a:ext cx="3003550" cy="965200"/>
          </a:xfrm>
          <a:prstGeom prst="rect">
            <a:avLst/>
          </a:prstGeom>
          <a:noFill/>
          <a:ln>
            <a:noFill/>
          </a:ln>
        </p:spPr>
        <p:txBody>
          <a:bodyPr wrap="square" lIns="0" tIns="0" rIns="0" bIns="0" anchor="t">
            <a:noAutofit/>
          </a:bodyPr>
          <a:lstStyle/>
          <a:p>
            <a:pPr algn="l"/>
            <a:r>
              <a:rPr lang="en-US" sz="1300" b="0" dirty="0">
                <a:solidFill>
                  <a:srgbClr val="E2E8F0"/>
                </a:solidFill>
                <a:latin typeface="Segoe UI"/>
              </a:rPr>
              <a:t>Relational data (projects, chats, users) and vector data live in the same Postgres instance — one source of truth, one backup strategy, one connection pool</a:t>
            </a:r>
          </a:p>
        </p:txBody>
      </p:sp>
      <p:sp>
        <p:nvSpPr>
          <p:cNvPr id="117" name="Why 118"/>
          <p:cNvSpPr/>
          <p:nvPr/>
        </p:nvSpPr>
        <p:spPr>
          <a:xfrm>
            <a:off x="8032750" y="1397000"/>
            <a:ext cx="3511550" cy="2413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18" name="Why 119"/>
          <p:cNvSpPr/>
          <p:nvPr/>
        </p:nvSpPr>
        <p:spPr>
          <a:xfrm>
            <a:off x="8286750" y="1651000"/>
            <a:ext cx="457200" cy="457200"/>
          </a:xfrm>
          <a:prstGeom prst="ellipse">
            <a:avLst/>
          </a:prstGeom>
          <a:solidFill>
            <a:srgbClr val="0F2A30"/>
          </a:solidFill>
          <a:ln w="12700">
            <a:solidFill>
              <a:srgbClr val="2DD4BF"/>
            </a:solidFill>
          </a:ln>
        </p:spPr>
        <p:txBody>
          <a:bodyPr wrap="square" lIns="0" tIns="0" rIns="0" bIns="0" anchor="ctr">
            <a:noAutofit/>
          </a:bodyPr>
          <a:lstStyle/>
          <a:p>
            <a:pPr algn="ctr"/>
            <a:r>
              <a:rPr lang="en-US" sz="1500" b="1" dirty="0">
                <a:solidFill>
                  <a:srgbClr val="2DD4BF"/>
                </a:solidFill>
                <a:latin typeface="Segoe UI"/>
              </a:rPr>
              <a:t>2</a:t>
            </a:r>
          </a:p>
        </p:txBody>
      </p:sp>
      <p:sp>
        <p:nvSpPr>
          <p:cNvPr id="119" name="Why 120"/>
          <p:cNvSpPr/>
          <p:nvPr/>
        </p:nvSpPr>
        <p:spPr>
          <a:xfrm>
            <a:off x="8286750" y="2286000"/>
            <a:ext cx="3003550" cy="3302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Production-grade indexing</a:t>
            </a:r>
          </a:p>
        </p:txBody>
      </p:sp>
      <p:sp>
        <p:nvSpPr>
          <p:cNvPr id="120" name="Why 121"/>
          <p:cNvSpPr/>
          <p:nvPr/>
        </p:nvSpPr>
        <p:spPr>
          <a:xfrm>
            <a:off x="8286750" y="2692400"/>
            <a:ext cx="3003550" cy="965200"/>
          </a:xfrm>
          <a:prstGeom prst="rect">
            <a:avLst/>
          </a:prstGeom>
          <a:noFill/>
          <a:ln>
            <a:noFill/>
          </a:ln>
        </p:spPr>
        <p:txBody>
          <a:bodyPr wrap="square" lIns="0" tIns="0" rIns="0" bIns="0" anchor="t">
            <a:noAutofit/>
          </a:bodyPr>
          <a:lstStyle/>
          <a:p>
            <a:pPr algn="l"/>
            <a:r>
              <a:rPr lang="en-US" sz="1300" b="0" dirty="0">
                <a:solidFill>
                  <a:srgbClr val="E2E8F0"/>
                </a:solidFill>
                <a:latin typeface="Segoe UI"/>
              </a:rPr>
              <a:t>HNSW index gives strong recall with fast approximate search, directly inside Postgres</a:t>
            </a:r>
          </a:p>
        </p:txBody>
      </p:sp>
      <p:sp>
        <p:nvSpPr>
          <p:cNvPr id="121" name="Why 122"/>
          <p:cNvSpPr/>
          <p:nvPr/>
        </p:nvSpPr>
        <p:spPr>
          <a:xfrm>
            <a:off x="4368800" y="3962400"/>
            <a:ext cx="3511550" cy="2413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22" name="Why 123"/>
          <p:cNvSpPr/>
          <p:nvPr/>
        </p:nvSpPr>
        <p:spPr>
          <a:xfrm>
            <a:off x="4622800" y="4216400"/>
            <a:ext cx="457200" cy="457200"/>
          </a:xfrm>
          <a:prstGeom prst="ellipse">
            <a:avLst/>
          </a:prstGeom>
          <a:solidFill>
            <a:srgbClr val="0F2A30"/>
          </a:solidFill>
          <a:ln w="12700">
            <a:solidFill>
              <a:srgbClr val="2DD4BF"/>
            </a:solidFill>
          </a:ln>
        </p:spPr>
        <p:txBody>
          <a:bodyPr wrap="square" lIns="0" tIns="0" rIns="0" bIns="0" anchor="ctr">
            <a:noAutofit/>
          </a:bodyPr>
          <a:lstStyle/>
          <a:p>
            <a:pPr algn="ctr"/>
            <a:r>
              <a:rPr lang="en-US" sz="1500" b="1" dirty="0">
                <a:solidFill>
                  <a:srgbClr val="2DD4BF"/>
                </a:solidFill>
                <a:latin typeface="Segoe UI"/>
              </a:rPr>
              <a:t>3</a:t>
            </a:r>
          </a:p>
        </p:txBody>
      </p:sp>
      <p:sp>
        <p:nvSpPr>
          <p:cNvPr id="123" name="Why 124"/>
          <p:cNvSpPr/>
          <p:nvPr/>
        </p:nvSpPr>
        <p:spPr>
          <a:xfrm>
            <a:off x="4622800" y="4851400"/>
            <a:ext cx="3003550" cy="3302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No new infrastructure</a:t>
            </a:r>
          </a:p>
        </p:txBody>
      </p:sp>
      <p:sp>
        <p:nvSpPr>
          <p:cNvPr id="124" name="Why 125"/>
          <p:cNvSpPr/>
          <p:nvPr/>
        </p:nvSpPr>
        <p:spPr>
          <a:xfrm>
            <a:off x="4622800" y="5257800"/>
            <a:ext cx="3003550" cy="965200"/>
          </a:xfrm>
          <a:prstGeom prst="rect">
            <a:avLst/>
          </a:prstGeom>
          <a:noFill/>
          <a:ln>
            <a:noFill/>
          </a:ln>
        </p:spPr>
        <p:txBody>
          <a:bodyPr wrap="square" lIns="0" tIns="0" rIns="0" bIns="0" anchor="t">
            <a:noAutofit/>
          </a:bodyPr>
          <a:lstStyle/>
          <a:p>
            <a:pPr algn="l"/>
            <a:r>
              <a:rPr lang="en-US" sz="1300" b="0" dirty="0">
                <a:solidFill>
                  <a:srgbClr val="E2E8F0"/>
                </a:solidFill>
                <a:latin typeface="Segoe UI"/>
              </a:rPr>
              <a:t>If you already run Postgres, there's no new service to deploy, monitor, or secure</a:t>
            </a:r>
          </a:p>
        </p:txBody>
      </p:sp>
      <p:sp>
        <p:nvSpPr>
          <p:cNvPr id="125" name="Why 126"/>
          <p:cNvSpPr/>
          <p:nvPr/>
        </p:nvSpPr>
        <p:spPr>
          <a:xfrm>
            <a:off x="8032750" y="3962400"/>
            <a:ext cx="3511550" cy="2413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26" name="Why 127"/>
          <p:cNvSpPr/>
          <p:nvPr/>
        </p:nvSpPr>
        <p:spPr>
          <a:xfrm>
            <a:off x="8286750" y="4216400"/>
            <a:ext cx="457200" cy="457200"/>
          </a:xfrm>
          <a:prstGeom prst="ellipse">
            <a:avLst/>
          </a:prstGeom>
          <a:solidFill>
            <a:srgbClr val="0F2A30"/>
          </a:solidFill>
          <a:ln w="12700">
            <a:solidFill>
              <a:srgbClr val="2DD4BF"/>
            </a:solidFill>
          </a:ln>
        </p:spPr>
        <p:txBody>
          <a:bodyPr wrap="square" lIns="0" tIns="0" rIns="0" bIns="0" anchor="ctr">
            <a:noAutofit/>
          </a:bodyPr>
          <a:lstStyle/>
          <a:p>
            <a:pPr algn="ctr"/>
            <a:r>
              <a:rPr lang="en-US" sz="1500" b="1" dirty="0">
                <a:solidFill>
                  <a:srgbClr val="2DD4BF"/>
                </a:solidFill>
                <a:latin typeface="Segoe UI"/>
              </a:rPr>
              <a:t>4</a:t>
            </a:r>
          </a:p>
        </p:txBody>
      </p:sp>
      <p:sp>
        <p:nvSpPr>
          <p:cNvPr id="127" name="Why 128"/>
          <p:cNvSpPr/>
          <p:nvPr/>
        </p:nvSpPr>
        <p:spPr>
          <a:xfrm>
            <a:off x="8286750" y="4851400"/>
            <a:ext cx="3003550" cy="3302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SQL, not a new query language</a:t>
            </a:r>
          </a:p>
        </p:txBody>
      </p:sp>
      <p:sp>
        <p:nvSpPr>
          <p:cNvPr id="128" name="Why 129"/>
          <p:cNvSpPr/>
          <p:nvPr/>
        </p:nvSpPr>
        <p:spPr>
          <a:xfrm>
            <a:off x="8286750" y="5257800"/>
            <a:ext cx="3003550" cy="965200"/>
          </a:xfrm>
          <a:prstGeom prst="rect">
            <a:avLst/>
          </a:prstGeom>
          <a:noFill/>
          <a:ln>
            <a:noFill/>
          </a:ln>
        </p:spPr>
        <p:txBody>
          <a:bodyPr wrap="square" lIns="0" tIns="0" rIns="0" bIns="0" anchor="t">
            <a:noAutofit/>
          </a:bodyPr>
          <a:lstStyle/>
          <a:p>
            <a:pPr algn="l"/>
            <a:r>
              <a:rPr lang="en-US" sz="1300" b="0" dirty="0">
                <a:solidFill>
                  <a:srgbClr val="E2E8F0"/>
                </a:solidFill>
                <a:latin typeface="Segoe UI"/>
              </a:rPr>
              <a:t>Vector search is just another SQL function call — fits naturally into existing data-access code</a:t>
            </a:r>
          </a:p>
        </p:txBody>
      </p:sp>
      <p:sp>
        <p:nvSpPr>
          <p:cNvPr id="22" name="TextBox 21"/>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3" name="TextBox 22"/>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26</a:t>
            </a:r>
          </a:p>
        </p:txBody>
      </p:sp>
    </p:spTree>
    <p:extLst>
      <p:ext uri="{BB962C8B-B14F-4D97-AF65-F5344CB8AC3E}">
        <p14:creationId xmlns:p14="http://schemas.microsoft.com/office/powerpoint/2010/main" val="2938353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RETRIEVAL</a:t>
            </a:r>
          </a:p>
        </p:txBody>
      </p:sp>
      <p:sp>
        <p:nvSpPr>
          <p:cNvPr id="4" name="TextBox 3"/>
          <p:cNvSpPr txBox="1"/>
          <p:nvPr/>
        </p:nvSpPr>
        <p:spPr>
          <a:xfrm>
            <a:off x="640080" y="566928"/>
            <a:ext cx="4318000" cy="640080"/>
          </a:xfrm>
          <a:prstGeom prst="rect">
            <a:avLst/>
          </a:prstGeom>
          <a:noFill/>
        </p:spPr>
        <p:txBody>
          <a:bodyPr wrap="square" lIns="0" tIns="0" rIns="0" bIns="0" anchor="t">
            <a:spAutoFit/>
          </a:bodyPr>
          <a:lstStyle/>
          <a:p>
            <a:pPr algn="l"/>
            <a:r>
              <a:rPr sz="2500" b="1" i="0">
                <a:solidFill>
                  <a:srgbClr val="F1F5F9"/>
                </a:solidFill>
                <a:latin typeface="Segoe UI"/>
              </a:rPr>
              <a:t>Retrieval techniques</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Pipe 101"/>
          <p:cNvSpPr/>
          <p:nvPr/>
        </p:nvSpPr>
        <p:spPr>
          <a:xfrm>
            <a:off x="5067300" y="647700"/>
            <a:ext cx="6477000" cy="406400"/>
          </a:xfrm>
          <a:prstGeom prst="roundRect">
            <a:avLst>
              <a:gd name="adj" fmla="val 50000"/>
            </a:avLst>
          </a:prstGeom>
          <a:solidFill>
            <a:srgbClr val="0F2A30"/>
          </a:solidFill>
          <a:ln w="12700">
            <a:solidFill>
              <a:srgbClr val="2DD4BF"/>
            </a:solidFill>
          </a:ln>
        </p:spPr>
        <p:txBody>
          <a:bodyPr wrap="square" lIns="203200" tIns="0" rIns="203200" bIns="0" anchor="ctr">
            <a:noAutofit/>
          </a:bodyPr>
          <a:lstStyle/>
          <a:p>
            <a:pPr algn="l"/>
            <a:r>
              <a:rPr lang="en-US" sz="1050" b="1" dirty="0">
                <a:solidFill>
                  <a:srgbClr val="2DD4BF"/>
                </a:solidFill>
                <a:latin typeface="Segoe UI"/>
              </a:rPr>
              <a:t>EXAMPLE QUERY   </a:t>
            </a:r>
            <a:r>
              <a:rPr lang="en-US" sz="1300" b="0" dirty="0">
                <a:solidFill>
                  <a:srgbClr val="F1F5F9"/>
                </a:solidFill>
                <a:latin typeface="Segoe UI"/>
              </a:rPr>
              <a:t>“What’s the leave carry-over rule for Project Atlas?”</a:t>
            </a:r>
          </a:p>
        </p:txBody>
      </p:sp>
      <p:sp>
        <p:nvSpPr>
          <p:cNvPr id="101" name="Pipe 102"/>
          <p:cNvSpPr/>
          <p:nvPr/>
        </p:nvSpPr>
        <p:spPr>
          <a:xfrm>
            <a:off x="635000" y="1397000"/>
            <a:ext cx="2479675" cy="38100"/>
          </a:xfrm>
          <a:prstGeom prst="rect">
            <a:avLst/>
          </a:prstGeom>
          <a:solidFill>
            <a:srgbClr val="2DD4BF"/>
          </a:solidFill>
          <a:ln>
            <a:noFill/>
          </a:ln>
        </p:spPr>
        <p:txBody>
          <a:bodyPr wrap="square" lIns="0" tIns="0" rIns="0" bIns="0" anchor="t">
            <a:noAutofit/>
          </a:bodyPr>
          <a:lstStyle/>
          <a:p>
            <a:endParaRPr lang="en-US"/>
          </a:p>
        </p:txBody>
      </p:sp>
      <p:sp>
        <p:nvSpPr>
          <p:cNvPr id="102" name="Pipe 103"/>
          <p:cNvSpPr/>
          <p:nvPr/>
        </p:nvSpPr>
        <p:spPr>
          <a:xfrm>
            <a:off x="635000" y="1511300"/>
            <a:ext cx="2479675" cy="2286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01  </a:t>
            </a:r>
            <a:r>
              <a:rPr lang="en-US" sz="1100" b="1" dirty="0">
                <a:solidFill>
                  <a:srgbClr val="2DD4BF"/>
                </a:solidFill>
                <a:latin typeface="Segoe UI"/>
              </a:rPr>
              <a:t>FILTER</a:t>
            </a:r>
          </a:p>
        </p:txBody>
      </p:sp>
      <p:sp>
        <p:nvSpPr>
          <p:cNvPr id="103" name="Pipe 104"/>
          <p:cNvSpPr/>
          <p:nvPr/>
        </p:nvSpPr>
        <p:spPr>
          <a:xfrm>
            <a:off x="3178175" y="1536700"/>
            <a:ext cx="203200" cy="177800"/>
          </a:xfrm>
          <a:prstGeom prst="rightArrow">
            <a:avLst/>
          </a:prstGeom>
          <a:solidFill>
            <a:srgbClr val="475569"/>
          </a:solidFill>
          <a:ln>
            <a:noFill/>
          </a:ln>
        </p:spPr>
        <p:txBody>
          <a:bodyPr wrap="square" lIns="0" tIns="0" rIns="0" bIns="0" anchor="t">
            <a:noAutofit/>
          </a:bodyPr>
          <a:lstStyle/>
          <a:p>
            <a:endParaRPr lang="en-US"/>
          </a:p>
        </p:txBody>
      </p:sp>
      <p:sp>
        <p:nvSpPr>
          <p:cNvPr id="104" name="Pipe 105"/>
          <p:cNvSpPr/>
          <p:nvPr/>
        </p:nvSpPr>
        <p:spPr>
          <a:xfrm>
            <a:off x="635000" y="1803400"/>
            <a:ext cx="2479675" cy="838200"/>
          </a:xfrm>
          <a:prstGeom prst="roundRect">
            <a:avLst>
              <a:gd name="adj" fmla="val 8000"/>
            </a:avLst>
          </a:prstGeom>
          <a:solidFill>
            <a:srgbClr val="0F2A30"/>
          </a:solidFill>
          <a:ln w="12700">
            <a:solidFill>
              <a:srgbClr val="1F5F5A"/>
            </a:solidFill>
          </a:ln>
        </p:spPr>
        <p:txBody>
          <a:bodyPr wrap="square" lIns="152400" tIns="0" rIns="152400" bIns="0" anchor="ctr">
            <a:noAutofit/>
          </a:bodyPr>
          <a:lstStyle/>
          <a:p>
            <a:pPr algn="l"/>
            <a:r>
              <a:rPr lang="en-US" sz="1200" b="0" dirty="0">
                <a:solidFill>
                  <a:srgbClr val="E2E8F0"/>
                </a:solidFill>
                <a:latin typeface="Segoe UI"/>
              </a:rPr>
              <a:t>Keep only chunks tagged project = Atlas, type = HR policy</a:t>
            </a:r>
          </a:p>
        </p:txBody>
      </p:sp>
      <p:sp>
        <p:nvSpPr>
          <p:cNvPr id="105" name="Pipe 106"/>
          <p:cNvSpPr/>
          <p:nvPr/>
        </p:nvSpPr>
        <p:spPr>
          <a:xfrm>
            <a:off x="635000" y="2768600"/>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06" name="Pipe 107"/>
          <p:cNvSpPr/>
          <p:nvPr/>
        </p:nvSpPr>
        <p:spPr>
          <a:xfrm>
            <a:off x="787400" y="2895600"/>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Metadata Filtering</a:t>
            </a:r>
          </a:p>
        </p:txBody>
      </p:sp>
      <p:sp>
        <p:nvSpPr>
          <p:cNvPr id="107" name="Pipe 108"/>
          <p:cNvSpPr/>
          <p:nvPr/>
        </p:nvSpPr>
        <p:spPr>
          <a:xfrm>
            <a:off x="787400" y="3187700"/>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Narrow the search first — by project, date, document type</a:t>
            </a:r>
          </a:p>
        </p:txBody>
      </p:sp>
      <p:sp>
        <p:nvSpPr>
          <p:cNvPr id="108" name="Pipe 109"/>
          <p:cNvSpPr/>
          <p:nvPr/>
        </p:nvSpPr>
        <p:spPr>
          <a:xfrm>
            <a:off x="3444875" y="1397000"/>
            <a:ext cx="2479675" cy="38100"/>
          </a:xfrm>
          <a:prstGeom prst="rect">
            <a:avLst/>
          </a:prstGeom>
          <a:solidFill>
            <a:srgbClr val="2DD4BF"/>
          </a:solidFill>
          <a:ln>
            <a:noFill/>
          </a:ln>
        </p:spPr>
        <p:txBody>
          <a:bodyPr wrap="square" lIns="0" tIns="0" rIns="0" bIns="0" anchor="t">
            <a:noAutofit/>
          </a:bodyPr>
          <a:lstStyle/>
          <a:p>
            <a:endParaRPr lang="en-US"/>
          </a:p>
        </p:txBody>
      </p:sp>
      <p:sp>
        <p:nvSpPr>
          <p:cNvPr id="109" name="Pipe 110"/>
          <p:cNvSpPr/>
          <p:nvPr/>
        </p:nvSpPr>
        <p:spPr>
          <a:xfrm>
            <a:off x="3444875" y="1511300"/>
            <a:ext cx="2479675" cy="2286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02  </a:t>
            </a:r>
            <a:r>
              <a:rPr lang="en-US" sz="1100" b="1" dirty="0">
                <a:solidFill>
                  <a:srgbClr val="2DD4BF"/>
                </a:solidFill>
                <a:latin typeface="Segoe UI"/>
              </a:rPr>
              <a:t>SEARCH</a:t>
            </a:r>
          </a:p>
        </p:txBody>
      </p:sp>
      <p:sp>
        <p:nvSpPr>
          <p:cNvPr id="110" name="Pipe 111"/>
          <p:cNvSpPr/>
          <p:nvPr/>
        </p:nvSpPr>
        <p:spPr>
          <a:xfrm>
            <a:off x="5988050" y="1536700"/>
            <a:ext cx="203200" cy="177800"/>
          </a:xfrm>
          <a:prstGeom prst="rightArrow">
            <a:avLst/>
          </a:prstGeom>
          <a:solidFill>
            <a:srgbClr val="475569"/>
          </a:solidFill>
          <a:ln>
            <a:noFill/>
          </a:ln>
        </p:spPr>
        <p:txBody>
          <a:bodyPr wrap="square" lIns="0" tIns="0" rIns="0" bIns="0" anchor="t">
            <a:noAutofit/>
          </a:bodyPr>
          <a:lstStyle/>
          <a:p>
            <a:endParaRPr lang="en-US"/>
          </a:p>
        </p:txBody>
      </p:sp>
      <p:sp>
        <p:nvSpPr>
          <p:cNvPr id="111" name="Pipe 112"/>
          <p:cNvSpPr/>
          <p:nvPr/>
        </p:nvSpPr>
        <p:spPr>
          <a:xfrm>
            <a:off x="3444875" y="1803400"/>
            <a:ext cx="2479675" cy="838200"/>
          </a:xfrm>
          <a:prstGeom prst="roundRect">
            <a:avLst>
              <a:gd name="adj" fmla="val 8000"/>
            </a:avLst>
          </a:prstGeom>
          <a:solidFill>
            <a:srgbClr val="0F2A30"/>
          </a:solidFill>
          <a:ln w="12700">
            <a:solidFill>
              <a:srgbClr val="1F5F5A"/>
            </a:solidFill>
          </a:ln>
        </p:spPr>
        <p:txBody>
          <a:bodyPr wrap="square" lIns="152400" tIns="0" rIns="152400" bIns="0" anchor="ctr">
            <a:noAutofit/>
          </a:bodyPr>
          <a:lstStyle/>
          <a:p>
            <a:pPr algn="l"/>
            <a:r>
              <a:rPr lang="en-US" sz="1200" b="0" dirty="0">
                <a:solidFill>
                  <a:srgbClr val="E2E8F0"/>
                </a:solidFill>
                <a:latin typeface="Segoe UI"/>
              </a:rPr>
              <a:t>Vector search finds leave passages; full-text search matches “carry-over” exactly</a:t>
            </a:r>
          </a:p>
        </p:txBody>
      </p:sp>
      <p:sp>
        <p:nvSpPr>
          <p:cNvPr id="112" name="Pipe 113"/>
          <p:cNvSpPr/>
          <p:nvPr/>
        </p:nvSpPr>
        <p:spPr>
          <a:xfrm>
            <a:off x="3444875" y="2768600"/>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13" name="Pipe 114"/>
          <p:cNvSpPr/>
          <p:nvPr/>
        </p:nvSpPr>
        <p:spPr>
          <a:xfrm>
            <a:off x="3597275" y="2895600"/>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Similarity Search</a:t>
            </a:r>
          </a:p>
        </p:txBody>
      </p:sp>
      <p:sp>
        <p:nvSpPr>
          <p:cNvPr id="114" name="Pipe 115"/>
          <p:cNvSpPr/>
          <p:nvPr/>
        </p:nvSpPr>
        <p:spPr>
          <a:xfrm>
            <a:off x="3597275" y="3187700"/>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Rank all chunks by vector distance to the query</a:t>
            </a:r>
          </a:p>
        </p:txBody>
      </p:sp>
      <p:sp>
        <p:nvSpPr>
          <p:cNvPr id="115" name="Pipe 116"/>
          <p:cNvSpPr/>
          <p:nvPr/>
        </p:nvSpPr>
        <p:spPr>
          <a:xfrm>
            <a:off x="3444875" y="4004733"/>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16" name="Pipe 117"/>
          <p:cNvSpPr/>
          <p:nvPr/>
        </p:nvSpPr>
        <p:spPr>
          <a:xfrm>
            <a:off x="3597275" y="4131733"/>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Full-Text Search</a:t>
            </a:r>
          </a:p>
        </p:txBody>
      </p:sp>
      <p:sp>
        <p:nvSpPr>
          <p:cNvPr id="117" name="Pipe 118"/>
          <p:cNvSpPr/>
          <p:nvPr/>
        </p:nvSpPr>
        <p:spPr>
          <a:xfrm>
            <a:off x="3597275" y="4423833"/>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Keyword matching with relevance ranking — still wins for exact terms, codes, IDs</a:t>
            </a:r>
          </a:p>
        </p:txBody>
      </p:sp>
      <p:sp>
        <p:nvSpPr>
          <p:cNvPr id="118" name="Pipe 119"/>
          <p:cNvSpPr/>
          <p:nvPr/>
        </p:nvSpPr>
        <p:spPr>
          <a:xfrm>
            <a:off x="3444875" y="5240867"/>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19" name="Pipe 120"/>
          <p:cNvSpPr/>
          <p:nvPr/>
        </p:nvSpPr>
        <p:spPr>
          <a:xfrm>
            <a:off x="3597275" y="5367867"/>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Hybrid Search</a:t>
            </a:r>
          </a:p>
        </p:txBody>
      </p:sp>
      <p:sp>
        <p:nvSpPr>
          <p:cNvPr id="120" name="Pipe 121"/>
          <p:cNvSpPr/>
          <p:nvPr/>
        </p:nvSpPr>
        <p:spPr>
          <a:xfrm>
            <a:off x="3597275" y="5659967"/>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Combine vector (semantic) search with full-text keyword search</a:t>
            </a:r>
          </a:p>
        </p:txBody>
      </p:sp>
      <p:sp>
        <p:nvSpPr>
          <p:cNvPr id="121" name="Pipe 122"/>
          <p:cNvSpPr/>
          <p:nvPr/>
        </p:nvSpPr>
        <p:spPr>
          <a:xfrm>
            <a:off x="6254750" y="1397000"/>
            <a:ext cx="2479675" cy="38100"/>
          </a:xfrm>
          <a:prstGeom prst="rect">
            <a:avLst/>
          </a:prstGeom>
          <a:solidFill>
            <a:srgbClr val="2DD4BF"/>
          </a:solidFill>
          <a:ln>
            <a:noFill/>
          </a:ln>
        </p:spPr>
        <p:txBody>
          <a:bodyPr wrap="square" lIns="0" tIns="0" rIns="0" bIns="0" anchor="t">
            <a:noAutofit/>
          </a:bodyPr>
          <a:lstStyle/>
          <a:p>
            <a:endParaRPr lang="en-US"/>
          </a:p>
        </p:txBody>
      </p:sp>
      <p:sp>
        <p:nvSpPr>
          <p:cNvPr id="122" name="Pipe 123"/>
          <p:cNvSpPr/>
          <p:nvPr/>
        </p:nvSpPr>
        <p:spPr>
          <a:xfrm>
            <a:off x="6254750" y="1511300"/>
            <a:ext cx="2479675" cy="2286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03  </a:t>
            </a:r>
            <a:r>
              <a:rPr lang="en-US" sz="1100" b="1" dirty="0">
                <a:solidFill>
                  <a:srgbClr val="2DD4BF"/>
                </a:solidFill>
                <a:latin typeface="Segoe UI"/>
              </a:rPr>
              <a:t>SELECT</a:t>
            </a:r>
          </a:p>
        </p:txBody>
      </p:sp>
      <p:sp>
        <p:nvSpPr>
          <p:cNvPr id="123" name="Pipe 124"/>
          <p:cNvSpPr/>
          <p:nvPr/>
        </p:nvSpPr>
        <p:spPr>
          <a:xfrm>
            <a:off x="8797925" y="1536700"/>
            <a:ext cx="203200" cy="177800"/>
          </a:xfrm>
          <a:prstGeom prst="rightArrow">
            <a:avLst/>
          </a:prstGeom>
          <a:solidFill>
            <a:srgbClr val="475569"/>
          </a:solidFill>
          <a:ln>
            <a:noFill/>
          </a:ln>
        </p:spPr>
        <p:txBody>
          <a:bodyPr wrap="square" lIns="0" tIns="0" rIns="0" bIns="0" anchor="t">
            <a:noAutofit/>
          </a:bodyPr>
          <a:lstStyle/>
          <a:p>
            <a:endParaRPr lang="en-US"/>
          </a:p>
        </p:txBody>
      </p:sp>
      <p:sp>
        <p:nvSpPr>
          <p:cNvPr id="124" name="Pipe 125"/>
          <p:cNvSpPr/>
          <p:nvPr/>
        </p:nvSpPr>
        <p:spPr>
          <a:xfrm>
            <a:off x="6254750" y="1803400"/>
            <a:ext cx="2479675" cy="838200"/>
          </a:xfrm>
          <a:prstGeom prst="roundRect">
            <a:avLst>
              <a:gd name="adj" fmla="val 8000"/>
            </a:avLst>
          </a:prstGeom>
          <a:solidFill>
            <a:srgbClr val="0F2A30"/>
          </a:solidFill>
          <a:ln w="12700">
            <a:solidFill>
              <a:srgbClr val="1F5F5A"/>
            </a:solidFill>
          </a:ln>
        </p:spPr>
        <p:txBody>
          <a:bodyPr wrap="square" lIns="152400" tIns="0" rIns="152400" bIns="0" anchor="ctr">
            <a:noAutofit/>
          </a:bodyPr>
          <a:lstStyle/>
          <a:p>
            <a:pPr algn="l"/>
            <a:r>
              <a:rPr lang="en-US" sz="1200" b="0" dirty="0">
                <a:solidFill>
                  <a:srgbClr val="E2E8F0"/>
                </a:solidFill>
                <a:latin typeface="Segoe UI"/>
              </a:rPr>
              <a:t>Keep the top 5; MMR drops a second copy of the same policy</a:t>
            </a:r>
          </a:p>
        </p:txBody>
      </p:sp>
      <p:sp>
        <p:nvSpPr>
          <p:cNvPr id="125" name="Pipe 126"/>
          <p:cNvSpPr/>
          <p:nvPr/>
        </p:nvSpPr>
        <p:spPr>
          <a:xfrm>
            <a:off x="6254750" y="2768600"/>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26" name="Pipe 127"/>
          <p:cNvSpPr/>
          <p:nvPr/>
        </p:nvSpPr>
        <p:spPr>
          <a:xfrm>
            <a:off x="6407150" y="2895600"/>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Top-K</a:t>
            </a:r>
          </a:p>
        </p:txBody>
      </p:sp>
      <p:sp>
        <p:nvSpPr>
          <p:cNvPr id="127" name="Pipe 128"/>
          <p:cNvSpPr/>
          <p:nvPr/>
        </p:nvSpPr>
        <p:spPr>
          <a:xfrm>
            <a:off x="6407150" y="3187700"/>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Return only the K closest results — K is a tunable parameter</a:t>
            </a:r>
          </a:p>
        </p:txBody>
      </p:sp>
      <p:sp>
        <p:nvSpPr>
          <p:cNvPr id="128" name="Pipe 129"/>
          <p:cNvSpPr/>
          <p:nvPr/>
        </p:nvSpPr>
        <p:spPr>
          <a:xfrm>
            <a:off x="6254750" y="4004733"/>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29" name="Pipe 130"/>
          <p:cNvSpPr/>
          <p:nvPr/>
        </p:nvSpPr>
        <p:spPr>
          <a:xfrm>
            <a:off x="6407150" y="4131733"/>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MMR</a:t>
            </a:r>
          </a:p>
        </p:txBody>
      </p:sp>
      <p:sp>
        <p:nvSpPr>
          <p:cNvPr id="130" name="Pipe 131"/>
          <p:cNvSpPr/>
          <p:nvPr/>
        </p:nvSpPr>
        <p:spPr>
          <a:xfrm>
            <a:off x="6407150" y="4423833"/>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Maximal Marginal Relevance — reduces near-duplicate results, adds diversity</a:t>
            </a:r>
          </a:p>
        </p:txBody>
      </p:sp>
      <p:sp>
        <p:nvSpPr>
          <p:cNvPr id="131" name="Pipe 132"/>
          <p:cNvSpPr/>
          <p:nvPr/>
        </p:nvSpPr>
        <p:spPr>
          <a:xfrm>
            <a:off x="9064625" y="1397000"/>
            <a:ext cx="2479675" cy="38100"/>
          </a:xfrm>
          <a:prstGeom prst="rect">
            <a:avLst/>
          </a:prstGeom>
          <a:solidFill>
            <a:srgbClr val="2DD4BF"/>
          </a:solidFill>
          <a:ln>
            <a:noFill/>
          </a:ln>
        </p:spPr>
        <p:txBody>
          <a:bodyPr wrap="square" lIns="0" tIns="0" rIns="0" bIns="0" anchor="t">
            <a:noAutofit/>
          </a:bodyPr>
          <a:lstStyle/>
          <a:p>
            <a:endParaRPr lang="en-US"/>
          </a:p>
        </p:txBody>
      </p:sp>
      <p:sp>
        <p:nvSpPr>
          <p:cNvPr id="132" name="Pipe 133"/>
          <p:cNvSpPr/>
          <p:nvPr/>
        </p:nvSpPr>
        <p:spPr>
          <a:xfrm>
            <a:off x="9064625" y="1511300"/>
            <a:ext cx="2479675" cy="228600"/>
          </a:xfrm>
          <a:prstGeom prst="rect">
            <a:avLst/>
          </a:prstGeom>
          <a:noFill/>
          <a:ln>
            <a:noFill/>
          </a:ln>
        </p:spPr>
        <p:txBody>
          <a:bodyPr wrap="square" lIns="0" tIns="0" rIns="0" bIns="0" anchor="t">
            <a:noAutofit/>
          </a:bodyPr>
          <a:lstStyle/>
          <a:p>
            <a:pPr algn="l"/>
            <a:r>
              <a:rPr lang="en-US" sz="1100" b="1" dirty="0">
                <a:solidFill>
                  <a:srgbClr val="94A3B8"/>
                </a:solidFill>
                <a:latin typeface="Segoe UI"/>
              </a:rPr>
              <a:t>04  </a:t>
            </a:r>
            <a:r>
              <a:rPr lang="en-US" sz="1100" b="1" dirty="0">
                <a:solidFill>
                  <a:srgbClr val="2DD4BF"/>
                </a:solidFill>
                <a:latin typeface="Segoe UI"/>
              </a:rPr>
              <a:t>REFINE</a:t>
            </a:r>
          </a:p>
        </p:txBody>
      </p:sp>
      <p:sp>
        <p:nvSpPr>
          <p:cNvPr id="133" name="Pipe 134"/>
          <p:cNvSpPr/>
          <p:nvPr/>
        </p:nvSpPr>
        <p:spPr>
          <a:xfrm>
            <a:off x="9064625" y="1803400"/>
            <a:ext cx="2479675" cy="838200"/>
          </a:xfrm>
          <a:prstGeom prst="roundRect">
            <a:avLst>
              <a:gd name="adj" fmla="val 8000"/>
            </a:avLst>
          </a:prstGeom>
          <a:solidFill>
            <a:srgbClr val="0F2A30"/>
          </a:solidFill>
          <a:ln w="12700">
            <a:solidFill>
              <a:srgbClr val="1F5F5A"/>
            </a:solidFill>
          </a:ln>
        </p:spPr>
        <p:txBody>
          <a:bodyPr wrap="square" lIns="152400" tIns="0" rIns="152400" bIns="0" anchor="ctr">
            <a:noAutofit/>
          </a:bodyPr>
          <a:lstStyle/>
          <a:p>
            <a:pPr algn="l"/>
            <a:r>
              <a:rPr lang="en-US" sz="1200" b="0" dirty="0">
                <a:solidFill>
                  <a:srgbClr val="E2E8F0"/>
                </a:solidFill>
                <a:latin typeface="Segoe UI"/>
              </a:rPr>
              <a:t>Re-ranker moves the carry-over paragraph to position 1</a:t>
            </a:r>
          </a:p>
        </p:txBody>
      </p:sp>
      <p:sp>
        <p:nvSpPr>
          <p:cNvPr id="134" name="Pipe 135"/>
          <p:cNvSpPr/>
          <p:nvPr/>
        </p:nvSpPr>
        <p:spPr>
          <a:xfrm>
            <a:off x="9064625" y="2768600"/>
            <a:ext cx="2479675" cy="1134533"/>
          </a:xfrm>
          <a:prstGeom prst="roundRect">
            <a:avLst>
              <a:gd name="adj" fmla="val 7000"/>
            </a:avLst>
          </a:prstGeom>
          <a:solidFill>
            <a:srgbClr val="131C31"/>
          </a:solidFill>
          <a:ln w="12700">
            <a:solidFill>
              <a:srgbClr val="243049"/>
            </a:solidFill>
          </a:ln>
        </p:spPr>
        <p:txBody>
          <a:bodyPr wrap="square" lIns="0" tIns="0" rIns="0" bIns="0" anchor="t">
            <a:noAutofit/>
          </a:bodyPr>
          <a:lstStyle/>
          <a:p>
            <a:endParaRPr lang="en-US"/>
          </a:p>
        </p:txBody>
      </p:sp>
      <p:sp>
        <p:nvSpPr>
          <p:cNvPr id="135" name="Pipe 136"/>
          <p:cNvSpPr/>
          <p:nvPr/>
        </p:nvSpPr>
        <p:spPr>
          <a:xfrm>
            <a:off x="9217025" y="2895600"/>
            <a:ext cx="2174875" cy="254000"/>
          </a:xfrm>
          <a:prstGeom prst="rect">
            <a:avLst/>
          </a:prstGeom>
          <a:noFill/>
          <a:ln>
            <a:noFill/>
          </a:ln>
        </p:spPr>
        <p:txBody>
          <a:bodyPr wrap="square" lIns="0" tIns="0" rIns="0" bIns="0" anchor="t">
            <a:noAutofit/>
          </a:bodyPr>
          <a:lstStyle/>
          <a:p>
            <a:pPr algn="l"/>
            <a:r>
              <a:rPr lang="en-US" sz="1400" b="1" dirty="0">
                <a:solidFill>
                  <a:srgbClr val="F1F5F9"/>
                </a:solidFill>
                <a:latin typeface="Segoe UI"/>
              </a:rPr>
              <a:t>Re-ranking</a:t>
            </a:r>
          </a:p>
        </p:txBody>
      </p:sp>
      <p:sp>
        <p:nvSpPr>
          <p:cNvPr id="136" name="Pipe 137"/>
          <p:cNvSpPr/>
          <p:nvPr/>
        </p:nvSpPr>
        <p:spPr>
          <a:xfrm>
            <a:off x="9217025" y="3187700"/>
            <a:ext cx="2174875" cy="651933"/>
          </a:xfrm>
          <a:prstGeom prst="rect">
            <a:avLst/>
          </a:prstGeom>
          <a:noFill/>
          <a:ln>
            <a:noFill/>
          </a:ln>
        </p:spPr>
        <p:txBody>
          <a:bodyPr wrap="square" lIns="0" tIns="0" rIns="0" bIns="0" anchor="t">
            <a:noAutofit/>
          </a:bodyPr>
          <a:lstStyle/>
          <a:p>
            <a:pPr algn="l"/>
            <a:r>
              <a:rPr lang="en-US" sz="1200" b="0" dirty="0">
                <a:solidFill>
                  <a:srgbClr val="B8C2D3"/>
                </a:solidFill>
                <a:latin typeface="Segoe UI"/>
              </a:rPr>
              <a:t>A second-pass model re-scores the initial results for better ordering</a:t>
            </a:r>
          </a:p>
        </p:txBody>
      </p:sp>
      <p:sp>
        <p:nvSpPr>
          <p:cNvPr id="34" name="TextBox 3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5" name="TextBox 3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27</a:t>
            </a:r>
          </a:p>
        </p:txBody>
      </p:sp>
    </p:spTree>
    <p:extLst>
      <p:ext uri="{BB962C8B-B14F-4D97-AF65-F5344CB8AC3E}">
        <p14:creationId xmlns:p14="http://schemas.microsoft.com/office/powerpoint/2010/main" val="2131067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RETRIEVAL</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A production retrieval flow</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Flow 101"/>
          <p:cNvSpPr/>
          <p:nvPr/>
        </p:nvSpPr>
        <p:spPr>
          <a:xfrm>
            <a:off x="635000" y="1473200"/>
            <a:ext cx="1362529" cy="1574800"/>
          </a:xfrm>
          <a:prstGeom prst="roundRect">
            <a:avLst>
              <a:gd name="adj" fmla="val 8000"/>
            </a:avLst>
          </a:prstGeom>
          <a:solidFill>
            <a:srgbClr val="131C31"/>
          </a:solidFill>
          <a:ln w="12700">
            <a:solidFill>
              <a:srgbClr val="243049"/>
            </a:solidFill>
          </a:ln>
        </p:spPr>
        <p:txBody>
          <a:bodyPr wrap="square" lIns="76200" tIns="0" rIns="76200" bIns="0" anchor="ctr">
            <a:noAutofit/>
          </a:bodyPr>
          <a:lstStyle/>
          <a:p>
            <a:pPr algn="ctr"/>
            <a:r>
              <a:rPr lang="en-US" sz="1000" b="1" dirty="0">
                <a:solidFill>
                  <a:srgbClr val="94A3B8"/>
                </a:solidFill>
                <a:latin typeface="Segoe UI"/>
              </a:rPr>
              <a:t>01</a:t>
            </a:r>
          </a:p>
          <a:p>
            <a:pPr algn="ctr">
              <a:spcBef>
                <a:spcPts val="500"/>
              </a:spcBef>
            </a:pPr>
            <a:r>
              <a:rPr lang="en-US" sz="1300" b="1" dirty="0">
                <a:solidFill>
                  <a:srgbClr val="F1F5F9"/>
                </a:solidFill>
                <a:latin typeface="Segoe UI"/>
              </a:rPr>
              <a:t>User Query</a:t>
            </a:r>
          </a:p>
        </p:txBody>
      </p:sp>
      <p:sp>
        <p:nvSpPr>
          <p:cNvPr id="101" name="Flow 102"/>
          <p:cNvSpPr/>
          <p:nvPr/>
        </p:nvSpPr>
        <p:spPr>
          <a:xfrm>
            <a:off x="2048329"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02" name="Flow 103"/>
          <p:cNvSpPr/>
          <p:nvPr/>
        </p:nvSpPr>
        <p:spPr>
          <a:xfrm>
            <a:off x="2226129" y="1473200"/>
            <a:ext cx="1362529" cy="1574800"/>
          </a:xfrm>
          <a:prstGeom prst="roundRect">
            <a:avLst>
              <a:gd name="adj" fmla="val 8000"/>
            </a:avLst>
          </a:prstGeom>
          <a:solidFill>
            <a:srgbClr val="131C31"/>
          </a:solidFill>
          <a:ln w="12700">
            <a:solidFill>
              <a:srgbClr val="243049"/>
            </a:solidFill>
          </a:ln>
        </p:spPr>
        <p:txBody>
          <a:bodyPr wrap="square" lIns="76200" tIns="0" rIns="76200" bIns="0" anchor="ctr">
            <a:noAutofit/>
          </a:bodyPr>
          <a:lstStyle/>
          <a:p>
            <a:pPr algn="ctr"/>
            <a:r>
              <a:rPr lang="en-US" sz="1000" b="1" dirty="0">
                <a:solidFill>
                  <a:srgbClr val="94A3B8"/>
                </a:solidFill>
                <a:latin typeface="Segoe UI"/>
              </a:rPr>
              <a:t>02</a:t>
            </a:r>
          </a:p>
          <a:p>
            <a:pPr algn="ctr">
              <a:spcBef>
                <a:spcPts val="500"/>
              </a:spcBef>
            </a:pPr>
            <a:r>
              <a:rPr lang="en-US" sz="1300" b="1" dirty="0">
                <a:solidFill>
                  <a:srgbClr val="F1F5F9"/>
                </a:solidFill>
                <a:latin typeface="Segoe UI"/>
              </a:rPr>
              <a:t>Query</a:t>
            </a:r>
          </a:p>
          <a:p>
            <a:pPr algn="ctr">
              <a:spcBef>
                <a:spcPts val="200"/>
              </a:spcBef>
            </a:pPr>
            <a:r>
              <a:rPr lang="en-US" sz="1100" b="0" dirty="0">
                <a:solidFill>
                  <a:srgbClr val="B8C2D3"/>
                </a:solidFill>
                <a:latin typeface="Segoe UI"/>
              </a:rPr>
              <a:t>Processing</a:t>
            </a:r>
          </a:p>
        </p:txBody>
      </p:sp>
      <p:sp>
        <p:nvSpPr>
          <p:cNvPr id="103" name="Flow 104"/>
          <p:cNvSpPr/>
          <p:nvPr/>
        </p:nvSpPr>
        <p:spPr>
          <a:xfrm>
            <a:off x="3639457"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04" name="Flow 105"/>
          <p:cNvSpPr/>
          <p:nvPr/>
        </p:nvSpPr>
        <p:spPr>
          <a:xfrm>
            <a:off x="3817257" y="1473200"/>
            <a:ext cx="1362529" cy="1574800"/>
          </a:xfrm>
          <a:prstGeom prst="roundRect">
            <a:avLst>
              <a:gd name="adj" fmla="val 8000"/>
            </a:avLst>
          </a:prstGeom>
          <a:solidFill>
            <a:srgbClr val="0F2A30"/>
          </a:solidFill>
          <a:ln w="19050">
            <a:solidFill>
              <a:srgbClr val="2DD4BF"/>
            </a:solidFill>
          </a:ln>
        </p:spPr>
        <p:txBody>
          <a:bodyPr wrap="square" lIns="76200" tIns="0" rIns="76200" bIns="0" anchor="ctr">
            <a:noAutofit/>
          </a:bodyPr>
          <a:lstStyle/>
          <a:p>
            <a:pPr algn="ctr"/>
            <a:r>
              <a:rPr lang="en-US" sz="1000" b="1" dirty="0">
                <a:solidFill>
                  <a:srgbClr val="2DD4BF"/>
                </a:solidFill>
                <a:latin typeface="Segoe UI"/>
              </a:rPr>
              <a:t>03</a:t>
            </a:r>
          </a:p>
          <a:p>
            <a:pPr algn="ctr">
              <a:spcBef>
                <a:spcPts val="500"/>
              </a:spcBef>
            </a:pPr>
            <a:r>
              <a:rPr lang="en-US" sz="1300" b="1" dirty="0">
                <a:solidFill>
                  <a:srgbClr val="F1F5F9"/>
                </a:solidFill>
                <a:latin typeface="Segoe UI"/>
              </a:rPr>
              <a:t>Hybrid Search</a:t>
            </a:r>
          </a:p>
          <a:p>
            <a:pPr algn="ctr">
              <a:spcBef>
                <a:spcPts val="200"/>
              </a:spcBef>
            </a:pPr>
            <a:r>
              <a:rPr lang="en-US" sz="1100" b="0" dirty="0">
                <a:solidFill>
                  <a:srgbClr val="B8C2D3"/>
                </a:solidFill>
                <a:latin typeface="Segoe UI"/>
              </a:rPr>
              <a:t>Vector + full-text</a:t>
            </a:r>
          </a:p>
        </p:txBody>
      </p:sp>
      <p:sp>
        <p:nvSpPr>
          <p:cNvPr id="105" name="Flow 106"/>
          <p:cNvSpPr/>
          <p:nvPr/>
        </p:nvSpPr>
        <p:spPr>
          <a:xfrm>
            <a:off x="5230586"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06" name="Flow 107"/>
          <p:cNvSpPr/>
          <p:nvPr/>
        </p:nvSpPr>
        <p:spPr>
          <a:xfrm>
            <a:off x="5408386" y="1473200"/>
            <a:ext cx="1362529" cy="1574800"/>
          </a:xfrm>
          <a:prstGeom prst="roundRect">
            <a:avLst>
              <a:gd name="adj" fmla="val 8000"/>
            </a:avLst>
          </a:prstGeom>
          <a:solidFill>
            <a:srgbClr val="0F2A30"/>
          </a:solidFill>
          <a:ln w="19050">
            <a:solidFill>
              <a:srgbClr val="2DD4BF"/>
            </a:solidFill>
          </a:ln>
        </p:spPr>
        <p:txBody>
          <a:bodyPr wrap="square" lIns="76200" tIns="0" rIns="76200" bIns="0" anchor="ctr">
            <a:noAutofit/>
          </a:bodyPr>
          <a:lstStyle/>
          <a:p>
            <a:pPr algn="ctr"/>
            <a:r>
              <a:rPr lang="en-US" sz="1000" b="1" dirty="0">
                <a:solidFill>
                  <a:srgbClr val="2DD4BF"/>
                </a:solidFill>
                <a:latin typeface="Segoe UI"/>
              </a:rPr>
              <a:t>04</a:t>
            </a:r>
          </a:p>
          <a:p>
            <a:pPr algn="ctr">
              <a:spcBef>
                <a:spcPts val="500"/>
              </a:spcBef>
            </a:pPr>
            <a:r>
              <a:rPr lang="en-US" sz="1300" b="1" dirty="0">
                <a:solidFill>
                  <a:srgbClr val="F1F5F9"/>
                </a:solidFill>
                <a:latin typeface="Segoe UI"/>
              </a:rPr>
              <a:t>RRF Fusion</a:t>
            </a:r>
          </a:p>
          <a:p>
            <a:pPr algn="ctr">
              <a:spcBef>
                <a:spcPts val="200"/>
              </a:spcBef>
            </a:pPr>
            <a:r>
              <a:rPr lang="en-US" sz="1100" b="0" dirty="0">
                <a:solidFill>
                  <a:srgbClr val="B8C2D3"/>
                </a:solidFill>
                <a:latin typeface="Segoe UI"/>
              </a:rPr>
              <a:t>Merge rankings</a:t>
            </a:r>
          </a:p>
        </p:txBody>
      </p:sp>
      <p:sp>
        <p:nvSpPr>
          <p:cNvPr id="107" name="Flow 108"/>
          <p:cNvSpPr/>
          <p:nvPr/>
        </p:nvSpPr>
        <p:spPr>
          <a:xfrm>
            <a:off x="6821714"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08" name="Flow 109"/>
          <p:cNvSpPr/>
          <p:nvPr/>
        </p:nvSpPr>
        <p:spPr>
          <a:xfrm>
            <a:off x="6999514" y="1473200"/>
            <a:ext cx="1362529" cy="1574800"/>
          </a:xfrm>
          <a:prstGeom prst="roundRect">
            <a:avLst>
              <a:gd name="adj" fmla="val 8000"/>
            </a:avLst>
          </a:prstGeom>
          <a:solidFill>
            <a:srgbClr val="0F2A30"/>
          </a:solidFill>
          <a:ln w="19050">
            <a:solidFill>
              <a:srgbClr val="2DD4BF"/>
            </a:solidFill>
          </a:ln>
        </p:spPr>
        <p:txBody>
          <a:bodyPr wrap="square" lIns="76200" tIns="0" rIns="76200" bIns="0" anchor="ctr">
            <a:noAutofit/>
          </a:bodyPr>
          <a:lstStyle/>
          <a:p>
            <a:pPr algn="ctr"/>
            <a:r>
              <a:rPr lang="en-US" sz="1000" b="1" dirty="0">
                <a:solidFill>
                  <a:srgbClr val="2DD4BF"/>
                </a:solidFill>
                <a:latin typeface="Segoe UI"/>
              </a:rPr>
              <a:t>05</a:t>
            </a:r>
          </a:p>
          <a:p>
            <a:pPr algn="ctr">
              <a:spcBef>
                <a:spcPts val="500"/>
              </a:spcBef>
            </a:pPr>
            <a:r>
              <a:rPr lang="en-US" sz="1300" b="1" dirty="0">
                <a:solidFill>
                  <a:srgbClr val="F1F5F9"/>
                </a:solidFill>
                <a:latin typeface="Segoe UI"/>
              </a:rPr>
              <a:t>Cohere</a:t>
            </a:r>
          </a:p>
          <a:p>
            <a:pPr algn="ctr">
              <a:spcBef>
                <a:spcPts val="200"/>
              </a:spcBef>
            </a:pPr>
            <a:r>
              <a:rPr lang="en-US" sz="1100" b="0" dirty="0">
                <a:solidFill>
                  <a:srgbClr val="B8C2D3"/>
                </a:solidFill>
                <a:latin typeface="Segoe UI"/>
              </a:rPr>
              <a:t>Reranking</a:t>
            </a:r>
          </a:p>
        </p:txBody>
      </p:sp>
      <p:sp>
        <p:nvSpPr>
          <p:cNvPr id="109" name="Flow 110"/>
          <p:cNvSpPr/>
          <p:nvPr/>
        </p:nvSpPr>
        <p:spPr>
          <a:xfrm>
            <a:off x="8412843"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10" name="Flow 111"/>
          <p:cNvSpPr/>
          <p:nvPr/>
        </p:nvSpPr>
        <p:spPr>
          <a:xfrm>
            <a:off x="8590643" y="1473200"/>
            <a:ext cx="1362529" cy="1574800"/>
          </a:xfrm>
          <a:prstGeom prst="roundRect">
            <a:avLst>
              <a:gd name="adj" fmla="val 8000"/>
            </a:avLst>
          </a:prstGeom>
          <a:solidFill>
            <a:srgbClr val="131C31"/>
          </a:solidFill>
          <a:ln w="12700">
            <a:solidFill>
              <a:srgbClr val="243049"/>
            </a:solidFill>
          </a:ln>
        </p:spPr>
        <p:txBody>
          <a:bodyPr wrap="square" lIns="76200" tIns="0" rIns="76200" bIns="0" anchor="ctr">
            <a:noAutofit/>
          </a:bodyPr>
          <a:lstStyle/>
          <a:p>
            <a:pPr algn="ctr"/>
            <a:r>
              <a:rPr lang="en-US" sz="1000" b="1" dirty="0">
                <a:solidFill>
                  <a:srgbClr val="94A3B8"/>
                </a:solidFill>
                <a:latin typeface="Segoe UI"/>
              </a:rPr>
              <a:t>06</a:t>
            </a:r>
          </a:p>
          <a:p>
            <a:pPr algn="ctr">
              <a:spcBef>
                <a:spcPts val="500"/>
              </a:spcBef>
            </a:pPr>
            <a:r>
              <a:rPr lang="en-US" sz="1300" b="1" dirty="0">
                <a:solidFill>
                  <a:srgbClr val="F1F5F9"/>
                </a:solidFill>
                <a:latin typeface="Segoe UI"/>
              </a:rPr>
              <a:t>Final Context</a:t>
            </a:r>
          </a:p>
          <a:p>
            <a:pPr algn="ctr">
              <a:spcBef>
                <a:spcPts val="200"/>
              </a:spcBef>
            </a:pPr>
            <a:r>
              <a:rPr lang="en-US" sz="1100" b="0" dirty="0">
                <a:solidFill>
                  <a:srgbClr val="B8C2D3"/>
                </a:solidFill>
                <a:latin typeface="Segoe UI"/>
              </a:rPr>
              <a:t>Top-K</a:t>
            </a:r>
          </a:p>
        </p:txBody>
      </p:sp>
      <p:sp>
        <p:nvSpPr>
          <p:cNvPr id="111" name="Flow 112"/>
          <p:cNvSpPr/>
          <p:nvPr/>
        </p:nvSpPr>
        <p:spPr>
          <a:xfrm>
            <a:off x="10003971" y="2184400"/>
            <a:ext cx="127000" cy="152400"/>
          </a:xfrm>
          <a:prstGeom prst="rightArrow">
            <a:avLst/>
          </a:prstGeom>
          <a:solidFill>
            <a:srgbClr val="475569"/>
          </a:solidFill>
          <a:ln>
            <a:noFill/>
          </a:ln>
        </p:spPr>
        <p:txBody>
          <a:bodyPr wrap="square" lIns="0" tIns="0" rIns="0" bIns="0" anchor="t">
            <a:noAutofit/>
          </a:bodyPr>
          <a:lstStyle/>
          <a:p>
            <a:endParaRPr lang="en-US"/>
          </a:p>
        </p:txBody>
      </p:sp>
      <p:sp>
        <p:nvSpPr>
          <p:cNvPr id="112" name="Flow 113"/>
          <p:cNvSpPr/>
          <p:nvPr/>
        </p:nvSpPr>
        <p:spPr>
          <a:xfrm>
            <a:off x="10181771" y="1473200"/>
            <a:ext cx="1362529" cy="1574800"/>
          </a:xfrm>
          <a:prstGeom prst="roundRect">
            <a:avLst>
              <a:gd name="adj" fmla="val 8000"/>
            </a:avLst>
          </a:prstGeom>
          <a:solidFill>
            <a:srgbClr val="131C31"/>
          </a:solidFill>
          <a:ln w="12700">
            <a:solidFill>
              <a:srgbClr val="243049"/>
            </a:solidFill>
          </a:ln>
        </p:spPr>
        <p:txBody>
          <a:bodyPr wrap="square" lIns="76200" tIns="0" rIns="76200" bIns="0" anchor="ctr">
            <a:noAutofit/>
          </a:bodyPr>
          <a:lstStyle/>
          <a:p>
            <a:pPr algn="ctr"/>
            <a:r>
              <a:rPr lang="en-US" sz="1000" b="1" dirty="0">
                <a:solidFill>
                  <a:srgbClr val="94A3B8"/>
                </a:solidFill>
                <a:latin typeface="Segoe UI"/>
              </a:rPr>
              <a:t>07</a:t>
            </a:r>
          </a:p>
          <a:p>
            <a:pPr algn="ctr">
              <a:spcBef>
                <a:spcPts val="500"/>
              </a:spcBef>
            </a:pPr>
            <a:r>
              <a:rPr lang="en-US" sz="1300" b="1" dirty="0">
                <a:solidFill>
                  <a:srgbClr val="F1F5F9"/>
                </a:solidFill>
                <a:latin typeface="Segoe UI"/>
              </a:rPr>
              <a:t>LLM</a:t>
            </a:r>
          </a:p>
          <a:p>
            <a:pPr algn="ctr">
              <a:spcBef>
                <a:spcPts val="200"/>
              </a:spcBef>
            </a:pPr>
            <a:r>
              <a:rPr lang="en-US" sz="1100" b="0" dirty="0">
                <a:solidFill>
                  <a:srgbClr val="B8C2D3"/>
                </a:solidFill>
                <a:latin typeface="Segoe UI"/>
              </a:rPr>
              <a:t>Answer</a:t>
            </a:r>
          </a:p>
        </p:txBody>
      </p:sp>
      <p:sp>
        <p:nvSpPr>
          <p:cNvPr id="113" name="Flow 114"/>
          <p:cNvSpPr/>
          <p:nvPr/>
        </p:nvSpPr>
        <p:spPr>
          <a:xfrm>
            <a:off x="3817257" y="3175000"/>
            <a:ext cx="127" cy="101600"/>
          </a:xfrm>
          <a:prstGeom prst="line">
            <a:avLst/>
          </a:prstGeom>
          <a:noFill/>
          <a:ln w="12700">
            <a:solidFill>
              <a:srgbClr val="2DD4BF"/>
            </a:solidFill>
          </a:ln>
        </p:spPr>
        <p:txBody>
          <a:bodyPr wrap="square" lIns="0" tIns="0" rIns="0" bIns="0" anchor="t">
            <a:noAutofit/>
          </a:bodyPr>
          <a:lstStyle/>
          <a:p>
            <a:endParaRPr lang="en-US"/>
          </a:p>
        </p:txBody>
      </p:sp>
      <p:sp>
        <p:nvSpPr>
          <p:cNvPr id="114" name="Flow 115"/>
          <p:cNvSpPr/>
          <p:nvPr/>
        </p:nvSpPr>
        <p:spPr>
          <a:xfrm>
            <a:off x="6770914" y="3175000"/>
            <a:ext cx="127" cy="101600"/>
          </a:xfrm>
          <a:prstGeom prst="line">
            <a:avLst/>
          </a:prstGeom>
          <a:noFill/>
          <a:ln w="12700">
            <a:solidFill>
              <a:srgbClr val="2DD4BF"/>
            </a:solidFill>
          </a:ln>
        </p:spPr>
        <p:txBody>
          <a:bodyPr wrap="square" lIns="0" tIns="0" rIns="0" bIns="0" anchor="t">
            <a:noAutofit/>
          </a:bodyPr>
          <a:lstStyle/>
          <a:p>
            <a:endParaRPr lang="en-US"/>
          </a:p>
        </p:txBody>
      </p:sp>
      <p:sp>
        <p:nvSpPr>
          <p:cNvPr id="115" name="Flow 116"/>
          <p:cNvSpPr/>
          <p:nvPr/>
        </p:nvSpPr>
        <p:spPr>
          <a:xfrm>
            <a:off x="3817257" y="3276600"/>
            <a:ext cx="2953657" cy="127"/>
          </a:xfrm>
          <a:prstGeom prst="line">
            <a:avLst/>
          </a:prstGeom>
          <a:noFill/>
          <a:ln w="12700">
            <a:solidFill>
              <a:srgbClr val="2DD4BF"/>
            </a:solidFill>
          </a:ln>
        </p:spPr>
        <p:txBody>
          <a:bodyPr wrap="square" lIns="0" tIns="0" rIns="0" bIns="0" anchor="t">
            <a:noAutofit/>
          </a:bodyPr>
          <a:lstStyle/>
          <a:p>
            <a:endParaRPr lang="en-US"/>
          </a:p>
        </p:txBody>
      </p:sp>
      <p:sp>
        <p:nvSpPr>
          <p:cNvPr id="116" name="Flow 117"/>
          <p:cNvSpPr/>
          <p:nvPr/>
        </p:nvSpPr>
        <p:spPr>
          <a:xfrm>
            <a:off x="3817257" y="3327400"/>
            <a:ext cx="2953657" cy="203200"/>
          </a:xfrm>
          <a:prstGeom prst="rect">
            <a:avLst/>
          </a:prstGeom>
          <a:noFill/>
          <a:ln>
            <a:noFill/>
          </a:ln>
        </p:spPr>
        <p:txBody>
          <a:bodyPr wrap="square" lIns="0" tIns="0" rIns="0" bIns="0" anchor="t">
            <a:noAutofit/>
          </a:bodyPr>
          <a:lstStyle/>
          <a:p>
            <a:pPr algn="ctr"/>
            <a:r>
              <a:rPr lang="en-US" sz="1000" b="1" dirty="0">
                <a:solidFill>
                  <a:srgbClr val="2DD4BF"/>
                </a:solidFill>
                <a:latin typeface="Segoe UI"/>
              </a:rPr>
              <a:t>RETRIEVE + MERGE</a:t>
            </a:r>
          </a:p>
        </p:txBody>
      </p:sp>
      <p:sp>
        <p:nvSpPr>
          <p:cNvPr id="117" name="Flow 118"/>
          <p:cNvSpPr/>
          <p:nvPr/>
        </p:nvSpPr>
        <p:spPr>
          <a:xfrm>
            <a:off x="6999514" y="3175000"/>
            <a:ext cx="127" cy="101600"/>
          </a:xfrm>
          <a:prstGeom prst="line">
            <a:avLst/>
          </a:prstGeom>
          <a:noFill/>
          <a:ln w="12700">
            <a:solidFill>
              <a:srgbClr val="2DD4BF"/>
            </a:solidFill>
          </a:ln>
        </p:spPr>
        <p:txBody>
          <a:bodyPr wrap="square" lIns="0" tIns="0" rIns="0" bIns="0" anchor="t">
            <a:noAutofit/>
          </a:bodyPr>
          <a:lstStyle/>
          <a:p>
            <a:endParaRPr lang="en-US"/>
          </a:p>
        </p:txBody>
      </p:sp>
      <p:sp>
        <p:nvSpPr>
          <p:cNvPr id="118" name="Flow 119"/>
          <p:cNvSpPr/>
          <p:nvPr/>
        </p:nvSpPr>
        <p:spPr>
          <a:xfrm>
            <a:off x="8362043" y="3175000"/>
            <a:ext cx="127" cy="101600"/>
          </a:xfrm>
          <a:prstGeom prst="line">
            <a:avLst/>
          </a:prstGeom>
          <a:noFill/>
          <a:ln w="12700">
            <a:solidFill>
              <a:srgbClr val="2DD4BF"/>
            </a:solidFill>
          </a:ln>
        </p:spPr>
        <p:txBody>
          <a:bodyPr wrap="square" lIns="0" tIns="0" rIns="0" bIns="0" anchor="t">
            <a:noAutofit/>
          </a:bodyPr>
          <a:lstStyle/>
          <a:p>
            <a:endParaRPr lang="en-US"/>
          </a:p>
        </p:txBody>
      </p:sp>
      <p:sp>
        <p:nvSpPr>
          <p:cNvPr id="119" name="Flow 120"/>
          <p:cNvSpPr/>
          <p:nvPr/>
        </p:nvSpPr>
        <p:spPr>
          <a:xfrm>
            <a:off x="6999514" y="3276600"/>
            <a:ext cx="1362529" cy="127"/>
          </a:xfrm>
          <a:prstGeom prst="line">
            <a:avLst/>
          </a:prstGeom>
          <a:noFill/>
          <a:ln w="12700">
            <a:solidFill>
              <a:srgbClr val="2DD4BF"/>
            </a:solidFill>
          </a:ln>
        </p:spPr>
        <p:txBody>
          <a:bodyPr wrap="square" lIns="0" tIns="0" rIns="0" bIns="0" anchor="t">
            <a:noAutofit/>
          </a:bodyPr>
          <a:lstStyle/>
          <a:p>
            <a:endParaRPr lang="en-US"/>
          </a:p>
        </p:txBody>
      </p:sp>
      <p:sp>
        <p:nvSpPr>
          <p:cNvPr id="120" name="Flow 121"/>
          <p:cNvSpPr/>
          <p:nvPr/>
        </p:nvSpPr>
        <p:spPr>
          <a:xfrm>
            <a:off x="6999514" y="3327400"/>
            <a:ext cx="1362529" cy="203200"/>
          </a:xfrm>
          <a:prstGeom prst="rect">
            <a:avLst/>
          </a:prstGeom>
          <a:noFill/>
          <a:ln>
            <a:noFill/>
          </a:ln>
        </p:spPr>
        <p:txBody>
          <a:bodyPr wrap="square" lIns="0" tIns="0" rIns="0" bIns="0" anchor="t">
            <a:noAutofit/>
          </a:bodyPr>
          <a:lstStyle/>
          <a:p>
            <a:pPr algn="ctr"/>
            <a:r>
              <a:rPr lang="en-US" sz="1000" b="1" dirty="0">
                <a:solidFill>
                  <a:srgbClr val="2DD4BF"/>
                </a:solidFill>
                <a:latin typeface="Segoe UI"/>
              </a:rPr>
              <a:t>RERANK</a:t>
            </a:r>
          </a:p>
        </p:txBody>
      </p:sp>
      <p:sp>
        <p:nvSpPr>
          <p:cNvPr id="121" name="Flow 122"/>
          <p:cNvSpPr/>
          <p:nvPr/>
        </p:nvSpPr>
        <p:spPr>
          <a:xfrm>
            <a:off x="635000" y="3708400"/>
            <a:ext cx="3500967" cy="2616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22" name="Flow 123"/>
          <p:cNvSpPr/>
          <p:nvPr/>
        </p:nvSpPr>
        <p:spPr>
          <a:xfrm>
            <a:off x="635000" y="3708400"/>
            <a:ext cx="3500967" cy="38100"/>
          </a:xfrm>
          <a:prstGeom prst="rect">
            <a:avLst/>
          </a:prstGeom>
          <a:solidFill>
            <a:srgbClr val="2DD4BF"/>
          </a:solidFill>
          <a:ln>
            <a:noFill/>
          </a:ln>
        </p:spPr>
        <p:txBody>
          <a:bodyPr wrap="square" lIns="0" tIns="0" rIns="0" bIns="0" anchor="t">
            <a:noAutofit/>
          </a:bodyPr>
          <a:lstStyle/>
          <a:p>
            <a:endParaRPr lang="en-US"/>
          </a:p>
        </p:txBody>
      </p:sp>
      <p:sp>
        <p:nvSpPr>
          <p:cNvPr id="123" name="Flow 124"/>
          <p:cNvSpPr/>
          <p:nvPr/>
        </p:nvSpPr>
        <p:spPr>
          <a:xfrm>
            <a:off x="863600" y="3962400"/>
            <a:ext cx="3043767"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STAGES 03–04</a:t>
            </a:r>
          </a:p>
        </p:txBody>
      </p:sp>
      <p:sp>
        <p:nvSpPr>
          <p:cNvPr id="124" name="Flow 125"/>
          <p:cNvSpPr/>
          <p:nvPr/>
        </p:nvSpPr>
        <p:spPr>
          <a:xfrm>
            <a:off x="863600" y="4241800"/>
            <a:ext cx="3043767" cy="6350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Hybrid search + RRF fusion</a:t>
            </a:r>
          </a:p>
        </p:txBody>
      </p:sp>
      <p:sp>
        <p:nvSpPr>
          <p:cNvPr id="125" name="Flow 126"/>
          <p:cNvSpPr/>
          <p:nvPr/>
        </p:nvSpPr>
        <p:spPr>
          <a:xfrm>
            <a:off x="863600" y="4978400"/>
            <a:ext cx="3043767" cy="1193800"/>
          </a:xfrm>
          <a:prstGeom prst="rect">
            <a:avLst/>
          </a:prstGeom>
          <a:noFill/>
          <a:ln>
            <a:noFill/>
          </a:ln>
        </p:spPr>
        <p:txBody>
          <a:bodyPr wrap="square" lIns="0" tIns="0" rIns="0" bIns="0" anchor="t">
            <a:noAutofit/>
          </a:bodyPr>
          <a:lstStyle/>
          <a:p>
            <a:pPr algn="l"/>
            <a:r>
              <a:rPr lang="en-US" sz="1400" b="0" dirty="0">
                <a:solidFill>
                  <a:srgbClr val="E2E8F0"/>
                </a:solidFill>
                <a:latin typeface="Segoe UI"/>
              </a:rPr>
              <a:t>Combine semantic (vector) and full-text keyword results into one ranked list before reranking.</a:t>
            </a:r>
          </a:p>
        </p:txBody>
      </p:sp>
      <p:sp>
        <p:nvSpPr>
          <p:cNvPr id="126" name="Flow 127"/>
          <p:cNvSpPr/>
          <p:nvPr/>
        </p:nvSpPr>
        <p:spPr>
          <a:xfrm>
            <a:off x="4339167" y="3708400"/>
            <a:ext cx="3500967" cy="2616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27" name="Flow 128"/>
          <p:cNvSpPr/>
          <p:nvPr/>
        </p:nvSpPr>
        <p:spPr>
          <a:xfrm>
            <a:off x="4339167" y="3708400"/>
            <a:ext cx="3500967" cy="38100"/>
          </a:xfrm>
          <a:prstGeom prst="rect">
            <a:avLst/>
          </a:prstGeom>
          <a:solidFill>
            <a:srgbClr val="2DD4BF"/>
          </a:solidFill>
          <a:ln>
            <a:noFill/>
          </a:ln>
        </p:spPr>
        <p:txBody>
          <a:bodyPr wrap="square" lIns="0" tIns="0" rIns="0" bIns="0" anchor="t">
            <a:noAutofit/>
          </a:bodyPr>
          <a:lstStyle/>
          <a:p>
            <a:endParaRPr lang="en-US"/>
          </a:p>
        </p:txBody>
      </p:sp>
      <p:sp>
        <p:nvSpPr>
          <p:cNvPr id="128" name="Flow 129"/>
          <p:cNvSpPr/>
          <p:nvPr/>
        </p:nvSpPr>
        <p:spPr>
          <a:xfrm>
            <a:off x="4567767" y="3962400"/>
            <a:ext cx="3043767" cy="203200"/>
          </a:xfrm>
          <a:prstGeom prst="rect">
            <a:avLst/>
          </a:prstGeom>
          <a:noFill/>
          <a:ln>
            <a:noFill/>
          </a:ln>
        </p:spPr>
        <p:txBody>
          <a:bodyPr wrap="square" lIns="0" tIns="0" rIns="0" bIns="0" anchor="t">
            <a:noAutofit/>
          </a:bodyPr>
          <a:lstStyle/>
          <a:p>
            <a:pPr algn="l"/>
            <a:r>
              <a:rPr lang="en-US" sz="1050" b="1" dirty="0">
                <a:solidFill>
                  <a:srgbClr val="2DD4BF"/>
                </a:solidFill>
                <a:latin typeface="Segoe UI"/>
              </a:rPr>
              <a:t>STAGE 05</a:t>
            </a:r>
          </a:p>
        </p:txBody>
      </p:sp>
      <p:sp>
        <p:nvSpPr>
          <p:cNvPr id="129" name="Flow 130"/>
          <p:cNvSpPr/>
          <p:nvPr/>
        </p:nvSpPr>
        <p:spPr>
          <a:xfrm>
            <a:off x="4567767" y="4241800"/>
            <a:ext cx="3043767" cy="6350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Cohere reranking is usually the highest-ROI stage</a:t>
            </a:r>
          </a:p>
        </p:txBody>
      </p:sp>
      <p:sp>
        <p:nvSpPr>
          <p:cNvPr id="130" name="Flow 131"/>
          <p:cNvSpPr/>
          <p:nvPr/>
        </p:nvSpPr>
        <p:spPr>
          <a:xfrm>
            <a:off x="4567767" y="4978400"/>
            <a:ext cx="3043767" cy="1193800"/>
          </a:xfrm>
          <a:prstGeom prst="rect">
            <a:avLst/>
          </a:prstGeom>
          <a:noFill/>
          <a:ln>
            <a:noFill/>
          </a:ln>
        </p:spPr>
        <p:txBody>
          <a:bodyPr wrap="square" lIns="0" tIns="0" rIns="0" bIns="0" anchor="t">
            <a:noAutofit/>
          </a:bodyPr>
          <a:lstStyle/>
          <a:p>
            <a:pPr algn="l"/>
            <a:r>
              <a:rPr lang="en-US" sz="1400" b="0" dirty="0">
                <a:solidFill>
                  <a:srgbClr val="E2E8F0"/>
                </a:solidFill>
                <a:latin typeface="Segoe UI"/>
              </a:rPr>
              <a:t>After hybrid retrieval, it’s a small engineering cost for a measurable jump in answer relevance.</a:t>
            </a:r>
          </a:p>
        </p:txBody>
      </p:sp>
      <p:sp>
        <p:nvSpPr>
          <p:cNvPr id="131" name="Flow 132"/>
          <p:cNvSpPr/>
          <p:nvPr/>
        </p:nvSpPr>
        <p:spPr>
          <a:xfrm>
            <a:off x="8043333" y="3708400"/>
            <a:ext cx="3500967" cy="2616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132" name="Flow 133"/>
          <p:cNvSpPr/>
          <p:nvPr/>
        </p:nvSpPr>
        <p:spPr>
          <a:xfrm>
            <a:off x="8043333" y="3708400"/>
            <a:ext cx="3500967" cy="38100"/>
          </a:xfrm>
          <a:prstGeom prst="rect">
            <a:avLst/>
          </a:prstGeom>
          <a:solidFill>
            <a:srgbClr val="64748B"/>
          </a:solidFill>
          <a:ln>
            <a:noFill/>
          </a:ln>
        </p:spPr>
        <p:txBody>
          <a:bodyPr wrap="square" lIns="0" tIns="0" rIns="0" bIns="0" anchor="t">
            <a:noAutofit/>
          </a:bodyPr>
          <a:lstStyle/>
          <a:p>
            <a:endParaRPr lang="en-US"/>
          </a:p>
        </p:txBody>
      </p:sp>
      <p:sp>
        <p:nvSpPr>
          <p:cNvPr id="133" name="Flow 134"/>
          <p:cNvSpPr/>
          <p:nvPr/>
        </p:nvSpPr>
        <p:spPr>
          <a:xfrm>
            <a:off x="8271933" y="3962400"/>
            <a:ext cx="3043767" cy="203200"/>
          </a:xfrm>
          <a:prstGeom prst="rect">
            <a:avLst/>
          </a:prstGeom>
          <a:noFill/>
          <a:ln>
            <a:noFill/>
          </a:ln>
        </p:spPr>
        <p:txBody>
          <a:bodyPr wrap="square" lIns="0" tIns="0" rIns="0" bIns="0" anchor="t">
            <a:noAutofit/>
          </a:bodyPr>
          <a:lstStyle/>
          <a:p>
            <a:pPr algn="l"/>
            <a:r>
              <a:rPr lang="en-US" sz="1050" b="1" dirty="0">
                <a:solidFill>
                  <a:srgbClr val="94A3B8"/>
                </a:solidFill>
                <a:latin typeface="Segoe UI"/>
              </a:rPr>
              <a:t>ALL STAGES</a:t>
            </a:r>
          </a:p>
        </p:txBody>
      </p:sp>
      <p:sp>
        <p:nvSpPr>
          <p:cNvPr id="134" name="Flow 135"/>
          <p:cNvSpPr/>
          <p:nvPr/>
        </p:nvSpPr>
        <p:spPr>
          <a:xfrm>
            <a:off x="8271933" y="4241800"/>
            <a:ext cx="3043767" cy="635000"/>
          </a:xfrm>
          <a:prstGeom prst="rect">
            <a:avLst/>
          </a:prstGeom>
          <a:noFill/>
          <a:ln>
            <a:noFill/>
          </a:ln>
        </p:spPr>
        <p:txBody>
          <a:bodyPr wrap="square" lIns="0" tIns="0" rIns="0" bIns="0" anchor="t">
            <a:noAutofit/>
          </a:bodyPr>
          <a:lstStyle/>
          <a:p>
            <a:pPr algn="l"/>
            <a:r>
              <a:rPr lang="en-US" sz="1600" b="1" dirty="0">
                <a:solidFill>
                  <a:srgbClr val="F1F5F9"/>
                </a:solidFill>
                <a:latin typeface="Segoe UI"/>
              </a:rPr>
              <a:t>Not every RAG system needs every stage</a:t>
            </a:r>
          </a:p>
        </p:txBody>
      </p:sp>
      <p:sp>
        <p:nvSpPr>
          <p:cNvPr id="135" name="Flow 136"/>
          <p:cNvSpPr/>
          <p:nvPr/>
        </p:nvSpPr>
        <p:spPr>
          <a:xfrm>
            <a:off x="8271933" y="4978400"/>
            <a:ext cx="3043767" cy="1193800"/>
          </a:xfrm>
          <a:prstGeom prst="rect">
            <a:avLst/>
          </a:prstGeom>
          <a:noFill/>
          <a:ln>
            <a:noFill/>
          </a:ln>
        </p:spPr>
        <p:txBody>
          <a:bodyPr wrap="square" lIns="0" tIns="0" rIns="0" bIns="0" anchor="t">
            <a:noAutofit/>
          </a:bodyPr>
          <a:lstStyle/>
          <a:p>
            <a:pPr algn="l"/>
            <a:r>
              <a:rPr lang="en-US" sz="1400" b="0" dirty="0">
                <a:solidFill>
                  <a:srgbClr val="E2E8F0"/>
                </a:solidFill>
                <a:latin typeface="Segoe UI"/>
              </a:rPr>
              <a:t>Measure retrieval quality and latency against real queries.</a:t>
            </a:r>
          </a:p>
        </p:txBody>
      </p:sp>
      <p:sp>
        <p:nvSpPr>
          <p:cNvPr id="21" name="TextBox 20"/>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2" name="TextBox 21"/>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28</a:t>
            </a:r>
          </a:p>
        </p:txBody>
      </p:sp>
    </p:spTree>
    <p:extLst>
      <p:ext uri="{BB962C8B-B14F-4D97-AF65-F5344CB8AC3E}">
        <p14:creationId xmlns:p14="http://schemas.microsoft.com/office/powerpoint/2010/main" val="1243788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PROMPT ENGINEERING</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Anatomy of a RAG prompt</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Anatomy 101"/>
          <p:cNvSpPr/>
          <p:nvPr/>
        </p:nvSpPr>
        <p:spPr>
          <a:xfrm>
            <a:off x="635000" y="1397000"/>
            <a:ext cx="5334000" cy="4978400"/>
          </a:xfrm>
          <a:prstGeom prst="roundRect">
            <a:avLst>
              <a:gd name="adj" fmla="val 4000"/>
            </a:avLst>
          </a:prstGeom>
          <a:solidFill>
            <a:srgbClr val="131C31"/>
          </a:solidFill>
          <a:ln w="12700">
            <a:solidFill>
              <a:srgbClr val="243049"/>
            </a:solidFill>
          </a:ln>
        </p:spPr>
        <p:txBody>
          <a:bodyPr wrap="square" lIns="0" tIns="0" rIns="0" bIns="0" anchor="t">
            <a:noAutofit/>
          </a:bodyPr>
          <a:lstStyle/>
          <a:p>
            <a:endParaRPr lang="en-US"/>
          </a:p>
        </p:txBody>
      </p:sp>
      <p:sp>
        <p:nvSpPr>
          <p:cNvPr id="101" name="Anatomy 102"/>
          <p:cNvSpPr/>
          <p:nvPr/>
        </p:nvSpPr>
        <p:spPr>
          <a:xfrm>
            <a:off x="838200" y="1587500"/>
            <a:ext cx="101600" cy="101600"/>
          </a:xfrm>
          <a:prstGeom prst="ellipse">
            <a:avLst/>
          </a:prstGeom>
          <a:solidFill>
            <a:srgbClr val="F87171"/>
          </a:solidFill>
          <a:ln>
            <a:noFill/>
          </a:ln>
        </p:spPr>
        <p:txBody>
          <a:bodyPr wrap="square" lIns="0" tIns="0" rIns="0" bIns="0" anchor="t">
            <a:noAutofit/>
          </a:bodyPr>
          <a:lstStyle/>
          <a:p>
            <a:endParaRPr lang="en-US"/>
          </a:p>
        </p:txBody>
      </p:sp>
      <p:sp>
        <p:nvSpPr>
          <p:cNvPr id="102" name="Anatomy 103"/>
          <p:cNvSpPr/>
          <p:nvPr/>
        </p:nvSpPr>
        <p:spPr>
          <a:xfrm>
            <a:off x="1016000" y="1587500"/>
            <a:ext cx="101600" cy="101600"/>
          </a:xfrm>
          <a:prstGeom prst="ellipse">
            <a:avLst/>
          </a:prstGeom>
          <a:solidFill>
            <a:srgbClr val="FBBF24"/>
          </a:solidFill>
          <a:ln>
            <a:noFill/>
          </a:ln>
        </p:spPr>
        <p:txBody>
          <a:bodyPr wrap="square" lIns="0" tIns="0" rIns="0" bIns="0" anchor="t">
            <a:noAutofit/>
          </a:bodyPr>
          <a:lstStyle/>
          <a:p>
            <a:endParaRPr lang="en-US"/>
          </a:p>
        </p:txBody>
      </p:sp>
      <p:sp>
        <p:nvSpPr>
          <p:cNvPr id="103" name="Anatomy 104"/>
          <p:cNvSpPr/>
          <p:nvPr/>
        </p:nvSpPr>
        <p:spPr>
          <a:xfrm>
            <a:off x="1193800" y="1587500"/>
            <a:ext cx="101600" cy="101600"/>
          </a:xfrm>
          <a:prstGeom prst="ellipse">
            <a:avLst/>
          </a:prstGeom>
          <a:solidFill>
            <a:srgbClr val="34D399"/>
          </a:solidFill>
          <a:ln>
            <a:noFill/>
          </a:ln>
        </p:spPr>
        <p:txBody>
          <a:bodyPr wrap="square" lIns="0" tIns="0" rIns="0" bIns="0" anchor="t">
            <a:noAutofit/>
          </a:bodyPr>
          <a:lstStyle/>
          <a:p>
            <a:endParaRPr lang="en-US"/>
          </a:p>
        </p:txBody>
      </p:sp>
      <p:sp>
        <p:nvSpPr>
          <p:cNvPr id="104" name="Anatomy 105"/>
          <p:cNvSpPr/>
          <p:nvPr/>
        </p:nvSpPr>
        <p:spPr>
          <a:xfrm>
            <a:off x="1524000" y="1536700"/>
            <a:ext cx="4241800" cy="203200"/>
          </a:xfrm>
          <a:prstGeom prst="rect">
            <a:avLst/>
          </a:prstGeom>
          <a:noFill/>
          <a:ln>
            <a:noFill/>
          </a:ln>
        </p:spPr>
        <p:txBody>
          <a:bodyPr wrap="square" lIns="0" tIns="0" rIns="0" bIns="0" anchor="t">
            <a:noAutofit/>
          </a:bodyPr>
          <a:lstStyle/>
          <a:p>
            <a:pPr algn="l"/>
            <a:r>
              <a:rPr lang="en-US" sz="1050" b="1" dirty="0">
                <a:solidFill>
                  <a:srgbClr val="94A3B8"/>
                </a:solidFill>
                <a:latin typeface="Segoe UI"/>
              </a:rPr>
              <a:t>ONE PROMPT SENT TO THE LLM</a:t>
            </a:r>
          </a:p>
        </p:txBody>
      </p:sp>
      <p:sp>
        <p:nvSpPr>
          <p:cNvPr id="105" name="Anatomy 106"/>
          <p:cNvSpPr/>
          <p:nvPr/>
        </p:nvSpPr>
        <p:spPr>
          <a:xfrm>
            <a:off x="635000" y="1854200"/>
            <a:ext cx="5334000" cy="127"/>
          </a:xfrm>
          <a:prstGeom prst="line">
            <a:avLst/>
          </a:prstGeom>
          <a:noFill/>
          <a:ln w="12700">
            <a:solidFill>
              <a:srgbClr val="243049"/>
            </a:solidFill>
          </a:ln>
        </p:spPr>
        <p:txBody>
          <a:bodyPr wrap="square" lIns="0" tIns="0" rIns="0" bIns="0" anchor="t">
            <a:noAutofit/>
          </a:bodyPr>
          <a:lstStyle/>
          <a:p>
            <a:endParaRPr lang="en-US"/>
          </a:p>
        </p:txBody>
      </p:sp>
      <p:sp>
        <p:nvSpPr>
          <p:cNvPr id="106" name="Anatomy 107"/>
          <p:cNvSpPr/>
          <p:nvPr/>
        </p:nvSpPr>
        <p:spPr>
          <a:xfrm>
            <a:off x="812800" y="2006600"/>
            <a:ext cx="4978400" cy="787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07" name="Anatomy 108"/>
          <p:cNvSpPr/>
          <p:nvPr/>
        </p:nvSpPr>
        <p:spPr>
          <a:xfrm>
            <a:off x="812800" y="2108200"/>
            <a:ext cx="38100" cy="584200"/>
          </a:xfrm>
          <a:prstGeom prst="rect">
            <a:avLst/>
          </a:prstGeom>
          <a:solidFill>
            <a:srgbClr val="2DD4BF"/>
          </a:solidFill>
          <a:ln>
            <a:noFill/>
          </a:ln>
        </p:spPr>
        <p:txBody>
          <a:bodyPr wrap="square" lIns="0" tIns="0" rIns="0" bIns="0" anchor="t">
            <a:noAutofit/>
          </a:bodyPr>
          <a:lstStyle/>
          <a:p>
            <a:endParaRPr lang="en-US"/>
          </a:p>
        </p:txBody>
      </p:sp>
      <p:sp>
        <p:nvSpPr>
          <p:cNvPr id="108" name="Anatomy 109"/>
          <p:cNvSpPr/>
          <p:nvPr/>
        </p:nvSpPr>
        <p:spPr>
          <a:xfrm>
            <a:off x="990600" y="2108200"/>
            <a:ext cx="4648200" cy="635000"/>
          </a:xfrm>
          <a:prstGeom prst="rect">
            <a:avLst/>
          </a:prstGeom>
          <a:noFill/>
          <a:ln>
            <a:noFill/>
          </a:ln>
        </p:spPr>
        <p:txBody>
          <a:bodyPr wrap="square" lIns="0" tIns="0" rIns="0" bIns="0" anchor="t">
            <a:noAutofit/>
          </a:bodyPr>
          <a:lstStyle/>
          <a:p>
            <a:pPr algn="l"/>
            <a:r>
              <a:rPr lang="en-US" sz="1000" b="1" dirty="0">
                <a:solidFill>
                  <a:srgbClr val="2DD4BF"/>
                </a:solidFill>
                <a:latin typeface="Segoe UI"/>
              </a:rPr>
              <a:t>SYSTEM</a:t>
            </a:r>
          </a:p>
          <a:p>
            <a:pPr algn="l">
              <a:spcBef>
                <a:spcPts val="300"/>
              </a:spcBef>
            </a:pPr>
            <a:r>
              <a:rPr lang="en-US" sz="1150" b="0" dirty="0">
                <a:solidFill>
                  <a:srgbClr val="E2E8F0"/>
                </a:solidFill>
                <a:latin typeface="Consolas"/>
              </a:rPr>
              <a:t>You are an internal HR assistant. Answer ONLY from the context.</a:t>
            </a:r>
          </a:p>
        </p:txBody>
      </p:sp>
      <p:sp>
        <p:nvSpPr>
          <p:cNvPr id="109" name="Anatomy 110"/>
          <p:cNvSpPr/>
          <p:nvPr/>
        </p:nvSpPr>
        <p:spPr>
          <a:xfrm>
            <a:off x="812800" y="2870200"/>
            <a:ext cx="4978400" cy="787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0" name="Anatomy 111"/>
          <p:cNvSpPr/>
          <p:nvPr/>
        </p:nvSpPr>
        <p:spPr>
          <a:xfrm>
            <a:off x="812800" y="2971800"/>
            <a:ext cx="38100" cy="584200"/>
          </a:xfrm>
          <a:prstGeom prst="rect">
            <a:avLst/>
          </a:prstGeom>
          <a:solidFill>
            <a:srgbClr val="2DD4BF"/>
          </a:solidFill>
          <a:ln>
            <a:noFill/>
          </a:ln>
        </p:spPr>
        <p:txBody>
          <a:bodyPr wrap="square" lIns="0" tIns="0" rIns="0" bIns="0" anchor="t">
            <a:noAutofit/>
          </a:bodyPr>
          <a:lstStyle/>
          <a:p>
            <a:endParaRPr lang="en-US"/>
          </a:p>
        </p:txBody>
      </p:sp>
      <p:sp>
        <p:nvSpPr>
          <p:cNvPr id="111" name="Anatomy 112"/>
          <p:cNvSpPr/>
          <p:nvPr/>
        </p:nvSpPr>
        <p:spPr>
          <a:xfrm>
            <a:off x="990600" y="2971800"/>
            <a:ext cx="4648200" cy="635000"/>
          </a:xfrm>
          <a:prstGeom prst="rect">
            <a:avLst/>
          </a:prstGeom>
          <a:noFill/>
          <a:ln>
            <a:noFill/>
          </a:ln>
        </p:spPr>
        <p:txBody>
          <a:bodyPr wrap="square" lIns="0" tIns="0" rIns="0" bIns="0" anchor="t">
            <a:noAutofit/>
          </a:bodyPr>
          <a:lstStyle/>
          <a:p>
            <a:pPr algn="l"/>
            <a:r>
              <a:rPr lang="en-US" sz="1000" b="1" dirty="0">
                <a:solidFill>
                  <a:srgbClr val="2DD4BF"/>
                </a:solidFill>
                <a:latin typeface="Segoe UI"/>
              </a:rPr>
              <a:t>CONTEXT</a:t>
            </a:r>
          </a:p>
          <a:p>
            <a:pPr algn="l">
              <a:spcBef>
                <a:spcPts val="300"/>
              </a:spcBef>
            </a:pPr>
            <a:r>
              <a:rPr lang="en-US" sz="1150" b="0" dirty="0">
                <a:solidFill>
                  <a:srgbClr val="E2E8F0"/>
                </a:solidFill>
                <a:latin typeface="Consolas"/>
              </a:rPr>
              <a:t>[HR_Handbook_2026.pdf §4.2] Employees accrue…</a:t>
            </a:r>
          </a:p>
          <a:p>
            <a:pPr algn="l"/>
            <a:r>
              <a:rPr lang="en-US" sz="1150" b="0" dirty="0">
                <a:solidFill>
                  <a:srgbClr val="E2E8F0"/>
                </a:solidFill>
                <a:latin typeface="Consolas"/>
              </a:rPr>
              <a:t>[Policy_Update.pdf §2] Up to 5 days may be…</a:t>
            </a:r>
          </a:p>
        </p:txBody>
      </p:sp>
      <p:sp>
        <p:nvSpPr>
          <p:cNvPr id="112" name="Anatomy 113"/>
          <p:cNvSpPr/>
          <p:nvPr/>
        </p:nvSpPr>
        <p:spPr>
          <a:xfrm>
            <a:off x="812800" y="3733800"/>
            <a:ext cx="4978400" cy="787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3" name="Anatomy 114"/>
          <p:cNvSpPr/>
          <p:nvPr/>
        </p:nvSpPr>
        <p:spPr>
          <a:xfrm>
            <a:off x="812800" y="3835400"/>
            <a:ext cx="38100" cy="584200"/>
          </a:xfrm>
          <a:prstGeom prst="rect">
            <a:avLst/>
          </a:prstGeom>
          <a:solidFill>
            <a:srgbClr val="2DD4BF"/>
          </a:solidFill>
          <a:ln>
            <a:noFill/>
          </a:ln>
        </p:spPr>
        <p:txBody>
          <a:bodyPr wrap="square" lIns="0" tIns="0" rIns="0" bIns="0" anchor="t">
            <a:noAutofit/>
          </a:bodyPr>
          <a:lstStyle/>
          <a:p>
            <a:endParaRPr lang="en-US"/>
          </a:p>
        </p:txBody>
      </p:sp>
      <p:sp>
        <p:nvSpPr>
          <p:cNvPr id="114" name="Anatomy 115"/>
          <p:cNvSpPr/>
          <p:nvPr/>
        </p:nvSpPr>
        <p:spPr>
          <a:xfrm>
            <a:off x="990600" y="3835400"/>
            <a:ext cx="4648200" cy="635000"/>
          </a:xfrm>
          <a:prstGeom prst="rect">
            <a:avLst/>
          </a:prstGeom>
          <a:noFill/>
          <a:ln>
            <a:noFill/>
          </a:ln>
        </p:spPr>
        <p:txBody>
          <a:bodyPr wrap="square" lIns="0" tIns="0" rIns="0" bIns="0" anchor="t">
            <a:noAutofit/>
          </a:bodyPr>
          <a:lstStyle/>
          <a:p>
            <a:pPr algn="l"/>
            <a:r>
              <a:rPr lang="en-US" sz="1000" b="1" dirty="0">
                <a:solidFill>
                  <a:srgbClr val="2DD4BF"/>
                </a:solidFill>
                <a:latin typeface="Segoe UI"/>
              </a:rPr>
              <a:t>QUESTION</a:t>
            </a:r>
          </a:p>
          <a:p>
            <a:pPr algn="l">
              <a:spcBef>
                <a:spcPts val="300"/>
              </a:spcBef>
            </a:pPr>
            <a:r>
              <a:rPr lang="en-US" sz="1150" b="0" dirty="0">
                <a:solidFill>
                  <a:srgbClr val="E2E8F0"/>
                </a:solidFill>
                <a:latin typeface="Consolas"/>
              </a:rPr>
              <a:t>Can I carry over unused leave days?</a:t>
            </a:r>
          </a:p>
        </p:txBody>
      </p:sp>
      <p:sp>
        <p:nvSpPr>
          <p:cNvPr id="115" name="Anatomy 116"/>
          <p:cNvSpPr/>
          <p:nvPr/>
        </p:nvSpPr>
        <p:spPr>
          <a:xfrm>
            <a:off x="812800" y="4597400"/>
            <a:ext cx="4978400" cy="787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6" name="Anatomy 117"/>
          <p:cNvSpPr/>
          <p:nvPr/>
        </p:nvSpPr>
        <p:spPr>
          <a:xfrm>
            <a:off x="812800" y="4699000"/>
            <a:ext cx="38100" cy="584200"/>
          </a:xfrm>
          <a:prstGeom prst="rect">
            <a:avLst/>
          </a:prstGeom>
          <a:solidFill>
            <a:srgbClr val="2DD4BF"/>
          </a:solidFill>
          <a:ln>
            <a:noFill/>
          </a:ln>
        </p:spPr>
        <p:txBody>
          <a:bodyPr wrap="square" lIns="0" tIns="0" rIns="0" bIns="0" anchor="t">
            <a:noAutofit/>
          </a:bodyPr>
          <a:lstStyle/>
          <a:p>
            <a:endParaRPr lang="en-US"/>
          </a:p>
        </p:txBody>
      </p:sp>
      <p:sp>
        <p:nvSpPr>
          <p:cNvPr id="117" name="Anatomy 118"/>
          <p:cNvSpPr/>
          <p:nvPr/>
        </p:nvSpPr>
        <p:spPr>
          <a:xfrm>
            <a:off x="990600" y="4699000"/>
            <a:ext cx="4648200" cy="635000"/>
          </a:xfrm>
          <a:prstGeom prst="rect">
            <a:avLst/>
          </a:prstGeom>
          <a:noFill/>
          <a:ln>
            <a:noFill/>
          </a:ln>
        </p:spPr>
        <p:txBody>
          <a:bodyPr wrap="square" lIns="0" tIns="0" rIns="0" bIns="0" anchor="t">
            <a:noAutofit/>
          </a:bodyPr>
          <a:lstStyle/>
          <a:p>
            <a:pPr algn="l"/>
            <a:r>
              <a:rPr lang="en-US" sz="1000" b="1" dirty="0">
                <a:solidFill>
                  <a:srgbClr val="2DD4BF"/>
                </a:solidFill>
                <a:latin typeface="Segoe UI"/>
              </a:rPr>
              <a:t>CITATIONS</a:t>
            </a:r>
          </a:p>
          <a:p>
            <a:pPr algn="l">
              <a:spcBef>
                <a:spcPts val="300"/>
              </a:spcBef>
            </a:pPr>
            <a:r>
              <a:rPr lang="en-US" sz="1150" b="0" dirty="0">
                <a:solidFill>
                  <a:srgbClr val="E2E8F0"/>
                </a:solidFill>
                <a:latin typeface="Consolas"/>
              </a:rPr>
              <a:t>Cite the source document for every claim.</a:t>
            </a:r>
          </a:p>
        </p:txBody>
      </p:sp>
      <p:sp>
        <p:nvSpPr>
          <p:cNvPr id="118" name="Anatomy 119"/>
          <p:cNvSpPr/>
          <p:nvPr/>
        </p:nvSpPr>
        <p:spPr>
          <a:xfrm>
            <a:off x="812800" y="5461000"/>
            <a:ext cx="4978400" cy="787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9" name="Anatomy 120"/>
          <p:cNvSpPr/>
          <p:nvPr/>
        </p:nvSpPr>
        <p:spPr>
          <a:xfrm>
            <a:off x="812800" y="5562600"/>
            <a:ext cx="38100" cy="584200"/>
          </a:xfrm>
          <a:prstGeom prst="rect">
            <a:avLst/>
          </a:prstGeom>
          <a:solidFill>
            <a:srgbClr val="2DD4BF"/>
          </a:solidFill>
          <a:ln>
            <a:noFill/>
          </a:ln>
        </p:spPr>
        <p:txBody>
          <a:bodyPr wrap="square" lIns="0" tIns="0" rIns="0" bIns="0" anchor="t">
            <a:noAutofit/>
          </a:bodyPr>
          <a:lstStyle/>
          <a:p>
            <a:endParaRPr lang="en-US"/>
          </a:p>
        </p:txBody>
      </p:sp>
      <p:sp>
        <p:nvSpPr>
          <p:cNvPr id="120" name="Anatomy 121"/>
          <p:cNvSpPr/>
          <p:nvPr/>
        </p:nvSpPr>
        <p:spPr>
          <a:xfrm>
            <a:off x="990600" y="5562600"/>
            <a:ext cx="4648200" cy="635000"/>
          </a:xfrm>
          <a:prstGeom prst="rect">
            <a:avLst/>
          </a:prstGeom>
          <a:noFill/>
          <a:ln>
            <a:noFill/>
          </a:ln>
        </p:spPr>
        <p:txBody>
          <a:bodyPr wrap="square" lIns="0" tIns="0" rIns="0" bIns="0" anchor="t">
            <a:noAutofit/>
          </a:bodyPr>
          <a:lstStyle/>
          <a:p>
            <a:pPr algn="l"/>
            <a:r>
              <a:rPr lang="en-US" sz="1000" b="1" dirty="0">
                <a:solidFill>
                  <a:srgbClr val="2DD4BF"/>
                </a:solidFill>
                <a:latin typeface="Segoe UI"/>
              </a:rPr>
              <a:t>GUARDRAILS</a:t>
            </a:r>
          </a:p>
          <a:p>
            <a:pPr algn="l">
              <a:spcBef>
                <a:spcPts val="300"/>
              </a:spcBef>
            </a:pPr>
            <a:r>
              <a:rPr lang="en-US" sz="1150" b="0" dirty="0">
                <a:solidFill>
                  <a:srgbClr val="E2E8F0"/>
                </a:solidFill>
                <a:latin typeface="Consolas"/>
              </a:rPr>
              <a:t>If the context doesn’t cover it, say “I don’t know.”</a:t>
            </a:r>
          </a:p>
        </p:txBody>
      </p:sp>
      <p:sp>
        <p:nvSpPr>
          <p:cNvPr id="121" name="Anatomy 122"/>
          <p:cNvSpPr/>
          <p:nvPr/>
        </p:nvSpPr>
        <p:spPr>
          <a:xfrm>
            <a:off x="6070600" y="2400300"/>
            <a:ext cx="228600" cy="127"/>
          </a:xfrm>
          <a:prstGeom prst="line">
            <a:avLst/>
          </a:prstGeom>
          <a:noFill/>
          <a:ln w="12700">
            <a:solidFill>
              <a:srgbClr val="334155"/>
            </a:solidFill>
          </a:ln>
        </p:spPr>
        <p:txBody>
          <a:bodyPr wrap="square" lIns="0" tIns="0" rIns="0" bIns="0" anchor="t">
            <a:noAutofit/>
          </a:bodyPr>
          <a:lstStyle/>
          <a:p>
            <a:endParaRPr lang="en-US"/>
          </a:p>
        </p:txBody>
      </p:sp>
      <p:sp>
        <p:nvSpPr>
          <p:cNvPr id="122" name="Anatomy 123"/>
          <p:cNvSpPr/>
          <p:nvPr/>
        </p:nvSpPr>
        <p:spPr>
          <a:xfrm>
            <a:off x="6350000" y="2146300"/>
            <a:ext cx="508000" cy="508000"/>
          </a:xfrm>
          <a:prstGeom prst="ellipse">
            <a:avLst/>
          </a:prstGeom>
          <a:solidFill>
            <a:srgbClr val="0F2A30"/>
          </a:solidFill>
          <a:ln w="12700">
            <a:solidFill>
              <a:srgbClr val="2DD4BF"/>
            </a:solidFill>
          </a:ln>
        </p:spPr>
        <p:txBody>
          <a:bodyPr wrap="square" lIns="0" tIns="0" rIns="0" bIns="0" anchor="ctr">
            <a:noAutofit/>
          </a:bodyPr>
          <a:lstStyle/>
          <a:p>
            <a:pPr algn="ctr"/>
            <a:r>
              <a:rPr lang="en-US" sz="1400" b="1" dirty="0">
                <a:solidFill>
                  <a:srgbClr val="2DD4BF"/>
                </a:solidFill>
                <a:latin typeface="Segoe UI"/>
              </a:rPr>
              <a:t>1</a:t>
            </a:r>
          </a:p>
        </p:txBody>
      </p:sp>
      <p:sp>
        <p:nvSpPr>
          <p:cNvPr id="123" name="Anatomy 124"/>
          <p:cNvSpPr/>
          <p:nvPr/>
        </p:nvSpPr>
        <p:spPr>
          <a:xfrm>
            <a:off x="7061200" y="2057400"/>
            <a:ext cx="4483100" cy="736600"/>
          </a:xfrm>
          <a:prstGeom prst="rect">
            <a:avLst/>
          </a:prstGeom>
          <a:noFill/>
          <a:ln>
            <a:noFill/>
          </a:ln>
        </p:spPr>
        <p:txBody>
          <a:bodyPr wrap="square" lIns="0" tIns="0" rIns="0" bIns="0" anchor="ctr">
            <a:noAutofit/>
          </a:bodyPr>
          <a:lstStyle/>
          <a:p>
            <a:pPr algn="l"/>
            <a:r>
              <a:rPr lang="en-US" sz="1600" b="1" dirty="0">
                <a:solidFill>
                  <a:srgbClr val="F1F5F9"/>
                </a:solidFill>
                <a:latin typeface="Segoe UI"/>
              </a:rPr>
              <a:t>System Prompt</a:t>
            </a:r>
          </a:p>
          <a:p>
            <a:pPr algn="l">
              <a:spcBef>
                <a:spcPts val="200"/>
              </a:spcBef>
            </a:pPr>
            <a:r>
              <a:rPr lang="en-US" sz="1300" b="0" dirty="0">
                <a:solidFill>
                  <a:srgbClr val="B8C2D3"/>
                </a:solidFill>
                <a:latin typeface="Segoe UI"/>
              </a:rPr>
              <a:t>Instructions: role, tone, and — critically — the grounding rule</a:t>
            </a:r>
          </a:p>
        </p:txBody>
      </p:sp>
      <p:sp>
        <p:nvSpPr>
          <p:cNvPr id="124" name="Anatomy 125"/>
          <p:cNvSpPr/>
          <p:nvPr/>
        </p:nvSpPr>
        <p:spPr>
          <a:xfrm>
            <a:off x="6070600" y="3263900"/>
            <a:ext cx="228600" cy="127"/>
          </a:xfrm>
          <a:prstGeom prst="line">
            <a:avLst/>
          </a:prstGeom>
          <a:noFill/>
          <a:ln w="12700">
            <a:solidFill>
              <a:srgbClr val="334155"/>
            </a:solidFill>
          </a:ln>
        </p:spPr>
        <p:txBody>
          <a:bodyPr wrap="square" lIns="0" tIns="0" rIns="0" bIns="0" anchor="t">
            <a:noAutofit/>
          </a:bodyPr>
          <a:lstStyle/>
          <a:p>
            <a:endParaRPr lang="en-US"/>
          </a:p>
        </p:txBody>
      </p:sp>
      <p:sp>
        <p:nvSpPr>
          <p:cNvPr id="125" name="Anatomy 126"/>
          <p:cNvSpPr/>
          <p:nvPr/>
        </p:nvSpPr>
        <p:spPr>
          <a:xfrm>
            <a:off x="6350000" y="3009900"/>
            <a:ext cx="508000" cy="508000"/>
          </a:xfrm>
          <a:prstGeom prst="ellipse">
            <a:avLst/>
          </a:prstGeom>
          <a:solidFill>
            <a:srgbClr val="0F2A30"/>
          </a:solidFill>
          <a:ln w="12700">
            <a:solidFill>
              <a:srgbClr val="2DD4BF"/>
            </a:solidFill>
          </a:ln>
        </p:spPr>
        <p:txBody>
          <a:bodyPr wrap="square" lIns="0" tIns="0" rIns="0" bIns="0" anchor="ctr">
            <a:noAutofit/>
          </a:bodyPr>
          <a:lstStyle/>
          <a:p>
            <a:pPr algn="ctr"/>
            <a:r>
              <a:rPr lang="en-US" sz="1400" b="1" dirty="0">
                <a:solidFill>
                  <a:srgbClr val="2DD4BF"/>
                </a:solidFill>
                <a:latin typeface="Segoe UI"/>
              </a:rPr>
              <a:t>2</a:t>
            </a:r>
          </a:p>
        </p:txBody>
      </p:sp>
      <p:sp>
        <p:nvSpPr>
          <p:cNvPr id="126" name="Anatomy 127"/>
          <p:cNvSpPr/>
          <p:nvPr/>
        </p:nvSpPr>
        <p:spPr>
          <a:xfrm>
            <a:off x="7061200" y="2921000"/>
            <a:ext cx="4483100" cy="736600"/>
          </a:xfrm>
          <a:prstGeom prst="rect">
            <a:avLst/>
          </a:prstGeom>
          <a:noFill/>
          <a:ln>
            <a:noFill/>
          </a:ln>
        </p:spPr>
        <p:txBody>
          <a:bodyPr wrap="square" lIns="0" tIns="0" rIns="0" bIns="0" anchor="ctr">
            <a:noAutofit/>
          </a:bodyPr>
          <a:lstStyle/>
          <a:p>
            <a:pPr algn="l"/>
            <a:r>
              <a:rPr lang="en-US" sz="1600" b="1" dirty="0">
                <a:solidFill>
                  <a:srgbClr val="F1F5F9"/>
                </a:solidFill>
                <a:latin typeface="Segoe UI"/>
              </a:rPr>
              <a:t>Retrieved Context</a:t>
            </a:r>
          </a:p>
          <a:p>
            <a:pPr algn="l">
              <a:spcBef>
                <a:spcPts val="200"/>
              </a:spcBef>
            </a:pPr>
            <a:r>
              <a:rPr lang="en-US" sz="1300" b="0" dirty="0">
                <a:solidFill>
                  <a:srgbClr val="B8C2D3"/>
                </a:solidFill>
                <a:latin typeface="Segoe UI"/>
              </a:rPr>
              <a:t>The actual chunks returned by retrieval, inserted verbatim</a:t>
            </a:r>
          </a:p>
        </p:txBody>
      </p:sp>
      <p:sp>
        <p:nvSpPr>
          <p:cNvPr id="127" name="Anatomy 128"/>
          <p:cNvSpPr/>
          <p:nvPr/>
        </p:nvSpPr>
        <p:spPr>
          <a:xfrm>
            <a:off x="6070600" y="4127500"/>
            <a:ext cx="228600" cy="127"/>
          </a:xfrm>
          <a:prstGeom prst="line">
            <a:avLst/>
          </a:prstGeom>
          <a:noFill/>
          <a:ln w="12700">
            <a:solidFill>
              <a:srgbClr val="334155"/>
            </a:solidFill>
          </a:ln>
        </p:spPr>
        <p:txBody>
          <a:bodyPr wrap="square" lIns="0" tIns="0" rIns="0" bIns="0" anchor="t">
            <a:noAutofit/>
          </a:bodyPr>
          <a:lstStyle/>
          <a:p>
            <a:endParaRPr lang="en-US"/>
          </a:p>
        </p:txBody>
      </p:sp>
      <p:sp>
        <p:nvSpPr>
          <p:cNvPr id="128" name="Anatomy 129"/>
          <p:cNvSpPr/>
          <p:nvPr/>
        </p:nvSpPr>
        <p:spPr>
          <a:xfrm>
            <a:off x="6350000" y="3873500"/>
            <a:ext cx="508000" cy="508000"/>
          </a:xfrm>
          <a:prstGeom prst="ellipse">
            <a:avLst/>
          </a:prstGeom>
          <a:solidFill>
            <a:srgbClr val="0F2A30"/>
          </a:solidFill>
          <a:ln w="12700">
            <a:solidFill>
              <a:srgbClr val="2DD4BF"/>
            </a:solidFill>
          </a:ln>
        </p:spPr>
        <p:txBody>
          <a:bodyPr wrap="square" lIns="0" tIns="0" rIns="0" bIns="0" anchor="ctr">
            <a:noAutofit/>
          </a:bodyPr>
          <a:lstStyle/>
          <a:p>
            <a:pPr algn="ctr"/>
            <a:r>
              <a:rPr lang="en-US" sz="1400" b="1" dirty="0">
                <a:solidFill>
                  <a:srgbClr val="2DD4BF"/>
                </a:solidFill>
                <a:latin typeface="Segoe UI"/>
              </a:rPr>
              <a:t>3</a:t>
            </a:r>
          </a:p>
        </p:txBody>
      </p:sp>
      <p:sp>
        <p:nvSpPr>
          <p:cNvPr id="129" name="Anatomy 130"/>
          <p:cNvSpPr/>
          <p:nvPr/>
        </p:nvSpPr>
        <p:spPr>
          <a:xfrm>
            <a:off x="7061200" y="3784600"/>
            <a:ext cx="4483100" cy="736600"/>
          </a:xfrm>
          <a:prstGeom prst="rect">
            <a:avLst/>
          </a:prstGeom>
          <a:noFill/>
          <a:ln>
            <a:noFill/>
          </a:ln>
        </p:spPr>
        <p:txBody>
          <a:bodyPr wrap="square" lIns="0" tIns="0" rIns="0" bIns="0" anchor="ctr">
            <a:noAutofit/>
          </a:bodyPr>
          <a:lstStyle/>
          <a:p>
            <a:pPr algn="l"/>
            <a:r>
              <a:rPr lang="en-US" sz="1600" b="1" dirty="0">
                <a:solidFill>
                  <a:srgbClr val="F1F5F9"/>
                </a:solidFill>
                <a:latin typeface="Segoe UI"/>
              </a:rPr>
              <a:t>User Question</a:t>
            </a:r>
          </a:p>
          <a:p>
            <a:pPr algn="l">
              <a:spcBef>
                <a:spcPts val="200"/>
              </a:spcBef>
            </a:pPr>
            <a:r>
              <a:rPr lang="en-US" sz="1300" b="0" dirty="0">
                <a:solidFill>
                  <a:srgbClr val="B8C2D3"/>
                </a:solidFill>
                <a:latin typeface="Segoe UI"/>
              </a:rPr>
              <a:t>What the person actually asked</a:t>
            </a:r>
          </a:p>
        </p:txBody>
      </p:sp>
      <p:sp>
        <p:nvSpPr>
          <p:cNvPr id="130" name="Anatomy 131"/>
          <p:cNvSpPr/>
          <p:nvPr/>
        </p:nvSpPr>
        <p:spPr>
          <a:xfrm>
            <a:off x="6070600" y="4991100"/>
            <a:ext cx="228600" cy="127"/>
          </a:xfrm>
          <a:prstGeom prst="line">
            <a:avLst/>
          </a:prstGeom>
          <a:noFill/>
          <a:ln w="12700">
            <a:solidFill>
              <a:srgbClr val="334155"/>
            </a:solidFill>
          </a:ln>
        </p:spPr>
        <p:txBody>
          <a:bodyPr wrap="square" lIns="0" tIns="0" rIns="0" bIns="0" anchor="t">
            <a:noAutofit/>
          </a:bodyPr>
          <a:lstStyle/>
          <a:p>
            <a:endParaRPr lang="en-US"/>
          </a:p>
        </p:txBody>
      </p:sp>
      <p:sp>
        <p:nvSpPr>
          <p:cNvPr id="131" name="Anatomy 132"/>
          <p:cNvSpPr/>
          <p:nvPr/>
        </p:nvSpPr>
        <p:spPr>
          <a:xfrm>
            <a:off x="6350000" y="4737100"/>
            <a:ext cx="508000" cy="508000"/>
          </a:xfrm>
          <a:prstGeom prst="ellipse">
            <a:avLst/>
          </a:prstGeom>
          <a:solidFill>
            <a:srgbClr val="0F2A30"/>
          </a:solidFill>
          <a:ln w="12700">
            <a:solidFill>
              <a:srgbClr val="2DD4BF"/>
            </a:solidFill>
          </a:ln>
        </p:spPr>
        <p:txBody>
          <a:bodyPr wrap="square" lIns="0" tIns="0" rIns="0" bIns="0" anchor="ctr">
            <a:noAutofit/>
          </a:bodyPr>
          <a:lstStyle/>
          <a:p>
            <a:pPr algn="ctr"/>
            <a:r>
              <a:rPr lang="en-US" sz="1400" b="1" dirty="0">
                <a:solidFill>
                  <a:srgbClr val="2DD4BF"/>
                </a:solidFill>
                <a:latin typeface="Segoe UI"/>
              </a:rPr>
              <a:t>4</a:t>
            </a:r>
          </a:p>
        </p:txBody>
      </p:sp>
      <p:sp>
        <p:nvSpPr>
          <p:cNvPr id="132" name="Anatomy 133"/>
          <p:cNvSpPr/>
          <p:nvPr/>
        </p:nvSpPr>
        <p:spPr>
          <a:xfrm>
            <a:off x="7061200" y="4648200"/>
            <a:ext cx="4483100" cy="736600"/>
          </a:xfrm>
          <a:prstGeom prst="rect">
            <a:avLst/>
          </a:prstGeom>
          <a:noFill/>
          <a:ln>
            <a:noFill/>
          </a:ln>
        </p:spPr>
        <p:txBody>
          <a:bodyPr wrap="square" lIns="0" tIns="0" rIns="0" bIns="0" anchor="ctr">
            <a:noAutofit/>
          </a:bodyPr>
          <a:lstStyle/>
          <a:p>
            <a:pPr algn="l"/>
            <a:r>
              <a:rPr lang="en-US" sz="1600" b="1" dirty="0">
                <a:solidFill>
                  <a:srgbClr val="F1F5F9"/>
                </a:solidFill>
                <a:latin typeface="Segoe UI"/>
              </a:rPr>
              <a:t>Source Citations</a:t>
            </a:r>
          </a:p>
          <a:p>
            <a:pPr algn="l">
              <a:spcBef>
                <a:spcPts val="200"/>
              </a:spcBef>
            </a:pPr>
            <a:r>
              <a:rPr lang="en-US" sz="1300" b="0" dirty="0">
                <a:solidFill>
                  <a:srgbClr val="B8C2D3"/>
                </a:solidFill>
                <a:latin typeface="Segoe UI"/>
              </a:rPr>
              <a:t>Instruction to attribute claims back to specific chunks</a:t>
            </a:r>
          </a:p>
        </p:txBody>
      </p:sp>
      <p:sp>
        <p:nvSpPr>
          <p:cNvPr id="133" name="Anatomy 134"/>
          <p:cNvSpPr/>
          <p:nvPr/>
        </p:nvSpPr>
        <p:spPr>
          <a:xfrm>
            <a:off x="6070600" y="5854700"/>
            <a:ext cx="228600" cy="127"/>
          </a:xfrm>
          <a:prstGeom prst="line">
            <a:avLst/>
          </a:prstGeom>
          <a:noFill/>
          <a:ln w="12700">
            <a:solidFill>
              <a:srgbClr val="334155"/>
            </a:solidFill>
          </a:ln>
        </p:spPr>
        <p:txBody>
          <a:bodyPr wrap="square" lIns="0" tIns="0" rIns="0" bIns="0" anchor="t">
            <a:noAutofit/>
          </a:bodyPr>
          <a:lstStyle/>
          <a:p>
            <a:endParaRPr lang="en-US"/>
          </a:p>
        </p:txBody>
      </p:sp>
      <p:sp>
        <p:nvSpPr>
          <p:cNvPr id="134" name="Anatomy 135"/>
          <p:cNvSpPr/>
          <p:nvPr/>
        </p:nvSpPr>
        <p:spPr>
          <a:xfrm>
            <a:off x="6350000" y="5600700"/>
            <a:ext cx="508000" cy="508000"/>
          </a:xfrm>
          <a:prstGeom prst="ellipse">
            <a:avLst/>
          </a:prstGeom>
          <a:solidFill>
            <a:srgbClr val="0F2A30"/>
          </a:solidFill>
          <a:ln w="12700">
            <a:solidFill>
              <a:srgbClr val="2DD4BF"/>
            </a:solidFill>
          </a:ln>
        </p:spPr>
        <p:txBody>
          <a:bodyPr wrap="square" lIns="0" tIns="0" rIns="0" bIns="0" anchor="ctr">
            <a:noAutofit/>
          </a:bodyPr>
          <a:lstStyle/>
          <a:p>
            <a:pPr algn="ctr"/>
            <a:r>
              <a:rPr lang="en-US" sz="1400" b="1" dirty="0">
                <a:solidFill>
                  <a:srgbClr val="2DD4BF"/>
                </a:solidFill>
                <a:latin typeface="Segoe UI"/>
              </a:rPr>
              <a:t>5</a:t>
            </a:r>
          </a:p>
        </p:txBody>
      </p:sp>
      <p:sp>
        <p:nvSpPr>
          <p:cNvPr id="135" name="Anatomy 136"/>
          <p:cNvSpPr/>
          <p:nvPr/>
        </p:nvSpPr>
        <p:spPr>
          <a:xfrm>
            <a:off x="7061200" y="5511800"/>
            <a:ext cx="4483100" cy="736600"/>
          </a:xfrm>
          <a:prstGeom prst="rect">
            <a:avLst/>
          </a:prstGeom>
          <a:noFill/>
          <a:ln>
            <a:noFill/>
          </a:ln>
        </p:spPr>
        <p:txBody>
          <a:bodyPr wrap="square" lIns="0" tIns="0" rIns="0" bIns="0" anchor="ctr">
            <a:noAutofit/>
          </a:bodyPr>
          <a:lstStyle/>
          <a:p>
            <a:pPr algn="l"/>
            <a:r>
              <a:rPr lang="en-US" sz="1600" b="1" dirty="0">
                <a:solidFill>
                  <a:srgbClr val="F1F5F9"/>
                </a:solidFill>
                <a:latin typeface="Segoe UI"/>
              </a:rPr>
              <a:t>Guardrails</a:t>
            </a:r>
          </a:p>
          <a:p>
            <a:pPr algn="l">
              <a:spcBef>
                <a:spcPts val="200"/>
              </a:spcBef>
            </a:pPr>
            <a:r>
              <a:rPr lang="en-US" sz="1300" b="0" dirty="0">
                <a:solidFill>
                  <a:srgbClr val="B8C2D3"/>
                </a:solidFill>
                <a:latin typeface="Segoe UI"/>
              </a:rPr>
              <a:t>Explicit instruction to say "I don't know" when context doesn't cover it</a:t>
            </a:r>
          </a:p>
        </p:txBody>
      </p:sp>
      <p:sp>
        <p:nvSpPr>
          <p:cNvPr id="26" name="TextBox 25"/>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7" name="TextBox 26"/>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30</a:t>
            </a:r>
          </a:p>
        </p:txBody>
      </p:sp>
    </p:spTree>
    <p:extLst>
      <p:ext uri="{BB962C8B-B14F-4D97-AF65-F5344CB8AC3E}">
        <p14:creationId xmlns:p14="http://schemas.microsoft.com/office/powerpoint/2010/main" val="124510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PROMPT ENGINEERING</a:t>
            </a:r>
          </a:p>
        </p:txBody>
      </p:sp>
      <p:sp>
        <p:nvSpPr>
          <p:cNvPr id="4" name="TextBox 3"/>
          <p:cNvSpPr txBox="1"/>
          <p:nvPr/>
        </p:nvSpPr>
        <p:spPr>
          <a:xfrm>
            <a:off x="640080" y="566928"/>
            <a:ext cx="10881360" cy="384721"/>
          </a:xfrm>
          <a:prstGeom prst="rect">
            <a:avLst/>
          </a:prstGeom>
          <a:noFill/>
        </p:spPr>
        <p:txBody>
          <a:bodyPr wrap="square" lIns="0" tIns="0" rIns="0" bIns="0" anchor="t">
            <a:spAutoFit/>
          </a:bodyPr>
          <a:lstStyle/>
          <a:p>
            <a:pPr algn="l"/>
            <a:r>
              <a:rPr sz="2500" b="1" i="0">
                <a:solidFill>
                  <a:srgbClr val="F1F5F9"/>
                </a:solidFill>
                <a:latin typeface="Segoe UI"/>
              </a:rPr>
              <a:t>Anatomy of a RAG prompt — one worked example</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100" name="Example 101"/>
          <p:cNvSpPr/>
          <p:nvPr/>
        </p:nvSpPr>
        <p:spPr>
          <a:xfrm>
            <a:off x="635000" y="1371600"/>
            <a:ext cx="6223000" cy="4953000"/>
          </a:xfrm>
          <a:prstGeom prst="roundRect">
            <a:avLst>
              <a:gd name="adj" fmla="val 4000"/>
            </a:avLst>
          </a:prstGeom>
          <a:solidFill>
            <a:srgbClr val="131C31"/>
          </a:solidFill>
          <a:ln w="12700">
            <a:solidFill>
              <a:srgbClr val="243049"/>
            </a:solidFill>
          </a:ln>
        </p:spPr>
        <p:txBody>
          <a:bodyPr wrap="square" lIns="0" tIns="0" rIns="0" bIns="0" anchor="t">
            <a:noAutofit/>
          </a:bodyPr>
          <a:lstStyle/>
          <a:p>
            <a:endParaRPr lang="en-US"/>
          </a:p>
        </p:txBody>
      </p:sp>
      <p:sp>
        <p:nvSpPr>
          <p:cNvPr id="101" name="Example 102"/>
          <p:cNvSpPr/>
          <p:nvPr/>
        </p:nvSpPr>
        <p:spPr>
          <a:xfrm>
            <a:off x="838200" y="1562100"/>
            <a:ext cx="101600" cy="101600"/>
          </a:xfrm>
          <a:prstGeom prst="ellipse">
            <a:avLst/>
          </a:prstGeom>
          <a:solidFill>
            <a:srgbClr val="F87171"/>
          </a:solidFill>
          <a:ln>
            <a:noFill/>
          </a:ln>
        </p:spPr>
        <p:txBody>
          <a:bodyPr wrap="square" lIns="0" tIns="0" rIns="0" bIns="0" anchor="t">
            <a:noAutofit/>
          </a:bodyPr>
          <a:lstStyle/>
          <a:p>
            <a:endParaRPr lang="en-US"/>
          </a:p>
        </p:txBody>
      </p:sp>
      <p:sp>
        <p:nvSpPr>
          <p:cNvPr id="102" name="Example 103"/>
          <p:cNvSpPr/>
          <p:nvPr/>
        </p:nvSpPr>
        <p:spPr>
          <a:xfrm>
            <a:off x="1016000" y="1562100"/>
            <a:ext cx="101600" cy="101600"/>
          </a:xfrm>
          <a:prstGeom prst="ellipse">
            <a:avLst/>
          </a:prstGeom>
          <a:solidFill>
            <a:srgbClr val="FBBF24"/>
          </a:solidFill>
          <a:ln>
            <a:noFill/>
          </a:ln>
        </p:spPr>
        <p:txBody>
          <a:bodyPr wrap="square" lIns="0" tIns="0" rIns="0" bIns="0" anchor="t">
            <a:noAutofit/>
          </a:bodyPr>
          <a:lstStyle/>
          <a:p>
            <a:endParaRPr lang="en-US"/>
          </a:p>
        </p:txBody>
      </p:sp>
      <p:sp>
        <p:nvSpPr>
          <p:cNvPr id="103" name="Example 104"/>
          <p:cNvSpPr/>
          <p:nvPr/>
        </p:nvSpPr>
        <p:spPr>
          <a:xfrm>
            <a:off x="1193800" y="1562100"/>
            <a:ext cx="101600" cy="101600"/>
          </a:xfrm>
          <a:prstGeom prst="ellipse">
            <a:avLst/>
          </a:prstGeom>
          <a:solidFill>
            <a:srgbClr val="34D399"/>
          </a:solidFill>
          <a:ln>
            <a:noFill/>
          </a:ln>
        </p:spPr>
        <p:txBody>
          <a:bodyPr wrap="square" lIns="0" tIns="0" rIns="0" bIns="0" anchor="t">
            <a:noAutofit/>
          </a:bodyPr>
          <a:lstStyle/>
          <a:p>
            <a:endParaRPr lang="en-US"/>
          </a:p>
        </p:txBody>
      </p:sp>
      <p:sp>
        <p:nvSpPr>
          <p:cNvPr id="104" name="Example 105"/>
          <p:cNvSpPr/>
          <p:nvPr/>
        </p:nvSpPr>
        <p:spPr>
          <a:xfrm>
            <a:off x="1524000" y="1511300"/>
            <a:ext cx="5130800" cy="203200"/>
          </a:xfrm>
          <a:prstGeom prst="rect">
            <a:avLst/>
          </a:prstGeom>
          <a:noFill/>
          <a:ln>
            <a:noFill/>
          </a:ln>
        </p:spPr>
        <p:txBody>
          <a:bodyPr wrap="square" lIns="0" tIns="0" rIns="0" bIns="0" anchor="t">
            <a:noAutofit/>
          </a:bodyPr>
          <a:lstStyle/>
          <a:p>
            <a:pPr algn="l">
              <a:buNone/>
            </a:pPr>
            <a:r>
              <a:rPr lang="en-US" sz="1050" b="1" dirty="0">
                <a:solidFill>
                  <a:srgbClr val="94A3B8"/>
                </a:solidFill>
                <a:latin typeface="Segoe UI"/>
              </a:rPr>
              <a:t>PROMPT SENT TO THE LLM</a:t>
            </a:r>
          </a:p>
        </p:txBody>
      </p:sp>
      <p:sp>
        <p:nvSpPr>
          <p:cNvPr id="105" name="Example 106"/>
          <p:cNvSpPr/>
          <p:nvPr/>
        </p:nvSpPr>
        <p:spPr>
          <a:xfrm>
            <a:off x="635000" y="1828800"/>
            <a:ext cx="6223000" cy="127"/>
          </a:xfrm>
          <a:prstGeom prst="line">
            <a:avLst/>
          </a:prstGeom>
          <a:noFill/>
          <a:ln w="12700">
            <a:solidFill>
              <a:srgbClr val="243049"/>
            </a:solidFill>
          </a:ln>
        </p:spPr>
        <p:txBody>
          <a:bodyPr wrap="square" lIns="0" tIns="0" rIns="0" bIns="0" anchor="t">
            <a:noAutofit/>
          </a:bodyPr>
          <a:lstStyle/>
          <a:p>
            <a:endParaRPr lang="en-US"/>
          </a:p>
        </p:txBody>
      </p:sp>
      <p:sp>
        <p:nvSpPr>
          <p:cNvPr id="106" name="Example 107"/>
          <p:cNvSpPr/>
          <p:nvPr/>
        </p:nvSpPr>
        <p:spPr>
          <a:xfrm>
            <a:off x="812800" y="1981200"/>
            <a:ext cx="5867400" cy="914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07" name="Example 108"/>
          <p:cNvSpPr/>
          <p:nvPr/>
        </p:nvSpPr>
        <p:spPr>
          <a:xfrm>
            <a:off x="812800" y="2082800"/>
            <a:ext cx="38100" cy="711200"/>
          </a:xfrm>
          <a:prstGeom prst="rect">
            <a:avLst/>
          </a:prstGeom>
          <a:solidFill>
            <a:srgbClr val="2DD4BF"/>
          </a:solidFill>
          <a:ln>
            <a:noFill/>
          </a:ln>
        </p:spPr>
        <p:txBody>
          <a:bodyPr wrap="square" lIns="0" tIns="0" rIns="0" bIns="0" anchor="t">
            <a:noAutofit/>
          </a:bodyPr>
          <a:lstStyle/>
          <a:p>
            <a:endParaRPr lang="en-US"/>
          </a:p>
        </p:txBody>
      </p:sp>
      <p:sp>
        <p:nvSpPr>
          <p:cNvPr id="108" name="Example 109"/>
          <p:cNvSpPr/>
          <p:nvPr/>
        </p:nvSpPr>
        <p:spPr>
          <a:xfrm>
            <a:off x="990600" y="2032000"/>
            <a:ext cx="5588000" cy="812800"/>
          </a:xfrm>
          <a:prstGeom prst="rect">
            <a:avLst/>
          </a:prstGeom>
          <a:noFill/>
          <a:ln>
            <a:noFill/>
          </a:ln>
        </p:spPr>
        <p:txBody>
          <a:bodyPr wrap="square" lIns="0" tIns="0" rIns="0" bIns="0" anchor="ctr">
            <a:noAutofit/>
          </a:bodyPr>
          <a:lstStyle/>
          <a:p>
            <a:pPr algn="l">
              <a:buNone/>
            </a:pPr>
            <a:r>
              <a:rPr lang="en-US" sz="1000" b="1" dirty="0">
                <a:solidFill>
                  <a:srgbClr val="2DD4BF"/>
                </a:solidFill>
                <a:latin typeface="Segoe UI"/>
              </a:rPr>
              <a:t>SYSTEM PROMPT</a:t>
            </a:r>
          </a:p>
          <a:p>
            <a:pPr algn="l">
              <a:spcBef>
                <a:spcPts val="200"/>
              </a:spcBef>
              <a:buNone/>
            </a:pPr>
            <a:r>
              <a:rPr lang="en-US" sz="1200" b="0" dirty="0">
                <a:solidFill>
                  <a:srgbClr val="E2E8F0"/>
                </a:solidFill>
                <a:latin typeface="Consolas"/>
              </a:rPr>
              <a:t>You are an internal HR assistant. Answer ONLY using the context below, and cite the source document for every claim.</a:t>
            </a:r>
          </a:p>
        </p:txBody>
      </p:sp>
      <p:sp>
        <p:nvSpPr>
          <p:cNvPr id="109" name="Example 110"/>
          <p:cNvSpPr/>
          <p:nvPr/>
        </p:nvSpPr>
        <p:spPr>
          <a:xfrm>
            <a:off x="812800" y="3022600"/>
            <a:ext cx="5867400" cy="13208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0" name="Example 111"/>
          <p:cNvSpPr/>
          <p:nvPr/>
        </p:nvSpPr>
        <p:spPr>
          <a:xfrm>
            <a:off x="812800" y="3124200"/>
            <a:ext cx="38100" cy="1117600"/>
          </a:xfrm>
          <a:prstGeom prst="rect">
            <a:avLst/>
          </a:prstGeom>
          <a:solidFill>
            <a:srgbClr val="2DD4BF"/>
          </a:solidFill>
          <a:ln>
            <a:noFill/>
          </a:ln>
        </p:spPr>
        <p:txBody>
          <a:bodyPr wrap="square" lIns="0" tIns="0" rIns="0" bIns="0" anchor="t">
            <a:noAutofit/>
          </a:bodyPr>
          <a:lstStyle/>
          <a:p>
            <a:endParaRPr lang="en-US"/>
          </a:p>
        </p:txBody>
      </p:sp>
      <p:sp>
        <p:nvSpPr>
          <p:cNvPr id="111" name="Example 112"/>
          <p:cNvSpPr/>
          <p:nvPr/>
        </p:nvSpPr>
        <p:spPr>
          <a:xfrm>
            <a:off x="990600" y="3073400"/>
            <a:ext cx="5588000" cy="1219200"/>
          </a:xfrm>
          <a:prstGeom prst="rect">
            <a:avLst/>
          </a:prstGeom>
          <a:noFill/>
          <a:ln>
            <a:noFill/>
          </a:ln>
        </p:spPr>
        <p:txBody>
          <a:bodyPr wrap="square" lIns="0" tIns="0" rIns="0" bIns="0" anchor="ctr">
            <a:noAutofit/>
          </a:bodyPr>
          <a:lstStyle/>
          <a:p>
            <a:pPr algn="l">
              <a:buNone/>
            </a:pPr>
            <a:r>
              <a:rPr lang="en-US" sz="1000" b="1" dirty="0">
                <a:solidFill>
                  <a:srgbClr val="2DD4BF"/>
                </a:solidFill>
                <a:latin typeface="Segoe UI"/>
              </a:rPr>
              <a:t>RETRIEVED CONTEXT</a:t>
            </a:r>
          </a:p>
          <a:p>
            <a:pPr algn="l">
              <a:spcBef>
                <a:spcPts val="200"/>
              </a:spcBef>
              <a:buNone/>
            </a:pPr>
            <a:r>
              <a:rPr lang="en-US" sz="1200" b="1" dirty="0">
                <a:solidFill>
                  <a:srgbClr val="2DD4BF"/>
                </a:solidFill>
                <a:latin typeface="Consolas"/>
              </a:rPr>
              <a:t>[HR_Handbook_2026.pdf §4.2]</a:t>
            </a:r>
          </a:p>
          <a:p>
            <a:pPr algn="l">
              <a:buNone/>
            </a:pPr>
            <a:r>
              <a:rPr lang="en-US" sz="1200" b="0" dirty="0">
                <a:solidFill>
                  <a:srgbClr val="E2E8F0"/>
                </a:solidFill>
                <a:latin typeface="Consolas"/>
              </a:rPr>
              <a:t>"Employees accrue 15 paid leave days/year."</a:t>
            </a:r>
          </a:p>
          <a:p>
            <a:pPr algn="l">
              <a:buNone/>
            </a:pPr>
            <a:r>
              <a:rPr lang="en-US" sz="1200" b="1" dirty="0">
                <a:solidFill>
                  <a:srgbClr val="2DD4BF"/>
                </a:solidFill>
                <a:latin typeface="Consolas"/>
              </a:rPr>
              <a:t>[Policy_Update.pdf §2]</a:t>
            </a:r>
          </a:p>
          <a:p>
            <a:pPr algn="l">
              <a:buNone/>
            </a:pPr>
            <a:r>
              <a:rPr lang="en-US" sz="1200" b="0" dirty="0">
                <a:solidFill>
                  <a:srgbClr val="E2E8F0"/>
                </a:solidFill>
                <a:latin typeface="Consolas"/>
              </a:rPr>
              <a:t>"Up to 5 days may be carried over."</a:t>
            </a:r>
          </a:p>
        </p:txBody>
      </p:sp>
      <p:sp>
        <p:nvSpPr>
          <p:cNvPr id="112" name="Example 113"/>
          <p:cNvSpPr/>
          <p:nvPr/>
        </p:nvSpPr>
        <p:spPr>
          <a:xfrm>
            <a:off x="812800" y="4470400"/>
            <a:ext cx="5867400" cy="7112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3" name="Example 114"/>
          <p:cNvSpPr/>
          <p:nvPr/>
        </p:nvSpPr>
        <p:spPr>
          <a:xfrm>
            <a:off x="812800" y="4572000"/>
            <a:ext cx="38100" cy="508000"/>
          </a:xfrm>
          <a:prstGeom prst="rect">
            <a:avLst/>
          </a:prstGeom>
          <a:solidFill>
            <a:srgbClr val="2DD4BF"/>
          </a:solidFill>
          <a:ln>
            <a:noFill/>
          </a:ln>
        </p:spPr>
        <p:txBody>
          <a:bodyPr wrap="square" lIns="0" tIns="0" rIns="0" bIns="0" anchor="t">
            <a:noAutofit/>
          </a:bodyPr>
          <a:lstStyle/>
          <a:p>
            <a:endParaRPr lang="en-US"/>
          </a:p>
        </p:txBody>
      </p:sp>
      <p:sp>
        <p:nvSpPr>
          <p:cNvPr id="114" name="Example 115"/>
          <p:cNvSpPr/>
          <p:nvPr/>
        </p:nvSpPr>
        <p:spPr>
          <a:xfrm>
            <a:off x="990600" y="4521200"/>
            <a:ext cx="5588000" cy="609600"/>
          </a:xfrm>
          <a:prstGeom prst="rect">
            <a:avLst/>
          </a:prstGeom>
          <a:noFill/>
          <a:ln>
            <a:noFill/>
          </a:ln>
        </p:spPr>
        <p:txBody>
          <a:bodyPr wrap="square" lIns="0" tIns="0" rIns="0" bIns="0" anchor="ctr">
            <a:noAutofit/>
          </a:bodyPr>
          <a:lstStyle/>
          <a:p>
            <a:pPr algn="l">
              <a:buNone/>
            </a:pPr>
            <a:r>
              <a:rPr lang="en-US" sz="1000" b="1" dirty="0">
                <a:solidFill>
                  <a:srgbClr val="2DD4BF"/>
                </a:solidFill>
                <a:latin typeface="Segoe UI"/>
              </a:rPr>
              <a:t>USER QUESTION</a:t>
            </a:r>
          </a:p>
          <a:p>
            <a:pPr algn="l">
              <a:spcBef>
                <a:spcPts val="200"/>
              </a:spcBef>
              <a:buNone/>
            </a:pPr>
            <a:r>
              <a:rPr lang="en-US" sz="1200" b="0" dirty="0">
                <a:solidFill>
                  <a:srgbClr val="E2E8F0"/>
                </a:solidFill>
                <a:latin typeface="Consolas"/>
              </a:rPr>
              <a:t>What's our leave policy, and can I carry over unused days?</a:t>
            </a:r>
          </a:p>
        </p:txBody>
      </p:sp>
      <p:sp>
        <p:nvSpPr>
          <p:cNvPr id="115" name="Example 116"/>
          <p:cNvSpPr/>
          <p:nvPr/>
        </p:nvSpPr>
        <p:spPr>
          <a:xfrm>
            <a:off x="812800" y="5308600"/>
            <a:ext cx="5867400" cy="9144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116" name="Example 117"/>
          <p:cNvSpPr/>
          <p:nvPr/>
        </p:nvSpPr>
        <p:spPr>
          <a:xfrm>
            <a:off x="812800" y="5410200"/>
            <a:ext cx="38100" cy="711200"/>
          </a:xfrm>
          <a:prstGeom prst="rect">
            <a:avLst/>
          </a:prstGeom>
          <a:solidFill>
            <a:srgbClr val="2DD4BF"/>
          </a:solidFill>
          <a:ln>
            <a:noFill/>
          </a:ln>
        </p:spPr>
        <p:txBody>
          <a:bodyPr wrap="square" lIns="0" tIns="0" rIns="0" bIns="0" anchor="t">
            <a:noAutofit/>
          </a:bodyPr>
          <a:lstStyle/>
          <a:p>
            <a:endParaRPr lang="en-US"/>
          </a:p>
        </p:txBody>
      </p:sp>
      <p:sp>
        <p:nvSpPr>
          <p:cNvPr id="117" name="Example 118"/>
          <p:cNvSpPr/>
          <p:nvPr/>
        </p:nvSpPr>
        <p:spPr>
          <a:xfrm>
            <a:off x="990600" y="5359400"/>
            <a:ext cx="5588000" cy="812800"/>
          </a:xfrm>
          <a:prstGeom prst="rect">
            <a:avLst/>
          </a:prstGeom>
          <a:noFill/>
          <a:ln>
            <a:noFill/>
          </a:ln>
        </p:spPr>
        <p:txBody>
          <a:bodyPr wrap="square" lIns="0" tIns="0" rIns="0" bIns="0" anchor="ctr">
            <a:noAutofit/>
          </a:bodyPr>
          <a:lstStyle/>
          <a:p>
            <a:pPr algn="l">
              <a:buNone/>
            </a:pPr>
            <a:r>
              <a:rPr lang="en-US" sz="1000" b="1" dirty="0">
                <a:solidFill>
                  <a:srgbClr val="2DD4BF"/>
                </a:solidFill>
                <a:latin typeface="Segoe UI"/>
              </a:rPr>
              <a:t>GUARDRAILS</a:t>
            </a:r>
          </a:p>
          <a:p>
            <a:pPr algn="l">
              <a:spcBef>
                <a:spcPts val="200"/>
              </a:spcBef>
              <a:buNone/>
            </a:pPr>
            <a:r>
              <a:rPr lang="en-US" sz="1200" b="0" dirty="0">
                <a:solidFill>
                  <a:srgbClr val="E2E8F0"/>
                </a:solidFill>
                <a:latin typeface="Consolas"/>
              </a:rPr>
              <a:t>If the context doesn’t contain the answer, say "I don’t have that information." Never guess.</a:t>
            </a:r>
          </a:p>
        </p:txBody>
      </p:sp>
      <p:sp>
        <p:nvSpPr>
          <p:cNvPr id="118" name="Example 119"/>
          <p:cNvSpPr/>
          <p:nvPr/>
        </p:nvSpPr>
        <p:spPr>
          <a:xfrm>
            <a:off x="7010400" y="3708400"/>
            <a:ext cx="330200" cy="279400"/>
          </a:xfrm>
          <a:prstGeom prst="rightArrow">
            <a:avLst/>
          </a:prstGeom>
          <a:solidFill>
            <a:srgbClr val="475569"/>
          </a:solidFill>
          <a:ln>
            <a:noFill/>
          </a:ln>
        </p:spPr>
        <p:txBody>
          <a:bodyPr wrap="square" lIns="0" tIns="0" rIns="0" bIns="0" anchor="t">
            <a:noAutofit/>
          </a:bodyPr>
          <a:lstStyle/>
          <a:p>
            <a:endParaRPr lang="en-US"/>
          </a:p>
        </p:txBody>
      </p:sp>
      <p:sp>
        <p:nvSpPr>
          <p:cNvPr id="119" name="Example 120"/>
          <p:cNvSpPr/>
          <p:nvPr/>
        </p:nvSpPr>
        <p:spPr>
          <a:xfrm>
            <a:off x="7493000" y="1371600"/>
            <a:ext cx="4051300" cy="4953000"/>
          </a:xfrm>
          <a:prstGeom prst="roundRect">
            <a:avLst>
              <a:gd name="adj" fmla="val 4000"/>
            </a:avLst>
          </a:prstGeom>
          <a:solidFill>
            <a:srgbClr val="0F2A30"/>
          </a:solidFill>
          <a:ln w="19050">
            <a:solidFill>
              <a:srgbClr val="2DD4BF"/>
            </a:solidFill>
          </a:ln>
        </p:spPr>
        <p:txBody>
          <a:bodyPr wrap="square" lIns="0" tIns="0" rIns="0" bIns="0" anchor="t">
            <a:noAutofit/>
          </a:bodyPr>
          <a:lstStyle/>
          <a:p>
            <a:endParaRPr lang="en-US"/>
          </a:p>
        </p:txBody>
      </p:sp>
      <p:sp>
        <p:nvSpPr>
          <p:cNvPr id="120" name="Example 121"/>
          <p:cNvSpPr/>
          <p:nvPr/>
        </p:nvSpPr>
        <p:spPr>
          <a:xfrm>
            <a:off x="7696200" y="1511300"/>
            <a:ext cx="3644900" cy="203200"/>
          </a:xfrm>
          <a:prstGeom prst="rect">
            <a:avLst/>
          </a:prstGeom>
          <a:noFill/>
          <a:ln>
            <a:noFill/>
          </a:ln>
        </p:spPr>
        <p:txBody>
          <a:bodyPr wrap="square" lIns="0" tIns="0" rIns="0" bIns="0" anchor="t">
            <a:noAutofit/>
          </a:bodyPr>
          <a:lstStyle/>
          <a:p>
            <a:pPr algn="l">
              <a:buNone/>
            </a:pPr>
            <a:r>
              <a:rPr lang="en-US" sz="1050" b="1" dirty="0">
                <a:solidFill>
                  <a:srgbClr val="2DD4BF"/>
                </a:solidFill>
                <a:latin typeface="Segoe UI"/>
              </a:rPr>
              <a:t>MODEL'S ANSWER</a:t>
            </a:r>
          </a:p>
        </p:txBody>
      </p:sp>
      <p:sp>
        <p:nvSpPr>
          <p:cNvPr id="121" name="Example 122"/>
          <p:cNvSpPr/>
          <p:nvPr/>
        </p:nvSpPr>
        <p:spPr>
          <a:xfrm>
            <a:off x="7493000" y="1828800"/>
            <a:ext cx="4051300" cy="127"/>
          </a:xfrm>
          <a:prstGeom prst="line">
            <a:avLst/>
          </a:prstGeom>
          <a:noFill/>
          <a:ln w="12700">
            <a:solidFill>
              <a:srgbClr val="1F5F5A"/>
            </a:solidFill>
          </a:ln>
        </p:spPr>
        <p:txBody>
          <a:bodyPr wrap="square" lIns="0" tIns="0" rIns="0" bIns="0" anchor="t">
            <a:noAutofit/>
          </a:bodyPr>
          <a:lstStyle/>
          <a:p>
            <a:endParaRPr lang="en-US"/>
          </a:p>
        </p:txBody>
      </p:sp>
      <p:sp>
        <p:nvSpPr>
          <p:cNvPr id="122" name="Example 123"/>
          <p:cNvSpPr/>
          <p:nvPr/>
        </p:nvSpPr>
        <p:spPr>
          <a:xfrm>
            <a:off x="7696200" y="2057400"/>
            <a:ext cx="3644900" cy="965200"/>
          </a:xfrm>
          <a:prstGeom prst="rect">
            <a:avLst/>
          </a:prstGeom>
          <a:noFill/>
          <a:ln>
            <a:noFill/>
          </a:ln>
        </p:spPr>
        <p:txBody>
          <a:bodyPr wrap="square" lIns="0" tIns="0" rIns="0" bIns="0" anchor="t">
            <a:noAutofit/>
          </a:bodyPr>
          <a:lstStyle/>
          <a:p>
            <a:pPr algn="l">
              <a:buNone/>
            </a:pPr>
            <a:r>
              <a:rPr lang="en-US" sz="1600" b="0" dirty="0">
                <a:solidFill>
                  <a:srgbClr val="F1F5F9"/>
                </a:solidFill>
                <a:latin typeface="Segoe UI"/>
              </a:rPr>
              <a:t>Employees accrue 15 paid leave days per year, and up to 5 may be carried over.</a:t>
            </a:r>
          </a:p>
        </p:txBody>
      </p:sp>
      <p:sp>
        <p:nvSpPr>
          <p:cNvPr id="123" name="Example 124"/>
          <p:cNvSpPr/>
          <p:nvPr/>
        </p:nvSpPr>
        <p:spPr>
          <a:xfrm>
            <a:off x="7696200" y="3225800"/>
            <a:ext cx="3644900" cy="203200"/>
          </a:xfrm>
          <a:prstGeom prst="rect">
            <a:avLst/>
          </a:prstGeom>
          <a:noFill/>
          <a:ln>
            <a:noFill/>
          </a:ln>
        </p:spPr>
        <p:txBody>
          <a:bodyPr wrap="square" lIns="0" tIns="0" rIns="0" bIns="0" anchor="t">
            <a:noAutofit/>
          </a:bodyPr>
          <a:lstStyle/>
          <a:p>
            <a:pPr algn="l">
              <a:buNone/>
            </a:pPr>
            <a:r>
              <a:rPr lang="en-US" sz="1000" b="1" dirty="0">
                <a:solidFill>
                  <a:srgbClr val="94A3B8"/>
                </a:solidFill>
                <a:latin typeface="Segoe UI"/>
              </a:rPr>
              <a:t>SOURCE CITATIONS</a:t>
            </a:r>
          </a:p>
        </p:txBody>
      </p:sp>
      <p:sp>
        <p:nvSpPr>
          <p:cNvPr id="124" name="Example 125"/>
          <p:cNvSpPr/>
          <p:nvPr/>
        </p:nvSpPr>
        <p:spPr>
          <a:xfrm>
            <a:off x="7696200" y="3505200"/>
            <a:ext cx="2946400" cy="355600"/>
          </a:xfrm>
          <a:prstGeom prst="roundRect">
            <a:avLst>
              <a:gd name="adj" fmla="val 30000"/>
            </a:avLst>
          </a:prstGeom>
          <a:solidFill>
            <a:srgbClr val="0B1222"/>
          </a:solidFill>
          <a:ln w="12700">
            <a:solidFill>
              <a:srgbClr val="1F5F5A"/>
            </a:solidFill>
          </a:ln>
        </p:spPr>
        <p:txBody>
          <a:bodyPr wrap="square" lIns="127000" tIns="0" rIns="127000" bIns="0" anchor="ctr">
            <a:noAutofit/>
          </a:bodyPr>
          <a:lstStyle/>
          <a:p>
            <a:pPr algn="l">
              <a:buNone/>
            </a:pPr>
            <a:r>
              <a:rPr lang="en-US" sz="1150" b="1" dirty="0">
                <a:solidFill>
                  <a:srgbClr val="2DD4BF"/>
                </a:solidFill>
                <a:latin typeface="Consolas"/>
              </a:rPr>
              <a:t>[HR_Handbook_2026.pdf §4.2]</a:t>
            </a:r>
          </a:p>
        </p:txBody>
      </p:sp>
      <p:sp>
        <p:nvSpPr>
          <p:cNvPr id="125" name="Example 126"/>
          <p:cNvSpPr/>
          <p:nvPr/>
        </p:nvSpPr>
        <p:spPr>
          <a:xfrm>
            <a:off x="7696200" y="3962400"/>
            <a:ext cx="2438400" cy="355600"/>
          </a:xfrm>
          <a:prstGeom prst="roundRect">
            <a:avLst>
              <a:gd name="adj" fmla="val 30000"/>
            </a:avLst>
          </a:prstGeom>
          <a:solidFill>
            <a:srgbClr val="0B1222"/>
          </a:solidFill>
          <a:ln w="12700">
            <a:solidFill>
              <a:srgbClr val="1F5F5A"/>
            </a:solidFill>
          </a:ln>
        </p:spPr>
        <p:txBody>
          <a:bodyPr wrap="square" lIns="127000" tIns="0" rIns="127000" bIns="0" anchor="ctr">
            <a:noAutofit/>
          </a:bodyPr>
          <a:lstStyle/>
          <a:p>
            <a:pPr algn="l">
              <a:buNone/>
            </a:pPr>
            <a:r>
              <a:rPr lang="en-US" sz="1150" b="1" dirty="0">
                <a:solidFill>
                  <a:srgbClr val="2DD4BF"/>
                </a:solidFill>
                <a:latin typeface="Consolas"/>
              </a:rPr>
              <a:t>[Policy_Update.pdf §2]</a:t>
            </a:r>
          </a:p>
        </p:txBody>
      </p:sp>
      <p:sp>
        <p:nvSpPr>
          <p:cNvPr id="126" name="Example 127"/>
          <p:cNvSpPr/>
          <p:nvPr/>
        </p:nvSpPr>
        <p:spPr>
          <a:xfrm>
            <a:off x="7696200" y="4572000"/>
            <a:ext cx="3644900" cy="127"/>
          </a:xfrm>
          <a:prstGeom prst="line">
            <a:avLst/>
          </a:prstGeom>
          <a:noFill/>
          <a:ln w="12700">
            <a:solidFill>
              <a:srgbClr val="1F5F5A"/>
            </a:solidFill>
          </a:ln>
        </p:spPr>
        <p:txBody>
          <a:bodyPr wrap="square" lIns="0" tIns="0" rIns="0" bIns="0" anchor="t">
            <a:noAutofit/>
          </a:bodyPr>
          <a:lstStyle/>
          <a:p>
            <a:endParaRPr lang="en-US"/>
          </a:p>
        </p:txBody>
      </p:sp>
      <p:sp>
        <p:nvSpPr>
          <p:cNvPr id="127" name="Example 128"/>
          <p:cNvSpPr/>
          <p:nvPr/>
        </p:nvSpPr>
        <p:spPr>
          <a:xfrm>
            <a:off x="7696200" y="4749800"/>
            <a:ext cx="3644900" cy="203200"/>
          </a:xfrm>
          <a:prstGeom prst="rect">
            <a:avLst/>
          </a:prstGeom>
          <a:noFill/>
          <a:ln>
            <a:noFill/>
          </a:ln>
        </p:spPr>
        <p:txBody>
          <a:bodyPr wrap="square" lIns="0" tIns="0" rIns="0" bIns="0" anchor="t">
            <a:noAutofit/>
          </a:bodyPr>
          <a:lstStyle/>
          <a:p>
            <a:pPr algn="l">
              <a:buNone/>
            </a:pPr>
            <a:r>
              <a:rPr lang="en-US" sz="1000" b="1" dirty="0">
                <a:solidFill>
                  <a:srgbClr val="94A3B8"/>
                </a:solidFill>
                <a:latin typeface="Segoe UI"/>
              </a:rPr>
              <a:t>WHAT TO NOTICE</a:t>
            </a:r>
          </a:p>
        </p:txBody>
      </p:sp>
      <p:sp>
        <p:nvSpPr>
          <p:cNvPr id="128" name="Example 129"/>
          <p:cNvSpPr/>
          <p:nvPr/>
        </p:nvSpPr>
        <p:spPr>
          <a:xfrm>
            <a:off x="7696200" y="5029200"/>
            <a:ext cx="3644900" cy="1143000"/>
          </a:xfrm>
          <a:prstGeom prst="rect">
            <a:avLst/>
          </a:prstGeom>
          <a:noFill/>
          <a:ln>
            <a:noFill/>
          </a:ln>
        </p:spPr>
        <p:txBody>
          <a:bodyPr wrap="square" lIns="0" tIns="0" rIns="0" bIns="0" anchor="t">
            <a:noAutofit/>
          </a:bodyPr>
          <a:lstStyle/>
          <a:p>
            <a:pPr marL="190500" indent="-190500" algn="l">
              <a:buClr>
                <a:srgbClr val="2DD4BF"/>
              </a:buClr>
              <a:buFont typeface="Arial"/>
              <a:buChar char="•"/>
            </a:pPr>
            <a:r>
              <a:rPr lang="en-US" sz="1400" b="0" dirty="0">
                <a:solidFill>
                  <a:srgbClr val="E2E8F0"/>
                </a:solidFill>
                <a:latin typeface="Segoe UI"/>
              </a:rPr>
              <a:t>Each fact matches a retrieved chunk</a:t>
            </a:r>
          </a:p>
          <a:p>
            <a:pPr marL="190500" indent="-190500" algn="l">
              <a:spcBef>
                <a:spcPts val="600"/>
              </a:spcBef>
              <a:buClr>
                <a:srgbClr val="2DD4BF"/>
              </a:buClr>
              <a:buFont typeface="Arial"/>
              <a:buChar char="•"/>
            </a:pPr>
            <a:r>
              <a:rPr lang="en-US" sz="1400" b="0" dirty="0">
                <a:solidFill>
                  <a:srgbClr val="E2E8F0"/>
                </a:solidFill>
                <a:latin typeface="Segoe UI"/>
              </a:rPr>
              <a:t>Citations reuse the context’s source tags</a:t>
            </a:r>
          </a:p>
          <a:p>
            <a:pPr marL="190500" indent="-190500" algn="l">
              <a:spcBef>
                <a:spcPts val="600"/>
              </a:spcBef>
              <a:buClr>
                <a:srgbClr val="2DD4BF"/>
              </a:buClr>
              <a:buFont typeface="Arial"/>
              <a:buChar char="•"/>
            </a:pPr>
            <a:r>
              <a:rPr lang="en-US" sz="1400" b="0" dirty="0">
                <a:solidFill>
                  <a:srgbClr val="E2E8F0"/>
                </a:solidFill>
                <a:latin typeface="Segoe UI"/>
              </a:rPr>
              <a:t>Nothing is added beyond the context</a:t>
            </a:r>
          </a:p>
        </p:txBody>
      </p:sp>
      <p:sp>
        <p:nvSpPr>
          <p:cNvPr id="14" name="TextBox 1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15" name="TextBox 1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31</a:t>
            </a:r>
          </a:p>
        </p:txBody>
      </p:sp>
    </p:spTree>
    <p:extLst>
      <p:ext uri="{BB962C8B-B14F-4D97-AF65-F5344CB8AC3E}">
        <p14:creationId xmlns:p14="http://schemas.microsoft.com/office/powerpoint/2010/main" val="3736317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828800" y="-2286000"/>
            <a:ext cx="9144000" cy="91440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2286000"/>
            <a:ext cx="1554480" cy="54864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800" b="1">
                <a:solidFill>
                  <a:srgbClr val="2DD4BF"/>
                </a:solidFill>
                <a:latin typeface="Segoe UI"/>
              </a:rPr>
              <a:t>PART III</a:t>
            </a:r>
          </a:p>
        </p:txBody>
      </p:sp>
      <p:sp>
        <p:nvSpPr>
          <p:cNvPr id="5" name="TextBox 4"/>
          <p:cNvSpPr txBox="1"/>
          <p:nvPr/>
        </p:nvSpPr>
        <p:spPr>
          <a:xfrm>
            <a:off x="777240" y="3017520"/>
            <a:ext cx="10058400" cy="1005840"/>
          </a:xfrm>
          <a:prstGeom prst="rect">
            <a:avLst/>
          </a:prstGeom>
          <a:noFill/>
        </p:spPr>
        <p:txBody>
          <a:bodyPr wrap="square" lIns="0" tIns="0" rIns="0" bIns="0" anchor="t">
            <a:spAutoFit/>
          </a:bodyPr>
          <a:lstStyle/>
          <a:p>
            <a:pPr algn="l"/>
            <a:r>
              <a:rPr sz="3600" b="1" i="0">
                <a:solidFill>
                  <a:srgbClr val="F1F5F9"/>
                </a:solidFill>
                <a:latin typeface="Segoe UI"/>
              </a:rPr>
              <a:t>Production Engineering</a:t>
            </a:r>
          </a:p>
        </p:txBody>
      </p:sp>
      <p:sp>
        <p:nvSpPr>
          <p:cNvPr id="6" name="TextBox 5"/>
          <p:cNvSpPr txBox="1"/>
          <p:nvPr/>
        </p:nvSpPr>
        <p:spPr>
          <a:xfrm>
            <a:off x="822960" y="3977639"/>
            <a:ext cx="9418320" cy="640080"/>
          </a:xfrm>
          <a:prstGeom prst="rect">
            <a:avLst/>
          </a:prstGeom>
          <a:noFill/>
        </p:spPr>
        <p:txBody>
          <a:bodyPr wrap="square" lIns="0" tIns="0" rIns="0" bIns="0" anchor="t">
            <a:spAutoFit/>
          </a:bodyPr>
          <a:lstStyle/>
          <a:p>
            <a:pPr algn="l"/>
            <a:r>
              <a:rPr sz="1500" b="0" i="0">
                <a:solidFill>
                  <a:srgbClr val="94A3B8"/>
                </a:solidFill>
                <a:latin typeface="Segoe UI"/>
              </a:rPr>
              <a:t>The enterprise concerns that separate a prototype from a system you can actually ship</a:t>
            </a:r>
          </a:p>
        </p:txBody>
      </p:sp>
      <p:sp>
        <p:nvSpPr>
          <p:cNvPr id="7" name="TextBox 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32</a:t>
            </a:r>
          </a:p>
        </p:txBody>
      </p:sp>
    </p:spTree>
    <p:extLst>
      <p:ext uri="{BB962C8B-B14F-4D97-AF65-F5344CB8AC3E}">
        <p14:creationId xmlns:p14="http://schemas.microsoft.com/office/powerpoint/2010/main" val="2796232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PRODUCTION ARCHITECTURE</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Enterprise concerns for production RAG</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400" name="Concern 401"/>
          <p:cNvSpPr/>
          <p:nvPr/>
        </p:nvSpPr>
        <p:spPr>
          <a:xfrm>
            <a:off x="635000" y="1397000"/>
            <a:ext cx="2593975"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401" name="Concern 402"/>
          <p:cNvSpPr/>
          <p:nvPr/>
        </p:nvSpPr>
        <p:spPr>
          <a:xfrm>
            <a:off x="838200" y="1600200"/>
            <a:ext cx="508000" cy="508000"/>
          </a:xfrm>
          <a:prstGeom prst="roundRect">
            <a:avLst>
              <a:gd name="adj" fmla="val 22000"/>
            </a:avLst>
          </a:prstGeom>
          <a:solidFill>
            <a:srgbClr val="0F2A30"/>
          </a:solidFill>
          <a:ln w="12700">
            <a:solidFill>
              <a:srgbClr val="1F5F5A"/>
            </a:solidFill>
          </a:ln>
        </p:spPr>
        <p:txBody>
          <a:bodyPr wrap="square" lIns="0" tIns="0" rIns="0" bIns="0" anchor="t">
            <a:noAutofit/>
          </a:bodyPr>
          <a:lstStyle/>
          <a:p>
            <a:endParaRPr lang="en-US"/>
          </a:p>
        </p:txBody>
      </p:sp>
      <p:sp>
        <p:nvSpPr>
          <p:cNvPr id="402" name="Concern 403"/>
          <p:cNvSpPr/>
          <p:nvPr/>
        </p:nvSpPr>
        <p:spPr>
          <a:xfrm>
            <a:off x="1524000" y="1625600"/>
            <a:ext cx="1501775"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01</a:t>
            </a:r>
          </a:p>
        </p:txBody>
      </p:sp>
      <p:sp>
        <p:nvSpPr>
          <p:cNvPr id="403" name="Concern 404"/>
          <p:cNvSpPr/>
          <p:nvPr/>
        </p:nvSpPr>
        <p:spPr>
          <a:xfrm>
            <a:off x="838200" y="2235200"/>
            <a:ext cx="2187575" cy="304800"/>
          </a:xfrm>
          <a:prstGeom prst="rect">
            <a:avLst/>
          </a:prstGeom>
          <a:noFill/>
          <a:ln>
            <a:noFill/>
          </a:ln>
        </p:spPr>
        <p:txBody>
          <a:bodyPr wrap="square" lIns="0" tIns="0" rIns="0" bIns="0" anchor="t">
            <a:noAutofit/>
          </a:bodyPr>
          <a:lstStyle/>
          <a:p>
            <a:pPr algn="l">
              <a:buNone/>
            </a:pPr>
            <a:r>
              <a:rPr lang="en-US" sz="1700" b="1" dirty="0">
                <a:solidFill>
                  <a:srgbClr val="F1F5F9"/>
                </a:solidFill>
                <a:latin typeface="Segoe UI"/>
              </a:rPr>
              <a:t>Security</a:t>
            </a:r>
          </a:p>
        </p:txBody>
      </p:sp>
      <p:sp>
        <p:nvSpPr>
          <p:cNvPr id="404" name="Concern 405"/>
          <p:cNvSpPr/>
          <p:nvPr/>
        </p:nvSpPr>
        <p:spPr>
          <a:xfrm>
            <a:off x="838200" y="2590800"/>
            <a:ext cx="2187575" cy="508000"/>
          </a:xfrm>
          <a:prstGeom prst="rect">
            <a:avLst/>
          </a:prstGeom>
          <a:noFill/>
          <a:ln>
            <a:noFill/>
          </a:ln>
        </p:spPr>
        <p:txBody>
          <a:bodyPr wrap="square" lIns="0" tIns="0" rIns="0" bIns="0" anchor="t">
            <a:noAutofit/>
          </a:bodyPr>
          <a:lstStyle/>
          <a:p>
            <a:pPr algn="l">
              <a:buNone/>
            </a:pPr>
            <a:r>
              <a:rPr lang="en-US" sz="1300" b="0" dirty="0">
                <a:solidFill>
                  <a:srgbClr val="B8C2D3"/>
                </a:solidFill>
                <a:latin typeface="Segoe UI"/>
              </a:rPr>
              <a:t>Who can see which documents?</a:t>
            </a:r>
          </a:p>
        </p:txBody>
      </p:sp>
      <p:sp>
        <p:nvSpPr>
          <p:cNvPr id="405" name="Concern 406"/>
          <p:cNvSpPr/>
          <p:nvPr/>
        </p:nvSpPr>
        <p:spPr>
          <a:xfrm>
            <a:off x="838200" y="3175000"/>
            <a:ext cx="2187575" cy="127"/>
          </a:xfrm>
          <a:prstGeom prst="line">
            <a:avLst/>
          </a:prstGeom>
          <a:noFill/>
          <a:ln w="12700">
            <a:solidFill>
              <a:srgbClr val="2A3650"/>
            </a:solidFill>
          </a:ln>
        </p:spPr>
        <p:txBody>
          <a:bodyPr wrap="square" lIns="0" tIns="0" rIns="0" bIns="0" anchor="t">
            <a:noAutofit/>
          </a:bodyPr>
          <a:lstStyle/>
          <a:p>
            <a:endParaRPr lang="en-US"/>
          </a:p>
        </p:txBody>
      </p:sp>
      <p:sp>
        <p:nvSpPr>
          <p:cNvPr id="406" name="Concern 407"/>
          <p:cNvSpPr/>
          <p:nvPr/>
        </p:nvSpPr>
        <p:spPr>
          <a:xfrm>
            <a:off x="838200" y="33528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Authentication</a:t>
            </a:r>
          </a:p>
        </p:txBody>
      </p:sp>
      <p:sp>
        <p:nvSpPr>
          <p:cNvPr id="407" name="Concern 408"/>
          <p:cNvSpPr/>
          <p:nvPr/>
        </p:nvSpPr>
        <p:spPr>
          <a:xfrm>
            <a:off x="838200" y="38989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Authorization</a:t>
            </a:r>
          </a:p>
        </p:txBody>
      </p:sp>
      <p:sp>
        <p:nvSpPr>
          <p:cNvPr id="408" name="Concern 409"/>
          <p:cNvSpPr/>
          <p:nvPr/>
        </p:nvSpPr>
        <p:spPr>
          <a:xfrm>
            <a:off x="838200" y="44450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Tenant isolation</a:t>
            </a:r>
          </a:p>
        </p:txBody>
      </p:sp>
      <p:sp>
        <p:nvSpPr>
          <p:cNvPr id="409" name="Concern 410"/>
          <p:cNvSpPr/>
          <p:nvPr/>
        </p:nvSpPr>
        <p:spPr>
          <a:xfrm>
            <a:off x="838200" y="49911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Prompt injection</a:t>
            </a:r>
          </a:p>
        </p:txBody>
      </p:sp>
      <p:sp>
        <p:nvSpPr>
          <p:cNvPr id="410" name="Concern 411"/>
          <p:cNvSpPr/>
          <p:nvPr/>
        </p:nvSpPr>
        <p:spPr>
          <a:xfrm>
            <a:off x="3406775" y="1397000"/>
            <a:ext cx="2593975"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411" name="Concern 412"/>
          <p:cNvSpPr/>
          <p:nvPr/>
        </p:nvSpPr>
        <p:spPr>
          <a:xfrm>
            <a:off x="3609975" y="1600200"/>
            <a:ext cx="508000" cy="508000"/>
          </a:xfrm>
          <a:prstGeom prst="roundRect">
            <a:avLst>
              <a:gd name="adj" fmla="val 22000"/>
            </a:avLst>
          </a:prstGeom>
          <a:solidFill>
            <a:srgbClr val="0F2A30"/>
          </a:solidFill>
          <a:ln w="12700">
            <a:solidFill>
              <a:srgbClr val="1F5F5A"/>
            </a:solidFill>
          </a:ln>
        </p:spPr>
        <p:txBody>
          <a:bodyPr wrap="square" lIns="0" tIns="0" rIns="0" bIns="0" anchor="t">
            <a:noAutofit/>
          </a:bodyPr>
          <a:lstStyle/>
          <a:p>
            <a:endParaRPr lang="en-US"/>
          </a:p>
        </p:txBody>
      </p:sp>
      <p:sp>
        <p:nvSpPr>
          <p:cNvPr id="412" name="Concern 413"/>
          <p:cNvSpPr/>
          <p:nvPr/>
        </p:nvSpPr>
        <p:spPr>
          <a:xfrm>
            <a:off x="4295775" y="1625600"/>
            <a:ext cx="1501775"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02</a:t>
            </a:r>
          </a:p>
        </p:txBody>
      </p:sp>
      <p:sp>
        <p:nvSpPr>
          <p:cNvPr id="413" name="Concern 414"/>
          <p:cNvSpPr/>
          <p:nvPr/>
        </p:nvSpPr>
        <p:spPr>
          <a:xfrm>
            <a:off x="3609975" y="2235200"/>
            <a:ext cx="2187575" cy="304800"/>
          </a:xfrm>
          <a:prstGeom prst="rect">
            <a:avLst/>
          </a:prstGeom>
          <a:noFill/>
          <a:ln>
            <a:noFill/>
          </a:ln>
        </p:spPr>
        <p:txBody>
          <a:bodyPr wrap="square" lIns="0" tIns="0" rIns="0" bIns="0" anchor="t">
            <a:noAutofit/>
          </a:bodyPr>
          <a:lstStyle/>
          <a:p>
            <a:pPr algn="l">
              <a:buNone/>
            </a:pPr>
            <a:r>
              <a:rPr lang="en-US" sz="1700" b="1" dirty="0">
                <a:solidFill>
                  <a:srgbClr val="F1F5F9"/>
                </a:solidFill>
                <a:latin typeface="Segoe UI"/>
              </a:rPr>
              <a:t>Reliability</a:t>
            </a:r>
          </a:p>
        </p:txBody>
      </p:sp>
      <p:sp>
        <p:nvSpPr>
          <p:cNvPr id="414" name="Concern 415"/>
          <p:cNvSpPr/>
          <p:nvPr/>
        </p:nvSpPr>
        <p:spPr>
          <a:xfrm>
            <a:off x="3609975" y="2590800"/>
            <a:ext cx="2187575" cy="508000"/>
          </a:xfrm>
          <a:prstGeom prst="rect">
            <a:avLst/>
          </a:prstGeom>
          <a:noFill/>
          <a:ln>
            <a:noFill/>
          </a:ln>
        </p:spPr>
        <p:txBody>
          <a:bodyPr wrap="square" lIns="0" tIns="0" rIns="0" bIns="0" anchor="t">
            <a:noAutofit/>
          </a:bodyPr>
          <a:lstStyle/>
          <a:p>
            <a:pPr algn="l">
              <a:buNone/>
            </a:pPr>
            <a:r>
              <a:rPr lang="en-US" sz="1300" b="0" dirty="0">
                <a:solidFill>
                  <a:srgbClr val="B8C2D3"/>
                </a:solidFill>
                <a:latin typeface="Segoe UI"/>
              </a:rPr>
              <a:t>Does it keep answering under load?</a:t>
            </a:r>
          </a:p>
        </p:txBody>
      </p:sp>
      <p:sp>
        <p:nvSpPr>
          <p:cNvPr id="415" name="Concern 416"/>
          <p:cNvSpPr/>
          <p:nvPr/>
        </p:nvSpPr>
        <p:spPr>
          <a:xfrm>
            <a:off x="3609975" y="3175000"/>
            <a:ext cx="2187575" cy="127"/>
          </a:xfrm>
          <a:prstGeom prst="line">
            <a:avLst/>
          </a:prstGeom>
          <a:noFill/>
          <a:ln w="12700">
            <a:solidFill>
              <a:srgbClr val="2A3650"/>
            </a:solidFill>
          </a:ln>
        </p:spPr>
        <p:txBody>
          <a:bodyPr wrap="square" lIns="0" tIns="0" rIns="0" bIns="0" anchor="t">
            <a:noAutofit/>
          </a:bodyPr>
          <a:lstStyle/>
          <a:p>
            <a:endParaRPr lang="en-US"/>
          </a:p>
        </p:txBody>
      </p:sp>
      <p:sp>
        <p:nvSpPr>
          <p:cNvPr id="416" name="Concern 417"/>
          <p:cNvSpPr/>
          <p:nvPr/>
        </p:nvSpPr>
        <p:spPr>
          <a:xfrm>
            <a:off x="3609975" y="33528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Retries</a:t>
            </a:r>
          </a:p>
        </p:txBody>
      </p:sp>
      <p:sp>
        <p:nvSpPr>
          <p:cNvPr id="417" name="Concern 418"/>
          <p:cNvSpPr/>
          <p:nvPr/>
        </p:nvSpPr>
        <p:spPr>
          <a:xfrm>
            <a:off x="3609975" y="38989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Rate limiting</a:t>
            </a:r>
          </a:p>
        </p:txBody>
      </p:sp>
      <p:sp>
        <p:nvSpPr>
          <p:cNvPr id="418" name="Concern 419"/>
          <p:cNvSpPr/>
          <p:nvPr/>
        </p:nvSpPr>
        <p:spPr>
          <a:xfrm>
            <a:off x="3609975" y="44450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High availability</a:t>
            </a:r>
          </a:p>
        </p:txBody>
      </p:sp>
      <p:sp>
        <p:nvSpPr>
          <p:cNvPr id="419" name="Concern 420"/>
          <p:cNvSpPr/>
          <p:nvPr/>
        </p:nvSpPr>
        <p:spPr>
          <a:xfrm>
            <a:off x="3609975" y="49911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Failure handling</a:t>
            </a:r>
          </a:p>
        </p:txBody>
      </p:sp>
      <p:sp>
        <p:nvSpPr>
          <p:cNvPr id="420" name="Concern 421"/>
          <p:cNvSpPr/>
          <p:nvPr/>
        </p:nvSpPr>
        <p:spPr>
          <a:xfrm>
            <a:off x="6178550" y="1397000"/>
            <a:ext cx="2593975"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421" name="Concern 422"/>
          <p:cNvSpPr/>
          <p:nvPr/>
        </p:nvSpPr>
        <p:spPr>
          <a:xfrm>
            <a:off x="6381750" y="1600200"/>
            <a:ext cx="508000" cy="508000"/>
          </a:xfrm>
          <a:prstGeom prst="roundRect">
            <a:avLst>
              <a:gd name="adj" fmla="val 22000"/>
            </a:avLst>
          </a:prstGeom>
          <a:solidFill>
            <a:srgbClr val="0F2A30"/>
          </a:solidFill>
          <a:ln w="12700">
            <a:solidFill>
              <a:srgbClr val="1F5F5A"/>
            </a:solidFill>
          </a:ln>
        </p:spPr>
        <p:txBody>
          <a:bodyPr wrap="square" lIns="0" tIns="0" rIns="0" bIns="0" anchor="t">
            <a:noAutofit/>
          </a:bodyPr>
          <a:lstStyle/>
          <a:p>
            <a:endParaRPr lang="en-US"/>
          </a:p>
        </p:txBody>
      </p:sp>
      <p:sp>
        <p:nvSpPr>
          <p:cNvPr id="422" name="Concern 423"/>
          <p:cNvSpPr/>
          <p:nvPr/>
        </p:nvSpPr>
        <p:spPr>
          <a:xfrm>
            <a:off x="7067550" y="1625600"/>
            <a:ext cx="1501775"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03</a:t>
            </a:r>
          </a:p>
        </p:txBody>
      </p:sp>
      <p:sp>
        <p:nvSpPr>
          <p:cNvPr id="423" name="Concern 424"/>
          <p:cNvSpPr/>
          <p:nvPr/>
        </p:nvSpPr>
        <p:spPr>
          <a:xfrm>
            <a:off x="6381750" y="2235200"/>
            <a:ext cx="2187575" cy="304800"/>
          </a:xfrm>
          <a:prstGeom prst="rect">
            <a:avLst/>
          </a:prstGeom>
          <a:noFill/>
          <a:ln>
            <a:noFill/>
          </a:ln>
        </p:spPr>
        <p:txBody>
          <a:bodyPr wrap="square" lIns="0" tIns="0" rIns="0" bIns="0" anchor="t">
            <a:noAutofit/>
          </a:bodyPr>
          <a:lstStyle/>
          <a:p>
            <a:pPr algn="l">
              <a:buNone/>
            </a:pPr>
            <a:r>
              <a:rPr lang="en-US" sz="1700" b="1" dirty="0">
                <a:solidFill>
                  <a:srgbClr val="F1F5F9"/>
                </a:solidFill>
                <a:latin typeface="Segoe UI"/>
              </a:rPr>
              <a:t>Observability</a:t>
            </a:r>
          </a:p>
        </p:txBody>
      </p:sp>
      <p:sp>
        <p:nvSpPr>
          <p:cNvPr id="424" name="Concern 425"/>
          <p:cNvSpPr/>
          <p:nvPr/>
        </p:nvSpPr>
        <p:spPr>
          <a:xfrm>
            <a:off x="6381750" y="2590800"/>
            <a:ext cx="2187575" cy="508000"/>
          </a:xfrm>
          <a:prstGeom prst="rect">
            <a:avLst/>
          </a:prstGeom>
          <a:noFill/>
          <a:ln>
            <a:noFill/>
          </a:ln>
        </p:spPr>
        <p:txBody>
          <a:bodyPr wrap="square" lIns="0" tIns="0" rIns="0" bIns="0" anchor="t">
            <a:noAutofit/>
          </a:bodyPr>
          <a:lstStyle/>
          <a:p>
            <a:pPr algn="l">
              <a:buNone/>
            </a:pPr>
            <a:r>
              <a:rPr lang="en-US" sz="1300" b="0" dirty="0">
                <a:solidFill>
                  <a:srgbClr val="B8C2D3"/>
                </a:solidFill>
                <a:latin typeface="Segoe UI"/>
              </a:rPr>
              <a:t>Can we trace why it answered?</a:t>
            </a:r>
          </a:p>
        </p:txBody>
      </p:sp>
      <p:sp>
        <p:nvSpPr>
          <p:cNvPr id="425" name="Concern 426"/>
          <p:cNvSpPr/>
          <p:nvPr/>
        </p:nvSpPr>
        <p:spPr>
          <a:xfrm>
            <a:off x="6381750" y="3175000"/>
            <a:ext cx="2187575" cy="127"/>
          </a:xfrm>
          <a:prstGeom prst="line">
            <a:avLst/>
          </a:prstGeom>
          <a:noFill/>
          <a:ln w="12700">
            <a:solidFill>
              <a:srgbClr val="2A3650"/>
            </a:solidFill>
          </a:ln>
        </p:spPr>
        <p:txBody>
          <a:bodyPr wrap="square" lIns="0" tIns="0" rIns="0" bIns="0" anchor="t">
            <a:noAutofit/>
          </a:bodyPr>
          <a:lstStyle/>
          <a:p>
            <a:endParaRPr lang="en-US"/>
          </a:p>
        </p:txBody>
      </p:sp>
      <p:sp>
        <p:nvSpPr>
          <p:cNvPr id="426" name="Concern 427"/>
          <p:cNvSpPr/>
          <p:nvPr/>
        </p:nvSpPr>
        <p:spPr>
          <a:xfrm>
            <a:off x="6381750" y="33528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Logs</a:t>
            </a:r>
          </a:p>
        </p:txBody>
      </p:sp>
      <p:sp>
        <p:nvSpPr>
          <p:cNvPr id="427" name="Concern 428"/>
          <p:cNvSpPr/>
          <p:nvPr/>
        </p:nvSpPr>
        <p:spPr>
          <a:xfrm>
            <a:off x="6381750" y="38989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Metrics</a:t>
            </a:r>
          </a:p>
        </p:txBody>
      </p:sp>
      <p:sp>
        <p:nvSpPr>
          <p:cNvPr id="428" name="Concern 429"/>
          <p:cNvSpPr/>
          <p:nvPr/>
        </p:nvSpPr>
        <p:spPr>
          <a:xfrm>
            <a:off x="6381750" y="44450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Distributed tracing</a:t>
            </a:r>
          </a:p>
        </p:txBody>
      </p:sp>
      <p:sp>
        <p:nvSpPr>
          <p:cNvPr id="429" name="Concern 430"/>
          <p:cNvSpPr/>
          <p:nvPr/>
        </p:nvSpPr>
        <p:spPr>
          <a:xfrm>
            <a:off x="6381750" y="49911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Retrieval diagnostics</a:t>
            </a:r>
          </a:p>
        </p:txBody>
      </p:sp>
      <p:sp>
        <p:nvSpPr>
          <p:cNvPr id="430" name="Concern 431"/>
          <p:cNvSpPr/>
          <p:nvPr/>
        </p:nvSpPr>
        <p:spPr>
          <a:xfrm>
            <a:off x="8950325" y="1397000"/>
            <a:ext cx="2593975" cy="4216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431" name="Concern 432"/>
          <p:cNvSpPr/>
          <p:nvPr/>
        </p:nvSpPr>
        <p:spPr>
          <a:xfrm>
            <a:off x="9153525" y="1600200"/>
            <a:ext cx="508000" cy="508000"/>
          </a:xfrm>
          <a:prstGeom prst="roundRect">
            <a:avLst>
              <a:gd name="adj" fmla="val 22000"/>
            </a:avLst>
          </a:prstGeom>
          <a:solidFill>
            <a:srgbClr val="0F2A30"/>
          </a:solidFill>
          <a:ln w="12700">
            <a:solidFill>
              <a:srgbClr val="1F5F5A"/>
            </a:solidFill>
          </a:ln>
        </p:spPr>
        <p:txBody>
          <a:bodyPr wrap="square" lIns="0" tIns="0" rIns="0" bIns="0" anchor="t">
            <a:noAutofit/>
          </a:bodyPr>
          <a:lstStyle/>
          <a:p>
            <a:endParaRPr lang="en-US"/>
          </a:p>
        </p:txBody>
      </p:sp>
      <p:sp>
        <p:nvSpPr>
          <p:cNvPr id="432" name="Concern 433"/>
          <p:cNvSpPr/>
          <p:nvPr/>
        </p:nvSpPr>
        <p:spPr>
          <a:xfrm>
            <a:off x="9839325" y="1625600"/>
            <a:ext cx="1501775"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04</a:t>
            </a:r>
          </a:p>
        </p:txBody>
      </p:sp>
      <p:sp>
        <p:nvSpPr>
          <p:cNvPr id="433" name="Concern 434"/>
          <p:cNvSpPr/>
          <p:nvPr/>
        </p:nvSpPr>
        <p:spPr>
          <a:xfrm>
            <a:off x="9153525" y="2235200"/>
            <a:ext cx="2187575" cy="304800"/>
          </a:xfrm>
          <a:prstGeom prst="rect">
            <a:avLst/>
          </a:prstGeom>
          <a:noFill/>
          <a:ln>
            <a:noFill/>
          </a:ln>
        </p:spPr>
        <p:txBody>
          <a:bodyPr wrap="square" lIns="0" tIns="0" rIns="0" bIns="0" anchor="t">
            <a:noAutofit/>
          </a:bodyPr>
          <a:lstStyle/>
          <a:p>
            <a:pPr algn="l">
              <a:buNone/>
            </a:pPr>
            <a:r>
              <a:rPr lang="en-US" sz="1700" b="1" dirty="0">
                <a:solidFill>
                  <a:srgbClr val="F1F5F9"/>
                </a:solidFill>
                <a:latin typeface="Segoe UI"/>
              </a:rPr>
              <a:t>Quality &amp; Cost</a:t>
            </a:r>
          </a:p>
        </p:txBody>
      </p:sp>
      <p:sp>
        <p:nvSpPr>
          <p:cNvPr id="434" name="Concern 435"/>
          <p:cNvSpPr/>
          <p:nvPr/>
        </p:nvSpPr>
        <p:spPr>
          <a:xfrm>
            <a:off x="9153525" y="2590800"/>
            <a:ext cx="2187575" cy="508000"/>
          </a:xfrm>
          <a:prstGeom prst="rect">
            <a:avLst/>
          </a:prstGeom>
          <a:noFill/>
          <a:ln>
            <a:noFill/>
          </a:ln>
        </p:spPr>
        <p:txBody>
          <a:bodyPr wrap="square" lIns="0" tIns="0" rIns="0" bIns="0" anchor="t">
            <a:noAutofit/>
          </a:bodyPr>
          <a:lstStyle/>
          <a:p>
            <a:pPr algn="l">
              <a:buNone/>
            </a:pPr>
            <a:r>
              <a:rPr lang="en-US" sz="1300" b="0" dirty="0">
                <a:solidFill>
                  <a:srgbClr val="B8C2D3"/>
                </a:solidFill>
                <a:latin typeface="Segoe UI"/>
              </a:rPr>
              <a:t>Are answers good and affordable?</a:t>
            </a:r>
          </a:p>
        </p:txBody>
      </p:sp>
      <p:sp>
        <p:nvSpPr>
          <p:cNvPr id="435" name="Concern 436"/>
          <p:cNvSpPr/>
          <p:nvPr/>
        </p:nvSpPr>
        <p:spPr>
          <a:xfrm>
            <a:off x="9153525" y="3175000"/>
            <a:ext cx="2187575" cy="127"/>
          </a:xfrm>
          <a:prstGeom prst="line">
            <a:avLst/>
          </a:prstGeom>
          <a:noFill/>
          <a:ln w="12700">
            <a:solidFill>
              <a:srgbClr val="2A3650"/>
            </a:solidFill>
          </a:ln>
        </p:spPr>
        <p:txBody>
          <a:bodyPr wrap="square" lIns="0" tIns="0" rIns="0" bIns="0" anchor="t">
            <a:noAutofit/>
          </a:bodyPr>
          <a:lstStyle/>
          <a:p>
            <a:endParaRPr lang="en-US"/>
          </a:p>
        </p:txBody>
      </p:sp>
      <p:sp>
        <p:nvSpPr>
          <p:cNvPr id="436" name="Concern 437"/>
          <p:cNvSpPr/>
          <p:nvPr/>
        </p:nvSpPr>
        <p:spPr>
          <a:xfrm>
            <a:off x="9153525" y="33528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Evaluation</a:t>
            </a:r>
          </a:p>
        </p:txBody>
      </p:sp>
      <p:sp>
        <p:nvSpPr>
          <p:cNvPr id="437" name="Concern 438"/>
          <p:cNvSpPr/>
          <p:nvPr/>
        </p:nvSpPr>
        <p:spPr>
          <a:xfrm>
            <a:off x="9153525" y="38989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Feedback</a:t>
            </a:r>
          </a:p>
        </p:txBody>
      </p:sp>
      <p:sp>
        <p:nvSpPr>
          <p:cNvPr id="438" name="Concern 439"/>
          <p:cNvSpPr/>
          <p:nvPr/>
        </p:nvSpPr>
        <p:spPr>
          <a:xfrm>
            <a:off x="9153525" y="44450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Token usage &amp; caching</a:t>
            </a:r>
          </a:p>
        </p:txBody>
      </p:sp>
      <p:sp>
        <p:nvSpPr>
          <p:cNvPr id="439" name="Concern 440"/>
          <p:cNvSpPr/>
          <p:nvPr/>
        </p:nvSpPr>
        <p:spPr>
          <a:xfrm>
            <a:off x="9153525" y="4991100"/>
            <a:ext cx="2187575" cy="444500"/>
          </a:xfrm>
          <a:prstGeom prst="roundRect">
            <a:avLst>
              <a:gd name="adj" fmla="val 18000"/>
            </a:avLst>
          </a:prstGeom>
          <a:solidFill>
            <a:srgbClr val="0B1222"/>
          </a:solidFill>
          <a:ln w="12700">
            <a:solidFill>
              <a:srgbClr val="1E293B"/>
            </a:solidFill>
          </a:ln>
        </p:spPr>
        <p:txBody>
          <a:bodyPr wrap="square" lIns="152400" tIns="0" rIns="152400" bIns="0" anchor="ctr">
            <a:noAutofit/>
          </a:bodyPr>
          <a:lstStyle/>
          <a:p>
            <a:pPr algn="l">
              <a:buNone/>
            </a:pPr>
            <a:r>
              <a:rPr lang="en-US" sz="1400" b="0" dirty="0">
                <a:solidFill>
                  <a:srgbClr val="E2E8F0"/>
                </a:solidFill>
                <a:latin typeface="Segoe UI"/>
              </a:rPr>
              <a:t>Cost monitoring</a:t>
            </a:r>
          </a:p>
        </p:txBody>
      </p:sp>
      <p:sp>
        <p:nvSpPr>
          <p:cNvPr id="440" name="Concern 441"/>
          <p:cNvSpPr/>
          <p:nvPr/>
        </p:nvSpPr>
        <p:spPr>
          <a:xfrm>
            <a:off x="635000" y="5765800"/>
            <a:ext cx="10909300" cy="584200"/>
          </a:xfrm>
          <a:prstGeom prst="roundRect">
            <a:avLst>
              <a:gd name="adj" fmla="val 20000"/>
            </a:avLst>
          </a:prstGeom>
          <a:solidFill>
            <a:srgbClr val="0F2A30"/>
          </a:solidFill>
          <a:ln w="12700">
            <a:solidFill>
              <a:srgbClr val="1F5F5A"/>
            </a:solidFill>
          </a:ln>
        </p:spPr>
        <p:txBody>
          <a:bodyPr wrap="square" lIns="228600" tIns="0" rIns="228600" bIns="0" anchor="ctr">
            <a:noAutofit/>
          </a:bodyPr>
          <a:lstStyle/>
          <a:p>
            <a:pPr algn="l">
              <a:buNone/>
            </a:pPr>
            <a:r>
              <a:rPr lang="en-US" sz="1500" b="1" dirty="0">
                <a:solidFill>
                  <a:srgbClr val="2DD4BF"/>
                </a:solidFill>
                <a:latin typeface="Segoe UI"/>
              </a:rPr>
              <a:t>A prototype proves RAG works. </a:t>
            </a:r>
            <a:r>
              <a:rPr lang="en-US" sz="1500" b="1" dirty="0">
                <a:solidFill>
                  <a:srgbClr val="F1F5F9"/>
                </a:solidFill>
                <a:latin typeface="Segoe UI"/>
              </a:rPr>
              <a:t>Production engineering proves it can be trusted, operated and scaled.</a:t>
            </a:r>
          </a:p>
        </p:txBody>
      </p:sp>
      <p:sp>
        <p:nvSpPr>
          <p:cNvPr id="54" name="TextBox 5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55" name="TextBox 5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33</a:t>
            </a:r>
          </a:p>
        </p:txBody>
      </p:sp>
      <p:pic>
        <p:nvPicPr>
          <p:cNvPr id="441" name="Graphic 441" descr="Secur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800" y="1701800"/>
            <a:ext cx="304800" cy="304800"/>
          </a:xfrm>
          <a:prstGeom prst="rect">
            <a:avLst/>
          </a:prstGeom>
        </p:spPr>
      </p:pic>
      <p:pic>
        <p:nvPicPr>
          <p:cNvPr id="442" name="Graphic 442" descr="Reliability"/>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1575" y="1701800"/>
            <a:ext cx="304800" cy="304800"/>
          </a:xfrm>
          <a:prstGeom prst="rect">
            <a:avLst/>
          </a:prstGeom>
        </p:spPr>
      </p:pic>
      <p:pic>
        <p:nvPicPr>
          <p:cNvPr id="443" name="Graphic 443" descr="Observabilit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83350" y="1701800"/>
            <a:ext cx="304800" cy="304800"/>
          </a:xfrm>
          <a:prstGeom prst="rect">
            <a:avLst/>
          </a:prstGeom>
        </p:spPr>
      </p:pic>
      <p:pic>
        <p:nvPicPr>
          <p:cNvPr id="444" name="Graphic 444" descr="Quality and cost"/>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55125" y="1701800"/>
            <a:ext cx="304800" cy="304800"/>
          </a:xfrm>
          <a:prstGeom prst="rect">
            <a:avLst/>
          </a:prstGeom>
        </p:spPr>
      </p:pic>
    </p:spTree>
    <p:extLst>
      <p:ext uri="{BB962C8B-B14F-4D97-AF65-F5344CB8AC3E}">
        <p14:creationId xmlns:p14="http://schemas.microsoft.com/office/powerpoint/2010/main" val="4125257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PRODUCTION ARCHITECTURE</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Evaluating RAG end-to-end</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400" name="Eval 401"/>
          <p:cNvSpPr/>
          <p:nvPr/>
        </p:nvSpPr>
        <p:spPr>
          <a:xfrm>
            <a:off x="635000" y="1397000"/>
            <a:ext cx="2032000" cy="508000"/>
          </a:xfrm>
          <a:prstGeom prst="roundRect">
            <a:avLst>
              <a:gd name="adj" fmla="val 18000"/>
            </a:avLst>
          </a:prstGeom>
          <a:solidFill>
            <a:srgbClr val="131C31"/>
          </a:solidFill>
          <a:ln w="12700">
            <a:solidFill>
              <a:srgbClr val="243049"/>
            </a:solidFill>
          </a:ln>
        </p:spPr>
        <p:txBody>
          <a:bodyPr wrap="square" lIns="0" tIns="0" rIns="0" bIns="0" anchor="ctr">
            <a:noAutofit/>
          </a:bodyPr>
          <a:lstStyle/>
          <a:p>
            <a:pPr algn="ctr">
              <a:buNone/>
            </a:pPr>
            <a:r>
              <a:rPr lang="en-US" sz="1300" b="1" dirty="0">
                <a:solidFill>
                  <a:srgbClr val="F1F5F9"/>
                </a:solidFill>
                <a:latin typeface="Segoe UI"/>
              </a:rPr>
              <a:t>Question</a:t>
            </a:r>
          </a:p>
        </p:txBody>
      </p:sp>
      <p:sp>
        <p:nvSpPr>
          <p:cNvPr id="401" name="Eval 402"/>
          <p:cNvSpPr/>
          <p:nvPr/>
        </p:nvSpPr>
        <p:spPr>
          <a:xfrm>
            <a:off x="3810000" y="1397000"/>
            <a:ext cx="2032000" cy="508000"/>
          </a:xfrm>
          <a:prstGeom prst="roundRect">
            <a:avLst>
              <a:gd name="adj" fmla="val 18000"/>
            </a:avLst>
          </a:prstGeom>
          <a:solidFill>
            <a:srgbClr val="0F2A30"/>
          </a:solidFill>
          <a:ln w="12700">
            <a:solidFill>
              <a:srgbClr val="2DD4BF"/>
            </a:solidFill>
          </a:ln>
        </p:spPr>
        <p:txBody>
          <a:bodyPr wrap="square" lIns="0" tIns="0" rIns="0" bIns="0" anchor="ctr">
            <a:noAutofit/>
          </a:bodyPr>
          <a:lstStyle/>
          <a:p>
            <a:pPr algn="ctr">
              <a:buNone/>
            </a:pPr>
            <a:r>
              <a:rPr lang="en-US" sz="1300" b="1" dirty="0">
                <a:solidFill>
                  <a:srgbClr val="2DD4BF"/>
                </a:solidFill>
                <a:latin typeface="Segoe UI"/>
              </a:rPr>
              <a:t>Retrieved context</a:t>
            </a:r>
          </a:p>
        </p:txBody>
      </p:sp>
      <p:sp>
        <p:nvSpPr>
          <p:cNvPr id="402" name="Eval 403"/>
          <p:cNvSpPr/>
          <p:nvPr/>
        </p:nvSpPr>
        <p:spPr>
          <a:xfrm>
            <a:off x="9512300" y="1397000"/>
            <a:ext cx="2032000" cy="508000"/>
          </a:xfrm>
          <a:prstGeom prst="roundRect">
            <a:avLst>
              <a:gd name="adj" fmla="val 18000"/>
            </a:avLst>
          </a:prstGeom>
          <a:solidFill>
            <a:srgbClr val="131C31"/>
          </a:solidFill>
          <a:ln w="12700">
            <a:solidFill>
              <a:srgbClr val="243049"/>
            </a:solidFill>
          </a:ln>
        </p:spPr>
        <p:txBody>
          <a:bodyPr wrap="square" lIns="0" tIns="0" rIns="0" bIns="0" anchor="ctr">
            <a:noAutofit/>
          </a:bodyPr>
          <a:lstStyle/>
          <a:p>
            <a:pPr algn="ctr">
              <a:buNone/>
            </a:pPr>
            <a:r>
              <a:rPr lang="en-US" sz="1300" b="1" dirty="0">
                <a:solidFill>
                  <a:srgbClr val="F1F5F9"/>
                </a:solidFill>
                <a:latin typeface="Segoe UI"/>
              </a:rPr>
              <a:t>Answer + citations</a:t>
            </a:r>
          </a:p>
        </p:txBody>
      </p:sp>
      <p:sp>
        <p:nvSpPr>
          <p:cNvPr id="403" name="Eval 404"/>
          <p:cNvSpPr/>
          <p:nvPr/>
        </p:nvSpPr>
        <p:spPr>
          <a:xfrm>
            <a:off x="2768600" y="1651000"/>
            <a:ext cx="939800" cy="127"/>
          </a:xfrm>
          <a:prstGeom prst="straightConnector1">
            <a:avLst/>
          </a:prstGeom>
          <a:noFill/>
          <a:ln w="19050">
            <a:solidFill>
              <a:srgbClr val="475569"/>
            </a:solidFill>
            <a:tailEnd type="triangle"/>
          </a:ln>
        </p:spPr>
        <p:txBody>
          <a:bodyPr wrap="square" lIns="0" tIns="0" rIns="0" bIns="0" anchor="t">
            <a:noAutofit/>
          </a:bodyPr>
          <a:lstStyle/>
          <a:p>
            <a:endParaRPr lang="en-US"/>
          </a:p>
        </p:txBody>
      </p:sp>
      <p:sp>
        <p:nvSpPr>
          <p:cNvPr id="404" name="Eval 405"/>
          <p:cNvSpPr/>
          <p:nvPr/>
        </p:nvSpPr>
        <p:spPr>
          <a:xfrm>
            <a:off x="2667000" y="1422400"/>
            <a:ext cx="1143000" cy="177800"/>
          </a:xfrm>
          <a:prstGeom prst="rect">
            <a:avLst/>
          </a:prstGeom>
          <a:noFill/>
          <a:ln>
            <a:noFill/>
          </a:ln>
        </p:spPr>
        <p:txBody>
          <a:bodyPr wrap="square" lIns="0" tIns="0" rIns="0" bIns="0" anchor="t">
            <a:noAutofit/>
          </a:bodyPr>
          <a:lstStyle/>
          <a:p>
            <a:pPr algn="ctr">
              <a:buNone/>
            </a:pPr>
            <a:r>
              <a:rPr lang="en-US" sz="1050" b="0" dirty="0">
                <a:solidFill>
                  <a:srgbClr val="94A3B8"/>
                </a:solidFill>
                <a:latin typeface="Segoe UI"/>
              </a:rPr>
              <a:t>retrieve</a:t>
            </a:r>
          </a:p>
        </p:txBody>
      </p:sp>
      <p:sp>
        <p:nvSpPr>
          <p:cNvPr id="405" name="Eval 406"/>
          <p:cNvSpPr/>
          <p:nvPr/>
        </p:nvSpPr>
        <p:spPr>
          <a:xfrm>
            <a:off x="5943600" y="1651000"/>
            <a:ext cx="3467100" cy="127"/>
          </a:xfrm>
          <a:prstGeom prst="straightConnector1">
            <a:avLst/>
          </a:prstGeom>
          <a:noFill/>
          <a:ln w="19050">
            <a:solidFill>
              <a:srgbClr val="475569"/>
            </a:solidFill>
            <a:tailEnd type="triangle"/>
          </a:ln>
        </p:spPr>
        <p:txBody>
          <a:bodyPr wrap="square" lIns="0" tIns="0" rIns="0" bIns="0" anchor="t">
            <a:noAutofit/>
          </a:bodyPr>
          <a:lstStyle/>
          <a:p>
            <a:endParaRPr lang="en-US"/>
          </a:p>
        </p:txBody>
      </p:sp>
      <p:sp>
        <p:nvSpPr>
          <p:cNvPr id="406" name="Eval 407"/>
          <p:cNvSpPr/>
          <p:nvPr/>
        </p:nvSpPr>
        <p:spPr>
          <a:xfrm>
            <a:off x="5842000" y="1422400"/>
            <a:ext cx="3670300" cy="177800"/>
          </a:xfrm>
          <a:prstGeom prst="rect">
            <a:avLst/>
          </a:prstGeom>
          <a:noFill/>
          <a:ln>
            <a:noFill/>
          </a:ln>
        </p:spPr>
        <p:txBody>
          <a:bodyPr wrap="square" lIns="0" tIns="0" rIns="0" bIns="0" anchor="t">
            <a:noAutofit/>
          </a:bodyPr>
          <a:lstStyle/>
          <a:p>
            <a:pPr algn="ctr">
              <a:buNone/>
            </a:pPr>
            <a:r>
              <a:rPr lang="en-US" sz="1050" b="0" dirty="0">
                <a:solidFill>
                  <a:srgbClr val="94A3B8"/>
                </a:solidFill>
                <a:latin typeface="Segoe UI"/>
              </a:rPr>
              <a:t>generate</a:t>
            </a:r>
          </a:p>
        </p:txBody>
      </p:sp>
      <p:sp>
        <p:nvSpPr>
          <p:cNvPr id="407" name="Eval 408"/>
          <p:cNvSpPr/>
          <p:nvPr/>
        </p:nvSpPr>
        <p:spPr>
          <a:xfrm>
            <a:off x="635000" y="2159000"/>
            <a:ext cx="4272280" cy="38100"/>
          </a:xfrm>
          <a:prstGeom prst="rect">
            <a:avLst/>
          </a:prstGeom>
          <a:solidFill>
            <a:srgbClr val="475569"/>
          </a:solidFill>
          <a:ln>
            <a:noFill/>
          </a:ln>
        </p:spPr>
        <p:txBody>
          <a:bodyPr wrap="square" lIns="0" tIns="0" rIns="0" bIns="0" anchor="t">
            <a:noAutofit/>
          </a:bodyPr>
          <a:lstStyle/>
          <a:p>
            <a:endParaRPr lang="en-US"/>
          </a:p>
        </p:txBody>
      </p:sp>
      <p:sp>
        <p:nvSpPr>
          <p:cNvPr id="408" name="Eval 409"/>
          <p:cNvSpPr/>
          <p:nvPr/>
        </p:nvSpPr>
        <p:spPr>
          <a:xfrm>
            <a:off x="635000" y="2286000"/>
            <a:ext cx="4272280" cy="203200"/>
          </a:xfrm>
          <a:prstGeom prst="rect">
            <a:avLst/>
          </a:prstGeom>
          <a:noFill/>
          <a:ln>
            <a:noFill/>
          </a:ln>
        </p:spPr>
        <p:txBody>
          <a:bodyPr wrap="square" lIns="0" tIns="0" rIns="0" bIns="0" anchor="t">
            <a:noAutofit/>
          </a:bodyPr>
          <a:lstStyle/>
          <a:p>
            <a:pPr algn="l">
              <a:buNone/>
            </a:pPr>
            <a:r>
              <a:rPr lang="en-US" sz="1050" b="1" dirty="0">
                <a:solidFill>
                  <a:srgbClr val="B8C2D3"/>
                </a:solidFill>
                <a:latin typeface="Segoe UI"/>
              </a:rPr>
              <a:t>RETRIEVAL QUALITY</a:t>
            </a:r>
          </a:p>
        </p:txBody>
      </p:sp>
      <p:sp>
        <p:nvSpPr>
          <p:cNvPr id="409" name="Eval 410"/>
          <p:cNvSpPr/>
          <p:nvPr/>
        </p:nvSpPr>
        <p:spPr>
          <a:xfrm>
            <a:off x="5059680" y="2159000"/>
            <a:ext cx="6484620" cy="38100"/>
          </a:xfrm>
          <a:prstGeom prst="rect">
            <a:avLst/>
          </a:prstGeom>
          <a:solidFill>
            <a:srgbClr val="2DD4BF"/>
          </a:solidFill>
          <a:ln>
            <a:noFill/>
          </a:ln>
        </p:spPr>
        <p:txBody>
          <a:bodyPr wrap="square" lIns="0" tIns="0" rIns="0" bIns="0" anchor="t">
            <a:noAutofit/>
          </a:bodyPr>
          <a:lstStyle/>
          <a:p>
            <a:endParaRPr lang="en-US"/>
          </a:p>
        </p:txBody>
      </p:sp>
      <p:sp>
        <p:nvSpPr>
          <p:cNvPr id="410" name="Eval 411"/>
          <p:cNvSpPr/>
          <p:nvPr/>
        </p:nvSpPr>
        <p:spPr>
          <a:xfrm>
            <a:off x="5059680" y="2286000"/>
            <a:ext cx="6484620" cy="203200"/>
          </a:xfrm>
          <a:prstGeom prst="rect">
            <a:avLst/>
          </a:prstGeom>
          <a:noFill/>
          <a:ln>
            <a:noFill/>
          </a:ln>
        </p:spPr>
        <p:txBody>
          <a:bodyPr wrap="square" lIns="0" tIns="0" rIns="0" bIns="0" anchor="t">
            <a:noAutofit/>
          </a:bodyPr>
          <a:lstStyle/>
          <a:p>
            <a:pPr algn="l">
              <a:buNone/>
            </a:pPr>
            <a:r>
              <a:rPr lang="en-US" sz="1050" b="1" dirty="0">
                <a:solidFill>
                  <a:srgbClr val="2DD4BF"/>
                </a:solidFill>
                <a:latin typeface="Segoe UI"/>
              </a:rPr>
              <a:t>GENERATION QUALITY</a:t>
            </a:r>
          </a:p>
        </p:txBody>
      </p:sp>
      <p:sp>
        <p:nvSpPr>
          <p:cNvPr id="411" name="Eval 412"/>
          <p:cNvSpPr/>
          <p:nvPr/>
        </p:nvSpPr>
        <p:spPr>
          <a:xfrm>
            <a:off x="635000" y="2616200"/>
            <a:ext cx="2059940" cy="3378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412" name="Eval 413"/>
          <p:cNvSpPr/>
          <p:nvPr/>
        </p:nvSpPr>
        <p:spPr>
          <a:xfrm>
            <a:off x="812800" y="2819400"/>
            <a:ext cx="1704340"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01</a:t>
            </a:r>
          </a:p>
        </p:txBody>
      </p:sp>
      <p:sp>
        <p:nvSpPr>
          <p:cNvPr id="413" name="Eval 414"/>
          <p:cNvSpPr/>
          <p:nvPr/>
        </p:nvSpPr>
        <p:spPr>
          <a:xfrm>
            <a:off x="812800" y="3073400"/>
            <a:ext cx="1704340" cy="609600"/>
          </a:xfrm>
          <a:prstGeom prst="rect">
            <a:avLst/>
          </a:prstGeom>
          <a:noFill/>
          <a:ln>
            <a:noFill/>
          </a:ln>
        </p:spPr>
        <p:txBody>
          <a:bodyPr wrap="square" lIns="0" tIns="0" rIns="0" bIns="0" anchor="t">
            <a:noAutofit/>
          </a:bodyPr>
          <a:lstStyle/>
          <a:p>
            <a:pPr algn="l">
              <a:buNone/>
            </a:pPr>
            <a:r>
              <a:rPr lang="en-US" sz="1500" b="1" dirty="0">
                <a:solidFill>
                  <a:srgbClr val="F1F5F9"/>
                </a:solidFill>
                <a:latin typeface="Segoe UI"/>
              </a:rPr>
              <a:t>Context Precision</a:t>
            </a:r>
          </a:p>
        </p:txBody>
      </p:sp>
      <p:sp>
        <p:nvSpPr>
          <p:cNvPr id="414" name="Eval 415"/>
          <p:cNvSpPr/>
          <p:nvPr/>
        </p:nvSpPr>
        <p:spPr>
          <a:xfrm>
            <a:off x="812800" y="3759200"/>
            <a:ext cx="1704340" cy="304800"/>
          </a:xfrm>
          <a:prstGeom prst="roundRect">
            <a:avLst>
              <a:gd name="adj" fmla="val 50000"/>
            </a:avLst>
          </a:prstGeom>
          <a:solidFill>
            <a:srgbClr val="0F2A30"/>
          </a:solidFill>
          <a:ln w="12700">
            <a:solidFill>
              <a:srgbClr val="1F5F5A"/>
            </a:solidFill>
          </a:ln>
        </p:spPr>
        <p:txBody>
          <a:bodyPr wrap="square" lIns="0" tIns="0" rIns="0" bIns="0" anchor="ctr">
            <a:noAutofit/>
          </a:bodyPr>
          <a:lstStyle/>
          <a:p>
            <a:pPr algn="ctr">
              <a:buNone/>
            </a:pPr>
            <a:r>
              <a:rPr lang="en-US" sz="1100" b="1" dirty="0">
                <a:solidFill>
                  <a:srgbClr val="2DD4BF"/>
                </a:solidFill>
                <a:latin typeface="Segoe UI"/>
              </a:rPr>
              <a:t>Context vs question</a:t>
            </a:r>
          </a:p>
        </p:txBody>
      </p:sp>
      <p:sp>
        <p:nvSpPr>
          <p:cNvPr id="415" name="Eval 416"/>
          <p:cNvSpPr/>
          <p:nvPr/>
        </p:nvSpPr>
        <p:spPr>
          <a:xfrm>
            <a:off x="812800" y="4241800"/>
            <a:ext cx="1704340" cy="127"/>
          </a:xfrm>
          <a:prstGeom prst="line">
            <a:avLst/>
          </a:prstGeom>
          <a:noFill/>
          <a:ln w="12700">
            <a:solidFill>
              <a:srgbClr val="2A3650"/>
            </a:solidFill>
          </a:ln>
        </p:spPr>
        <p:txBody>
          <a:bodyPr wrap="square" lIns="0" tIns="0" rIns="0" bIns="0" anchor="t">
            <a:noAutofit/>
          </a:bodyPr>
          <a:lstStyle/>
          <a:p>
            <a:endParaRPr lang="en-US"/>
          </a:p>
        </p:txBody>
      </p:sp>
      <p:sp>
        <p:nvSpPr>
          <p:cNvPr id="416" name="Eval 417"/>
          <p:cNvSpPr/>
          <p:nvPr/>
        </p:nvSpPr>
        <p:spPr>
          <a:xfrm>
            <a:off x="812800" y="4394200"/>
            <a:ext cx="1704340" cy="1778000"/>
          </a:xfrm>
          <a:prstGeom prst="rect">
            <a:avLst/>
          </a:prstGeom>
          <a:noFill/>
          <a:ln>
            <a:noFill/>
          </a:ln>
        </p:spPr>
        <p:txBody>
          <a:bodyPr wrap="square" lIns="0" tIns="0" rIns="0" bIns="0" anchor="t">
            <a:noAutofit/>
          </a:bodyPr>
          <a:lstStyle/>
          <a:p>
            <a:pPr algn="l">
              <a:buNone/>
            </a:pPr>
            <a:r>
              <a:rPr lang="en-US" sz="1500" b="0" dirty="0">
                <a:solidFill>
                  <a:srgbClr val="E2E8F0"/>
                </a:solidFill>
                <a:latin typeface="Segoe UI"/>
              </a:rPr>
              <a:t>Of the retrieved chunks, how many did the generator actually need?</a:t>
            </a:r>
          </a:p>
        </p:txBody>
      </p:sp>
      <p:sp>
        <p:nvSpPr>
          <p:cNvPr id="417" name="Eval 418"/>
          <p:cNvSpPr/>
          <p:nvPr/>
        </p:nvSpPr>
        <p:spPr>
          <a:xfrm>
            <a:off x="2847340" y="2616200"/>
            <a:ext cx="2059940" cy="3378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418" name="Eval 419"/>
          <p:cNvSpPr/>
          <p:nvPr/>
        </p:nvSpPr>
        <p:spPr>
          <a:xfrm>
            <a:off x="3025140" y="2819400"/>
            <a:ext cx="1704340"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02</a:t>
            </a:r>
          </a:p>
        </p:txBody>
      </p:sp>
      <p:sp>
        <p:nvSpPr>
          <p:cNvPr id="419" name="Eval 420"/>
          <p:cNvSpPr/>
          <p:nvPr/>
        </p:nvSpPr>
        <p:spPr>
          <a:xfrm>
            <a:off x="3025140" y="3073400"/>
            <a:ext cx="1704340" cy="609600"/>
          </a:xfrm>
          <a:prstGeom prst="rect">
            <a:avLst/>
          </a:prstGeom>
          <a:noFill/>
          <a:ln>
            <a:noFill/>
          </a:ln>
        </p:spPr>
        <p:txBody>
          <a:bodyPr wrap="square" lIns="0" tIns="0" rIns="0" bIns="0" anchor="t">
            <a:noAutofit/>
          </a:bodyPr>
          <a:lstStyle/>
          <a:p>
            <a:pPr algn="l">
              <a:buNone/>
            </a:pPr>
            <a:r>
              <a:rPr lang="en-US" sz="1500" b="1" dirty="0">
                <a:solidFill>
                  <a:srgbClr val="F1F5F9"/>
                </a:solidFill>
                <a:latin typeface="Segoe UI"/>
              </a:rPr>
              <a:t>Context Recall</a:t>
            </a:r>
          </a:p>
        </p:txBody>
      </p:sp>
      <p:sp>
        <p:nvSpPr>
          <p:cNvPr id="420" name="Eval 421"/>
          <p:cNvSpPr/>
          <p:nvPr/>
        </p:nvSpPr>
        <p:spPr>
          <a:xfrm>
            <a:off x="3025140" y="3759200"/>
            <a:ext cx="1704340" cy="304800"/>
          </a:xfrm>
          <a:prstGeom prst="roundRect">
            <a:avLst>
              <a:gd name="adj" fmla="val 50000"/>
            </a:avLst>
          </a:prstGeom>
          <a:solidFill>
            <a:srgbClr val="0F2A30"/>
          </a:solidFill>
          <a:ln w="12700">
            <a:solidFill>
              <a:srgbClr val="1F5F5A"/>
            </a:solidFill>
          </a:ln>
        </p:spPr>
        <p:txBody>
          <a:bodyPr wrap="square" lIns="0" tIns="0" rIns="0" bIns="0" anchor="ctr">
            <a:noAutofit/>
          </a:bodyPr>
          <a:lstStyle/>
          <a:p>
            <a:pPr algn="ctr">
              <a:buNone/>
            </a:pPr>
            <a:r>
              <a:rPr lang="en-US" sz="1100" b="1" dirty="0">
                <a:solidFill>
                  <a:srgbClr val="2DD4BF"/>
                </a:solidFill>
                <a:latin typeface="Segoe UI"/>
              </a:rPr>
              <a:t>Context vs reference</a:t>
            </a:r>
          </a:p>
        </p:txBody>
      </p:sp>
      <p:sp>
        <p:nvSpPr>
          <p:cNvPr id="421" name="Eval 422"/>
          <p:cNvSpPr/>
          <p:nvPr/>
        </p:nvSpPr>
        <p:spPr>
          <a:xfrm>
            <a:off x="3025140" y="4241800"/>
            <a:ext cx="1704340" cy="127"/>
          </a:xfrm>
          <a:prstGeom prst="line">
            <a:avLst/>
          </a:prstGeom>
          <a:noFill/>
          <a:ln w="12700">
            <a:solidFill>
              <a:srgbClr val="2A3650"/>
            </a:solidFill>
          </a:ln>
        </p:spPr>
        <p:txBody>
          <a:bodyPr wrap="square" lIns="0" tIns="0" rIns="0" bIns="0" anchor="t">
            <a:noAutofit/>
          </a:bodyPr>
          <a:lstStyle/>
          <a:p>
            <a:endParaRPr lang="en-US"/>
          </a:p>
        </p:txBody>
      </p:sp>
      <p:sp>
        <p:nvSpPr>
          <p:cNvPr id="422" name="Eval 423"/>
          <p:cNvSpPr/>
          <p:nvPr/>
        </p:nvSpPr>
        <p:spPr>
          <a:xfrm>
            <a:off x="3025140" y="4394200"/>
            <a:ext cx="1704340" cy="1778000"/>
          </a:xfrm>
          <a:prstGeom prst="rect">
            <a:avLst/>
          </a:prstGeom>
          <a:noFill/>
          <a:ln>
            <a:noFill/>
          </a:ln>
        </p:spPr>
        <p:txBody>
          <a:bodyPr wrap="square" lIns="0" tIns="0" rIns="0" bIns="0" anchor="t">
            <a:noAutofit/>
          </a:bodyPr>
          <a:lstStyle/>
          <a:p>
            <a:pPr algn="l">
              <a:buNone/>
            </a:pPr>
            <a:r>
              <a:rPr lang="en-US" sz="1500" b="0" dirty="0">
                <a:solidFill>
                  <a:srgbClr val="E2E8F0"/>
                </a:solidFill>
                <a:latin typeface="Segoe UI"/>
              </a:rPr>
              <a:t>Did retrieval bring back everything needed to answer fully?</a:t>
            </a:r>
          </a:p>
        </p:txBody>
      </p:sp>
      <p:sp>
        <p:nvSpPr>
          <p:cNvPr id="423" name="Eval 424"/>
          <p:cNvSpPr/>
          <p:nvPr/>
        </p:nvSpPr>
        <p:spPr>
          <a:xfrm>
            <a:off x="5059680" y="2616200"/>
            <a:ext cx="2059940" cy="3378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424" name="Eval 425"/>
          <p:cNvSpPr/>
          <p:nvPr/>
        </p:nvSpPr>
        <p:spPr>
          <a:xfrm>
            <a:off x="5237480" y="2819400"/>
            <a:ext cx="1704340"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03</a:t>
            </a:r>
          </a:p>
        </p:txBody>
      </p:sp>
      <p:sp>
        <p:nvSpPr>
          <p:cNvPr id="425" name="Eval 426"/>
          <p:cNvSpPr/>
          <p:nvPr/>
        </p:nvSpPr>
        <p:spPr>
          <a:xfrm>
            <a:off x="5237480" y="3073400"/>
            <a:ext cx="1704340" cy="609600"/>
          </a:xfrm>
          <a:prstGeom prst="rect">
            <a:avLst/>
          </a:prstGeom>
          <a:noFill/>
          <a:ln>
            <a:noFill/>
          </a:ln>
        </p:spPr>
        <p:txBody>
          <a:bodyPr wrap="square" lIns="0" tIns="0" rIns="0" bIns="0" anchor="t">
            <a:noAutofit/>
          </a:bodyPr>
          <a:lstStyle/>
          <a:p>
            <a:pPr algn="l">
              <a:buNone/>
            </a:pPr>
            <a:r>
              <a:rPr lang="en-US" sz="1500" b="1" dirty="0">
                <a:solidFill>
                  <a:srgbClr val="F1F5F9"/>
                </a:solidFill>
                <a:latin typeface="Segoe UI"/>
              </a:rPr>
              <a:t>Groundedness / Faithfulness</a:t>
            </a:r>
          </a:p>
        </p:txBody>
      </p:sp>
      <p:sp>
        <p:nvSpPr>
          <p:cNvPr id="426" name="Eval 427"/>
          <p:cNvSpPr/>
          <p:nvPr/>
        </p:nvSpPr>
        <p:spPr>
          <a:xfrm>
            <a:off x="5237480" y="3759200"/>
            <a:ext cx="1704340" cy="304800"/>
          </a:xfrm>
          <a:prstGeom prst="roundRect">
            <a:avLst>
              <a:gd name="adj" fmla="val 50000"/>
            </a:avLst>
          </a:prstGeom>
          <a:solidFill>
            <a:srgbClr val="0F2A30"/>
          </a:solidFill>
          <a:ln w="12700">
            <a:solidFill>
              <a:srgbClr val="1F5F5A"/>
            </a:solidFill>
          </a:ln>
        </p:spPr>
        <p:txBody>
          <a:bodyPr wrap="square" lIns="0" tIns="0" rIns="0" bIns="0" anchor="ctr">
            <a:noAutofit/>
          </a:bodyPr>
          <a:lstStyle/>
          <a:p>
            <a:pPr algn="ctr">
              <a:buNone/>
            </a:pPr>
            <a:r>
              <a:rPr lang="en-US" sz="1100" b="1" dirty="0">
                <a:solidFill>
                  <a:srgbClr val="2DD4BF"/>
                </a:solidFill>
                <a:latin typeface="Segoe UI"/>
              </a:rPr>
              <a:t>Answer vs context</a:t>
            </a:r>
          </a:p>
        </p:txBody>
      </p:sp>
      <p:sp>
        <p:nvSpPr>
          <p:cNvPr id="427" name="Eval 428"/>
          <p:cNvSpPr/>
          <p:nvPr/>
        </p:nvSpPr>
        <p:spPr>
          <a:xfrm>
            <a:off x="5237480" y="4241800"/>
            <a:ext cx="1704340" cy="127"/>
          </a:xfrm>
          <a:prstGeom prst="line">
            <a:avLst/>
          </a:prstGeom>
          <a:noFill/>
          <a:ln w="12700">
            <a:solidFill>
              <a:srgbClr val="2A3650"/>
            </a:solidFill>
          </a:ln>
        </p:spPr>
        <p:txBody>
          <a:bodyPr wrap="square" lIns="0" tIns="0" rIns="0" bIns="0" anchor="t">
            <a:noAutofit/>
          </a:bodyPr>
          <a:lstStyle/>
          <a:p>
            <a:endParaRPr lang="en-US"/>
          </a:p>
        </p:txBody>
      </p:sp>
      <p:sp>
        <p:nvSpPr>
          <p:cNvPr id="428" name="Eval 429"/>
          <p:cNvSpPr/>
          <p:nvPr/>
        </p:nvSpPr>
        <p:spPr>
          <a:xfrm>
            <a:off x="5237480" y="4394200"/>
            <a:ext cx="1704340" cy="1778000"/>
          </a:xfrm>
          <a:prstGeom prst="rect">
            <a:avLst/>
          </a:prstGeom>
          <a:noFill/>
          <a:ln>
            <a:noFill/>
          </a:ln>
        </p:spPr>
        <p:txBody>
          <a:bodyPr wrap="square" lIns="0" tIns="0" rIns="0" bIns="0" anchor="t">
            <a:noAutofit/>
          </a:bodyPr>
          <a:lstStyle/>
          <a:p>
            <a:pPr algn="l">
              <a:buNone/>
            </a:pPr>
            <a:r>
              <a:rPr lang="en-US" sz="1500" b="0" dirty="0">
                <a:solidFill>
                  <a:srgbClr val="E2E8F0"/>
                </a:solidFill>
                <a:latin typeface="Segoe UI"/>
              </a:rPr>
              <a:t>Does the answer only say things supported by the retrieved context?</a:t>
            </a:r>
          </a:p>
        </p:txBody>
      </p:sp>
      <p:sp>
        <p:nvSpPr>
          <p:cNvPr id="429" name="Eval 430"/>
          <p:cNvSpPr/>
          <p:nvPr/>
        </p:nvSpPr>
        <p:spPr>
          <a:xfrm>
            <a:off x="7272020" y="2616200"/>
            <a:ext cx="2059940" cy="3378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430" name="Eval 431"/>
          <p:cNvSpPr/>
          <p:nvPr/>
        </p:nvSpPr>
        <p:spPr>
          <a:xfrm>
            <a:off x="7449820" y="2819400"/>
            <a:ext cx="1704340"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04</a:t>
            </a:r>
          </a:p>
        </p:txBody>
      </p:sp>
      <p:sp>
        <p:nvSpPr>
          <p:cNvPr id="431" name="Eval 432"/>
          <p:cNvSpPr/>
          <p:nvPr/>
        </p:nvSpPr>
        <p:spPr>
          <a:xfrm>
            <a:off x="7449820" y="3073400"/>
            <a:ext cx="1704340" cy="609600"/>
          </a:xfrm>
          <a:prstGeom prst="rect">
            <a:avLst/>
          </a:prstGeom>
          <a:noFill/>
          <a:ln>
            <a:noFill/>
          </a:ln>
        </p:spPr>
        <p:txBody>
          <a:bodyPr wrap="square" lIns="0" tIns="0" rIns="0" bIns="0" anchor="t">
            <a:noAutofit/>
          </a:bodyPr>
          <a:lstStyle/>
          <a:p>
            <a:pPr algn="l">
              <a:buNone/>
            </a:pPr>
            <a:r>
              <a:rPr lang="en-US" sz="1500" b="1" dirty="0">
                <a:solidFill>
                  <a:srgbClr val="F1F5F9"/>
                </a:solidFill>
                <a:latin typeface="Segoe UI"/>
              </a:rPr>
              <a:t>Answer Relevance</a:t>
            </a:r>
          </a:p>
        </p:txBody>
      </p:sp>
      <p:sp>
        <p:nvSpPr>
          <p:cNvPr id="432" name="Eval 433"/>
          <p:cNvSpPr/>
          <p:nvPr/>
        </p:nvSpPr>
        <p:spPr>
          <a:xfrm>
            <a:off x="7449820" y="3759200"/>
            <a:ext cx="1704340" cy="304800"/>
          </a:xfrm>
          <a:prstGeom prst="roundRect">
            <a:avLst>
              <a:gd name="adj" fmla="val 50000"/>
            </a:avLst>
          </a:prstGeom>
          <a:solidFill>
            <a:srgbClr val="0F2A30"/>
          </a:solidFill>
          <a:ln w="12700">
            <a:solidFill>
              <a:srgbClr val="1F5F5A"/>
            </a:solidFill>
          </a:ln>
        </p:spPr>
        <p:txBody>
          <a:bodyPr wrap="square" lIns="0" tIns="0" rIns="0" bIns="0" anchor="ctr">
            <a:noAutofit/>
          </a:bodyPr>
          <a:lstStyle/>
          <a:p>
            <a:pPr algn="ctr">
              <a:buNone/>
            </a:pPr>
            <a:r>
              <a:rPr lang="en-US" sz="1100" b="1" dirty="0">
                <a:solidFill>
                  <a:srgbClr val="2DD4BF"/>
                </a:solidFill>
                <a:latin typeface="Segoe UI"/>
              </a:rPr>
              <a:t>Answer vs question</a:t>
            </a:r>
          </a:p>
        </p:txBody>
      </p:sp>
      <p:sp>
        <p:nvSpPr>
          <p:cNvPr id="433" name="Eval 434"/>
          <p:cNvSpPr/>
          <p:nvPr/>
        </p:nvSpPr>
        <p:spPr>
          <a:xfrm>
            <a:off x="7449820" y="4241800"/>
            <a:ext cx="1704340" cy="127"/>
          </a:xfrm>
          <a:prstGeom prst="line">
            <a:avLst/>
          </a:prstGeom>
          <a:noFill/>
          <a:ln w="12700">
            <a:solidFill>
              <a:srgbClr val="2A3650"/>
            </a:solidFill>
          </a:ln>
        </p:spPr>
        <p:txBody>
          <a:bodyPr wrap="square" lIns="0" tIns="0" rIns="0" bIns="0" anchor="t">
            <a:noAutofit/>
          </a:bodyPr>
          <a:lstStyle/>
          <a:p>
            <a:endParaRPr lang="en-US"/>
          </a:p>
        </p:txBody>
      </p:sp>
      <p:sp>
        <p:nvSpPr>
          <p:cNvPr id="434" name="Eval 435"/>
          <p:cNvSpPr/>
          <p:nvPr/>
        </p:nvSpPr>
        <p:spPr>
          <a:xfrm>
            <a:off x="7449820" y="4394200"/>
            <a:ext cx="1704340" cy="1778000"/>
          </a:xfrm>
          <a:prstGeom prst="rect">
            <a:avLst/>
          </a:prstGeom>
          <a:noFill/>
          <a:ln>
            <a:noFill/>
          </a:ln>
        </p:spPr>
        <p:txBody>
          <a:bodyPr wrap="square" lIns="0" tIns="0" rIns="0" bIns="0" anchor="t">
            <a:noAutofit/>
          </a:bodyPr>
          <a:lstStyle/>
          <a:p>
            <a:pPr algn="l">
              <a:buNone/>
            </a:pPr>
            <a:r>
              <a:rPr lang="en-US" sz="1500" b="0" dirty="0">
                <a:solidFill>
                  <a:srgbClr val="E2E8F0"/>
                </a:solidFill>
                <a:latin typeface="Segoe UI"/>
              </a:rPr>
              <a:t>Does the answer actually address the question that was asked?</a:t>
            </a:r>
          </a:p>
        </p:txBody>
      </p:sp>
      <p:sp>
        <p:nvSpPr>
          <p:cNvPr id="435" name="Eval 436"/>
          <p:cNvSpPr/>
          <p:nvPr/>
        </p:nvSpPr>
        <p:spPr>
          <a:xfrm>
            <a:off x="9484360" y="2616200"/>
            <a:ext cx="2059940" cy="3378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436" name="Eval 437"/>
          <p:cNvSpPr/>
          <p:nvPr/>
        </p:nvSpPr>
        <p:spPr>
          <a:xfrm>
            <a:off x="9662160" y="2819400"/>
            <a:ext cx="1704340" cy="203200"/>
          </a:xfrm>
          <a:prstGeom prst="rect">
            <a:avLst/>
          </a:prstGeom>
          <a:noFill/>
          <a:ln>
            <a:noFill/>
          </a:ln>
        </p:spPr>
        <p:txBody>
          <a:bodyPr wrap="square" lIns="0" tIns="0" rIns="0" bIns="0" anchor="t">
            <a:noAutofit/>
          </a:bodyPr>
          <a:lstStyle/>
          <a:p>
            <a:pPr algn="l">
              <a:buNone/>
            </a:pPr>
            <a:r>
              <a:rPr lang="en-US" sz="1100" b="1" dirty="0">
                <a:solidFill>
                  <a:srgbClr val="2DD4BF"/>
                </a:solidFill>
                <a:latin typeface="Segoe UI"/>
              </a:rPr>
              <a:t>05</a:t>
            </a:r>
          </a:p>
        </p:txBody>
      </p:sp>
      <p:sp>
        <p:nvSpPr>
          <p:cNvPr id="437" name="Eval 438"/>
          <p:cNvSpPr/>
          <p:nvPr/>
        </p:nvSpPr>
        <p:spPr>
          <a:xfrm>
            <a:off x="9662160" y="3073400"/>
            <a:ext cx="1704340" cy="609600"/>
          </a:xfrm>
          <a:prstGeom prst="rect">
            <a:avLst/>
          </a:prstGeom>
          <a:noFill/>
          <a:ln>
            <a:noFill/>
          </a:ln>
        </p:spPr>
        <p:txBody>
          <a:bodyPr wrap="square" lIns="0" tIns="0" rIns="0" bIns="0" anchor="t">
            <a:noAutofit/>
          </a:bodyPr>
          <a:lstStyle/>
          <a:p>
            <a:pPr algn="l">
              <a:buNone/>
            </a:pPr>
            <a:r>
              <a:rPr lang="en-US" sz="1500" b="1" dirty="0">
                <a:solidFill>
                  <a:srgbClr val="F1F5F9"/>
                </a:solidFill>
                <a:latin typeface="Segoe UI"/>
              </a:rPr>
              <a:t>Citation Accuracy</a:t>
            </a:r>
          </a:p>
        </p:txBody>
      </p:sp>
      <p:sp>
        <p:nvSpPr>
          <p:cNvPr id="438" name="Eval 439"/>
          <p:cNvSpPr/>
          <p:nvPr/>
        </p:nvSpPr>
        <p:spPr>
          <a:xfrm>
            <a:off x="9662160" y="3759200"/>
            <a:ext cx="1704340" cy="304800"/>
          </a:xfrm>
          <a:prstGeom prst="roundRect">
            <a:avLst>
              <a:gd name="adj" fmla="val 50000"/>
            </a:avLst>
          </a:prstGeom>
          <a:solidFill>
            <a:srgbClr val="0F2A30"/>
          </a:solidFill>
          <a:ln w="12700">
            <a:solidFill>
              <a:srgbClr val="1F5F5A"/>
            </a:solidFill>
          </a:ln>
        </p:spPr>
        <p:txBody>
          <a:bodyPr wrap="square" lIns="0" tIns="0" rIns="0" bIns="0" anchor="ctr">
            <a:noAutofit/>
          </a:bodyPr>
          <a:lstStyle/>
          <a:p>
            <a:pPr algn="ctr">
              <a:buNone/>
            </a:pPr>
            <a:r>
              <a:rPr lang="en-US" sz="1100" b="1" dirty="0">
                <a:solidFill>
                  <a:srgbClr val="2DD4BF"/>
                </a:solidFill>
                <a:latin typeface="Segoe UI"/>
              </a:rPr>
              <a:t>Citation vs source</a:t>
            </a:r>
          </a:p>
        </p:txBody>
      </p:sp>
      <p:sp>
        <p:nvSpPr>
          <p:cNvPr id="439" name="Eval 440"/>
          <p:cNvSpPr/>
          <p:nvPr/>
        </p:nvSpPr>
        <p:spPr>
          <a:xfrm>
            <a:off x="9662160" y="4241800"/>
            <a:ext cx="1704340" cy="127"/>
          </a:xfrm>
          <a:prstGeom prst="line">
            <a:avLst/>
          </a:prstGeom>
          <a:noFill/>
          <a:ln w="12700">
            <a:solidFill>
              <a:srgbClr val="2A3650"/>
            </a:solidFill>
          </a:ln>
        </p:spPr>
        <p:txBody>
          <a:bodyPr wrap="square" lIns="0" tIns="0" rIns="0" bIns="0" anchor="t">
            <a:noAutofit/>
          </a:bodyPr>
          <a:lstStyle/>
          <a:p>
            <a:endParaRPr lang="en-US"/>
          </a:p>
        </p:txBody>
      </p:sp>
      <p:sp>
        <p:nvSpPr>
          <p:cNvPr id="440" name="Eval 441"/>
          <p:cNvSpPr/>
          <p:nvPr/>
        </p:nvSpPr>
        <p:spPr>
          <a:xfrm>
            <a:off x="9662160" y="4394200"/>
            <a:ext cx="1704340" cy="1778000"/>
          </a:xfrm>
          <a:prstGeom prst="rect">
            <a:avLst/>
          </a:prstGeom>
          <a:noFill/>
          <a:ln>
            <a:noFill/>
          </a:ln>
        </p:spPr>
        <p:txBody>
          <a:bodyPr wrap="square" lIns="0" tIns="0" rIns="0" bIns="0" anchor="t">
            <a:noAutofit/>
          </a:bodyPr>
          <a:lstStyle/>
          <a:p>
            <a:pPr algn="l">
              <a:buNone/>
            </a:pPr>
            <a:r>
              <a:rPr lang="en-US" sz="1500" b="0" dirty="0">
                <a:solidFill>
                  <a:srgbClr val="E2E8F0"/>
                </a:solidFill>
                <a:latin typeface="Segoe UI"/>
              </a:rPr>
              <a:t>Do the cited sources actually contain the claim they're attached to?</a:t>
            </a:r>
          </a:p>
        </p:txBody>
      </p:sp>
      <p:sp>
        <p:nvSpPr>
          <p:cNvPr id="7" name="TextBox 6"/>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34</a:t>
            </a:r>
          </a:p>
        </p:txBody>
      </p:sp>
    </p:spTree>
    <p:extLst>
      <p:ext uri="{BB962C8B-B14F-4D97-AF65-F5344CB8AC3E}">
        <p14:creationId xmlns:p14="http://schemas.microsoft.com/office/powerpoint/2010/main" val="3719372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i="0">
                <a:solidFill>
                  <a:srgbClr val="2DD4BF"/>
                </a:solidFill>
                <a:latin typeface="Segoe UI"/>
              </a:rPr>
              <a:t>SECTION: PRODUCTION ARCHITECTURE</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i="0">
                <a:solidFill>
                  <a:srgbClr val="F1F5F9"/>
                </a:solidFill>
                <a:latin typeface="Segoe UI"/>
              </a:rPr>
              <a:t>Security: the enterprise risk checklist</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600" name="Sec 600"/>
          <p:cNvSpPr/>
          <p:nvPr/>
        </p:nvSpPr>
        <p:spPr>
          <a:xfrm>
            <a:off x="635000" y="1320800"/>
            <a:ext cx="10909300" cy="711200"/>
          </a:xfrm>
          <a:prstGeom prst="roundRect">
            <a:avLst>
              <a:gd name="adj" fmla="val 14000"/>
            </a:avLst>
          </a:prstGeom>
          <a:solidFill>
            <a:srgbClr val="0F2A30"/>
          </a:solidFill>
          <a:ln w="12700">
            <a:solidFill>
              <a:srgbClr val="1F5F5A"/>
            </a:solidFill>
          </a:ln>
        </p:spPr>
        <p:txBody>
          <a:bodyPr wrap="square" lIns="0" tIns="0" rIns="0" bIns="0" anchor="t">
            <a:noAutofit/>
          </a:bodyPr>
          <a:lstStyle/>
          <a:p>
            <a:endParaRPr lang="en-US"/>
          </a:p>
        </p:txBody>
      </p:sp>
      <p:sp>
        <p:nvSpPr>
          <p:cNvPr id="601" name="Sec 601"/>
          <p:cNvSpPr txBox="1"/>
          <p:nvPr/>
        </p:nvSpPr>
        <p:spPr>
          <a:xfrm>
            <a:off x="838200" y="1397000"/>
            <a:ext cx="5969000" cy="558800"/>
          </a:xfrm>
          <a:prstGeom prst="rect">
            <a:avLst/>
          </a:prstGeom>
          <a:noFill/>
        </p:spPr>
        <p:txBody>
          <a:bodyPr wrap="square" lIns="0" tIns="0" rIns="0" bIns="0" anchor="ctr">
            <a:noAutofit/>
          </a:bodyPr>
          <a:lstStyle/>
          <a:p>
            <a:pPr algn="l"/>
            <a:r>
              <a:rPr lang="en-US" sz="1050" b="1" dirty="0">
                <a:solidFill>
                  <a:srgbClr val="2DD4BF"/>
                </a:solidFill>
                <a:latin typeface="Segoe UI"/>
              </a:rPr>
              <a:t>ARCHITECTURE PRINCIPLE</a:t>
            </a:r>
          </a:p>
          <a:p>
            <a:pPr algn="l">
              <a:spcBef>
                <a:spcPts val="200"/>
              </a:spcBef>
            </a:pPr>
            <a:r>
              <a:rPr lang="en-US" sz="1200" b="0" dirty="0">
                <a:solidFill>
                  <a:srgbClr val="E2E8F0"/>
                </a:solidFill>
                <a:latin typeface="Segoe UI"/>
              </a:rPr>
              <a:t>Enforce access boundaries before any context reaches the LLM — do not retrieve everything and filter unauthorized content afterward.</a:t>
            </a:r>
          </a:p>
        </p:txBody>
      </p:sp>
      <p:sp>
        <p:nvSpPr>
          <p:cNvPr id="602" name="Sec 602"/>
          <p:cNvSpPr/>
          <p:nvPr/>
        </p:nvSpPr>
        <p:spPr>
          <a:xfrm>
            <a:off x="7061200" y="1498600"/>
            <a:ext cx="1244600" cy="355600"/>
          </a:xfrm>
          <a:prstGeom prst="roundRect">
            <a:avLst>
              <a:gd name="adj" fmla="val 50000"/>
            </a:avLst>
          </a:prstGeom>
          <a:solidFill>
            <a:srgbClr val="2DD4BF"/>
          </a:solidFill>
          <a:ln w="12700">
            <a:solidFill>
              <a:srgbClr val="2DD4BF"/>
            </a:solidFill>
          </a:ln>
        </p:spPr>
        <p:txBody>
          <a:bodyPr wrap="square" lIns="0" tIns="0" rIns="0" bIns="0" anchor="ctr">
            <a:noAutofit/>
          </a:bodyPr>
          <a:lstStyle/>
          <a:p>
            <a:pPr algn="ctr"/>
            <a:r>
              <a:rPr lang="en-US" sz="1200" b="1" dirty="0">
                <a:solidFill>
                  <a:srgbClr val="0A0F1E"/>
                </a:solidFill>
                <a:latin typeface="Segoe UI"/>
              </a:rPr>
              <a:t>Authorization</a:t>
            </a:r>
          </a:p>
        </p:txBody>
      </p:sp>
      <p:sp>
        <p:nvSpPr>
          <p:cNvPr id="603" name="Sec 603"/>
          <p:cNvSpPr/>
          <p:nvPr/>
        </p:nvSpPr>
        <p:spPr>
          <a:xfrm>
            <a:off x="8382000" y="1600200"/>
            <a:ext cx="177800" cy="152400"/>
          </a:xfrm>
          <a:prstGeom prst="rightArrow">
            <a:avLst/>
          </a:prstGeom>
          <a:solidFill>
            <a:srgbClr val="94A3B8"/>
          </a:solidFill>
          <a:ln>
            <a:noFill/>
          </a:ln>
        </p:spPr>
        <p:txBody>
          <a:bodyPr wrap="square" lIns="0" tIns="0" rIns="0" bIns="0" anchor="t">
            <a:noAutofit/>
          </a:bodyPr>
          <a:lstStyle/>
          <a:p>
            <a:endParaRPr lang="en-US"/>
          </a:p>
        </p:txBody>
      </p:sp>
      <p:sp>
        <p:nvSpPr>
          <p:cNvPr id="604" name="Sec 604"/>
          <p:cNvSpPr/>
          <p:nvPr/>
        </p:nvSpPr>
        <p:spPr>
          <a:xfrm>
            <a:off x="8636000" y="1498600"/>
            <a:ext cx="1244600" cy="355600"/>
          </a:xfrm>
          <a:prstGeom prst="roundRect">
            <a:avLst>
              <a:gd name="adj" fmla="val 50000"/>
            </a:avLst>
          </a:prstGeom>
          <a:solidFill>
            <a:srgbClr val="131C31"/>
          </a:solidFill>
          <a:ln w="12700">
            <a:solidFill>
              <a:srgbClr val="2A3650"/>
            </a:solidFill>
          </a:ln>
        </p:spPr>
        <p:txBody>
          <a:bodyPr wrap="square" lIns="0" tIns="0" rIns="0" bIns="0" anchor="ctr">
            <a:noAutofit/>
          </a:bodyPr>
          <a:lstStyle/>
          <a:p>
            <a:pPr algn="ctr"/>
            <a:r>
              <a:rPr lang="en-US" sz="1200" b="1" dirty="0">
                <a:solidFill>
                  <a:srgbClr val="F1F5F9"/>
                </a:solidFill>
                <a:latin typeface="Segoe UI"/>
              </a:rPr>
              <a:t>Retrieval</a:t>
            </a:r>
          </a:p>
        </p:txBody>
      </p:sp>
      <p:sp>
        <p:nvSpPr>
          <p:cNvPr id="605" name="Sec 605"/>
          <p:cNvSpPr/>
          <p:nvPr/>
        </p:nvSpPr>
        <p:spPr>
          <a:xfrm>
            <a:off x="9956800" y="1600200"/>
            <a:ext cx="177800" cy="152400"/>
          </a:xfrm>
          <a:prstGeom prst="rightArrow">
            <a:avLst/>
          </a:prstGeom>
          <a:solidFill>
            <a:srgbClr val="94A3B8"/>
          </a:solidFill>
          <a:ln>
            <a:noFill/>
          </a:ln>
        </p:spPr>
        <p:txBody>
          <a:bodyPr wrap="square" lIns="0" tIns="0" rIns="0" bIns="0" anchor="t">
            <a:noAutofit/>
          </a:bodyPr>
          <a:lstStyle/>
          <a:p>
            <a:endParaRPr lang="en-US"/>
          </a:p>
        </p:txBody>
      </p:sp>
      <p:sp>
        <p:nvSpPr>
          <p:cNvPr id="606" name="Sec 606"/>
          <p:cNvSpPr/>
          <p:nvPr/>
        </p:nvSpPr>
        <p:spPr>
          <a:xfrm>
            <a:off x="10210800" y="1498600"/>
            <a:ext cx="1244600" cy="355600"/>
          </a:xfrm>
          <a:prstGeom prst="roundRect">
            <a:avLst>
              <a:gd name="adj" fmla="val 50000"/>
            </a:avLst>
          </a:prstGeom>
          <a:solidFill>
            <a:srgbClr val="131C31"/>
          </a:solidFill>
          <a:ln w="12700">
            <a:solidFill>
              <a:srgbClr val="2A3650"/>
            </a:solidFill>
          </a:ln>
        </p:spPr>
        <p:txBody>
          <a:bodyPr wrap="square" lIns="0" tIns="0" rIns="0" bIns="0" anchor="ctr">
            <a:noAutofit/>
          </a:bodyPr>
          <a:lstStyle/>
          <a:p>
            <a:pPr algn="ctr"/>
            <a:r>
              <a:rPr lang="en-US" sz="1200" b="1" dirty="0">
                <a:solidFill>
                  <a:srgbClr val="F1F5F9"/>
                </a:solidFill>
                <a:latin typeface="Segoe UI"/>
              </a:rPr>
              <a:t>Generation</a:t>
            </a:r>
          </a:p>
        </p:txBody>
      </p:sp>
      <p:sp>
        <p:nvSpPr>
          <p:cNvPr id="607" name="Sec 607"/>
          <p:cNvSpPr/>
          <p:nvPr/>
        </p:nvSpPr>
        <p:spPr>
          <a:xfrm>
            <a:off x="635000" y="2184400"/>
            <a:ext cx="2593975" cy="38100"/>
          </a:xfrm>
          <a:prstGeom prst="rect">
            <a:avLst/>
          </a:prstGeom>
          <a:solidFill>
            <a:srgbClr val="475569"/>
          </a:solidFill>
          <a:ln>
            <a:noFill/>
          </a:ln>
        </p:spPr>
        <p:txBody>
          <a:bodyPr wrap="square" lIns="0" tIns="0" rIns="0" bIns="0" anchor="t">
            <a:noAutofit/>
          </a:bodyPr>
          <a:lstStyle/>
          <a:p>
            <a:endParaRPr lang="en-US"/>
          </a:p>
        </p:txBody>
      </p:sp>
      <p:sp>
        <p:nvSpPr>
          <p:cNvPr id="608" name="Sec 608"/>
          <p:cNvSpPr txBox="1"/>
          <p:nvPr/>
        </p:nvSpPr>
        <p:spPr>
          <a:xfrm>
            <a:off x="635000" y="2273300"/>
            <a:ext cx="2593975" cy="177800"/>
          </a:xfrm>
          <a:prstGeom prst="rect">
            <a:avLst/>
          </a:prstGeom>
          <a:noFill/>
        </p:spPr>
        <p:txBody>
          <a:bodyPr wrap="square" lIns="0" tIns="0" rIns="0" bIns="0" anchor="t">
            <a:noAutofit/>
          </a:bodyPr>
          <a:lstStyle/>
          <a:p>
            <a:pPr algn="l"/>
            <a:r>
              <a:rPr lang="en-US" sz="1050" b="1" dirty="0">
                <a:solidFill>
                  <a:srgbClr val="2DD4BF"/>
                </a:solidFill>
                <a:latin typeface="Segoe UI"/>
              </a:rPr>
              <a:t>INPUT ATTACKS</a:t>
            </a:r>
          </a:p>
        </p:txBody>
      </p:sp>
      <p:sp>
        <p:nvSpPr>
          <p:cNvPr id="609" name="Sec 609"/>
          <p:cNvSpPr/>
          <p:nvPr/>
        </p:nvSpPr>
        <p:spPr>
          <a:xfrm>
            <a:off x="635000" y="24892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10" name="Sec 610"/>
          <p:cNvSpPr txBox="1"/>
          <p:nvPr/>
        </p:nvSpPr>
        <p:spPr>
          <a:xfrm>
            <a:off x="812800" y="26416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Prompt Injection</a:t>
            </a:r>
          </a:p>
        </p:txBody>
      </p:sp>
      <p:sp>
        <p:nvSpPr>
          <p:cNvPr id="611" name="Sec 611"/>
          <p:cNvSpPr txBox="1"/>
          <p:nvPr/>
        </p:nvSpPr>
        <p:spPr>
          <a:xfrm>
            <a:off x="812800" y="29337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User input tries to override system instructions</a:t>
            </a:r>
          </a:p>
        </p:txBody>
      </p:sp>
      <p:sp>
        <p:nvSpPr>
          <p:cNvPr id="612" name="Sec 612"/>
          <p:cNvSpPr/>
          <p:nvPr/>
        </p:nvSpPr>
        <p:spPr>
          <a:xfrm>
            <a:off x="812800" y="36068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13" name="Sec 613"/>
          <p:cNvSpPr/>
          <p:nvPr/>
        </p:nvSpPr>
        <p:spPr>
          <a:xfrm>
            <a:off x="812800" y="3721100"/>
            <a:ext cx="38100" cy="558800"/>
          </a:xfrm>
          <a:prstGeom prst="rect">
            <a:avLst/>
          </a:prstGeom>
          <a:solidFill>
            <a:srgbClr val="2DD4BF"/>
          </a:solidFill>
          <a:ln>
            <a:noFill/>
          </a:ln>
        </p:spPr>
        <p:txBody>
          <a:bodyPr wrap="square" lIns="0" tIns="0" rIns="0" bIns="0" anchor="t">
            <a:noAutofit/>
          </a:bodyPr>
          <a:lstStyle/>
          <a:p>
            <a:endParaRPr lang="en-US"/>
          </a:p>
        </p:txBody>
      </p:sp>
      <p:sp>
        <p:nvSpPr>
          <p:cNvPr id="614" name="Sec 614"/>
          <p:cNvSpPr txBox="1"/>
          <p:nvPr/>
        </p:nvSpPr>
        <p:spPr>
          <a:xfrm>
            <a:off x="939800" y="37084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Strict system/user role separation</a:t>
            </a:r>
          </a:p>
        </p:txBody>
      </p:sp>
      <p:sp>
        <p:nvSpPr>
          <p:cNvPr id="615" name="Sec 615"/>
          <p:cNvSpPr/>
          <p:nvPr/>
        </p:nvSpPr>
        <p:spPr>
          <a:xfrm>
            <a:off x="635000" y="44958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16" name="Sec 616"/>
          <p:cNvSpPr txBox="1"/>
          <p:nvPr/>
        </p:nvSpPr>
        <p:spPr>
          <a:xfrm>
            <a:off x="812800" y="46482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Indirect Prompt Injection</a:t>
            </a:r>
          </a:p>
        </p:txBody>
      </p:sp>
      <p:sp>
        <p:nvSpPr>
          <p:cNvPr id="617" name="Sec 617"/>
          <p:cNvSpPr txBox="1"/>
          <p:nvPr/>
        </p:nvSpPr>
        <p:spPr>
          <a:xfrm>
            <a:off x="812800" y="49403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A malicious instruction hidden inside a retrieved document</a:t>
            </a:r>
          </a:p>
        </p:txBody>
      </p:sp>
      <p:sp>
        <p:nvSpPr>
          <p:cNvPr id="618" name="Sec 618"/>
          <p:cNvSpPr/>
          <p:nvPr/>
        </p:nvSpPr>
        <p:spPr>
          <a:xfrm>
            <a:off x="812800" y="5613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19" name="Sec 619"/>
          <p:cNvSpPr/>
          <p:nvPr/>
        </p:nvSpPr>
        <p:spPr>
          <a:xfrm>
            <a:off x="812800" y="5727700"/>
            <a:ext cx="38100" cy="558800"/>
          </a:xfrm>
          <a:prstGeom prst="rect">
            <a:avLst/>
          </a:prstGeom>
          <a:solidFill>
            <a:srgbClr val="2DD4BF"/>
          </a:solidFill>
          <a:ln>
            <a:noFill/>
          </a:ln>
        </p:spPr>
        <p:txBody>
          <a:bodyPr wrap="square" lIns="0" tIns="0" rIns="0" bIns="0" anchor="t">
            <a:noAutofit/>
          </a:bodyPr>
          <a:lstStyle/>
          <a:p>
            <a:endParaRPr lang="en-US"/>
          </a:p>
        </p:txBody>
      </p:sp>
      <p:sp>
        <p:nvSpPr>
          <p:cNvPr id="620" name="Sec 620"/>
          <p:cNvSpPr txBox="1"/>
          <p:nvPr/>
        </p:nvSpPr>
        <p:spPr>
          <a:xfrm>
            <a:off x="939800" y="57150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Treat retrieved text as data, never as instructions</a:t>
            </a:r>
          </a:p>
        </p:txBody>
      </p:sp>
      <p:sp>
        <p:nvSpPr>
          <p:cNvPr id="621" name="Sec 621"/>
          <p:cNvSpPr/>
          <p:nvPr/>
        </p:nvSpPr>
        <p:spPr>
          <a:xfrm>
            <a:off x="3406775" y="2184400"/>
            <a:ext cx="2593975" cy="38100"/>
          </a:xfrm>
          <a:prstGeom prst="rect">
            <a:avLst/>
          </a:prstGeom>
          <a:solidFill>
            <a:srgbClr val="475569"/>
          </a:solidFill>
          <a:ln>
            <a:noFill/>
          </a:ln>
        </p:spPr>
        <p:txBody>
          <a:bodyPr wrap="square" lIns="0" tIns="0" rIns="0" bIns="0" anchor="t">
            <a:noAutofit/>
          </a:bodyPr>
          <a:lstStyle/>
          <a:p>
            <a:endParaRPr lang="en-US"/>
          </a:p>
        </p:txBody>
      </p:sp>
      <p:sp>
        <p:nvSpPr>
          <p:cNvPr id="622" name="Sec 622"/>
          <p:cNvSpPr txBox="1"/>
          <p:nvPr/>
        </p:nvSpPr>
        <p:spPr>
          <a:xfrm>
            <a:off x="3406775" y="2273300"/>
            <a:ext cx="2593975" cy="177800"/>
          </a:xfrm>
          <a:prstGeom prst="rect">
            <a:avLst/>
          </a:prstGeom>
          <a:noFill/>
        </p:spPr>
        <p:txBody>
          <a:bodyPr wrap="square" lIns="0" tIns="0" rIns="0" bIns="0" anchor="t">
            <a:noAutofit/>
          </a:bodyPr>
          <a:lstStyle/>
          <a:p>
            <a:pPr algn="l"/>
            <a:r>
              <a:rPr lang="en-US" sz="1050" b="1" dirty="0">
                <a:solidFill>
                  <a:srgbClr val="2DD4BF"/>
                </a:solidFill>
                <a:latin typeface="Segoe UI"/>
              </a:rPr>
              <a:t>DATA EXPOSURE</a:t>
            </a:r>
          </a:p>
        </p:txBody>
      </p:sp>
      <p:sp>
        <p:nvSpPr>
          <p:cNvPr id="623" name="Sec 623"/>
          <p:cNvSpPr/>
          <p:nvPr/>
        </p:nvSpPr>
        <p:spPr>
          <a:xfrm>
            <a:off x="3406775" y="24892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24" name="Sec 624"/>
          <p:cNvSpPr txBox="1"/>
          <p:nvPr/>
        </p:nvSpPr>
        <p:spPr>
          <a:xfrm>
            <a:off x="3584575" y="26416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PII exposure</a:t>
            </a:r>
          </a:p>
        </p:txBody>
      </p:sp>
      <p:sp>
        <p:nvSpPr>
          <p:cNvPr id="625" name="Sec 625"/>
          <p:cNvSpPr txBox="1"/>
          <p:nvPr/>
        </p:nvSpPr>
        <p:spPr>
          <a:xfrm>
            <a:off x="3584575" y="29337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Retrieved chunks contain personal data the requester shouldn't see</a:t>
            </a:r>
          </a:p>
        </p:txBody>
      </p:sp>
      <p:sp>
        <p:nvSpPr>
          <p:cNvPr id="626" name="Sec 626"/>
          <p:cNvSpPr/>
          <p:nvPr/>
        </p:nvSpPr>
        <p:spPr>
          <a:xfrm>
            <a:off x="3584575" y="36068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27" name="Sec 627"/>
          <p:cNvSpPr/>
          <p:nvPr/>
        </p:nvSpPr>
        <p:spPr>
          <a:xfrm>
            <a:off x="3584575" y="3721100"/>
            <a:ext cx="38100" cy="558800"/>
          </a:xfrm>
          <a:prstGeom prst="rect">
            <a:avLst/>
          </a:prstGeom>
          <a:solidFill>
            <a:srgbClr val="2DD4BF"/>
          </a:solidFill>
          <a:ln>
            <a:noFill/>
          </a:ln>
        </p:spPr>
        <p:txBody>
          <a:bodyPr wrap="square" lIns="0" tIns="0" rIns="0" bIns="0" anchor="t">
            <a:noAutofit/>
          </a:bodyPr>
          <a:lstStyle/>
          <a:p>
            <a:endParaRPr lang="en-US"/>
          </a:p>
        </p:txBody>
      </p:sp>
      <p:sp>
        <p:nvSpPr>
          <p:cNvPr id="628" name="Sec 628"/>
          <p:cNvSpPr txBox="1"/>
          <p:nvPr/>
        </p:nvSpPr>
        <p:spPr>
          <a:xfrm>
            <a:off x="3711575" y="37084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PII detection/redaction at ingestion or retrieval</a:t>
            </a:r>
          </a:p>
        </p:txBody>
      </p:sp>
      <p:sp>
        <p:nvSpPr>
          <p:cNvPr id="629" name="Sec 629"/>
          <p:cNvSpPr/>
          <p:nvPr/>
        </p:nvSpPr>
        <p:spPr>
          <a:xfrm>
            <a:off x="3406775" y="44958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30" name="Sec 630"/>
          <p:cNvSpPr txBox="1"/>
          <p:nvPr/>
        </p:nvSpPr>
        <p:spPr>
          <a:xfrm>
            <a:off x="3584575" y="46482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Cross-tenant leakage</a:t>
            </a:r>
          </a:p>
        </p:txBody>
      </p:sp>
      <p:sp>
        <p:nvSpPr>
          <p:cNvPr id="631" name="Sec 631"/>
          <p:cNvSpPr txBox="1"/>
          <p:nvPr/>
        </p:nvSpPr>
        <p:spPr>
          <a:xfrm>
            <a:off x="3584575" y="49403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One customer's documents surface in another's answers</a:t>
            </a:r>
          </a:p>
        </p:txBody>
      </p:sp>
      <p:sp>
        <p:nvSpPr>
          <p:cNvPr id="632" name="Sec 632"/>
          <p:cNvSpPr/>
          <p:nvPr/>
        </p:nvSpPr>
        <p:spPr>
          <a:xfrm>
            <a:off x="3584575" y="5613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33" name="Sec 633"/>
          <p:cNvSpPr/>
          <p:nvPr/>
        </p:nvSpPr>
        <p:spPr>
          <a:xfrm>
            <a:off x="3584575" y="5727700"/>
            <a:ext cx="38100" cy="558800"/>
          </a:xfrm>
          <a:prstGeom prst="rect">
            <a:avLst/>
          </a:prstGeom>
          <a:solidFill>
            <a:srgbClr val="2DD4BF"/>
          </a:solidFill>
          <a:ln>
            <a:noFill/>
          </a:ln>
        </p:spPr>
        <p:txBody>
          <a:bodyPr wrap="square" lIns="0" tIns="0" rIns="0" bIns="0" anchor="t">
            <a:noAutofit/>
          </a:bodyPr>
          <a:lstStyle/>
          <a:p>
            <a:endParaRPr lang="en-US"/>
          </a:p>
        </p:txBody>
      </p:sp>
      <p:sp>
        <p:nvSpPr>
          <p:cNvPr id="634" name="Sec 634"/>
          <p:cNvSpPr txBox="1"/>
          <p:nvPr/>
        </p:nvSpPr>
        <p:spPr>
          <a:xfrm>
            <a:off x="3711575" y="57150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Hard filter on tenant/project ID in the retrieval query itself</a:t>
            </a:r>
          </a:p>
        </p:txBody>
      </p:sp>
      <p:sp>
        <p:nvSpPr>
          <p:cNvPr id="635" name="Sec 635"/>
          <p:cNvSpPr/>
          <p:nvPr/>
        </p:nvSpPr>
        <p:spPr>
          <a:xfrm>
            <a:off x="6178550" y="2184400"/>
            <a:ext cx="2593975" cy="38100"/>
          </a:xfrm>
          <a:prstGeom prst="rect">
            <a:avLst/>
          </a:prstGeom>
          <a:solidFill>
            <a:srgbClr val="2DD4BF"/>
          </a:solidFill>
          <a:ln>
            <a:noFill/>
          </a:ln>
        </p:spPr>
        <p:txBody>
          <a:bodyPr wrap="square" lIns="0" tIns="0" rIns="0" bIns="0" anchor="t">
            <a:noAutofit/>
          </a:bodyPr>
          <a:lstStyle/>
          <a:p>
            <a:endParaRPr lang="en-US"/>
          </a:p>
        </p:txBody>
      </p:sp>
      <p:sp>
        <p:nvSpPr>
          <p:cNvPr id="636" name="Sec 636"/>
          <p:cNvSpPr txBox="1"/>
          <p:nvPr/>
        </p:nvSpPr>
        <p:spPr>
          <a:xfrm>
            <a:off x="6178550" y="2273300"/>
            <a:ext cx="2593975" cy="177800"/>
          </a:xfrm>
          <a:prstGeom prst="rect">
            <a:avLst/>
          </a:prstGeom>
          <a:noFill/>
        </p:spPr>
        <p:txBody>
          <a:bodyPr wrap="square" lIns="0" tIns="0" rIns="0" bIns="0" anchor="t">
            <a:noAutofit/>
          </a:bodyPr>
          <a:lstStyle/>
          <a:p>
            <a:pPr algn="l"/>
            <a:r>
              <a:rPr lang="en-US" sz="1050" b="1" dirty="0">
                <a:solidFill>
                  <a:srgbClr val="2DD4BF"/>
                </a:solidFill>
                <a:latin typeface="Segoe UI"/>
              </a:rPr>
              <a:t>ACCESS CONTROL</a:t>
            </a:r>
          </a:p>
        </p:txBody>
      </p:sp>
      <p:sp>
        <p:nvSpPr>
          <p:cNvPr id="637" name="Sec 637"/>
          <p:cNvSpPr/>
          <p:nvPr/>
        </p:nvSpPr>
        <p:spPr>
          <a:xfrm>
            <a:off x="6178550" y="2489200"/>
            <a:ext cx="2593975" cy="1905000"/>
          </a:xfrm>
          <a:prstGeom prst="roundRect">
            <a:avLst>
              <a:gd name="adj" fmla="val 6000"/>
            </a:avLst>
          </a:prstGeom>
          <a:solidFill>
            <a:srgbClr val="0F2A30"/>
          </a:solidFill>
          <a:ln w="12700">
            <a:solidFill>
              <a:srgbClr val="2DD4BF"/>
            </a:solidFill>
          </a:ln>
        </p:spPr>
        <p:txBody>
          <a:bodyPr wrap="square" lIns="0" tIns="0" rIns="0" bIns="0" anchor="t">
            <a:noAutofit/>
          </a:bodyPr>
          <a:lstStyle/>
          <a:p>
            <a:endParaRPr lang="en-US"/>
          </a:p>
        </p:txBody>
      </p:sp>
      <p:sp>
        <p:nvSpPr>
          <p:cNvPr id="638" name="Sec 638"/>
          <p:cNvSpPr txBox="1"/>
          <p:nvPr/>
        </p:nvSpPr>
        <p:spPr>
          <a:xfrm>
            <a:off x="6356350" y="26416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RBAC</a:t>
            </a:r>
          </a:p>
        </p:txBody>
      </p:sp>
      <p:sp>
        <p:nvSpPr>
          <p:cNvPr id="639" name="Sec 639"/>
          <p:cNvSpPr txBox="1"/>
          <p:nvPr/>
        </p:nvSpPr>
        <p:spPr>
          <a:xfrm>
            <a:off x="6356350" y="29337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Should this user even be allowed to ask this question?</a:t>
            </a:r>
          </a:p>
        </p:txBody>
      </p:sp>
      <p:sp>
        <p:nvSpPr>
          <p:cNvPr id="640" name="Sec 640"/>
          <p:cNvSpPr/>
          <p:nvPr/>
        </p:nvSpPr>
        <p:spPr>
          <a:xfrm>
            <a:off x="6356350" y="36068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41" name="Sec 641"/>
          <p:cNvSpPr/>
          <p:nvPr/>
        </p:nvSpPr>
        <p:spPr>
          <a:xfrm>
            <a:off x="6356350" y="3721100"/>
            <a:ext cx="38100" cy="558800"/>
          </a:xfrm>
          <a:prstGeom prst="rect">
            <a:avLst/>
          </a:prstGeom>
          <a:solidFill>
            <a:srgbClr val="2DD4BF"/>
          </a:solidFill>
          <a:ln>
            <a:noFill/>
          </a:ln>
        </p:spPr>
        <p:txBody>
          <a:bodyPr wrap="square" lIns="0" tIns="0" rIns="0" bIns="0" anchor="t">
            <a:noAutofit/>
          </a:bodyPr>
          <a:lstStyle/>
          <a:p>
            <a:endParaRPr lang="en-US"/>
          </a:p>
        </p:txBody>
      </p:sp>
      <p:sp>
        <p:nvSpPr>
          <p:cNvPr id="642" name="Sec 642"/>
          <p:cNvSpPr txBox="1"/>
          <p:nvPr/>
        </p:nvSpPr>
        <p:spPr>
          <a:xfrm>
            <a:off x="6483350" y="37084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Enforce authorization before retrieval runs — never retrieve, then filter</a:t>
            </a:r>
          </a:p>
        </p:txBody>
      </p:sp>
      <p:sp>
        <p:nvSpPr>
          <p:cNvPr id="643" name="Sec 643"/>
          <p:cNvSpPr/>
          <p:nvPr/>
        </p:nvSpPr>
        <p:spPr>
          <a:xfrm>
            <a:off x="6178550" y="44958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44" name="Sec 644"/>
          <p:cNvSpPr txBox="1"/>
          <p:nvPr/>
        </p:nvSpPr>
        <p:spPr>
          <a:xfrm>
            <a:off x="6356350" y="46482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Tenant isolation</a:t>
            </a:r>
          </a:p>
        </p:txBody>
      </p:sp>
      <p:sp>
        <p:nvSpPr>
          <p:cNvPr id="645" name="Sec 645"/>
          <p:cNvSpPr txBox="1"/>
          <p:nvPr/>
        </p:nvSpPr>
        <p:spPr>
          <a:xfrm>
            <a:off x="6356350" y="49403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Physical/logical separation of customer data</a:t>
            </a:r>
          </a:p>
        </p:txBody>
      </p:sp>
      <p:sp>
        <p:nvSpPr>
          <p:cNvPr id="646" name="Sec 646"/>
          <p:cNvSpPr/>
          <p:nvPr/>
        </p:nvSpPr>
        <p:spPr>
          <a:xfrm>
            <a:off x="6356350" y="5613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47" name="Sec 647"/>
          <p:cNvSpPr/>
          <p:nvPr/>
        </p:nvSpPr>
        <p:spPr>
          <a:xfrm>
            <a:off x="6356350" y="5727700"/>
            <a:ext cx="38100" cy="558800"/>
          </a:xfrm>
          <a:prstGeom prst="rect">
            <a:avLst/>
          </a:prstGeom>
          <a:solidFill>
            <a:srgbClr val="2DD4BF"/>
          </a:solidFill>
          <a:ln>
            <a:noFill/>
          </a:ln>
        </p:spPr>
        <p:txBody>
          <a:bodyPr wrap="square" lIns="0" tIns="0" rIns="0" bIns="0" anchor="t">
            <a:noAutofit/>
          </a:bodyPr>
          <a:lstStyle/>
          <a:p>
            <a:endParaRPr lang="en-US"/>
          </a:p>
        </p:txBody>
      </p:sp>
      <p:sp>
        <p:nvSpPr>
          <p:cNvPr id="648" name="Sec 648"/>
          <p:cNvSpPr txBox="1"/>
          <p:nvPr/>
        </p:nvSpPr>
        <p:spPr>
          <a:xfrm>
            <a:off x="6483350" y="57150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Row-level security or separate schemas per tenant</a:t>
            </a:r>
          </a:p>
        </p:txBody>
      </p:sp>
      <p:sp>
        <p:nvSpPr>
          <p:cNvPr id="649" name="Sec 649"/>
          <p:cNvSpPr/>
          <p:nvPr/>
        </p:nvSpPr>
        <p:spPr>
          <a:xfrm>
            <a:off x="8950325" y="2184400"/>
            <a:ext cx="2593975" cy="38100"/>
          </a:xfrm>
          <a:prstGeom prst="rect">
            <a:avLst/>
          </a:prstGeom>
          <a:solidFill>
            <a:srgbClr val="475569"/>
          </a:solidFill>
          <a:ln>
            <a:noFill/>
          </a:ln>
        </p:spPr>
        <p:txBody>
          <a:bodyPr wrap="square" lIns="0" tIns="0" rIns="0" bIns="0" anchor="t">
            <a:noAutofit/>
          </a:bodyPr>
          <a:lstStyle/>
          <a:p>
            <a:endParaRPr lang="en-US"/>
          </a:p>
        </p:txBody>
      </p:sp>
      <p:sp>
        <p:nvSpPr>
          <p:cNvPr id="650" name="Sec 650"/>
          <p:cNvSpPr txBox="1"/>
          <p:nvPr/>
        </p:nvSpPr>
        <p:spPr>
          <a:xfrm>
            <a:off x="8950325" y="2273300"/>
            <a:ext cx="2593975" cy="177800"/>
          </a:xfrm>
          <a:prstGeom prst="rect">
            <a:avLst/>
          </a:prstGeom>
          <a:noFill/>
        </p:spPr>
        <p:txBody>
          <a:bodyPr wrap="square" lIns="0" tIns="0" rIns="0" bIns="0" anchor="t">
            <a:noAutofit/>
          </a:bodyPr>
          <a:lstStyle/>
          <a:p>
            <a:pPr algn="l"/>
            <a:r>
              <a:rPr lang="en-US" sz="1050" b="1" dirty="0">
                <a:solidFill>
                  <a:srgbClr val="2DD4BF"/>
                </a:solidFill>
                <a:latin typeface="Segoe UI"/>
              </a:rPr>
              <a:t>OPERATIONS</a:t>
            </a:r>
          </a:p>
        </p:txBody>
      </p:sp>
      <p:sp>
        <p:nvSpPr>
          <p:cNvPr id="651" name="Sec 651"/>
          <p:cNvSpPr/>
          <p:nvPr/>
        </p:nvSpPr>
        <p:spPr>
          <a:xfrm>
            <a:off x="8950325" y="24892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52" name="Sec 652"/>
          <p:cNvSpPr txBox="1"/>
          <p:nvPr/>
        </p:nvSpPr>
        <p:spPr>
          <a:xfrm>
            <a:off x="9128125" y="26416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Secrets management</a:t>
            </a:r>
          </a:p>
        </p:txBody>
      </p:sp>
      <p:sp>
        <p:nvSpPr>
          <p:cNvPr id="653" name="Sec 653"/>
          <p:cNvSpPr txBox="1"/>
          <p:nvPr/>
        </p:nvSpPr>
        <p:spPr>
          <a:xfrm>
            <a:off x="9128125" y="29337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API keys for OpenAI/Cohere/etc.</a:t>
            </a:r>
          </a:p>
        </p:txBody>
      </p:sp>
      <p:sp>
        <p:nvSpPr>
          <p:cNvPr id="654" name="Sec 654"/>
          <p:cNvSpPr/>
          <p:nvPr/>
        </p:nvSpPr>
        <p:spPr>
          <a:xfrm>
            <a:off x="9128125" y="36068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55" name="Sec 655"/>
          <p:cNvSpPr/>
          <p:nvPr/>
        </p:nvSpPr>
        <p:spPr>
          <a:xfrm>
            <a:off x="9128125" y="3721100"/>
            <a:ext cx="38100" cy="558800"/>
          </a:xfrm>
          <a:prstGeom prst="rect">
            <a:avLst/>
          </a:prstGeom>
          <a:solidFill>
            <a:srgbClr val="2DD4BF"/>
          </a:solidFill>
          <a:ln>
            <a:noFill/>
          </a:ln>
        </p:spPr>
        <p:txBody>
          <a:bodyPr wrap="square" lIns="0" tIns="0" rIns="0" bIns="0" anchor="t">
            <a:noAutofit/>
          </a:bodyPr>
          <a:lstStyle/>
          <a:p>
            <a:endParaRPr lang="en-US"/>
          </a:p>
        </p:txBody>
      </p:sp>
      <p:sp>
        <p:nvSpPr>
          <p:cNvPr id="656" name="Sec 656"/>
          <p:cNvSpPr txBox="1"/>
          <p:nvPr/>
        </p:nvSpPr>
        <p:spPr>
          <a:xfrm>
            <a:off x="9255125" y="37084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Vault/managed identity — never in appsettings.json</a:t>
            </a:r>
          </a:p>
        </p:txBody>
      </p:sp>
      <p:sp>
        <p:nvSpPr>
          <p:cNvPr id="657" name="Sec 657"/>
          <p:cNvSpPr/>
          <p:nvPr/>
        </p:nvSpPr>
        <p:spPr>
          <a:xfrm>
            <a:off x="8950325" y="4495800"/>
            <a:ext cx="2593975" cy="19050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58" name="Sec 658"/>
          <p:cNvSpPr txBox="1"/>
          <p:nvPr/>
        </p:nvSpPr>
        <p:spPr>
          <a:xfrm>
            <a:off x="9128125" y="4648200"/>
            <a:ext cx="2238375" cy="254000"/>
          </a:xfrm>
          <a:prstGeom prst="rect">
            <a:avLst/>
          </a:prstGeom>
          <a:noFill/>
        </p:spPr>
        <p:txBody>
          <a:bodyPr wrap="square" lIns="0" tIns="0" rIns="0" bIns="0" anchor="t">
            <a:noAutofit/>
          </a:bodyPr>
          <a:lstStyle/>
          <a:p>
            <a:pPr algn="l"/>
            <a:r>
              <a:rPr lang="en-US" sz="1400" b="1" dirty="0">
                <a:solidFill>
                  <a:srgbClr val="F1F5F9"/>
                </a:solidFill>
                <a:latin typeface="Segoe UI"/>
              </a:rPr>
              <a:t>Audit logging</a:t>
            </a:r>
          </a:p>
        </p:txBody>
      </p:sp>
      <p:sp>
        <p:nvSpPr>
          <p:cNvPr id="659" name="Sec 659"/>
          <p:cNvSpPr txBox="1"/>
          <p:nvPr/>
        </p:nvSpPr>
        <p:spPr>
          <a:xfrm>
            <a:off x="9128125" y="4940300"/>
            <a:ext cx="2238375" cy="635000"/>
          </a:xfrm>
          <a:prstGeom prst="rect">
            <a:avLst/>
          </a:prstGeom>
          <a:noFill/>
        </p:spPr>
        <p:txBody>
          <a:bodyPr wrap="square" lIns="0" tIns="0" rIns="0" bIns="0" anchor="t">
            <a:noAutofit/>
          </a:bodyPr>
          <a:lstStyle/>
          <a:p>
            <a:pPr algn="l"/>
            <a:r>
              <a:rPr lang="en-US" sz="1200" b="0" dirty="0">
                <a:solidFill>
                  <a:srgbClr val="B8C2D3"/>
                </a:solidFill>
                <a:latin typeface="Segoe UI"/>
              </a:rPr>
              <a:t>Who asked what, and what was retrieved to answer it</a:t>
            </a:r>
          </a:p>
        </p:txBody>
      </p:sp>
      <p:sp>
        <p:nvSpPr>
          <p:cNvPr id="660" name="Sec 660"/>
          <p:cNvSpPr/>
          <p:nvPr/>
        </p:nvSpPr>
        <p:spPr>
          <a:xfrm>
            <a:off x="9128125" y="5613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61" name="Sec 661"/>
          <p:cNvSpPr/>
          <p:nvPr/>
        </p:nvSpPr>
        <p:spPr>
          <a:xfrm>
            <a:off x="9128125" y="5727700"/>
            <a:ext cx="38100" cy="558800"/>
          </a:xfrm>
          <a:prstGeom prst="rect">
            <a:avLst/>
          </a:prstGeom>
          <a:solidFill>
            <a:srgbClr val="2DD4BF"/>
          </a:solidFill>
          <a:ln>
            <a:noFill/>
          </a:ln>
        </p:spPr>
        <p:txBody>
          <a:bodyPr wrap="square" lIns="0" tIns="0" rIns="0" bIns="0" anchor="t">
            <a:noAutofit/>
          </a:bodyPr>
          <a:lstStyle/>
          <a:p>
            <a:endParaRPr lang="en-US"/>
          </a:p>
        </p:txBody>
      </p:sp>
      <p:sp>
        <p:nvSpPr>
          <p:cNvPr id="662" name="Sec 662"/>
          <p:cNvSpPr txBox="1"/>
          <p:nvPr/>
        </p:nvSpPr>
        <p:spPr>
          <a:xfrm>
            <a:off x="9255125" y="5715000"/>
            <a:ext cx="2111375" cy="635000"/>
          </a:xfrm>
          <a:prstGeom prst="rect">
            <a:avLst/>
          </a:prstGeom>
          <a:noFill/>
        </p:spPr>
        <p:txBody>
          <a:bodyPr wrap="square" lIns="0" tIns="0" rIns="0" bIns="0" anchor="t">
            <a:noAutofit/>
          </a:bodyPr>
          <a:lstStyle/>
          <a:p>
            <a:pPr algn="l"/>
            <a:r>
              <a:rPr lang="en-US" sz="1200" b="0" dirty="0">
                <a:solidFill>
                  <a:srgbClr val="E2E8F0"/>
                </a:solidFill>
                <a:latin typeface="Segoe UI"/>
              </a:rPr>
              <a:t>Log query + retrieved chunk IDs + answer, immutably</a:t>
            </a:r>
          </a:p>
        </p:txBody>
      </p:sp>
      <p:sp>
        <p:nvSpPr>
          <p:cNvPr id="7" name="TextBox 6"/>
          <p:cNvSpPr txBox="1"/>
          <p:nvPr/>
        </p:nvSpPr>
        <p:spPr>
          <a:xfrm>
            <a:off x="640080" y="6528816"/>
            <a:ext cx="7315200" cy="274320"/>
          </a:xfrm>
          <a:prstGeom prst="rect">
            <a:avLst/>
          </a:prstGeom>
          <a:noFill/>
        </p:spPr>
        <p:txBody>
          <a:bodyPr wrap="square">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a:spAutoFit/>
          </a:bodyPr>
          <a:lstStyle/>
          <a:p>
            <a:pPr algn="l"/>
            <a:r>
              <a:rPr sz="850" b="0" i="0">
                <a:solidFill>
                  <a:srgbClr val="94A3B8"/>
                </a:solidFill>
                <a:latin typeface="Segoe UI"/>
              </a:rPr>
              <a:t>36</a:t>
            </a:r>
          </a:p>
        </p:txBody>
      </p:sp>
    </p:spTree>
    <p:extLst>
      <p:ext uri="{BB962C8B-B14F-4D97-AF65-F5344CB8AC3E}">
        <p14:creationId xmlns:p14="http://schemas.microsoft.com/office/powerpoint/2010/main" val="1964815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COMMON MISTAKES</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Common mistakes &amp; how to avoid them</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00" name="Mist 600"/>
          <p:cNvSpPr txBox="1"/>
          <p:nvPr/>
        </p:nvSpPr>
        <p:spPr>
          <a:xfrm>
            <a:off x="635000" y="1320800"/>
            <a:ext cx="10909300" cy="203200"/>
          </a:xfrm>
          <a:prstGeom prst="rect">
            <a:avLst/>
          </a:prstGeom>
          <a:noFill/>
        </p:spPr>
        <p:txBody>
          <a:bodyPr wrap="square" lIns="0" tIns="0" rIns="0" bIns="0" anchor="t">
            <a:noAutofit/>
          </a:bodyPr>
          <a:lstStyle/>
          <a:p>
            <a:pPr algn="l"/>
            <a:r>
              <a:rPr lang="en-US" sz="1100" b="1" dirty="0">
                <a:solidFill>
                  <a:srgbClr val="2DD4BF"/>
                </a:solidFill>
                <a:latin typeface="Segoe UI"/>
              </a:rPr>
              <a:t>INGESTION   </a:t>
            </a:r>
            <a:r>
              <a:rPr lang="en-US" sz="1200" b="0" dirty="0">
                <a:solidFill>
                  <a:srgbClr val="94A3B8"/>
                </a:solidFill>
                <a:latin typeface="Segoe UI"/>
              </a:rPr>
              <a:t>Mistakes made before the first question is asked</a:t>
            </a:r>
          </a:p>
        </p:txBody>
      </p:sp>
      <p:sp>
        <p:nvSpPr>
          <p:cNvPr id="601" name="Mist 601"/>
          <p:cNvSpPr/>
          <p:nvPr/>
        </p:nvSpPr>
        <p:spPr>
          <a:xfrm>
            <a:off x="635000" y="1600200"/>
            <a:ext cx="2574925" cy="2235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02" name="Mist 602"/>
          <p:cNvSpPr/>
          <p:nvPr/>
        </p:nvSpPr>
        <p:spPr>
          <a:xfrm>
            <a:off x="635000" y="1727200"/>
            <a:ext cx="38100" cy="685800"/>
          </a:xfrm>
          <a:prstGeom prst="rect">
            <a:avLst/>
          </a:prstGeom>
          <a:solidFill>
            <a:srgbClr val="F87171"/>
          </a:solidFill>
          <a:ln>
            <a:noFill/>
          </a:ln>
        </p:spPr>
        <p:txBody>
          <a:bodyPr wrap="square" lIns="0" tIns="0" rIns="0" bIns="0" anchor="t">
            <a:noAutofit/>
          </a:bodyPr>
          <a:lstStyle/>
          <a:p>
            <a:endParaRPr lang="en-US"/>
          </a:p>
        </p:txBody>
      </p:sp>
      <p:sp>
        <p:nvSpPr>
          <p:cNvPr id="603" name="Mist 603"/>
          <p:cNvSpPr txBox="1"/>
          <p:nvPr/>
        </p:nvSpPr>
        <p:spPr>
          <a:xfrm>
            <a:off x="812800" y="1752600"/>
            <a:ext cx="2219325"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04" name="Mist 604"/>
          <p:cNvSpPr txBox="1"/>
          <p:nvPr/>
        </p:nvSpPr>
        <p:spPr>
          <a:xfrm>
            <a:off x="812800" y="1955800"/>
            <a:ext cx="2219325" cy="558800"/>
          </a:xfrm>
          <a:prstGeom prst="rect">
            <a:avLst/>
          </a:prstGeom>
          <a:noFill/>
        </p:spPr>
        <p:txBody>
          <a:bodyPr wrap="square" lIns="0" tIns="0" rIns="0" bIns="0" anchor="t">
            <a:noAutofit/>
          </a:bodyPr>
          <a:lstStyle/>
          <a:p>
            <a:pPr algn="l"/>
            <a:r>
              <a:rPr lang="en-US" sz="1400" b="1" dirty="0">
                <a:solidFill>
                  <a:srgbClr val="F1F5F9"/>
                </a:solidFill>
                <a:latin typeface="Segoe UI"/>
              </a:rPr>
              <a:t>Chunks too large or too tiny</a:t>
            </a:r>
          </a:p>
        </p:txBody>
      </p:sp>
      <p:sp>
        <p:nvSpPr>
          <p:cNvPr id="605" name="Mist 605"/>
          <p:cNvSpPr/>
          <p:nvPr/>
        </p:nvSpPr>
        <p:spPr>
          <a:xfrm>
            <a:off x="812800" y="2540000"/>
            <a:ext cx="2219325" cy="12700"/>
          </a:xfrm>
          <a:prstGeom prst="rect">
            <a:avLst/>
          </a:prstGeom>
          <a:solidFill>
            <a:srgbClr val="2A3650"/>
          </a:solidFill>
          <a:ln>
            <a:noFill/>
          </a:ln>
        </p:spPr>
        <p:txBody>
          <a:bodyPr wrap="square" lIns="0" tIns="0" rIns="0" bIns="0" anchor="t">
            <a:noAutofit/>
          </a:bodyPr>
          <a:lstStyle/>
          <a:p>
            <a:endParaRPr lang="en-US"/>
          </a:p>
        </p:txBody>
      </p:sp>
      <p:sp>
        <p:nvSpPr>
          <p:cNvPr id="606" name="Mist 606"/>
          <p:cNvSpPr txBox="1"/>
          <p:nvPr/>
        </p:nvSpPr>
        <p:spPr>
          <a:xfrm>
            <a:off x="812800" y="2667000"/>
            <a:ext cx="2219325"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07" name="Mist 607"/>
          <p:cNvSpPr txBox="1"/>
          <p:nvPr/>
        </p:nvSpPr>
        <p:spPr>
          <a:xfrm>
            <a:off x="812800" y="2882900"/>
            <a:ext cx="2219325" cy="901700"/>
          </a:xfrm>
          <a:prstGeom prst="rect">
            <a:avLst/>
          </a:prstGeom>
          <a:noFill/>
        </p:spPr>
        <p:txBody>
          <a:bodyPr wrap="square" lIns="0" tIns="0" rIns="0" bIns="0" anchor="t">
            <a:noAutofit/>
          </a:bodyPr>
          <a:lstStyle/>
          <a:p>
            <a:pPr algn="l"/>
            <a:r>
              <a:rPr lang="en-US" sz="1300" b="0" dirty="0">
                <a:solidFill>
                  <a:srgbClr val="E2E8F0"/>
                </a:solidFill>
                <a:latin typeface="Segoe UI"/>
              </a:rPr>
              <a:t>Tune chunk size against real queries, not a guessed default; measure, don't assume</a:t>
            </a:r>
          </a:p>
        </p:txBody>
      </p:sp>
      <p:sp>
        <p:nvSpPr>
          <p:cNvPr id="608" name="Mist 608"/>
          <p:cNvSpPr/>
          <p:nvPr/>
        </p:nvSpPr>
        <p:spPr>
          <a:xfrm>
            <a:off x="3413125" y="1600200"/>
            <a:ext cx="2574925" cy="2235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09" name="Mist 609"/>
          <p:cNvSpPr/>
          <p:nvPr/>
        </p:nvSpPr>
        <p:spPr>
          <a:xfrm>
            <a:off x="3413125" y="1727200"/>
            <a:ext cx="38100" cy="685800"/>
          </a:xfrm>
          <a:prstGeom prst="rect">
            <a:avLst/>
          </a:prstGeom>
          <a:solidFill>
            <a:srgbClr val="F87171"/>
          </a:solidFill>
          <a:ln>
            <a:noFill/>
          </a:ln>
        </p:spPr>
        <p:txBody>
          <a:bodyPr wrap="square" lIns="0" tIns="0" rIns="0" bIns="0" anchor="t">
            <a:noAutofit/>
          </a:bodyPr>
          <a:lstStyle/>
          <a:p>
            <a:endParaRPr lang="en-US"/>
          </a:p>
        </p:txBody>
      </p:sp>
      <p:sp>
        <p:nvSpPr>
          <p:cNvPr id="610" name="Mist 610"/>
          <p:cNvSpPr txBox="1"/>
          <p:nvPr/>
        </p:nvSpPr>
        <p:spPr>
          <a:xfrm>
            <a:off x="3590925" y="1752600"/>
            <a:ext cx="2219325"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11" name="Mist 611"/>
          <p:cNvSpPr txBox="1"/>
          <p:nvPr/>
        </p:nvSpPr>
        <p:spPr>
          <a:xfrm>
            <a:off x="3590925" y="1955800"/>
            <a:ext cx="2219325" cy="558800"/>
          </a:xfrm>
          <a:prstGeom prst="rect">
            <a:avLst/>
          </a:prstGeom>
          <a:noFill/>
        </p:spPr>
        <p:txBody>
          <a:bodyPr wrap="square" lIns="0" tIns="0" rIns="0" bIns="0" anchor="t">
            <a:noAutofit/>
          </a:bodyPr>
          <a:lstStyle/>
          <a:p>
            <a:pPr algn="l"/>
            <a:r>
              <a:rPr lang="en-US" sz="1400" b="1" dirty="0">
                <a:solidFill>
                  <a:srgbClr val="F1F5F9"/>
                </a:solidFill>
                <a:latin typeface="Segoe UI"/>
              </a:rPr>
              <a:t>Wrong or mismatched embedding model</a:t>
            </a:r>
          </a:p>
        </p:txBody>
      </p:sp>
      <p:sp>
        <p:nvSpPr>
          <p:cNvPr id="612" name="Mist 612"/>
          <p:cNvSpPr/>
          <p:nvPr/>
        </p:nvSpPr>
        <p:spPr>
          <a:xfrm>
            <a:off x="3590925" y="2540000"/>
            <a:ext cx="2219325" cy="12700"/>
          </a:xfrm>
          <a:prstGeom prst="rect">
            <a:avLst/>
          </a:prstGeom>
          <a:solidFill>
            <a:srgbClr val="2A3650"/>
          </a:solidFill>
          <a:ln>
            <a:noFill/>
          </a:ln>
        </p:spPr>
        <p:txBody>
          <a:bodyPr wrap="square" lIns="0" tIns="0" rIns="0" bIns="0" anchor="t">
            <a:noAutofit/>
          </a:bodyPr>
          <a:lstStyle/>
          <a:p>
            <a:endParaRPr lang="en-US"/>
          </a:p>
        </p:txBody>
      </p:sp>
      <p:sp>
        <p:nvSpPr>
          <p:cNvPr id="613" name="Mist 613"/>
          <p:cNvSpPr txBox="1"/>
          <p:nvPr/>
        </p:nvSpPr>
        <p:spPr>
          <a:xfrm>
            <a:off x="3590925" y="2667000"/>
            <a:ext cx="2219325"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14" name="Mist 614"/>
          <p:cNvSpPr txBox="1"/>
          <p:nvPr/>
        </p:nvSpPr>
        <p:spPr>
          <a:xfrm>
            <a:off x="3590925" y="2882900"/>
            <a:ext cx="2219325" cy="901700"/>
          </a:xfrm>
          <a:prstGeom prst="rect">
            <a:avLst/>
          </a:prstGeom>
          <a:noFill/>
        </p:spPr>
        <p:txBody>
          <a:bodyPr wrap="square" lIns="0" tIns="0" rIns="0" bIns="0" anchor="t">
            <a:noAutofit/>
          </a:bodyPr>
          <a:lstStyle/>
          <a:p>
            <a:pPr algn="l"/>
            <a:r>
              <a:rPr lang="en-US" sz="1300" b="0" dirty="0">
                <a:solidFill>
                  <a:srgbClr val="E2E8F0"/>
                </a:solidFill>
                <a:latin typeface="Segoe UI"/>
              </a:rPr>
              <a:t>Never mix embedding models across a corpus; re-embed everything if you switch</a:t>
            </a:r>
          </a:p>
        </p:txBody>
      </p:sp>
      <p:sp>
        <p:nvSpPr>
          <p:cNvPr id="615" name="Mist 615"/>
          <p:cNvSpPr/>
          <p:nvPr/>
        </p:nvSpPr>
        <p:spPr>
          <a:xfrm>
            <a:off x="6191250" y="1600200"/>
            <a:ext cx="2574925" cy="2235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16" name="Mist 616"/>
          <p:cNvSpPr/>
          <p:nvPr/>
        </p:nvSpPr>
        <p:spPr>
          <a:xfrm>
            <a:off x="6191250" y="1727200"/>
            <a:ext cx="38100" cy="685800"/>
          </a:xfrm>
          <a:prstGeom prst="rect">
            <a:avLst/>
          </a:prstGeom>
          <a:solidFill>
            <a:srgbClr val="F87171"/>
          </a:solidFill>
          <a:ln>
            <a:noFill/>
          </a:ln>
        </p:spPr>
        <p:txBody>
          <a:bodyPr wrap="square" lIns="0" tIns="0" rIns="0" bIns="0" anchor="t">
            <a:noAutofit/>
          </a:bodyPr>
          <a:lstStyle/>
          <a:p>
            <a:endParaRPr lang="en-US"/>
          </a:p>
        </p:txBody>
      </p:sp>
      <p:sp>
        <p:nvSpPr>
          <p:cNvPr id="617" name="Mist 617"/>
          <p:cNvSpPr txBox="1"/>
          <p:nvPr/>
        </p:nvSpPr>
        <p:spPr>
          <a:xfrm>
            <a:off x="6369050" y="1752600"/>
            <a:ext cx="2219325"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18" name="Mist 618"/>
          <p:cNvSpPr txBox="1"/>
          <p:nvPr/>
        </p:nvSpPr>
        <p:spPr>
          <a:xfrm>
            <a:off x="6369050" y="1955800"/>
            <a:ext cx="2219325" cy="558800"/>
          </a:xfrm>
          <a:prstGeom prst="rect">
            <a:avLst/>
          </a:prstGeom>
          <a:noFill/>
        </p:spPr>
        <p:txBody>
          <a:bodyPr wrap="square" lIns="0" tIns="0" rIns="0" bIns="0" anchor="t">
            <a:noAutofit/>
          </a:bodyPr>
          <a:lstStyle/>
          <a:p>
            <a:pPr algn="l"/>
            <a:r>
              <a:rPr lang="en-US" sz="1400" b="1" dirty="0">
                <a:solidFill>
                  <a:srgbClr val="F1F5F9"/>
                </a:solidFill>
                <a:latin typeface="Segoe UI"/>
              </a:rPr>
              <a:t>Duplicate documents indexed</a:t>
            </a:r>
          </a:p>
        </p:txBody>
      </p:sp>
      <p:sp>
        <p:nvSpPr>
          <p:cNvPr id="619" name="Mist 619"/>
          <p:cNvSpPr/>
          <p:nvPr/>
        </p:nvSpPr>
        <p:spPr>
          <a:xfrm>
            <a:off x="6369050" y="2540000"/>
            <a:ext cx="2219325" cy="12700"/>
          </a:xfrm>
          <a:prstGeom prst="rect">
            <a:avLst/>
          </a:prstGeom>
          <a:solidFill>
            <a:srgbClr val="2A3650"/>
          </a:solidFill>
          <a:ln>
            <a:noFill/>
          </a:ln>
        </p:spPr>
        <p:txBody>
          <a:bodyPr wrap="square" lIns="0" tIns="0" rIns="0" bIns="0" anchor="t">
            <a:noAutofit/>
          </a:bodyPr>
          <a:lstStyle/>
          <a:p>
            <a:endParaRPr lang="en-US"/>
          </a:p>
        </p:txBody>
      </p:sp>
      <p:sp>
        <p:nvSpPr>
          <p:cNvPr id="620" name="Mist 620"/>
          <p:cNvSpPr txBox="1"/>
          <p:nvPr/>
        </p:nvSpPr>
        <p:spPr>
          <a:xfrm>
            <a:off x="6369050" y="2667000"/>
            <a:ext cx="2219325"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21" name="Mist 621"/>
          <p:cNvSpPr txBox="1"/>
          <p:nvPr/>
        </p:nvSpPr>
        <p:spPr>
          <a:xfrm>
            <a:off x="6369050" y="2882900"/>
            <a:ext cx="2219325" cy="901700"/>
          </a:xfrm>
          <a:prstGeom prst="rect">
            <a:avLst/>
          </a:prstGeom>
          <a:noFill/>
        </p:spPr>
        <p:txBody>
          <a:bodyPr wrap="square" lIns="0" tIns="0" rIns="0" bIns="0" anchor="t">
            <a:noAutofit/>
          </a:bodyPr>
          <a:lstStyle/>
          <a:p>
            <a:pPr algn="l"/>
            <a:r>
              <a:rPr lang="en-US" sz="1300" b="0" dirty="0">
                <a:solidFill>
                  <a:srgbClr val="E2E8F0"/>
                </a:solidFill>
                <a:latin typeface="Segoe UI"/>
              </a:rPr>
              <a:t>De-duplicate at ingestion — duplicates waste storage and crowd out diverse results</a:t>
            </a:r>
          </a:p>
        </p:txBody>
      </p:sp>
      <p:sp>
        <p:nvSpPr>
          <p:cNvPr id="622" name="Mist 622"/>
          <p:cNvSpPr/>
          <p:nvPr/>
        </p:nvSpPr>
        <p:spPr>
          <a:xfrm>
            <a:off x="8969375" y="1600200"/>
            <a:ext cx="2574925" cy="22352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23" name="Mist 623"/>
          <p:cNvSpPr/>
          <p:nvPr/>
        </p:nvSpPr>
        <p:spPr>
          <a:xfrm>
            <a:off x="8969375" y="1727200"/>
            <a:ext cx="38100" cy="685800"/>
          </a:xfrm>
          <a:prstGeom prst="rect">
            <a:avLst/>
          </a:prstGeom>
          <a:solidFill>
            <a:srgbClr val="F87171"/>
          </a:solidFill>
          <a:ln>
            <a:noFill/>
          </a:ln>
        </p:spPr>
        <p:txBody>
          <a:bodyPr wrap="square" lIns="0" tIns="0" rIns="0" bIns="0" anchor="t">
            <a:noAutofit/>
          </a:bodyPr>
          <a:lstStyle/>
          <a:p>
            <a:endParaRPr lang="en-US"/>
          </a:p>
        </p:txBody>
      </p:sp>
      <p:sp>
        <p:nvSpPr>
          <p:cNvPr id="624" name="Mist 624"/>
          <p:cNvSpPr txBox="1"/>
          <p:nvPr/>
        </p:nvSpPr>
        <p:spPr>
          <a:xfrm>
            <a:off x="9147175" y="1752600"/>
            <a:ext cx="2219325"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25" name="Mist 625"/>
          <p:cNvSpPr txBox="1"/>
          <p:nvPr/>
        </p:nvSpPr>
        <p:spPr>
          <a:xfrm>
            <a:off x="9147175" y="1955800"/>
            <a:ext cx="2219325" cy="558800"/>
          </a:xfrm>
          <a:prstGeom prst="rect">
            <a:avLst/>
          </a:prstGeom>
          <a:noFill/>
        </p:spPr>
        <p:txBody>
          <a:bodyPr wrap="square" lIns="0" tIns="0" rIns="0" bIns="0" anchor="t">
            <a:noAutofit/>
          </a:bodyPr>
          <a:lstStyle/>
          <a:p>
            <a:pPr algn="l"/>
            <a:r>
              <a:rPr lang="en-US" sz="1400" b="1" dirty="0">
                <a:solidFill>
                  <a:srgbClr val="F1F5F9"/>
                </a:solidFill>
                <a:latin typeface="Segoe UI"/>
              </a:rPr>
              <a:t>No metadata captured</a:t>
            </a:r>
          </a:p>
        </p:txBody>
      </p:sp>
      <p:sp>
        <p:nvSpPr>
          <p:cNvPr id="626" name="Mist 626"/>
          <p:cNvSpPr/>
          <p:nvPr/>
        </p:nvSpPr>
        <p:spPr>
          <a:xfrm>
            <a:off x="9147175" y="2540000"/>
            <a:ext cx="2219325" cy="12700"/>
          </a:xfrm>
          <a:prstGeom prst="rect">
            <a:avLst/>
          </a:prstGeom>
          <a:solidFill>
            <a:srgbClr val="2A3650"/>
          </a:solidFill>
          <a:ln>
            <a:noFill/>
          </a:ln>
        </p:spPr>
        <p:txBody>
          <a:bodyPr wrap="square" lIns="0" tIns="0" rIns="0" bIns="0" anchor="t">
            <a:noAutofit/>
          </a:bodyPr>
          <a:lstStyle/>
          <a:p>
            <a:endParaRPr lang="en-US"/>
          </a:p>
        </p:txBody>
      </p:sp>
      <p:sp>
        <p:nvSpPr>
          <p:cNvPr id="627" name="Mist 627"/>
          <p:cNvSpPr txBox="1"/>
          <p:nvPr/>
        </p:nvSpPr>
        <p:spPr>
          <a:xfrm>
            <a:off x="9147175" y="2667000"/>
            <a:ext cx="2219325"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28" name="Mist 628"/>
          <p:cNvSpPr txBox="1"/>
          <p:nvPr/>
        </p:nvSpPr>
        <p:spPr>
          <a:xfrm>
            <a:off x="9147175" y="2882900"/>
            <a:ext cx="2219325" cy="901700"/>
          </a:xfrm>
          <a:prstGeom prst="rect">
            <a:avLst/>
          </a:prstGeom>
          <a:noFill/>
        </p:spPr>
        <p:txBody>
          <a:bodyPr wrap="square" lIns="0" tIns="0" rIns="0" bIns="0" anchor="t">
            <a:noAutofit/>
          </a:bodyPr>
          <a:lstStyle/>
          <a:p>
            <a:pPr algn="l"/>
            <a:r>
              <a:rPr lang="en-US" sz="1300" b="0" dirty="0">
                <a:solidFill>
                  <a:srgbClr val="E2E8F0"/>
                </a:solidFill>
                <a:latin typeface="Segoe UI"/>
              </a:rPr>
              <a:t>Without filename/page/date metadata, citations and filtering become impossible later</a:t>
            </a:r>
          </a:p>
        </p:txBody>
      </p:sp>
      <p:sp>
        <p:nvSpPr>
          <p:cNvPr id="629" name="Mist 629"/>
          <p:cNvSpPr txBox="1"/>
          <p:nvPr/>
        </p:nvSpPr>
        <p:spPr>
          <a:xfrm>
            <a:off x="635000" y="4114800"/>
            <a:ext cx="10909300" cy="203200"/>
          </a:xfrm>
          <a:prstGeom prst="rect">
            <a:avLst/>
          </a:prstGeom>
          <a:noFill/>
        </p:spPr>
        <p:txBody>
          <a:bodyPr wrap="square" lIns="0" tIns="0" rIns="0" bIns="0" anchor="t">
            <a:noAutofit/>
          </a:bodyPr>
          <a:lstStyle/>
          <a:p>
            <a:pPr algn="l"/>
            <a:r>
              <a:rPr lang="en-US" sz="1100" b="1" dirty="0">
                <a:solidFill>
                  <a:srgbClr val="2DD4BF"/>
                </a:solidFill>
                <a:latin typeface="Segoe UI"/>
              </a:rPr>
              <a:t>RETRIEVAL &amp; GENERATION   </a:t>
            </a:r>
            <a:r>
              <a:rPr lang="en-US" sz="1200" b="0" dirty="0">
                <a:solidFill>
                  <a:srgbClr val="94A3B8"/>
                </a:solidFill>
                <a:latin typeface="Segoe UI"/>
              </a:rPr>
              <a:t>Mistakes that show up at query time</a:t>
            </a:r>
          </a:p>
        </p:txBody>
      </p:sp>
      <p:sp>
        <p:nvSpPr>
          <p:cNvPr id="630" name="Mist 630"/>
          <p:cNvSpPr/>
          <p:nvPr/>
        </p:nvSpPr>
        <p:spPr>
          <a:xfrm>
            <a:off x="635000" y="4394200"/>
            <a:ext cx="3500967" cy="19304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31" name="Mist 631"/>
          <p:cNvSpPr/>
          <p:nvPr/>
        </p:nvSpPr>
        <p:spPr>
          <a:xfrm>
            <a:off x="635000" y="4521200"/>
            <a:ext cx="38100" cy="457200"/>
          </a:xfrm>
          <a:prstGeom prst="rect">
            <a:avLst/>
          </a:prstGeom>
          <a:solidFill>
            <a:srgbClr val="F87171"/>
          </a:solidFill>
          <a:ln>
            <a:noFill/>
          </a:ln>
        </p:spPr>
        <p:txBody>
          <a:bodyPr wrap="square" lIns="0" tIns="0" rIns="0" bIns="0" anchor="t">
            <a:noAutofit/>
          </a:bodyPr>
          <a:lstStyle/>
          <a:p>
            <a:endParaRPr lang="en-US"/>
          </a:p>
        </p:txBody>
      </p:sp>
      <p:sp>
        <p:nvSpPr>
          <p:cNvPr id="632" name="Mist 632"/>
          <p:cNvSpPr txBox="1"/>
          <p:nvPr/>
        </p:nvSpPr>
        <p:spPr>
          <a:xfrm>
            <a:off x="812800" y="4546600"/>
            <a:ext cx="3145367"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33" name="Mist 633"/>
          <p:cNvSpPr txBox="1"/>
          <p:nvPr/>
        </p:nvSpPr>
        <p:spPr>
          <a:xfrm>
            <a:off x="812800" y="4749800"/>
            <a:ext cx="3145367" cy="330200"/>
          </a:xfrm>
          <a:prstGeom prst="rect">
            <a:avLst/>
          </a:prstGeom>
          <a:noFill/>
        </p:spPr>
        <p:txBody>
          <a:bodyPr wrap="square" lIns="0" tIns="0" rIns="0" bIns="0" anchor="t">
            <a:noAutofit/>
          </a:bodyPr>
          <a:lstStyle/>
          <a:p>
            <a:pPr algn="l"/>
            <a:r>
              <a:rPr lang="en-US" sz="1400" b="1" dirty="0">
                <a:solidFill>
                  <a:srgbClr val="F1F5F9"/>
                </a:solidFill>
                <a:latin typeface="Segoe UI"/>
              </a:rPr>
              <a:t>Prompt overflow</a:t>
            </a:r>
          </a:p>
        </p:txBody>
      </p:sp>
      <p:sp>
        <p:nvSpPr>
          <p:cNvPr id="634" name="Mist 634"/>
          <p:cNvSpPr/>
          <p:nvPr/>
        </p:nvSpPr>
        <p:spPr>
          <a:xfrm>
            <a:off x="812800" y="5105400"/>
            <a:ext cx="3145367" cy="12700"/>
          </a:xfrm>
          <a:prstGeom prst="rect">
            <a:avLst/>
          </a:prstGeom>
          <a:solidFill>
            <a:srgbClr val="2A3650"/>
          </a:solidFill>
          <a:ln>
            <a:noFill/>
          </a:ln>
        </p:spPr>
        <p:txBody>
          <a:bodyPr wrap="square" lIns="0" tIns="0" rIns="0" bIns="0" anchor="t">
            <a:noAutofit/>
          </a:bodyPr>
          <a:lstStyle/>
          <a:p>
            <a:endParaRPr lang="en-US"/>
          </a:p>
        </p:txBody>
      </p:sp>
      <p:sp>
        <p:nvSpPr>
          <p:cNvPr id="635" name="Mist 635"/>
          <p:cNvSpPr txBox="1"/>
          <p:nvPr/>
        </p:nvSpPr>
        <p:spPr>
          <a:xfrm>
            <a:off x="812800" y="5232400"/>
            <a:ext cx="3145367"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36" name="Mist 636"/>
          <p:cNvSpPr txBox="1"/>
          <p:nvPr/>
        </p:nvSpPr>
        <p:spPr>
          <a:xfrm>
            <a:off x="812800" y="5448300"/>
            <a:ext cx="3145367" cy="825500"/>
          </a:xfrm>
          <a:prstGeom prst="rect">
            <a:avLst/>
          </a:prstGeom>
          <a:noFill/>
        </p:spPr>
        <p:txBody>
          <a:bodyPr wrap="square" lIns="0" tIns="0" rIns="0" bIns="0" anchor="t">
            <a:noAutofit/>
          </a:bodyPr>
          <a:lstStyle/>
          <a:p>
            <a:pPr algn="l"/>
            <a:r>
              <a:rPr lang="en-US" sz="1300" b="0" dirty="0">
                <a:solidFill>
                  <a:srgbClr val="E2E8F0"/>
                </a:solidFill>
                <a:latin typeface="Segoe UI"/>
              </a:rPr>
              <a:t>Cap total context size against the model's window; truncate or summarize before it silently fails</a:t>
            </a:r>
          </a:p>
        </p:txBody>
      </p:sp>
      <p:sp>
        <p:nvSpPr>
          <p:cNvPr id="637" name="Mist 637"/>
          <p:cNvSpPr/>
          <p:nvPr/>
        </p:nvSpPr>
        <p:spPr>
          <a:xfrm>
            <a:off x="4339167" y="4394200"/>
            <a:ext cx="3500967" cy="19304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38" name="Mist 638"/>
          <p:cNvSpPr/>
          <p:nvPr/>
        </p:nvSpPr>
        <p:spPr>
          <a:xfrm>
            <a:off x="4339167" y="4521200"/>
            <a:ext cx="38100" cy="457200"/>
          </a:xfrm>
          <a:prstGeom prst="rect">
            <a:avLst/>
          </a:prstGeom>
          <a:solidFill>
            <a:srgbClr val="F87171"/>
          </a:solidFill>
          <a:ln>
            <a:noFill/>
          </a:ln>
        </p:spPr>
        <p:txBody>
          <a:bodyPr wrap="square" lIns="0" tIns="0" rIns="0" bIns="0" anchor="t">
            <a:noAutofit/>
          </a:bodyPr>
          <a:lstStyle/>
          <a:p>
            <a:endParaRPr lang="en-US"/>
          </a:p>
        </p:txBody>
      </p:sp>
      <p:sp>
        <p:nvSpPr>
          <p:cNvPr id="639" name="Mist 639"/>
          <p:cNvSpPr txBox="1"/>
          <p:nvPr/>
        </p:nvSpPr>
        <p:spPr>
          <a:xfrm>
            <a:off x="4516967" y="4546600"/>
            <a:ext cx="3145367"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40" name="Mist 640"/>
          <p:cNvSpPr txBox="1"/>
          <p:nvPr/>
        </p:nvSpPr>
        <p:spPr>
          <a:xfrm>
            <a:off x="4516967" y="4749800"/>
            <a:ext cx="3145367" cy="330200"/>
          </a:xfrm>
          <a:prstGeom prst="rect">
            <a:avLst/>
          </a:prstGeom>
          <a:noFill/>
        </p:spPr>
        <p:txBody>
          <a:bodyPr wrap="square" lIns="0" tIns="0" rIns="0" bIns="0" anchor="t">
            <a:noAutofit/>
          </a:bodyPr>
          <a:lstStyle/>
          <a:p>
            <a:pPr algn="l"/>
            <a:r>
              <a:rPr lang="en-US" sz="1400" b="1" dirty="0">
                <a:solidFill>
                  <a:srgbClr val="F1F5F9"/>
                </a:solidFill>
                <a:latin typeface="Segoe UI"/>
              </a:rPr>
              <a:t>Ignoring latency</a:t>
            </a:r>
          </a:p>
        </p:txBody>
      </p:sp>
      <p:sp>
        <p:nvSpPr>
          <p:cNvPr id="641" name="Mist 641"/>
          <p:cNvSpPr/>
          <p:nvPr/>
        </p:nvSpPr>
        <p:spPr>
          <a:xfrm>
            <a:off x="4516967" y="5105400"/>
            <a:ext cx="3145367" cy="12700"/>
          </a:xfrm>
          <a:prstGeom prst="rect">
            <a:avLst/>
          </a:prstGeom>
          <a:solidFill>
            <a:srgbClr val="2A3650"/>
          </a:solidFill>
          <a:ln>
            <a:noFill/>
          </a:ln>
        </p:spPr>
        <p:txBody>
          <a:bodyPr wrap="square" lIns="0" tIns="0" rIns="0" bIns="0" anchor="t">
            <a:noAutofit/>
          </a:bodyPr>
          <a:lstStyle/>
          <a:p>
            <a:endParaRPr lang="en-US"/>
          </a:p>
        </p:txBody>
      </p:sp>
      <p:sp>
        <p:nvSpPr>
          <p:cNvPr id="642" name="Mist 642"/>
          <p:cNvSpPr txBox="1"/>
          <p:nvPr/>
        </p:nvSpPr>
        <p:spPr>
          <a:xfrm>
            <a:off x="4516967" y="5232400"/>
            <a:ext cx="3145367"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43" name="Mist 643"/>
          <p:cNvSpPr txBox="1"/>
          <p:nvPr/>
        </p:nvSpPr>
        <p:spPr>
          <a:xfrm>
            <a:off x="4516967" y="5448300"/>
            <a:ext cx="3145367" cy="825500"/>
          </a:xfrm>
          <a:prstGeom prst="rect">
            <a:avLst/>
          </a:prstGeom>
          <a:noFill/>
        </p:spPr>
        <p:txBody>
          <a:bodyPr wrap="square" lIns="0" tIns="0" rIns="0" bIns="0" anchor="t">
            <a:noAutofit/>
          </a:bodyPr>
          <a:lstStyle/>
          <a:p>
            <a:pPr algn="l"/>
            <a:r>
              <a:rPr lang="en-US" sz="1300" b="0" dirty="0">
                <a:solidFill>
                  <a:srgbClr val="E2E8F0"/>
                </a:solidFill>
                <a:latin typeface="Segoe UI"/>
              </a:rPr>
              <a:t>Embedding, retrieval and generation can involve multiple network calls — measure and monitor each stage</a:t>
            </a:r>
          </a:p>
        </p:txBody>
      </p:sp>
      <p:sp>
        <p:nvSpPr>
          <p:cNvPr id="644" name="Mist 644"/>
          <p:cNvSpPr/>
          <p:nvPr/>
        </p:nvSpPr>
        <p:spPr>
          <a:xfrm>
            <a:off x="8043333" y="4394200"/>
            <a:ext cx="3500967" cy="1930400"/>
          </a:xfrm>
          <a:prstGeom prst="roundRect">
            <a:avLst>
              <a:gd name="adj" fmla="val 6000"/>
            </a:avLst>
          </a:prstGeom>
          <a:solidFill>
            <a:srgbClr val="131C31"/>
          </a:solidFill>
          <a:ln w="12700">
            <a:solidFill>
              <a:srgbClr val="243049"/>
            </a:solidFill>
          </a:ln>
        </p:spPr>
        <p:txBody>
          <a:bodyPr wrap="square" lIns="0" tIns="0" rIns="0" bIns="0" anchor="t">
            <a:noAutofit/>
          </a:bodyPr>
          <a:lstStyle/>
          <a:p>
            <a:endParaRPr lang="en-US"/>
          </a:p>
        </p:txBody>
      </p:sp>
      <p:sp>
        <p:nvSpPr>
          <p:cNvPr id="645" name="Mist 645"/>
          <p:cNvSpPr/>
          <p:nvPr/>
        </p:nvSpPr>
        <p:spPr>
          <a:xfrm>
            <a:off x="8043333" y="4521200"/>
            <a:ext cx="38100" cy="457200"/>
          </a:xfrm>
          <a:prstGeom prst="rect">
            <a:avLst/>
          </a:prstGeom>
          <a:solidFill>
            <a:srgbClr val="F87171"/>
          </a:solidFill>
          <a:ln>
            <a:noFill/>
          </a:ln>
        </p:spPr>
        <p:txBody>
          <a:bodyPr wrap="square" lIns="0" tIns="0" rIns="0" bIns="0" anchor="t">
            <a:noAutofit/>
          </a:bodyPr>
          <a:lstStyle/>
          <a:p>
            <a:endParaRPr lang="en-US"/>
          </a:p>
        </p:txBody>
      </p:sp>
      <p:sp>
        <p:nvSpPr>
          <p:cNvPr id="646" name="Mist 646"/>
          <p:cNvSpPr txBox="1"/>
          <p:nvPr/>
        </p:nvSpPr>
        <p:spPr>
          <a:xfrm>
            <a:off x="8221133" y="4546600"/>
            <a:ext cx="3145367" cy="177800"/>
          </a:xfrm>
          <a:prstGeom prst="rect">
            <a:avLst/>
          </a:prstGeom>
          <a:noFill/>
        </p:spPr>
        <p:txBody>
          <a:bodyPr wrap="square" lIns="0" tIns="0" rIns="0" bIns="0" anchor="t">
            <a:noAutofit/>
          </a:bodyPr>
          <a:lstStyle/>
          <a:p>
            <a:pPr algn="l"/>
            <a:r>
              <a:rPr lang="en-US" sz="1000" b="1" dirty="0">
                <a:solidFill>
                  <a:srgbClr val="F87171"/>
                </a:solidFill>
                <a:latin typeface="Segoe UI"/>
              </a:rPr>
              <a:t>✗  MISTAKE</a:t>
            </a:r>
          </a:p>
        </p:txBody>
      </p:sp>
      <p:sp>
        <p:nvSpPr>
          <p:cNvPr id="647" name="Mist 647"/>
          <p:cNvSpPr txBox="1"/>
          <p:nvPr/>
        </p:nvSpPr>
        <p:spPr>
          <a:xfrm>
            <a:off x="8221133" y="4749800"/>
            <a:ext cx="3145367" cy="330200"/>
          </a:xfrm>
          <a:prstGeom prst="rect">
            <a:avLst/>
          </a:prstGeom>
          <a:noFill/>
        </p:spPr>
        <p:txBody>
          <a:bodyPr wrap="square" lIns="0" tIns="0" rIns="0" bIns="0" anchor="t">
            <a:noAutofit/>
          </a:bodyPr>
          <a:lstStyle/>
          <a:p>
            <a:pPr algn="l"/>
            <a:r>
              <a:rPr lang="en-US" sz="1400" b="1" dirty="0">
                <a:solidFill>
                  <a:srgbClr val="F1F5F9"/>
                </a:solidFill>
                <a:latin typeface="Segoe UI"/>
              </a:rPr>
              <a:t>Treating hallucination as unsolvable</a:t>
            </a:r>
          </a:p>
        </p:txBody>
      </p:sp>
      <p:sp>
        <p:nvSpPr>
          <p:cNvPr id="648" name="Mist 648"/>
          <p:cNvSpPr/>
          <p:nvPr/>
        </p:nvSpPr>
        <p:spPr>
          <a:xfrm>
            <a:off x="8221133" y="5105400"/>
            <a:ext cx="3145367" cy="12700"/>
          </a:xfrm>
          <a:prstGeom prst="rect">
            <a:avLst/>
          </a:prstGeom>
          <a:solidFill>
            <a:srgbClr val="2A3650"/>
          </a:solidFill>
          <a:ln>
            <a:noFill/>
          </a:ln>
        </p:spPr>
        <p:txBody>
          <a:bodyPr wrap="square" lIns="0" tIns="0" rIns="0" bIns="0" anchor="t">
            <a:noAutofit/>
          </a:bodyPr>
          <a:lstStyle/>
          <a:p>
            <a:endParaRPr lang="en-US"/>
          </a:p>
        </p:txBody>
      </p:sp>
      <p:sp>
        <p:nvSpPr>
          <p:cNvPr id="649" name="Mist 649"/>
          <p:cNvSpPr txBox="1"/>
          <p:nvPr/>
        </p:nvSpPr>
        <p:spPr>
          <a:xfrm>
            <a:off x="8221133" y="5232400"/>
            <a:ext cx="3145367" cy="177800"/>
          </a:xfrm>
          <a:prstGeom prst="rect">
            <a:avLst/>
          </a:prstGeom>
          <a:noFill/>
        </p:spPr>
        <p:txBody>
          <a:bodyPr wrap="square" lIns="0" tIns="0" rIns="0" bIns="0" anchor="t">
            <a:noAutofit/>
          </a:bodyPr>
          <a:lstStyle/>
          <a:p>
            <a:pPr algn="l"/>
            <a:r>
              <a:rPr lang="en-US" sz="1000" b="1" dirty="0">
                <a:solidFill>
                  <a:srgbClr val="34D399"/>
                </a:solidFill>
                <a:latin typeface="Segoe UI"/>
              </a:rPr>
              <a:t>✓  FIX</a:t>
            </a:r>
          </a:p>
        </p:txBody>
      </p:sp>
      <p:sp>
        <p:nvSpPr>
          <p:cNvPr id="650" name="Mist 650"/>
          <p:cNvSpPr txBox="1"/>
          <p:nvPr/>
        </p:nvSpPr>
        <p:spPr>
          <a:xfrm>
            <a:off x="8221133" y="5448300"/>
            <a:ext cx="3145367" cy="825500"/>
          </a:xfrm>
          <a:prstGeom prst="rect">
            <a:avLst/>
          </a:prstGeom>
          <a:noFill/>
        </p:spPr>
        <p:txBody>
          <a:bodyPr wrap="square" lIns="0" tIns="0" rIns="0" bIns="0" anchor="t">
            <a:noAutofit/>
          </a:bodyPr>
          <a:lstStyle/>
          <a:p>
            <a:pPr algn="l"/>
            <a:r>
              <a:rPr lang="en-US" sz="1300" b="0" dirty="0">
                <a:solidFill>
                  <a:srgbClr val="E2E8F0"/>
                </a:solidFill>
                <a:latin typeface="Segoe UI"/>
              </a:rPr>
              <a:t>Grounding instructions, citations, and evaluation catch most of it — it's manageable, not magic</a:t>
            </a:r>
          </a:p>
        </p:txBody>
      </p:sp>
      <p:sp>
        <p:nvSpPr>
          <p:cNvPr id="27" name="TextBox 2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8" name="TextBox 2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37</a:t>
            </a:r>
          </a:p>
        </p:txBody>
      </p:sp>
    </p:spTree>
    <p:extLst>
      <p:ext uri="{BB962C8B-B14F-4D97-AF65-F5344CB8AC3E}">
        <p14:creationId xmlns:p14="http://schemas.microsoft.com/office/powerpoint/2010/main" val="844114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828800" y="-2286000"/>
            <a:ext cx="9144000" cy="91440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2286000"/>
            <a:ext cx="1554480" cy="54864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800" b="1">
                <a:solidFill>
                  <a:srgbClr val="2DD4BF"/>
                </a:solidFill>
                <a:latin typeface="Segoe UI"/>
              </a:rPr>
              <a:t>PART IV</a:t>
            </a:r>
          </a:p>
        </p:txBody>
      </p:sp>
      <p:sp>
        <p:nvSpPr>
          <p:cNvPr id="5" name="TextBox 4"/>
          <p:cNvSpPr txBox="1"/>
          <p:nvPr/>
        </p:nvSpPr>
        <p:spPr>
          <a:xfrm>
            <a:off x="777240" y="3017520"/>
            <a:ext cx="10058400" cy="1005840"/>
          </a:xfrm>
          <a:prstGeom prst="rect">
            <a:avLst/>
          </a:prstGeom>
          <a:noFill/>
        </p:spPr>
        <p:txBody>
          <a:bodyPr wrap="square" lIns="0" tIns="0" rIns="0" bIns="0" anchor="t">
            <a:spAutoFit/>
          </a:bodyPr>
          <a:lstStyle/>
          <a:p>
            <a:pPr algn="l"/>
            <a:r>
              <a:rPr sz="3600" b="1" i="0">
                <a:solidFill>
                  <a:srgbClr val="F1F5F9"/>
                </a:solidFill>
                <a:latin typeface="Segoe UI"/>
              </a:rPr>
              <a:t>This .NET Implementation</a:t>
            </a:r>
          </a:p>
        </p:txBody>
      </p:sp>
      <p:sp>
        <p:nvSpPr>
          <p:cNvPr id="6" name="TextBox 5"/>
          <p:cNvSpPr txBox="1"/>
          <p:nvPr/>
        </p:nvSpPr>
        <p:spPr>
          <a:xfrm>
            <a:off x="822960" y="3977639"/>
            <a:ext cx="9418320" cy="640080"/>
          </a:xfrm>
          <a:prstGeom prst="rect">
            <a:avLst/>
          </a:prstGeom>
          <a:noFill/>
        </p:spPr>
        <p:txBody>
          <a:bodyPr wrap="square" lIns="0" tIns="0" rIns="0" bIns="0" anchor="t">
            <a:spAutoFit/>
          </a:bodyPr>
          <a:lstStyle/>
          <a:p>
            <a:pPr algn="l"/>
            <a:r>
              <a:rPr sz="1500" b="0" i="0">
                <a:solidFill>
                  <a:srgbClr val="94A3B8"/>
                </a:solidFill>
                <a:latin typeface="Segoe UI"/>
              </a:rPr>
              <a:t>Clean Architecture, CQRS, Semantic Kernel, and pgvector — the reference project for today's demo</a:t>
            </a:r>
          </a:p>
        </p:txBody>
      </p:sp>
      <p:sp>
        <p:nvSpPr>
          <p:cNvPr id="7" name="TextBox 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39</a:t>
            </a:r>
          </a:p>
        </p:txBody>
      </p:sp>
    </p:spTree>
    <p:extLst>
      <p:ext uri="{BB962C8B-B14F-4D97-AF65-F5344CB8AC3E}">
        <p14:creationId xmlns:p14="http://schemas.microsoft.com/office/powerpoint/2010/main" val="480306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MY .NET IMPLEMENTATION</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Solution architecture</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191000" y="1498600"/>
            <a:ext cx="3810000" cy="584200"/>
          </a:xfrm>
          <a:prstGeom prst="roundRect">
            <a:avLst>
              <a:gd name="adj" fmla="val 8000"/>
            </a:avLst>
          </a:prstGeom>
          <a:solidFill>
            <a:srgbClr val="1B2640"/>
          </a:solidFill>
          <a:ln w="19050">
            <a:solidFill>
              <a:srgbClr val="2A375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1F5F9"/>
                </a:solidFill>
                <a:latin typeface="Segoe UI"/>
              </a:rPr>
              <a:t>React (Next.js)</a:t>
            </a:r>
          </a:p>
          <a:p>
            <a:pPr algn="ctr"/>
            <a:r>
              <a:rPr sz="950">
                <a:solidFill>
                  <a:srgbClr val="94A3B8"/>
                </a:solidFill>
                <a:latin typeface="Segoe UI"/>
              </a:rPr>
              <a:t>Presentation — chat UI, document upload</a:t>
            </a:r>
          </a:p>
        </p:txBody>
      </p:sp>
      <p:cxnSp>
        <p:nvCxnSpPr>
          <p:cNvPr id="7" name="Connector 6"/>
          <p:cNvCxnSpPr/>
          <p:nvPr/>
        </p:nvCxnSpPr>
        <p:spPr>
          <a:xfrm>
            <a:off x="6096000" y="2082800"/>
            <a:ext cx="0" cy="2032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91000" y="2286000"/>
            <a:ext cx="3810000" cy="584200"/>
          </a:xfrm>
          <a:prstGeom prst="roundRect">
            <a:avLst>
              <a:gd name="adj" fmla="val 8000"/>
            </a:avLst>
          </a:prstGeom>
          <a:solidFill>
            <a:srgbClr val="0F3D38"/>
          </a:solidFill>
          <a:ln w="19050">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D4BF"/>
                </a:solidFill>
                <a:latin typeface="Segoe UI"/>
              </a:rPr>
              <a:t>ASP.NET Core API</a:t>
            </a:r>
          </a:p>
          <a:p>
            <a:pPr algn="ctr"/>
            <a:r>
              <a:rPr sz="950">
                <a:solidFill>
                  <a:srgbClr val="94A3B8"/>
                </a:solidFill>
                <a:latin typeface="Segoe UI"/>
              </a:rPr>
              <a:t>HTTP host — controllers, auth, Swagger</a:t>
            </a:r>
          </a:p>
        </p:txBody>
      </p:sp>
      <p:cxnSp>
        <p:nvCxnSpPr>
          <p:cNvPr id="9" name="Connector 8"/>
          <p:cNvCxnSpPr/>
          <p:nvPr/>
        </p:nvCxnSpPr>
        <p:spPr>
          <a:xfrm>
            <a:off x="6096000" y="2870200"/>
            <a:ext cx="0" cy="2032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937000" y="3073400"/>
            <a:ext cx="4318000" cy="660400"/>
          </a:xfrm>
          <a:prstGeom prst="roundRect">
            <a:avLst>
              <a:gd name="adj" fmla="val 8000"/>
            </a:avLst>
          </a:prstGeom>
          <a:solidFill>
            <a:srgbClr val="35307A"/>
          </a:solidFill>
          <a:ln w="19050">
            <a:solidFill>
              <a:srgbClr val="818CF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818CF8"/>
                </a:solidFill>
                <a:latin typeface="Segoe UI"/>
              </a:rPr>
              <a:t>Application Layer</a:t>
            </a:r>
          </a:p>
          <a:p>
            <a:pPr algn="ctr"/>
            <a:r>
              <a:rPr sz="950">
                <a:solidFill>
                  <a:srgbClr val="94A3B8"/>
                </a:solidFill>
                <a:latin typeface="Segoe UI"/>
              </a:rPr>
              <a:t>CQRS handlers (MediatR), validators</a:t>
            </a:r>
          </a:p>
        </p:txBody>
      </p:sp>
      <p:cxnSp>
        <p:nvCxnSpPr>
          <p:cNvPr id="11" name="Connector 10"/>
          <p:cNvCxnSpPr/>
          <p:nvPr/>
        </p:nvCxnSpPr>
        <p:spPr>
          <a:xfrm flipH="1">
            <a:off x="3302000" y="3733800"/>
            <a:ext cx="2794000" cy="2794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97000" y="4013200"/>
            <a:ext cx="3810000" cy="939800"/>
          </a:xfrm>
          <a:prstGeom prst="roundRect">
            <a:avLst>
              <a:gd name="adj" fmla="val 8000"/>
            </a:avLst>
          </a:prstGeom>
          <a:solidFill>
            <a:srgbClr val="C084FC"/>
          </a:solidFill>
          <a:ln w="19050">
            <a:solidFill>
              <a:srgbClr val="C084F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Segoe UI"/>
              </a:rPr>
              <a:t>Domain Layer</a:t>
            </a:r>
          </a:p>
          <a:p>
            <a:pPr algn="ctr"/>
            <a:r>
              <a:rPr sz="950">
                <a:solidFill>
                  <a:srgbClr val="E6E1F5"/>
                </a:solidFill>
                <a:latin typeface="Segoe UI"/>
              </a:rPr>
              <a:t>Entities · rules · interfaces — no dependencies</a:t>
            </a:r>
          </a:p>
        </p:txBody>
      </p:sp>
      <p:cxnSp>
        <p:nvCxnSpPr>
          <p:cNvPr id="13" name="Connector 12"/>
          <p:cNvCxnSpPr/>
          <p:nvPr/>
        </p:nvCxnSpPr>
        <p:spPr>
          <a:xfrm>
            <a:off x="6096000" y="3733800"/>
            <a:ext cx="2540000" cy="2794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350000" y="4013200"/>
            <a:ext cx="4572000" cy="939800"/>
          </a:xfrm>
          <a:prstGeom prst="roundRect">
            <a:avLst>
              <a:gd name="adj" fmla="val 8000"/>
            </a:avLst>
          </a:prstGeom>
          <a:solidFill>
            <a:srgbClr val="4A390A"/>
          </a:solidFill>
          <a:ln w="19050">
            <a:solidFill>
              <a:srgbClr val="FBBF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BBF24"/>
                </a:solidFill>
                <a:latin typeface="Segoe UI"/>
              </a:rPr>
              <a:t>Infrastructure Layer</a:t>
            </a:r>
          </a:p>
          <a:p>
            <a:pPr algn="ctr"/>
            <a:r>
              <a:rPr sz="950">
                <a:solidFill>
                  <a:srgbClr val="94A3B8"/>
                </a:solidFill>
                <a:latin typeface="Segoe UI"/>
              </a:rPr>
              <a:t>EF Core, Semantic Kernel, repositories</a:t>
            </a:r>
          </a:p>
        </p:txBody>
      </p:sp>
      <p:cxnSp>
        <p:nvCxnSpPr>
          <p:cNvPr id="15" name="Connector 14"/>
          <p:cNvCxnSpPr/>
          <p:nvPr/>
        </p:nvCxnSpPr>
        <p:spPr>
          <a:xfrm flipH="1">
            <a:off x="7200900" y="4953000"/>
            <a:ext cx="1435100" cy="2540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969000" y="5207000"/>
            <a:ext cx="2476500" cy="889000"/>
          </a:xfrm>
          <a:prstGeom prst="roundRect">
            <a:avLst>
              <a:gd name="adj" fmla="val 8000"/>
            </a:avLst>
          </a:prstGeom>
          <a:solidFill>
            <a:srgbClr val="0F3D38"/>
          </a:solidFill>
          <a:ln w="19050">
            <a:solidFill>
              <a:srgbClr val="2DD4B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D4BF"/>
                </a:solidFill>
                <a:latin typeface="Segoe UI"/>
              </a:rPr>
              <a:t>PostgreSQL + pgvector</a:t>
            </a:r>
          </a:p>
          <a:p>
            <a:pPr algn="ctr"/>
            <a:r>
              <a:rPr sz="950">
                <a:solidFill>
                  <a:srgbClr val="94A3B8"/>
                </a:solidFill>
                <a:latin typeface="Segoe UI"/>
              </a:rPr>
              <a:t>Relational data + vector index, one database</a:t>
            </a:r>
          </a:p>
        </p:txBody>
      </p:sp>
      <p:cxnSp>
        <p:nvCxnSpPr>
          <p:cNvPr id="17" name="Connector 16"/>
          <p:cNvCxnSpPr/>
          <p:nvPr/>
        </p:nvCxnSpPr>
        <p:spPr>
          <a:xfrm>
            <a:off x="8636000" y="4953000"/>
            <a:ext cx="1168400" cy="254000"/>
          </a:xfrm>
          <a:prstGeom prst="line">
            <a:avLst/>
          </a:prstGeom>
          <a:ln w="254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572500" y="5207000"/>
            <a:ext cx="2476500" cy="889000"/>
          </a:xfrm>
          <a:prstGeom prst="roundRect">
            <a:avLst>
              <a:gd name="adj" fmla="val 8000"/>
            </a:avLst>
          </a:prstGeom>
          <a:solidFill>
            <a:srgbClr val="1B2640"/>
          </a:solidFill>
          <a:ln w="19050">
            <a:solidFill>
              <a:srgbClr val="2A375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1F5F9"/>
                </a:solidFill>
                <a:latin typeface="Segoe UI"/>
              </a:rPr>
              <a:t>AI Services</a:t>
            </a:r>
          </a:p>
          <a:p>
            <a:pPr algn="ctr"/>
            <a:r>
              <a:rPr sz="950">
                <a:solidFill>
                  <a:srgbClr val="94A3B8"/>
                </a:solidFill>
                <a:latin typeface="Segoe UI"/>
              </a:rPr>
              <a:t>Azure OpenAI / OpenAI · Cohere reranker</a:t>
            </a:r>
          </a:p>
        </p:txBody>
      </p:sp>
      <p:sp>
        <p:nvSpPr>
          <p:cNvPr id="19" name="TextBox 18"/>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0" name="TextBox 19"/>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40</a:t>
            </a:r>
          </a:p>
        </p:txBody>
      </p:sp>
      <p:sp>
        <p:nvSpPr>
          <p:cNvPr id="340" name="RuntimeCaption"/>
          <p:cNvSpPr txBox="1"/>
          <p:nvPr/>
        </p:nvSpPr>
        <p:spPr>
          <a:xfrm>
            <a:off x="635000" y="6197600"/>
            <a:ext cx="10909300" cy="279400"/>
          </a:xfrm>
          <a:prstGeom prst="rect">
            <a:avLst/>
          </a:prstGeom>
        </p:spPr>
        <p:txBody>
          <a:bodyPr wrap="square" rtlCol="0"/>
          <a:lstStyle/>
          <a:p>
            <a:pPr algn="l"/>
            <a:r>
              <a:rPr sz="1200" b="0" i="1">
                <a:solidFill>
                  <a:srgbClr val="818CF8"/>
                </a:solidFill>
                <a:latin typeface="Segoe UI"/>
              </a:rPr>
              <a:t>Runtime flow: API → Application → Infrastructure → data / AI services</a:t>
            </a:r>
          </a:p>
        </p:txBody>
      </p:sp>
    </p:spTree>
    <p:extLst>
      <p:ext uri="{BB962C8B-B14F-4D97-AF65-F5344CB8AC3E}">
        <p14:creationId xmlns:p14="http://schemas.microsoft.com/office/powerpoint/2010/main" val="2980047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Oval 1"/>
          <p:cNvSpPr/>
          <p:nvPr/>
        </p:nvSpPr>
        <p:spPr>
          <a:xfrm>
            <a:off x="-1828800" y="-2286000"/>
            <a:ext cx="9144000" cy="91440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2286000"/>
            <a:ext cx="1554480" cy="548640"/>
          </a:xfrm>
          <a:prstGeom prst="roundRect">
            <a:avLst>
              <a:gd name="adj" fmla="val 50000"/>
            </a:avLst>
          </a:prstGeom>
          <a:solidFill>
            <a:srgbClr val="1B26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800" b="1">
                <a:solidFill>
                  <a:srgbClr val="2DD4BF"/>
                </a:solidFill>
                <a:latin typeface="Segoe UI"/>
              </a:rPr>
              <a:t>PART V</a:t>
            </a:r>
          </a:p>
        </p:txBody>
      </p:sp>
      <p:sp>
        <p:nvSpPr>
          <p:cNvPr id="5" name="TextBox 4"/>
          <p:cNvSpPr txBox="1"/>
          <p:nvPr/>
        </p:nvSpPr>
        <p:spPr>
          <a:xfrm>
            <a:off x="777240" y="3017520"/>
            <a:ext cx="10058400" cy="1005840"/>
          </a:xfrm>
          <a:prstGeom prst="rect">
            <a:avLst/>
          </a:prstGeom>
          <a:noFill/>
        </p:spPr>
        <p:txBody>
          <a:bodyPr wrap="square" lIns="0" tIns="0" rIns="0" bIns="0" anchor="t">
            <a:spAutoFit/>
          </a:bodyPr>
          <a:lstStyle/>
          <a:p>
            <a:pPr algn="l"/>
            <a:r>
              <a:rPr sz="3600" b="1" i="0">
                <a:solidFill>
                  <a:srgbClr val="F1F5F9"/>
                </a:solidFill>
                <a:latin typeface="Segoe UI"/>
              </a:rPr>
              <a:t>Live Demo</a:t>
            </a:r>
          </a:p>
        </p:txBody>
      </p:sp>
      <p:sp>
        <p:nvSpPr>
          <p:cNvPr id="6" name="TextBox 5"/>
          <p:cNvSpPr txBox="1"/>
          <p:nvPr/>
        </p:nvSpPr>
        <p:spPr>
          <a:xfrm>
            <a:off x="822960" y="3977639"/>
            <a:ext cx="9418320" cy="640080"/>
          </a:xfrm>
          <a:prstGeom prst="rect">
            <a:avLst/>
          </a:prstGeom>
          <a:noFill/>
        </p:spPr>
        <p:txBody>
          <a:bodyPr wrap="square" lIns="0" tIns="0" rIns="0" bIns="0" anchor="t">
            <a:spAutoFit/>
          </a:bodyPr>
          <a:lstStyle/>
          <a:p>
            <a:pPr algn="l"/>
            <a:r>
              <a:rPr sz="1500" b="0" i="0">
                <a:solidFill>
                  <a:srgbClr val="94A3B8"/>
                </a:solidFill>
                <a:latin typeface="Segoe UI"/>
              </a:rPr>
              <a:t>Upload a document, ask a question, watch a grounded, cited answer come back — live</a:t>
            </a:r>
          </a:p>
        </p:txBody>
      </p:sp>
      <p:sp>
        <p:nvSpPr>
          <p:cNvPr id="7" name="TextBox 6"/>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48</a:t>
            </a:r>
          </a:p>
        </p:txBody>
      </p:sp>
      <p:sp>
        <p:nvSpPr>
          <p:cNvPr id="370" name="DemoFlow"/>
          <p:cNvSpPr txBox="1"/>
          <p:nvPr/>
        </p:nvSpPr>
        <p:spPr>
          <a:xfrm>
            <a:off x="774700" y="4724400"/>
            <a:ext cx="10795000" cy="1524000"/>
          </a:xfrm>
          <a:prstGeom prst="rect">
            <a:avLst/>
          </a:prstGeom>
        </p:spPr>
        <p:txBody>
          <a:bodyPr wrap="square" rtlCol="0"/>
          <a:lstStyle/>
          <a:p>
            <a:pPr algn="l"/>
            <a:r>
              <a:rPr sz="1300" b="1">
                <a:solidFill>
                  <a:srgbClr val="2DD4BF"/>
                </a:solidFill>
                <a:latin typeface="Segoe UI"/>
              </a:rPr>
              <a:t>Document ingestion   </a:t>
            </a:r>
            <a:r>
              <a:rPr sz="1300" b="0">
                <a:solidFill>
                  <a:srgbClr val="F1F5F9"/>
                </a:solidFill>
                <a:latin typeface="Segoe UI"/>
              </a:rPr>
              <a:t>Upload → Parse → Chunk → Embed → Store</a:t>
            </a:r>
          </a:p>
          <a:p>
            <a:pPr algn="l">
              <a:spcBef>
                <a:spcPts val="700"/>
              </a:spcBef>
            </a:pPr>
            <a:r>
              <a:rPr sz="1300" b="1">
                <a:solidFill>
                  <a:srgbClr val="2DD4BF"/>
                </a:solidFill>
                <a:latin typeface="Segoe UI"/>
              </a:rPr>
              <a:t>Ask a question   </a:t>
            </a:r>
            <a:r>
              <a:rPr sz="1300" b="0">
                <a:solidFill>
                  <a:srgbClr val="F1F5F9"/>
                </a:solidFill>
                <a:latin typeface="Segoe UI"/>
              </a:rPr>
              <a:t>Query processing → Hybrid search → RRF → Cohere reranking → Final context → LLM → Cited answer</a:t>
            </a:r>
          </a:p>
          <a:p>
            <a:pPr algn="l">
              <a:spcBef>
                <a:spcPts val="900"/>
              </a:spcBef>
            </a:pPr>
            <a:r>
              <a:rPr sz="1300" b="0" i="1">
                <a:solidFill>
                  <a:srgbClr val="818CF8"/>
                </a:solidFill>
                <a:latin typeface="Segoe UI"/>
              </a:rPr>
              <a:t>The same architecture we just walked through — now running live.</a:t>
            </a:r>
          </a:p>
        </p:txBody>
      </p:sp>
    </p:spTree>
    <p:extLst>
      <p:ext uri="{BB962C8B-B14F-4D97-AF65-F5344CB8AC3E}">
        <p14:creationId xmlns:p14="http://schemas.microsoft.com/office/powerpoint/2010/main" val="221990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157480"/>
            <a:ext cx="9144000" cy="320040"/>
          </a:xfrm>
          <a:prstGeom prst="rect">
            <a:avLst/>
          </a:prstGeom>
          <a:noFill/>
        </p:spPr>
        <p:txBody>
          <a:bodyPr wrap="square" lIns="0" tIns="0" rIns="0" bIns="0" anchor="t">
            <a:spAutoFit/>
          </a:bodyPr>
          <a:lstStyle/>
          <a:p>
            <a:pPr algn="l"/>
            <a:r>
              <a:rPr sz="1200" b="1" i="0" dirty="0">
                <a:solidFill>
                  <a:srgbClr val="2DD4BF"/>
                </a:solidFill>
                <a:latin typeface="Segoe UI"/>
              </a:rPr>
              <a:t>SECTION: MY .NET IMPLEMENTATION</a:t>
            </a:r>
          </a:p>
        </p:txBody>
      </p:sp>
      <p:sp>
        <p:nvSpPr>
          <p:cNvPr id="34" name="TextBox 3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5" name="TextBox 3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42</a:t>
            </a:r>
          </a:p>
        </p:txBody>
      </p:sp>
      <p:pic>
        <p:nvPicPr>
          <p:cNvPr id="9" name="Picture 8">
            <a:extLst>
              <a:ext uri="{FF2B5EF4-FFF2-40B4-BE49-F238E27FC236}">
                <a16:creationId xmlns:a16="http://schemas.microsoft.com/office/drawing/2014/main" id="{00FB4139-E91B-1711-0F50-459AB05B1BA2}"/>
              </a:ext>
            </a:extLst>
          </p:cNvPr>
          <p:cNvPicPr>
            <a:picLocks noChangeAspect="1"/>
          </p:cNvPicPr>
          <p:nvPr/>
        </p:nvPicPr>
        <p:blipFill>
          <a:blip r:embed="rId3"/>
          <a:stretch>
            <a:fillRect/>
          </a:stretch>
        </p:blipFill>
        <p:spPr>
          <a:xfrm>
            <a:off x="8467" y="191507"/>
            <a:ext cx="12192000" cy="6220975"/>
          </a:xfrm>
          <a:prstGeom prst="rect">
            <a:avLst/>
          </a:prstGeom>
        </p:spPr>
      </p:pic>
      <p:sp>
        <p:nvSpPr>
          <p:cNvPr id="360" name="TitleCover"/>
          <p:cNvSpPr/>
          <p:nvPr/>
        </p:nvSpPr>
        <p:spPr>
          <a:xfrm>
            <a:off x="0" y="381000"/>
            <a:ext cx="6604000" cy="533400"/>
          </a:xfrm>
          <a:prstGeom prst="rect">
            <a:avLst/>
          </a:prstGeom>
          <a:solidFill>
            <a:srgbClr val="0A0F1E"/>
          </a:solidFill>
          <a:ln>
            <a:noFill/>
          </a:ln>
        </p:spPr>
        <p:txBody>
          <a:bodyPr/>
          <a:lstStyle/>
          <a:p>
            <a:endParaRPr lang="en-US"/>
          </a:p>
        </p:txBody>
      </p:sp>
      <p:sp>
        <p:nvSpPr>
          <p:cNvPr id="361" name="NewTitle"/>
          <p:cNvSpPr txBox="1"/>
          <p:nvPr/>
        </p:nvSpPr>
        <p:spPr>
          <a:xfrm>
            <a:off x="609600" y="393700"/>
            <a:ext cx="7874000" cy="533400"/>
          </a:xfrm>
          <a:prstGeom prst="rect">
            <a:avLst/>
          </a:prstGeom>
        </p:spPr>
        <p:txBody>
          <a:bodyPr wrap="square" rtlCol="0" anchor="t"/>
          <a:lstStyle/>
          <a:p>
            <a:pPr algn="l"/>
            <a:r>
              <a:rPr sz="2200" b="1" i="0">
                <a:solidFill>
                  <a:srgbClr val="F1F5F9"/>
                </a:solidFill>
                <a:latin typeface="Segoe UI"/>
              </a:rPr>
              <a:t>Asynchronous Ingestion Architecture</a:t>
            </a:r>
          </a:p>
        </p:txBody>
      </p:sp>
    </p:spTree>
    <p:extLst>
      <p:ext uri="{BB962C8B-B14F-4D97-AF65-F5344CB8AC3E}">
        <p14:creationId xmlns:p14="http://schemas.microsoft.com/office/powerpoint/2010/main" val="1570120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34" name="TextBox 33"/>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35" name="TextBox 34"/>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43</a:t>
            </a:r>
          </a:p>
        </p:txBody>
      </p:sp>
      <p:pic>
        <p:nvPicPr>
          <p:cNvPr id="39" name="Picture 38">
            <a:extLst>
              <a:ext uri="{FF2B5EF4-FFF2-40B4-BE49-F238E27FC236}">
                <a16:creationId xmlns:a16="http://schemas.microsoft.com/office/drawing/2014/main" id="{47B60E5A-C1FC-2929-285F-74B08686B574}"/>
              </a:ext>
            </a:extLst>
          </p:cNvPr>
          <p:cNvPicPr>
            <a:picLocks noChangeAspect="1"/>
          </p:cNvPicPr>
          <p:nvPr/>
        </p:nvPicPr>
        <p:blipFill>
          <a:blip r:embed="rId3"/>
          <a:stretch>
            <a:fillRect/>
          </a:stretch>
        </p:blipFill>
        <p:spPr>
          <a:xfrm>
            <a:off x="0" y="0"/>
            <a:ext cx="12192000" cy="6528816"/>
          </a:xfrm>
          <a:prstGeom prst="rect">
            <a:avLst/>
          </a:prstGeom>
        </p:spPr>
      </p:pic>
    </p:spTree>
    <p:extLst>
      <p:ext uri="{BB962C8B-B14F-4D97-AF65-F5344CB8AC3E}">
        <p14:creationId xmlns:p14="http://schemas.microsoft.com/office/powerpoint/2010/main" val="3453256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486400" cy="320040"/>
          </a:xfrm>
          <a:prstGeom prst="rect">
            <a:avLst/>
          </a:prstGeom>
          <a:noFill/>
        </p:spPr>
        <p:txBody>
          <a:bodyPr wrap="square">
            <a:spAutoFit/>
          </a:bodyPr>
          <a:lstStyle/>
          <a:p>
            <a:pPr algn="l"/>
            <a:r>
              <a:rPr sz="1200" b="1">
                <a:solidFill>
                  <a:srgbClr val="2DD4BF"/>
                </a:solidFill>
                <a:latin typeface="Segoe UI"/>
              </a:rPr>
              <a:t>SECTION: MY .NET IMPLEMENTATION</a:t>
            </a:r>
          </a:p>
        </p:txBody>
      </p:sp>
      <p:sp>
        <p:nvSpPr>
          <p:cNvPr id="4" name="TextBox 3"/>
          <p:cNvSpPr txBox="1"/>
          <p:nvPr/>
        </p:nvSpPr>
        <p:spPr>
          <a:xfrm>
            <a:off x="640080" y="566928"/>
            <a:ext cx="10881360" cy="640080"/>
          </a:xfrm>
          <a:prstGeom prst="rect">
            <a:avLst/>
          </a:prstGeom>
          <a:noFill/>
        </p:spPr>
        <p:txBody>
          <a:bodyPr wrap="square">
            <a:spAutoFit/>
          </a:bodyPr>
          <a:lstStyle/>
          <a:p>
            <a:pPr algn="l"/>
            <a:r>
              <a:rPr sz="2500" b="1">
                <a:solidFill>
                  <a:srgbClr val="F1F5F9"/>
                </a:solidFill>
                <a:latin typeface="Segoe UI"/>
              </a:rPr>
              <a:t>Retrieval strategies implemented in this project</a:t>
            </a:r>
          </a:p>
        </p:txBody>
      </p:sp>
      <p:cxnSp>
        <p:nvCxnSpPr>
          <p:cNvPr id="5" name="Connector 4"/>
          <p:cNvCxnSpPr/>
          <p:nvPr/>
        </p:nvCxnSpPr>
        <p:spPr>
          <a:xfrm>
            <a:off x="640080" y="1188720"/>
            <a:ext cx="10908792"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600" name="Strat 600"/>
          <p:cNvSpPr txBox="1"/>
          <p:nvPr/>
        </p:nvSpPr>
        <p:spPr>
          <a:xfrm>
            <a:off x="635000" y="1346200"/>
            <a:ext cx="3810000" cy="203200"/>
          </a:xfrm>
          <a:prstGeom prst="rect">
            <a:avLst/>
          </a:prstGeom>
          <a:noFill/>
        </p:spPr>
        <p:txBody>
          <a:bodyPr wrap="square" lIns="0" tIns="0" rIns="0" bIns="0" anchor="t">
            <a:noAutofit/>
          </a:bodyPr>
          <a:lstStyle/>
          <a:p>
            <a:pPr algn="l"/>
            <a:r>
              <a:rPr lang="en-US" sz="1050" b="1" dirty="0">
                <a:solidFill>
                  <a:srgbClr val="94A3B8"/>
                </a:solidFill>
                <a:latin typeface="Segoe UI"/>
              </a:rPr>
              <a:t>LOWER COST</a:t>
            </a:r>
          </a:p>
        </p:txBody>
      </p:sp>
      <p:sp>
        <p:nvSpPr>
          <p:cNvPr id="601" name="Strat 601"/>
          <p:cNvSpPr txBox="1"/>
          <p:nvPr/>
        </p:nvSpPr>
        <p:spPr>
          <a:xfrm>
            <a:off x="7734300" y="1346200"/>
            <a:ext cx="3810000" cy="203200"/>
          </a:xfrm>
          <a:prstGeom prst="rect">
            <a:avLst/>
          </a:prstGeom>
          <a:noFill/>
        </p:spPr>
        <p:txBody>
          <a:bodyPr wrap="square" lIns="0" tIns="0" rIns="0" bIns="0" anchor="t">
            <a:noAutofit/>
          </a:bodyPr>
          <a:lstStyle/>
          <a:p>
            <a:pPr algn="r"/>
            <a:r>
              <a:rPr lang="en-US" sz="1050" b="1" dirty="0">
                <a:solidFill>
                  <a:srgbClr val="94A3B8"/>
                </a:solidFill>
                <a:latin typeface="Segoe UI"/>
              </a:rPr>
              <a:t>MORE RECALL, MORE COST</a:t>
            </a:r>
          </a:p>
        </p:txBody>
      </p:sp>
      <p:sp>
        <p:nvSpPr>
          <p:cNvPr id="602" name="Strat 602"/>
          <p:cNvSpPr/>
          <p:nvPr/>
        </p:nvSpPr>
        <p:spPr>
          <a:xfrm>
            <a:off x="2032000" y="1371600"/>
            <a:ext cx="7366000" cy="152400"/>
          </a:xfrm>
          <a:prstGeom prst="rightArrow">
            <a:avLst/>
          </a:prstGeom>
          <a:solidFill>
            <a:srgbClr val="334155"/>
          </a:solidFill>
          <a:ln>
            <a:noFill/>
          </a:ln>
        </p:spPr>
        <p:txBody>
          <a:bodyPr wrap="square" lIns="0" tIns="0" rIns="0" bIns="0" anchor="t">
            <a:noAutofit/>
          </a:bodyPr>
          <a:lstStyle/>
          <a:p>
            <a:endParaRPr lang="en-US"/>
          </a:p>
        </p:txBody>
      </p:sp>
      <p:sp>
        <p:nvSpPr>
          <p:cNvPr id="603" name="Strat 603"/>
          <p:cNvSpPr/>
          <p:nvPr/>
        </p:nvSpPr>
        <p:spPr>
          <a:xfrm>
            <a:off x="635000" y="1676400"/>
            <a:ext cx="2593975" cy="46736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04" name="Strat 604"/>
          <p:cNvSpPr txBox="1"/>
          <p:nvPr/>
        </p:nvSpPr>
        <p:spPr>
          <a:xfrm>
            <a:off x="812800" y="1854200"/>
            <a:ext cx="2238375" cy="177800"/>
          </a:xfrm>
          <a:prstGeom prst="rect">
            <a:avLst/>
          </a:prstGeom>
          <a:noFill/>
        </p:spPr>
        <p:txBody>
          <a:bodyPr wrap="square" lIns="0" tIns="0" rIns="0" bIns="0" anchor="t">
            <a:noAutofit/>
          </a:bodyPr>
          <a:lstStyle/>
          <a:p>
            <a:pPr algn="l"/>
            <a:r>
              <a:rPr lang="en-US" sz="1100" b="1" dirty="0">
                <a:solidFill>
                  <a:srgbClr val="2DD4BF"/>
                </a:solidFill>
                <a:latin typeface="Segoe UI"/>
              </a:rPr>
              <a:t>01</a:t>
            </a:r>
          </a:p>
        </p:txBody>
      </p:sp>
      <p:sp>
        <p:nvSpPr>
          <p:cNvPr id="605" name="Strat 605"/>
          <p:cNvSpPr txBox="1"/>
          <p:nvPr/>
        </p:nvSpPr>
        <p:spPr>
          <a:xfrm>
            <a:off x="812800" y="2108200"/>
            <a:ext cx="2238375" cy="304800"/>
          </a:xfrm>
          <a:prstGeom prst="rect">
            <a:avLst/>
          </a:prstGeom>
          <a:noFill/>
        </p:spPr>
        <p:txBody>
          <a:bodyPr wrap="square" lIns="0" tIns="0" rIns="0" bIns="0" anchor="t">
            <a:noAutofit/>
          </a:bodyPr>
          <a:lstStyle/>
          <a:p>
            <a:pPr algn="l"/>
            <a:r>
              <a:rPr lang="en-US" sz="1500" b="1" dirty="0">
                <a:solidFill>
                  <a:srgbClr val="F1F5F9"/>
                </a:solidFill>
                <a:latin typeface="Consolas"/>
              </a:rPr>
              <a:t>basic</a:t>
            </a:r>
          </a:p>
        </p:txBody>
      </p:sp>
      <p:sp>
        <p:nvSpPr>
          <p:cNvPr id="606" name="Strat 606"/>
          <p:cNvSpPr txBox="1"/>
          <p:nvPr/>
        </p:nvSpPr>
        <p:spPr>
          <a:xfrm>
            <a:off x="812800" y="2540000"/>
            <a:ext cx="2238375" cy="177800"/>
          </a:xfrm>
          <a:prstGeom prst="rect">
            <a:avLst/>
          </a:prstGeom>
          <a:noFill/>
        </p:spPr>
        <p:txBody>
          <a:bodyPr wrap="square" lIns="0" tIns="0" rIns="0" bIns="0" anchor="t">
            <a:noAutofit/>
          </a:bodyPr>
          <a:lstStyle/>
          <a:p>
            <a:pPr algn="l"/>
            <a:r>
              <a:rPr lang="en-US" sz="1000" b="1" dirty="0">
                <a:solidFill>
                  <a:srgbClr val="94A3B8"/>
                </a:solidFill>
                <a:latin typeface="Segoe UI"/>
              </a:rPr>
              <a:t>COST</a:t>
            </a:r>
          </a:p>
        </p:txBody>
      </p:sp>
      <p:sp>
        <p:nvSpPr>
          <p:cNvPr id="607" name="Strat 607"/>
          <p:cNvSpPr/>
          <p:nvPr/>
        </p:nvSpPr>
        <p:spPr>
          <a:xfrm>
            <a:off x="812800"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08" name="Strat 608"/>
          <p:cNvSpPr/>
          <p:nvPr/>
        </p:nvSpPr>
        <p:spPr>
          <a:xfrm>
            <a:off x="1092200"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09" name="Strat 609"/>
          <p:cNvSpPr/>
          <p:nvPr/>
        </p:nvSpPr>
        <p:spPr>
          <a:xfrm>
            <a:off x="1371600"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10" name="Strat 610"/>
          <p:cNvSpPr/>
          <p:nvPr/>
        </p:nvSpPr>
        <p:spPr>
          <a:xfrm>
            <a:off x="1651000"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11" name="Strat 611"/>
          <p:cNvSpPr txBox="1"/>
          <p:nvPr/>
        </p:nvSpPr>
        <p:spPr>
          <a:xfrm>
            <a:off x="812800" y="2971800"/>
            <a:ext cx="2238375" cy="457200"/>
          </a:xfrm>
          <a:prstGeom prst="rect">
            <a:avLst/>
          </a:prstGeom>
          <a:noFill/>
        </p:spPr>
        <p:txBody>
          <a:bodyPr wrap="square" lIns="0" tIns="0" rIns="0" bIns="0" anchor="t">
            <a:noAutofit/>
          </a:bodyPr>
          <a:lstStyle/>
          <a:p>
            <a:pPr algn="l"/>
            <a:r>
              <a:rPr lang="en-US" sz="1200" b="0" dirty="0">
                <a:solidFill>
                  <a:srgbClr val="E2E8F0"/>
                </a:solidFill>
                <a:latin typeface="Segoe UI"/>
              </a:rPr>
              <a:t>1 embed + 1 DB call</a:t>
            </a:r>
            <a:r>
              <a:rPr lang="en-US" sz="1200" b="0" dirty="0">
                <a:solidFill>
                  <a:srgbClr val="94A3B8"/>
                </a:solidFill>
                <a:latin typeface="Segoe UI"/>
              </a:rPr>
              <a:t> · cheapest</a:t>
            </a:r>
          </a:p>
        </p:txBody>
      </p:sp>
      <p:sp>
        <p:nvSpPr>
          <p:cNvPr id="612" name="Strat 612"/>
          <p:cNvSpPr/>
          <p:nvPr/>
        </p:nvSpPr>
        <p:spPr>
          <a:xfrm>
            <a:off x="812800" y="35306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13" name="Strat 613"/>
          <p:cNvSpPr txBox="1"/>
          <p:nvPr/>
        </p:nvSpPr>
        <p:spPr>
          <a:xfrm>
            <a:off x="812800" y="36576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HOW IT WORKS</a:t>
            </a:r>
          </a:p>
        </p:txBody>
      </p:sp>
      <p:sp>
        <p:nvSpPr>
          <p:cNvPr id="614" name="Strat 614"/>
          <p:cNvSpPr txBox="1"/>
          <p:nvPr/>
        </p:nvSpPr>
        <p:spPr>
          <a:xfrm>
            <a:off x="812800" y="3886200"/>
            <a:ext cx="2238375" cy="736600"/>
          </a:xfrm>
          <a:prstGeom prst="rect">
            <a:avLst/>
          </a:prstGeom>
          <a:noFill/>
        </p:spPr>
        <p:txBody>
          <a:bodyPr wrap="square" lIns="0" tIns="0" rIns="0" bIns="0" anchor="t">
            <a:noAutofit/>
          </a:bodyPr>
          <a:lstStyle/>
          <a:p>
            <a:pPr algn="l"/>
            <a:r>
              <a:rPr lang="en-US" sz="1400" b="0" dirty="0">
                <a:solidFill>
                  <a:srgbClr val="E2E8F0"/>
                </a:solidFill>
                <a:latin typeface="Segoe UI"/>
              </a:rPr>
              <a:t>Embed query -&gt; pgvector cosine search</a:t>
            </a:r>
          </a:p>
        </p:txBody>
      </p:sp>
      <p:sp>
        <p:nvSpPr>
          <p:cNvPr id="615" name="Strat 615"/>
          <p:cNvSpPr/>
          <p:nvPr/>
        </p:nvSpPr>
        <p:spPr>
          <a:xfrm>
            <a:off x="812800" y="4724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16" name="Strat 616"/>
          <p:cNvSpPr txBox="1"/>
          <p:nvPr/>
        </p:nvSpPr>
        <p:spPr>
          <a:xfrm>
            <a:off x="812800" y="48514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BEST FOR</a:t>
            </a:r>
          </a:p>
        </p:txBody>
      </p:sp>
      <p:sp>
        <p:nvSpPr>
          <p:cNvPr id="617" name="Strat 617"/>
          <p:cNvSpPr txBox="1"/>
          <p:nvPr/>
        </p:nvSpPr>
        <p:spPr>
          <a:xfrm>
            <a:off x="812800" y="5080000"/>
            <a:ext cx="2238375" cy="1143000"/>
          </a:xfrm>
          <a:prstGeom prst="rect">
            <a:avLst/>
          </a:prstGeom>
          <a:noFill/>
        </p:spPr>
        <p:txBody>
          <a:bodyPr wrap="square" lIns="0" tIns="0" rIns="0" bIns="0" anchor="t">
            <a:noAutofit/>
          </a:bodyPr>
          <a:lstStyle/>
          <a:p>
            <a:pPr algn="l"/>
            <a:r>
              <a:rPr lang="en-US" sz="1400" b="0" dirty="0">
                <a:solidFill>
                  <a:srgbClr val="E2E8F0"/>
                </a:solidFill>
                <a:latin typeface="Segoe UI"/>
              </a:rPr>
              <a:t>Narrow corpora; question wording closely matches source wording</a:t>
            </a:r>
          </a:p>
        </p:txBody>
      </p:sp>
      <p:sp>
        <p:nvSpPr>
          <p:cNvPr id="618" name="Strat 618"/>
          <p:cNvSpPr/>
          <p:nvPr/>
        </p:nvSpPr>
        <p:spPr>
          <a:xfrm>
            <a:off x="3406775" y="1676400"/>
            <a:ext cx="2593975" cy="4673600"/>
          </a:xfrm>
          <a:prstGeom prst="roundRect">
            <a:avLst>
              <a:gd name="adj" fmla="val 5000"/>
            </a:avLst>
          </a:prstGeom>
          <a:solidFill>
            <a:srgbClr val="0F2A30"/>
          </a:solidFill>
          <a:ln w="19050">
            <a:solidFill>
              <a:srgbClr val="2DD4BF"/>
            </a:solidFill>
          </a:ln>
        </p:spPr>
        <p:txBody>
          <a:bodyPr wrap="square" lIns="0" tIns="0" rIns="0" bIns="0" anchor="t">
            <a:noAutofit/>
          </a:bodyPr>
          <a:lstStyle/>
          <a:p>
            <a:endParaRPr lang="en-US"/>
          </a:p>
        </p:txBody>
      </p:sp>
      <p:sp>
        <p:nvSpPr>
          <p:cNvPr id="619" name="Strat 619"/>
          <p:cNvSpPr txBox="1"/>
          <p:nvPr/>
        </p:nvSpPr>
        <p:spPr>
          <a:xfrm>
            <a:off x="3584575" y="1854200"/>
            <a:ext cx="2238375" cy="177800"/>
          </a:xfrm>
          <a:prstGeom prst="rect">
            <a:avLst/>
          </a:prstGeom>
          <a:noFill/>
        </p:spPr>
        <p:txBody>
          <a:bodyPr wrap="square" lIns="0" tIns="0" rIns="0" bIns="0" anchor="t">
            <a:noAutofit/>
          </a:bodyPr>
          <a:lstStyle/>
          <a:p>
            <a:pPr algn="l"/>
            <a:r>
              <a:rPr lang="en-US" sz="1100" b="1" dirty="0">
                <a:solidFill>
                  <a:srgbClr val="2DD4BF"/>
                </a:solidFill>
                <a:latin typeface="Segoe UI"/>
              </a:rPr>
              <a:t>02</a:t>
            </a:r>
          </a:p>
        </p:txBody>
      </p:sp>
      <p:sp>
        <p:nvSpPr>
          <p:cNvPr id="620" name="Strat 620"/>
          <p:cNvSpPr/>
          <p:nvPr/>
        </p:nvSpPr>
        <p:spPr>
          <a:xfrm>
            <a:off x="4527550" y="1816100"/>
            <a:ext cx="1295400" cy="254000"/>
          </a:xfrm>
          <a:prstGeom prst="roundRect">
            <a:avLst>
              <a:gd name="adj" fmla="val 50000"/>
            </a:avLst>
          </a:prstGeom>
          <a:solidFill>
            <a:srgbClr val="2DD4BF"/>
          </a:solidFill>
          <a:ln>
            <a:noFill/>
          </a:ln>
        </p:spPr>
        <p:txBody>
          <a:bodyPr wrap="square" lIns="0" tIns="0" rIns="0" bIns="0" anchor="ctr">
            <a:noAutofit/>
          </a:bodyPr>
          <a:lstStyle/>
          <a:p>
            <a:pPr algn="ctr"/>
            <a:r>
              <a:rPr lang="en-US" sz="900" b="1" dirty="0">
                <a:solidFill>
                  <a:srgbClr val="0A0F1E"/>
                </a:solidFill>
                <a:latin typeface="Segoe UI"/>
              </a:rPr>
              <a:t>PROJECT DEFAULT</a:t>
            </a:r>
          </a:p>
        </p:txBody>
      </p:sp>
      <p:sp>
        <p:nvSpPr>
          <p:cNvPr id="621" name="Strat 621"/>
          <p:cNvSpPr txBox="1"/>
          <p:nvPr/>
        </p:nvSpPr>
        <p:spPr>
          <a:xfrm>
            <a:off x="3584575" y="2108200"/>
            <a:ext cx="2238375" cy="304800"/>
          </a:xfrm>
          <a:prstGeom prst="rect">
            <a:avLst/>
          </a:prstGeom>
          <a:noFill/>
        </p:spPr>
        <p:txBody>
          <a:bodyPr wrap="square" lIns="0" tIns="0" rIns="0" bIns="0" anchor="t">
            <a:noAutofit/>
          </a:bodyPr>
          <a:lstStyle/>
          <a:p>
            <a:pPr algn="l"/>
            <a:r>
              <a:rPr lang="en-US" sz="1500" b="1" dirty="0">
                <a:solidFill>
                  <a:srgbClr val="F1F5F9"/>
                </a:solidFill>
                <a:latin typeface="Consolas"/>
              </a:rPr>
              <a:t>hybrid</a:t>
            </a:r>
          </a:p>
        </p:txBody>
      </p:sp>
      <p:sp>
        <p:nvSpPr>
          <p:cNvPr id="622" name="Strat 622"/>
          <p:cNvSpPr txBox="1"/>
          <p:nvPr/>
        </p:nvSpPr>
        <p:spPr>
          <a:xfrm>
            <a:off x="3584575" y="2540000"/>
            <a:ext cx="2238375" cy="177800"/>
          </a:xfrm>
          <a:prstGeom prst="rect">
            <a:avLst/>
          </a:prstGeom>
          <a:noFill/>
        </p:spPr>
        <p:txBody>
          <a:bodyPr wrap="square" lIns="0" tIns="0" rIns="0" bIns="0" anchor="t">
            <a:noAutofit/>
          </a:bodyPr>
          <a:lstStyle/>
          <a:p>
            <a:pPr algn="l"/>
            <a:r>
              <a:rPr lang="en-US" sz="1000" b="1" dirty="0">
                <a:solidFill>
                  <a:srgbClr val="94A3B8"/>
                </a:solidFill>
                <a:latin typeface="Segoe UI"/>
              </a:rPr>
              <a:t>COST</a:t>
            </a:r>
          </a:p>
        </p:txBody>
      </p:sp>
      <p:sp>
        <p:nvSpPr>
          <p:cNvPr id="623" name="Strat 623"/>
          <p:cNvSpPr/>
          <p:nvPr/>
        </p:nvSpPr>
        <p:spPr>
          <a:xfrm>
            <a:off x="358457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24" name="Strat 624"/>
          <p:cNvSpPr/>
          <p:nvPr/>
        </p:nvSpPr>
        <p:spPr>
          <a:xfrm>
            <a:off x="386397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25" name="Strat 625"/>
          <p:cNvSpPr/>
          <p:nvPr/>
        </p:nvSpPr>
        <p:spPr>
          <a:xfrm>
            <a:off x="4143375"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26" name="Strat 626"/>
          <p:cNvSpPr/>
          <p:nvPr/>
        </p:nvSpPr>
        <p:spPr>
          <a:xfrm>
            <a:off x="4422775"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27" name="Strat 627"/>
          <p:cNvSpPr txBox="1"/>
          <p:nvPr/>
        </p:nvSpPr>
        <p:spPr>
          <a:xfrm>
            <a:off x="3584575" y="2971800"/>
            <a:ext cx="2238375" cy="457200"/>
          </a:xfrm>
          <a:prstGeom prst="rect">
            <a:avLst/>
          </a:prstGeom>
          <a:noFill/>
        </p:spPr>
        <p:txBody>
          <a:bodyPr wrap="square" lIns="0" tIns="0" rIns="0" bIns="0" anchor="t">
            <a:noAutofit/>
          </a:bodyPr>
          <a:lstStyle/>
          <a:p>
            <a:pPr algn="l"/>
            <a:r>
              <a:rPr lang="en-US" sz="1200" b="0" dirty="0">
                <a:solidFill>
                  <a:srgbClr val="E2E8F0"/>
                </a:solidFill>
                <a:latin typeface="Segoe UI"/>
              </a:rPr>
              <a:t>1 embed + 2 DB calls</a:t>
            </a:r>
            <a:r>
              <a:rPr lang="en-US" sz="1200" b="0" dirty="0">
                <a:solidFill>
                  <a:srgbClr val="94A3B8"/>
                </a:solidFill>
                <a:latin typeface="Segoe UI"/>
              </a:rPr>
              <a:t> · cheap</a:t>
            </a:r>
          </a:p>
        </p:txBody>
      </p:sp>
      <p:sp>
        <p:nvSpPr>
          <p:cNvPr id="628" name="Strat 628"/>
          <p:cNvSpPr/>
          <p:nvPr/>
        </p:nvSpPr>
        <p:spPr>
          <a:xfrm>
            <a:off x="3584575" y="35306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29" name="Strat 629"/>
          <p:cNvSpPr txBox="1"/>
          <p:nvPr/>
        </p:nvSpPr>
        <p:spPr>
          <a:xfrm>
            <a:off x="3584575" y="36576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HOW IT WORKS</a:t>
            </a:r>
          </a:p>
        </p:txBody>
      </p:sp>
      <p:sp>
        <p:nvSpPr>
          <p:cNvPr id="630" name="Strat 630"/>
          <p:cNvSpPr txBox="1"/>
          <p:nvPr/>
        </p:nvSpPr>
        <p:spPr>
          <a:xfrm>
            <a:off x="3584575" y="3886200"/>
            <a:ext cx="2238375" cy="736600"/>
          </a:xfrm>
          <a:prstGeom prst="rect">
            <a:avLst/>
          </a:prstGeom>
          <a:noFill/>
        </p:spPr>
        <p:txBody>
          <a:bodyPr wrap="square" lIns="0" tIns="0" rIns="0" bIns="0" anchor="t">
            <a:noAutofit/>
          </a:bodyPr>
          <a:lstStyle/>
          <a:p>
            <a:pPr algn="l"/>
            <a:r>
              <a:rPr lang="en-US" sz="1400" b="0" dirty="0">
                <a:solidFill>
                  <a:srgbClr val="E2E8F0"/>
                </a:solidFill>
                <a:latin typeface="Segoe UI"/>
              </a:rPr>
              <a:t>Vector + Postgres full-text search, RRF-fused</a:t>
            </a:r>
          </a:p>
        </p:txBody>
      </p:sp>
      <p:sp>
        <p:nvSpPr>
          <p:cNvPr id="631" name="Strat 631"/>
          <p:cNvSpPr/>
          <p:nvPr/>
        </p:nvSpPr>
        <p:spPr>
          <a:xfrm>
            <a:off x="3584575" y="4724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32" name="Strat 632"/>
          <p:cNvSpPr txBox="1"/>
          <p:nvPr/>
        </p:nvSpPr>
        <p:spPr>
          <a:xfrm>
            <a:off x="3584575" y="48514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BEST FOR</a:t>
            </a:r>
          </a:p>
        </p:txBody>
      </p:sp>
      <p:sp>
        <p:nvSpPr>
          <p:cNvPr id="633" name="Strat 633"/>
          <p:cNvSpPr txBox="1"/>
          <p:nvPr/>
        </p:nvSpPr>
        <p:spPr>
          <a:xfrm>
            <a:off x="3584575" y="5080000"/>
            <a:ext cx="2238375" cy="1143000"/>
          </a:xfrm>
          <a:prstGeom prst="rect">
            <a:avLst/>
          </a:prstGeom>
          <a:noFill/>
        </p:spPr>
        <p:txBody>
          <a:bodyPr wrap="square" lIns="0" tIns="0" rIns="0" bIns="0" anchor="t">
            <a:noAutofit/>
          </a:bodyPr>
          <a:lstStyle/>
          <a:p>
            <a:pPr algn="l"/>
            <a:r>
              <a:rPr lang="en-US" sz="1400" b="0" dirty="0">
                <a:solidFill>
                  <a:srgbClr val="E2E8F0"/>
                </a:solidFill>
                <a:latin typeface="Segoe UI"/>
              </a:rPr>
              <a:t>Catches exact identifiers AND paraphrased concepts</a:t>
            </a:r>
          </a:p>
        </p:txBody>
      </p:sp>
      <p:sp>
        <p:nvSpPr>
          <p:cNvPr id="634" name="Strat 634"/>
          <p:cNvSpPr/>
          <p:nvPr/>
        </p:nvSpPr>
        <p:spPr>
          <a:xfrm>
            <a:off x="6178550" y="1676400"/>
            <a:ext cx="2593975" cy="46736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35" name="Strat 635"/>
          <p:cNvSpPr txBox="1"/>
          <p:nvPr/>
        </p:nvSpPr>
        <p:spPr>
          <a:xfrm>
            <a:off x="6356350" y="1854200"/>
            <a:ext cx="2238375" cy="177800"/>
          </a:xfrm>
          <a:prstGeom prst="rect">
            <a:avLst/>
          </a:prstGeom>
          <a:noFill/>
        </p:spPr>
        <p:txBody>
          <a:bodyPr wrap="square" lIns="0" tIns="0" rIns="0" bIns="0" anchor="t">
            <a:noAutofit/>
          </a:bodyPr>
          <a:lstStyle/>
          <a:p>
            <a:pPr algn="l"/>
            <a:r>
              <a:rPr lang="en-US" sz="1100" b="1" dirty="0">
                <a:solidFill>
                  <a:srgbClr val="2DD4BF"/>
                </a:solidFill>
                <a:latin typeface="Segoe UI"/>
              </a:rPr>
              <a:t>03</a:t>
            </a:r>
          </a:p>
        </p:txBody>
      </p:sp>
      <p:sp>
        <p:nvSpPr>
          <p:cNvPr id="636" name="Strat 636"/>
          <p:cNvSpPr txBox="1"/>
          <p:nvPr/>
        </p:nvSpPr>
        <p:spPr>
          <a:xfrm>
            <a:off x="6356350" y="2108200"/>
            <a:ext cx="2238375" cy="304800"/>
          </a:xfrm>
          <a:prstGeom prst="rect">
            <a:avLst/>
          </a:prstGeom>
          <a:noFill/>
        </p:spPr>
        <p:txBody>
          <a:bodyPr wrap="square" lIns="0" tIns="0" rIns="0" bIns="0" anchor="t">
            <a:noAutofit/>
          </a:bodyPr>
          <a:lstStyle/>
          <a:p>
            <a:pPr algn="l"/>
            <a:r>
              <a:rPr lang="en-US" sz="1500" b="1" dirty="0">
                <a:solidFill>
                  <a:srgbClr val="F1F5F9"/>
                </a:solidFill>
                <a:latin typeface="Consolas"/>
              </a:rPr>
              <a:t>multi-query-vector</a:t>
            </a:r>
          </a:p>
        </p:txBody>
      </p:sp>
      <p:sp>
        <p:nvSpPr>
          <p:cNvPr id="637" name="Strat 637"/>
          <p:cNvSpPr txBox="1"/>
          <p:nvPr/>
        </p:nvSpPr>
        <p:spPr>
          <a:xfrm>
            <a:off x="6356350" y="2540000"/>
            <a:ext cx="2238375" cy="177800"/>
          </a:xfrm>
          <a:prstGeom prst="rect">
            <a:avLst/>
          </a:prstGeom>
          <a:noFill/>
        </p:spPr>
        <p:txBody>
          <a:bodyPr wrap="square" lIns="0" tIns="0" rIns="0" bIns="0" anchor="t">
            <a:noAutofit/>
          </a:bodyPr>
          <a:lstStyle/>
          <a:p>
            <a:pPr algn="l"/>
            <a:r>
              <a:rPr lang="en-US" sz="1000" b="1" dirty="0">
                <a:solidFill>
                  <a:srgbClr val="94A3B8"/>
                </a:solidFill>
                <a:latin typeface="Segoe UI"/>
              </a:rPr>
              <a:t>COST</a:t>
            </a:r>
          </a:p>
        </p:txBody>
      </p:sp>
      <p:sp>
        <p:nvSpPr>
          <p:cNvPr id="638" name="Strat 638"/>
          <p:cNvSpPr/>
          <p:nvPr/>
        </p:nvSpPr>
        <p:spPr>
          <a:xfrm>
            <a:off x="6356350"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39" name="Strat 639"/>
          <p:cNvSpPr/>
          <p:nvPr/>
        </p:nvSpPr>
        <p:spPr>
          <a:xfrm>
            <a:off x="6635750"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40" name="Strat 640"/>
          <p:cNvSpPr/>
          <p:nvPr/>
        </p:nvSpPr>
        <p:spPr>
          <a:xfrm>
            <a:off x="6915150"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41" name="Strat 641"/>
          <p:cNvSpPr/>
          <p:nvPr/>
        </p:nvSpPr>
        <p:spPr>
          <a:xfrm>
            <a:off x="7194550" y="2768600"/>
            <a:ext cx="228600" cy="101600"/>
          </a:xfrm>
          <a:prstGeom prst="roundRect">
            <a:avLst>
              <a:gd name="adj" fmla="val 30000"/>
            </a:avLst>
          </a:prstGeom>
          <a:solidFill>
            <a:srgbClr val="2A3650"/>
          </a:solidFill>
          <a:ln>
            <a:noFill/>
          </a:ln>
        </p:spPr>
        <p:txBody>
          <a:bodyPr wrap="square" lIns="0" tIns="0" rIns="0" bIns="0" anchor="t">
            <a:noAutofit/>
          </a:bodyPr>
          <a:lstStyle/>
          <a:p>
            <a:endParaRPr lang="en-US"/>
          </a:p>
        </p:txBody>
      </p:sp>
      <p:sp>
        <p:nvSpPr>
          <p:cNvPr id="642" name="Strat 642"/>
          <p:cNvSpPr txBox="1"/>
          <p:nvPr/>
        </p:nvSpPr>
        <p:spPr>
          <a:xfrm>
            <a:off x="6356350" y="2971800"/>
            <a:ext cx="2238375" cy="457200"/>
          </a:xfrm>
          <a:prstGeom prst="rect">
            <a:avLst/>
          </a:prstGeom>
          <a:noFill/>
        </p:spPr>
        <p:txBody>
          <a:bodyPr wrap="square" lIns="0" tIns="0" rIns="0" bIns="0" anchor="t">
            <a:noAutofit/>
          </a:bodyPr>
          <a:lstStyle/>
          <a:p>
            <a:pPr algn="l"/>
            <a:r>
              <a:rPr lang="en-US" sz="1200" b="0" dirty="0">
                <a:solidFill>
                  <a:srgbClr val="E2E8F0"/>
                </a:solidFill>
                <a:latin typeface="Segoe UI"/>
              </a:rPr>
              <a:t>1 LLM call + N embeds + N DB calls</a:t>
            </a:r>
          </a:p>
        </p:txBody>
      </p:sp>
      <p:sp>
        <p:nvSpPr>
          <p:cNvPr id="643" name="Strat 643"/>
          <p:cNvSpPr/>
          <p:nvPr/>
        </p:nvSpPr>
        <p:spPr>
          <a:xfrm>
            <a:off x="6356350" y="35306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44" name="Strat 644"/>
          <p:cNvSpPr txBox="1"/>
          <p:nvPr/>
        </p:nvSpPr>
        <p:spPr>
          <a:xfrm>
            <a:off x="6356350" y="36576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HOW IT WORKS</a:t>
            </a:r>
          </a:p>
        </p:txBody>
      </p:sp>
      <p:sp>
        <p:nvSpPr>
          <p:cNvPr id="645" name="Strat 645"/>
          <p:cNvSpPr txBox="1"/>
          <p:nvPr/>
        </p:nvSpPr>
        <p:spPr>
          <a:xfrm>
            <a:off x="6356350" y="3886200"/>
            <a:ext cx="2238375" cy="736600"/>
          </a:xfrm>
          <a:prstGeom prst="rect">
            <a:avLst/>
          </a:prstGeom>
          <a:noFill/>
        </p:spPr>
        <p:txBody>
          <a:bodyPr wrap="square" lIns="0" tIns="0" rIns="0" bIns="0" anchor="t">
            <a:noAutofit/>
          </a:bodyPr>
          <a:lstStyle/>
          <a:p>
            <a:pPr algn="l"/>
            <a:r>
              <a:rPr lang="en-US" sz="1400" b="0" dirty="0">
                <a:solidFill>
                  <a:srgbClr val="E2E8F0"/>
                </a:solidFill>
                <a:latin typeface="Segoe UI"/>
              </a:rPr>
              <a:t>LLM rewrites query N ways, vector-searches each, RRF-fused</a:t>
            </a:r>
          </a:p>
        </p:txBody>
      </p:sp>
      <p:sp>
        <p:nvSpPr>
          <p:cNvPr id="646" name="Strat 646"/>
          <p:cNvSpPr/>
          <p:nvPr/>
        </p:nvSpPr>
        <p:spPr>
          <a:xfrm>
            <a:off x="6356350" y="4724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47" name="Strat 647"/>
          <p:cNvSpPr txBox="1"/>
          <p:nvPr/>
        </p:nvSpPr>
        <p:spPr>
          <a:xfrm>
            <a:off x="6356350" y="48514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BEST FOR</a:t>
            </a:r>
          </a:p>
        </p:txBody>
      </p:sp>
      <p:sp>
        <p:nvSpPr>
          <p:cNvPr id="648" name="Strat 648"/>
          <p:cNvSpPr txBox="1"/>
          <p:nvPr/>
        </p:nvSpPr>
        <p:spPr>
          <a:xfrm>
            <a:off x="6356350" y="5080000"/>
            <a:ext cx="2238375" cy="1143000"/>
          </a:xfrm>
          <a:prstGeom prst="rect">
            <a:avLst/>
          </a:prstGeom>
          <a:noFill/>
        </p:spPr>
        <p:txBody>
          <a:bodyPr wrap="square" lIns="0" tIns="0" rIns="0" bIns="0" anchor="t">
            <a:noAutofit/>
          </a:bodyPr>
          <a:lstStyle/>
          <a:p>
            <a:pPr algn="l"/>
            <a:r>
              <a:rPr lang="en-US" sz="1400" b="0" dirty="0">
                <a:solidFill>
                  <a:srgbClr val="E2E8F0"/>
                </a:solidFill>
                <a:latin typeface="Segoe UI"/>
              </a:rPr>
              <a:t>Vague/underspecified questions where one phrasing may miss the answer</a:t>
            </a:r>
          </a:p>
        </p:txBody>
      </p:sp>
      <p:sp>
        <p:nvSpPr>
          <p:cNvPr id="649" name="Strat 649"/>
          <p:cNvSpPr/>
          <p:nvPr/>
        </p:nvSpPr>
        <p:spPr>
          <a:xfrm>
            <a:off x="8950325" y="1676400"/>
            <a:ext cx="2593975" cy="46736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50" name="Strat 650"/>
          <p:cNvSpPr txBox="1"/>
          <p:nvPr/>
        </p:nvSpPr>
        <p:spPr>
          <a:xfrm>
            <a:off x="9128125" y="1854200"/>
            <a:ext cx="2238375" cy="177800"/>
          </a:xfrm>
          <a:prstGeom prst="rect">
            <a:avLst/>
          </a:prstGeom>
          <a:noFill/>
        </p:spPr>
        <p:txBody>
          <a:bodyPr wrap="square" lIns="0" tIns="0" rIns="0" bIns="0" anchor="t">
            <a:noAutofit/>
          </a:bodyPr>
          <a:lstStyle/>
          <a:p>
            <a:pPr algn="l"/>
            <a:r>
              <a:rPr lang="en-US" sz="1100" b="1" dirty="0">
                <a:solidFill>
                  <a:srgbClr val="2DD4BF"/>
                </a:solidFill>
                <a:latin typeface="Segoe UI"/>
              </a:rPr>
              <a:t>04</a:t>
            </a:r>
          </a:p>
        </p:txBody>
      </p:sp>
      <p:sp>
        <p:nvSpPr>
          <p:cNvPr id="651" name="Strat 651"/>
          <p:cNvSpPr txBox="1"/>
          <p:nvPr/>
        </p:nvSpPr>
        <p:spPr>
          <a:xfrm>
            <a:off x="9128125" y="2108200"/>
            <a:ext cx="2238375" cy="304800"/>
          </a:xfrm>
          <a:prstGeom prst="rect">
            <a:avLst/>
          </a:prstGeom>
          <a:noFill/>
        </p:spPr>
        <p:txBody>
          <a:bodyPr wrap="square" lIns="0" tIns="0" rIns="0" bIns="0" anchor="t">
            <a:noAutofit/>
          </a:bodyPr>
          <a:lstStyle/>
          <a:p>
            <a:pPr algn="l"/>
            <a:r>
              <a:rPr lang="en-US" sz="1500" b="1" dirty="0">
                <a:solidFill>
                  <a:srgbClr val="F1F5F9"/>
                </a:solidFill>
                <a:latin typeface="Consolas"/>
              </a:rPr>
              <a:t>multi-query-hybrid</a:t>
            </a:r>
          </a:p>
        </p:txBody>
      </p:sp>
      <p:sp>
        <p:nvSpPr>
          <p:cNvPr id="652" name="Strat 652"/>
          <p:cNvSpPr txBox="1"/>
          <p:nvPr/>
        </p:nvSpPr>
        <p:spPr>
          <a:xfrm>
            <a:off x="9128125" y="2540000"/>
            <a:ext cx="2238375" cy="177800"/>
          </a:xfrm>
          <a:prstGeom prst="rect">
            <a:avLst/>
          </a:prstGeom>
          <a:noFill/>
        </p:spPr>
        <p:txBody>
          <a:bodyPr wrap="square" lIns="0" tIns="0" rIns="0" bIns="0" anchor="t">
            <a:noAutofit/>
          </a:bodyPr>
          <a:lstStyle/>
          <a:p>
            <a:pPr algn="l"/>
            <a:r>
              <a:rPr lang="en-US" sz="1000" b="1" dirty="0">
                <a:solidFill>
                  <a:srgbClr val="94A3B8"/>
                </a:solidFill>
                <a:latin typeface="Segoe UI"/>
              </a:rPr>
              <a:t>COST</a:t>
            </a:r>
          </a:p>
        </p:txBody>
      </p:sp>
      <p:sp>
        <p:nvSpPr>
          <p:cNvPr id="653" name="Strat 653"/>
          <p:cNvSpPr/>
          <p:nvPr/>
        </p:nvSpPr>
        <p:spPr>
          <a:xfrm>
            <a:off x="912812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54" name="Strat 654"/>
          <p:cNvSpPr/>
          <p:nvPr/>
        </p:nvSpPr>
        <p:spPr>
          <a:xfrm>
            <a:off x="940752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55" name="Strat 655"/>
          <p:cNvSpPr/>
          <p:nvPr/>
        </p:nvSpPr>
        <p:spPr>
          <a:xfrm>
            <a:off x="968692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56" name="Strat 656"/>
          <p:cNvSpPr/>
          <p:nvPr/>
        </p:nvSpPr>
        <p:spPr>
          <a:xfrm>
            <a:off x="9966325" y="2768600"/>
            <a:ext cx="228600" cy="101600"/>
          </a:xfrm>
          <a:prstGeom prst="roundRect">
            <a:avLst>
              <a:gd name="adj" fmla="val 30000"/>
            </a:avLst>
          </a:prstGeom>
          <a:solidFill>
            <a:srgbClr val="2DD4BF"/>
          </a:solidFill>
          <a:ln>
            <a:noFill/>
          </a:ln>
        </p:spPr>
        <p:txBody>
          <a:bodyPr wrap="square" lIns="0" tIns="0" rIns="0" bIns="0" anchor="t">
            <a:noAutofit/>
          </a:bodyPr>
          <a:lstStyle/>
          <a:p>
            <a:endParaRPr lang="en-US"/>
          </a:p>
        </p:txBody>
      </p:sp>
      <p:sp>
        <p:nvSpPr>
          <p:cNvPr id="657" name="Strat 657"/>
          <p:cNvSpPr txBox="1"/>
          <p:nvPr/>
        </p:nvSpPr>
        <p:spPr>
          <a:xfrm>
            <a:off x="9128125" y="2971800"/>
            <a:ext cx="2238375" cy="457200"/>
          </a:xfrm>
          <a:prstGeom prst="rect">
            <a:avLst/>
          </a:prstGeom>
          <a:noFill/>
        </p:spPr>
        <p:txBody>
          <a:bodyPr wrap="square" lIns="0" tIns="0" rIns="0" bIns="0" anchor="t">
            <a:noAutofit/>
          </a:bodyPr>
          <a:lstStyle/>
          <a:p>
            <a:pPr algn="l"/>
            <a:r>
              <a:rPr lang="en-US" sz="1200" b="0" dirty="0">
                <a:solidFill>
                  <a:srgbClr val="E2E8F0"/>
                </a:solidFill>
                <a:latin typeface="Segoe UI"/>
              </a:rPr>
              <a:t>1 LLM call + N x2 DB calls</a:t>
            </a:r>
            <a:r>
              <a:rPr lang="en-US" sz="1200" b="0" dirty="0">
                <a:solidFill>
                  <a:srgbClr val="94A3B8"/>
                </a:solidFill>
                <a:latin typeface="Segoe UI"/>
              </a:rPr>
              <a:t> · most expensive</a:t>
            </a:r>
          </a:p>
        </p:txBody>
      </p:sp>
      <p:sp>
        <p:nvSpPr>
          <p:cNvPr id="658" name="Strat 658"/>
          <p:cNvSpPr/>
          <p:nvPr/>
        </p:nvSpPr>
        <p:spPr>
          <a:xfrm>
            <a:off x="9128125" y="35306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59" name="Strat 659"/>
          <p:cNvSpPr txBox="1"/>
          <p:nvPr/>
        </p:nvSpPr>
        <p:spPr>
          <a:xfrm>
            <a:off x="9128125" y="36576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HOW IT WORKS</a:t>
            </a:r>
          </a:p>
        </p:txBody>
      </p:sp>
      <p:sp>
        <p:nvSpPr>
          <p:cNvPr id="660" name="Strat 660"/>
          <p:cNvSpPr txBox="1"/>
          <p:nvPr/>
        </p:nvSpPr>
        <p:spPr>
          <a:xfrm>
            <a:off x="9128125" y="3886200"/>
            <a:ext cx="2238375" cy="736600"/>
          </a:xfrm>
          <a:prstGeom prst="rect">
            <a:avLst/>
          </a:prstGeom>
          <a:noFill/>
        </p:spPr>
        <p:txBody>
          <a:bodyPr wrap="square" lIns="0" tIns="0" rIns="0" bIns="0" anchor="t">
            <a:noAutofit/>
          </a:bodyPr>
          <a:lstStyle/>
          <a:p>
            <a:pPr algn="l"/>
            <a:r>
              <a:rPr lang="en-US" sz="1400" b="0" dirty="0">
                <a:solidFill>
                  <a:srgbClr val="E2E8F0"/>
                </a:solidFill>
                <a:latin typeface="Segoe UI"/>
              </a:rPr>
              <a:t>N query variations, each run through hybrid, RRF-of-RRF fused</a:t>
            </a:r>
          </a:p>
        </p:txBody>
      </p:sp>
      <p:sp>
        <p:nvSpPr>
          <p:cNvPr id="661" name="Strat 661"/>
          <p:cNvSpPr/>
          <p:nvPr/>
        </p:nvSpPr>
        <p:spPr>
          <a:xfrm>
            <a:off x="9128125" y="4724400"/>
            <a:ext cx="2238375" cy="12700"/>
          </a:xfrm>
          <a:prstGeom prst="rect">
            <a:avLst/>
          </a:prstGeom>
          <a:solidFill>
            <a:srgbClr val="2A3650"/>
          </a:solidFill>
          <a:ln>
            <a:noFill/>
          </a:ln>
        </p:spPr>
        <p:txBody>
          <a:bodyPr wrap="square" lIns="0" tIns="0" rIns="0" bIns="0" anchor="t">
            <a:noAutofit/>
          </a:bodyPr>
          <a:lstStyle/>
          <a:p>
            <a:endParaRPr lang="en-US"/>
          </a:p>
        </p:txBody>
      </p:sp>
      <p:sp>
        <p:nvSpPr>
          <p:cNvPr id="662" name="Strat 662"/>
          <p:cNvSpPr txBox="1"/>
          <p:nvPr/>
        </p:nvSpPr>
        <p:spPr>
          <a:xfrm>
            <a:off x="9128125" y="4851400"/>
            <a:ext cx="2238375" cy="177800"/>
          </a:xfrm>
          <a:prstGeom prst="rect">
            <a:avLst/>
          </a:prstGeom>
          <a:noFill/>
        </p:spPr>
        <p:txBody>
          <a:bodyPr wrap="square" lIns="0" tIns="0" rIns="0" bIns="0" anchor="t">
            <a:noAutofit/>
          </a:bodyPr>
          <a:lstStyle/>
          <a:p>
            <a:pPr algn="l"/>
            <a:r>
              <a:rPr lang="en-US" sz="1000" b="1" dirty="0">
                <a:solidFill>
                  <a:srgbClr val="2DD4BF"/>
                </a:solidFill>
                <a:latin typeface="Segoe UI"/>
              </a:rPr>
              <a:t>BEST FOR</a:t>
            </a:r>
          </a:p>
        </p:txBody>
      </p:sp>
      <p:sp>
        <p:nvSpPr>
          <p:cNvPr id="663" name="Strat 663"/>
          <p:cNvSpPr txBox="1"/>
          <p:nvPr/>
        </p:nvSpPr>
        <p:spPr>
          <a:xfrm>
            <a:off x="9128125" y="5080000"/>
            <a:ext cx="2238375" cy="1143000"/>
          </a:xfrm>
          <a:prstGeom prst="rect">
            <a:avLst/>
          </a:prstGeom>
          <a:noFill/>
        </p:spPr>
        <p:txBody>
          <a:bodyPr wrap="square" lIns="0" tIns="0" rIns="0" bIns="0" anchor="t">
            <a:noAutofit/>
          </a:bodyPr>
          <a:lstStyle/>
          <a:p>
            <a:pPr algn="l"/>
            <a:r>
              <a:rPr lang="en-US" sz="1400" b="0" dirty="0">
                <a:solidFill>
                  <a:srgbClr val="E2E8F0"/>
                </a:solidFill>
                <a:latin typeface="Segoe UI"/>
              </a:rPr>
              <a:t>Strong recall/precision; use once evaluation data justifies the cost</a:t>
            </a:r>
          </a:p>
        </p:txBody>
      </p:sp>
      <p:sp>
        <p:nvSpPr>
          <p:cNvPr id="7" name="TextBox 6"/>
          <p:cNvSpPr txBox="1"/>
          <p:nvPr/>
        </p:nvSpPr>
        <p:spPr>
          <a:xfrm>
            <a:off x="640080" y="6528816"/>
            <a:ext cx="7315200" cy="274320"/>
          </a:xfrm>
          <a:prstGeom prst="rect">
            <a:avLst/>
          </a:prstGeom>
          <a:noFill/>
        </p:spPr>
        <p:txBody>
          <a:bodyPr wrap="square">
            <a:spAutoFit/>
          </a:bodyPr>
          <a:lstStyle/>
          <a:p>
            <a:pPr algn="l"/>
            <a:r>
              <a:rPr sz="850" b="0">
                <a:solidFill>
                  <a:srgbClr val="94A3B8"/>
                </a:solidFill>
                <a:latin typeface="Segoe UI"/>
              </a:rPr>
              <a:t>Building Enterprise RAG Applications with .NET  |  Taazaa X Talk</a:t>
            </a:r>
          </a:p>
        </p:txBody>
      </p:sp>
      <p:sp>
        <p:nvSpPr>
          <p:cNvPr id="8" name="TextBox 7"/>
          <p:cNvSpPr txBox="1"/>
          <p:nvPr/>
        </p:nvSpPr>
        <p:spPr>
          <a:xfrm>
            <a:off x="11247120" y="6528816"/>
            <a:ext cx="548640" cy="274320"/>
          </a:xfrm>
          <a:prstGeom prst="rect">
            <a:avLst/>
          </a:prstGeom>
          <a:noFill/>
        </p:spPr>
        <p:txBody>
          <a:bodyPr wrap="square">
            <a:spAutoFit/>
          </a:bodyPr>
          <a:lstStyle/>
          <a:p>
            <a:pPr algn="l"/>
            <a:r>
              <a:rPr sz="850" b="0">
                <a:solidFill>
                  <a:srgbClr val="94A3B8"/>
                </a:solidFill>
                <a:latin typeface="Segoe UI"/>
              </a:rPr>
              <a:t>44</a:t>
            </a:r>
          </a:p>
        </p:txBody>
      </p:sp>
    </p:spTree>
    <p:extLst>
      <p:ext uri="{BB962C8B-B14F-4D97-AF65-F5344CB8AC3E}">
        <p14:creationId xmlns:p14="http://schemas.microsoft.com/office/powerpoint/2010/main" val="720751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9144000" cy="320040"/>
          </a:xfrm>
          <a:prstGeom prst="rect">
            <a:avLst/>
          </a:prstGeom>
          <a:noFill/>
        </p:spPr>
        <p:txBody>
          <a:bodyPr wrap="square" lIns="0" tIns="0" rIns="0" bIns="0" anchor="t">
            <a:spAutoFit/>
          </a:bodyPr>
          <a:lstStyle/>
          <a:p>
            <a:pPr algn="l"/>
            <a:r>
              <a:rPr sz="1200" b="1" i="0">
                <a:solidFill>
                  <a:srgbClr val="2DD4BF"/>
                </a:solidFill>
                <a:latin typeface="Segoe UI"/>
              </a:rPr>
              <a:t>SECTION: FUTURE OF RAG</a:t>
            </a:r>
          </a:p>
        </p:txBody>
      </p:sp>
      <p:sp>
        <p:nvSpPr>
          <p:cNvPr id="4" name="TextBox 3"/>
          <p:cNvSpPr txBox="1"/>
          <p:nvPr/>
        </p:nvSpPr>
        <p:spPr>
          <a:xfrm>
            <a:off x="640080" y="566928"/>
            <a:ext cx="10881360" cy="640080"/>
          </a:xfrm>
          <a:prstGeom prst="rect">
            <a:avLst/>
          </a:prstGeom>
          <a:noFill/>
        </p:spPr>
        <p:txBody>
          <a:bodyPr wrap="square" lIns="0" tIns="0" rIns="0" bIns="0" anchor="t">
            <a:spAutoFit/>
          </a:bodyPr>
          <a:lstStyle/>
          <a:p>
            <a:pPr algn="l"/>
            <a:r>
              <a:rPr sz="2500" b="1" i="0">
                <a:solidFill>
                  <a:srgbClr val="F1F5F9"/>
                </a:solidFill>
                <a:latin typeface="Segoe UI"/>
              </a:rPr>
              <a:t>Where enterprise RAG is heading</a:t>
            </a:r>
          </a:p>
        </p:txBody>
      </p:sp>
      <p:cxnSp>
        <p:nvCxnSpPr>
          <p:cNvPr id="5" name="Connector 4"/>
          <p:cNvCxnSpPr/>
          <p:nvPr/>
        </p:nvCxnSpPr>
        <p:spPr>
          <a:xfrm>
            <a:off x="640080" y="1188720"/>
            <a:ext cx="10908792" cy="0"/>
          </a:xfrm>
          <a:prstGeom prst="line">
            <a:avLst/>
          </a:prstGeom>
          <a:ln w="12700">
            <a:solidFill>
              <a:srgbClr val="2A3752"/>
            </a:solidFill>
          </a:ln>
          <a:effectLst/>
        </p:spPr>
        <p:style>
          <a:lnRef idx="2">
            <a:schemeClr val="accent1"/>
          </a:lnRef>
          <a:fillRef idx="0">
            <a:schemeClr val="accent1"/>
          </a:fillRef>
          <a:effectRef idx="1">
            <a:schemeClr val="accent1"/>
          </a:effectRef>
          <a:fontRef idx="minor">
            <a:schemeClr val="tx1"/>
          </a:fontRef>
        </p:style>
      </p:cxnSp>
      <p:sp>
        <p:nvSpPr>
          <p:cNvPr id="600" name="Future 600"/>
          <p:cNvSpPr/>
          <p:nvPr/>
        </p:nvSpPr>
        <p:spPr>
          <a:xfrm>
            <a:off x="635000" y="1397000"/>
            <a:ext cx="3517900" cy="4978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01" name="Future 601"/>
          <p:cNvSpPr/>
          <p:nvPr/>
        </p:nvSpPr>
        <p:spPr>
          <a:xfrm>
            <a:off x="838200" y="1600200"/>
            <a:ext cx="3111500" cy="14986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602" name="Future 602"/>
          <p:cNvSpPr/>
          <p:nvPr/>
        </p:nvSpPr>
        <p:spPr>
          <a:xfrm>
            <a:off x="1273810" y="2049780"/>
            <a:ext cx="684530" cy="629412"/>
          </a:xfrm>
          <a:prstGeom prst="line">
            <a:avLst/>
          </a:prstGeom>
          <a:noFill/>
          <a:ln w="15875">
            <a:solidFill>
              <a:srgbClr val="334155"/>
            </a:solidFill>
          </a:ln>
        </p:spPr>
        <p:txBody>
          <a:bodyPr wrap="square" lIns="0" tIns="0" rIns="0" bIns="0" anchor="t">
            <a:noAutofit/>
          </a:bodyPr>
          <a:lstStyle/>
          <a:p>
            <a:endParaRPr lang="en-US"/>
          </a:p>
        </p:txBody>
      </p:sp>
      <p:sp>
        <p:nvSpPr>
          <p:cNvPr id="603" name="Future 603"/>
          <p:cNvSpPr/>
          <p:nvPr/>
        </p:nvSpPr>
        <p:spPr>
          <a:xfrm flipV="1">
            <a:off x="1273810" y="2019808"/>
            <a:ext cx="1120140" cy="29972"/>
          </a:xfrm>
          <a:prstGeom prst="line">
            <a:avLst/>
          </a:prstGeom>
          <a:noFill/>
          <a:ln w="15875">
            <a:solidFill>
              <a:srgbClr val="2DD4BF"/>
            </a:solidFill>
          </a:ln>
        </p:spPr>
        <p:txBody>
          <a:bodyPr wrap="square" lIns="0" tIns="0" rIns="0" bIns="0" anchor="t">
            <a:noAutofit/>
          </a:bodyPr>
          <a:lstStyle/>
          <a:p>
            <a:endParaRPr lang="en-US"/>
          </a:p>
        </p:txBody>
      </p:sp>
      <p:sp>
        <p:nvSpPr>
          <p:cNvPr id="604" name="Future 604"/>
          <p:cNvSpPr/>
          <p:nvPr/>
        </p:nvSpPr>
        <p:spPr>
          <a:xfrm flipV="1">
            <a:off x="1958340" y="2019808"/>
            <a:ext cx="435610" cy="659384"/>
          </a:xfrm>
          <a:prstGeom prst="line">
            <a:avLst/>
          </a:prstGeom>
          <a:noFill/>
          <a:ln w="15875">
            <a:solidFill>
              <a:srgbClr val="334155"/>
            </a:solidFill>
          </a:ln>
        </p:spPr>
        <p:txBody>
          <a:bodyPr wrap="square" lIns="0" tIns="0" rIns="0" bIns="0" anchor="t">
            <a:noAutofit/>
          </a:bodyPr>
          <a:lstStyle/>
          <a:p>
            <a:endParaRPr lang="en-US"/>
          </a:p>
        </p:txBody>
      </p:sp>
      <p:sp>
        <p:nvSpPr>
          <p:cNvPr id="605" name="Future 605"/>
          <p:cNvSpPr/>
          <p:nvPr/>
        </p:nvSpPr>
        <p:spPr>
          <a:xfrm>
            <a:off x="2393950" y="2019808"/>
            <a:ext cx="560070" cy="599440"/>
          </a:xfrm>
          <a:prstGeom prst="line">
            <a:avLst/>
          </a:prstGeom>
          <a:noFill/>
          <a:ln w="15875">
            <a:solidFill>
              <a:srgbClr val="2DD4BF"/>
            </a:solidFill>
          </a:ln>
        </p:spPr>
        <p:txBody>
          <a:bodyPr wrap="square" lIns="0" tIns="0" rIns="0" bIns="0" anchor="t">
            <a:noAutofit/>
          </a:bodyPr>
          <a:lstStyle/>
          <a:p>
            <a:endParaRPr lang="en-US"/>
          </a:p>
        </p:txBody>
      </p:sp>
      <p:sp>
        <p:nvSpPr>
          <p:cNvPr id="606" name="Future 606"/>
          <p:cNvSpPr/>
          <p:nvPr/>
        </p:nvSpPr>
        <p:spPr>
          <a:xfrm flipV="1">
            <a:off x="1958340" y="2619248"/>
            <a:ext cx="995680" cy="59944"/>
          </a:xfrm>
          <a:prstGeom prst="line">
            <a:avLst/>
          </a:prstGeom>
          <a:noFill/>
          <a:ln w="15875">
            <a:solidFill>
              <a:srgbClr val="334155"/>
            </a:solidFill>
          </a:ln>
        </p:spPr>
        <p:txBody>
          <a:bodyPr wrap="square" lIns="0" tIns="0" rIns="0" bIns="0" anchor="t">
            <a:noAutofit/>
          </a:bodyPr>
          <a:lstStyle/>
          <a:p>
            <a:endParaRPr lang="en-US"/>
          </a:p>
        </p:txBody>
      </p:sp>
      <p:sp>
        <p:nvSpPr>
          <p:cNvPr id="607" name="Future 607"/>
          <p:cNvSpPr/>
          <p:nvPr/>
        </p:nvSpPr>
        <p:spPr>
          <a:xfrm flipV="1">
            <a:off x="2954020" y="2079752"/>
            <a:ext cx="591185" cy="539496"/>
          </a:xfrm>
          <a:prstGeom prst="line">
            <a:avLst/>
          </a:prstGeom>
          <a:noFill/>
          <a:ln w="15875">
            <a:solidFill>
              <a:srgbClr val="2DD4BF"/>
            </a:solidFill>
          </a:ln>
        </p:spPr>
        <p:txBody>
          <a:bodyPr wrap="square" lIns="0" tIns="0" rIns="0" bIns="0" anchor="t">
            <a:noAutofit/>
          </a:bodyPr>
          <a:lstStyle/>
          <a:p>
            <a:endParaRPr lang="en-US"/>
          </a:p>
        </p:txBody>
      </p:sp>
      <p:sp>
        <p:nvSpPr>
          <p:cNvPr id="608" name="Future 608"/>
          <p:cNvSpPr/>
          <p:nvPr/>
        </p:nvSpPr>
        <p:spPr>
          <a:xfrm>
            <a:off x="2393950" y="2019808"/>
            <a:ext cx="1151255" cy="59944"/>
          </a:xfrm>
          <a:prstGeom prst="line">
            <a:avLst/>
          </a:prstGeom>
          <a:noFill/>
          <a:ln w="15875">
            <a:solidFill>
              <a:srgbClr val="334155"/>
            </a:solidFill>
          </a:ln>
        </p:spPr>
        <p:txBody>
          <a:bodyPr wrap="square" lIns="0" tIns="0" rIns="0" bIns="0" anchor="t">
            <a:noAutofit/>
          </a:bodyPr>
          <a:lstStyle/>
          <a:p>
            <a:endParaRPr lang="en-US"/>
          </a:p>
        </p:txBody>
      </p:sp>
      <p:sp>
        <p:nvSpPr>
          <p:cNvPr id="609" name="Future 609"/>
          <p:cNvSpPr/>
          <p:nvPr/>
        </p:nvSpPr>
        <p:spPr>
          <a:xfrm>
            <a:off x="1159510" y="1935480"/>
            <a:ext cx="228600" cy="228600"/>
          </a:xfrm>
          <a:prstGeom prst="ellipse">
            <a:avLst/>
          </a:prstGeom>
          <a:solidFill>
            <a:srgbClr val="2DD4BF"/>
          </a:solidFill>
          <a:ln>
            <a:noFill/>
          </a:ln>
        </p:spPr>
        <p:txBody>
          <a:bodyPr wrap="square" lIns="0" tIns="0" rIns="0" bIns="0" anchor="t">
            <a:noAutofit/>
          </a:bodyPr>
          <a:lstStyle/>
          <a:p>
            <a:endParaRPr lang="en-US"/>
          </a:p>
        </p:txBody>
      </p:sp>
      <p:sp>
        <p:nvSpPr>
          <p:cNvPr id="610" name="Future 610"/>
          <p:cNvSpPr/>
          <p:nvPr/>
        </p:nvSpPr>
        <p:spPr>
          <a:xfrm>
            <a:off x="1869440" y="2590292"/>
            <a:ext cx="177800" cy="177800"/>
          </a:xfrm>
          <a:prstGeom prst="ellipse">
            <a:avLst/>
          </a:prstGeom>
          <a:solidFill>
            <a:srgbClr val="475569"/>
          </a:solidFill>
          <a:ln>
            <a:noFill/>
          </a:ln>
        </p:spPr>
        <p:txBody>
          <a:bodyPr wrap="square" lIns="0" tIns="0" rIns="0" bIns="0" anchor="t">
            <a:noAutofit/>
          </a:bodyPr>
          <a:lstStyle/>
          <a:p>
            <a:endParaRPr lang="en-US"/>
          </a:p>
        </p:txBody>
      </p:sp>
      <p:sp>
        <p:nvSpPr>
          <p:cNvPr id="611" name="Future 611"/>
          <p:cNvSpPr/>
          <p:nvPr/>
        </p:nvSpPr>
        <p:spPr>
          <a:xfrm>
            <a:off x="2279650" y="1905508"/>
            <a:ext cx="228600" cy="228600"/>
          </a:xfrm>
          <a:prstGeom prst="ellipse">
            <a:avLst/>
          </a:prstGeom>
          <a:solidFill>
            <a:srgbClr val="2DD4BF"/>
          </a:solidFill>
          <a:ln>
            <a:noFill/>
          </a:ln>
        </p:spPr>
        <p:txBody>
          <a:bodyPr wrap="square" lIns="0" tIns="0" rIns="0" bIns="0" anchor="t">
            <a:noAutofit/>
          </a:bodyPr>
          <a:lstStyle/>
          <a:p>
            <a:endParaRPr lang="en-US"/>
          </a:p>
        </p:txBody>
      </p:sp>
      <p:sp>
        <p:nvSpPr>
          <p:cNvPr id="612" name="Future 612"/>
          <p:cNvSpPr/>
          <p:nvPr/>
        </p:nvSpPr>
        <p:spPr>
          <a:xfrm>
            <a:off x="2839720" y="2504948"/>
            <a:ext cx="228600" cy="228600"/>
          </a:xfrm>
          <a:prstGeom prst="ellipse">
            <a:avLst/>
          </a:prstGeom>
          <a:solidFill>
            <a:srgbClr val="2DD4BF"/>
          </a:solidFill>
          <a:ln>
            <a:noFill/>
          </a:ln>
        </p:spPr>
        <p:txBody>
          <a:bodyPr wrap="square" lIns="0" tIns="0" rIns="0" bIns="0" anchor="t">
            <a:noAutofit/>
          </a:bodyPr>
          <a:lstStyle/>
          <a:p>
            <a:endParaRPr lang="en-US"/>
          </a:p>
        </p:txBody>
      </p:sp>
      <p:sp>
        <p:nvSpPr>
          <p:cNvPr id="613" name="Future 613"/>
          <p:cNvSpPr/>
          <p:nvPr/>
        </p:nvSpPr>
        <p:spPr>
          <a:xfrm>
            <a:off x="3430905" y="1965452"/>
            <a:ext cx="228600" cy="228600"/>
          </a:xfrm>
          <a:prstGeom prst="ellipse">
            <a:avLst/>
          </a:prstGeom>
          <a:solidFill>
            <a:srgbClr val="2DD4BF"/>
          </a:solidFill>
          <a:ln>
            <a:noFill/>
          </a:ln>
        </p:spPr>
        <p:txBody>
          <a:bodyPr wrap="square" lIns="0" tIns="0" rIns="0" bIns="0" anchor="t">
            <a:noAutofit/>
          </a:bodyPr>
          <a:lstStyle/>
          <a:p>
            <a:endParaRPr lang="en-US"/>
          </a:p>
        </p:txBody>
      </p:sp>
      <p:sp>
        <p:nvSpPr>
          <p:cNvPr id="614" name="Future 614"/>
          <p:cNvSpPr txBox="1"/>
          <p:nvPr/>
        </p:nvSpPr>
        <p:spPr>
          <a:xfrm>
            <a:off x="838200" y="2844800"/>
            <a:ext cx="3111500" cy="177800"/>
          </a:xfrm>
          <a:prstGeom prst="rect">
            <a:avLst/>
          </a:prstGeom>
          <a:noFill/>
        </p:spPr>
        <p:txBody>
          <a:bodyPr wrap="square" lIns="0" tIns="0" rIns="0" bIns="0" anchor="t">
            <a:noAutofit/>
          </a:bodyPr>
          <a:lstStyle/>
          <a:p>
            <a:pPr algn="ctr"/>
            <a:r>
              <a:rPr lang="en-US" sz="1100" b="0" dirty="0">
                <a:solidFill>
                  <a:srgbClr val="B8C2D3"/>
                </a:solidFill>
                <a:latin typeface="Segoe UI"/>
              </a:rPr>
              <a:t>multi-hop path across entities</a:t>
            </a:r>
          </a:p>
        </p:txBody>
      </p:sp>
      <p:sp>
        <p:nvSpPr>
          <p:cNvPr id="615" name="Future 615"/>
          <p:cNvSpPr txBox="1"/>
          <p:nvPr/>
        </p:nvSpPr>
        <p:spPr>
          <a:xfrm>
            <a:off x="838200" y="3302000"/>
            <a:ext cx="3111500" cy="177800"/>
          </a:xfrm>
          <a:prstGeom prst="rect">
            <a:avLst/>
          </a:prstGeom>
          <a:noFill/>
        </p:spPr>
        <p:txBody>
          <a:bodyPr wrap="square" lIns="0" tIns="0" rIns="0" bIns="0" anchor="t">
            <a:noAutofit/>
          </a:bodyPr>
          <a:lstStyle/>
          <a:p>
            <a:pPr algn="l"/>
            <a:r>
              <a:rPr lang="en-US" sz="1100" b="1" dirty="0">
                <a:solidFill>
                  <a:srgbClr val="2DD4BF"/>
                </a:solidFill>
                <a:latin typeface="Segoe UI"/>
              </a:rPr>
              <a:t>01</a:t>
            </a:r>
          </a:p>
        </p:txBody>
      </p:sp>
      <p:sp>
        <p:nvSpPr>
          <p:cNvPr id="616" name="Future 616"/>
          <p:cNvSpPr txBox="1"/>
          <p:nvPr/>
        </p:nvSpPr>
        <p:spPr>
          <a:xfrm>
            <a:off x="838200" y="3530600"/>
            <a:ext cx="3111500" cy="330200"/>
          </a:xfrm>
          <a:prstGeom prst="rect">
            <a:avLst/>
          </a:prstGeom>
          <a:noFill/>
        </p:spPr>
        <p:txBody>
          <a:bodyPr wrap="square" lIns="0" tIns="0" rIns="0" bIns="0" anchor="t">
            <a:noAutofit/>
          </a:bodyPr>
          <a:lstStyle/>
          <a:p>
            <a:pPr algn="l"/>
            <a:r>
              <a:rPr lang="en-US" sz="1800" b="1" dirty="0">
                <a:solidFill>
                  <a:srgbClr val="F1F5F9"/>
                </a:solidFill>
                <a:latin typeface="Segoe UI"/>
              </a:rPr>
              <a:t>GraphRAG</a:t>
            </a:r>
          </a:p>
        </p:txBody>
      </p:sp>
      <p:sp>
        <p:nvSpPr>
          <p:cNvPr id="617" name="Future 617"/>
          <p:cNvSpPr txBox="1"/>
          <p:nvPr/>
        </p:nvSpPr>
        <p:spPr>
          <a:xfrm>
            <a:off x="838200" y="3937000"/>
            <a:ext cx="3111500" cy="1092200"/>
          </a:xfrm>
          <a:prstGeom prst="rect">
            <a:avLst/>
          </a:prstGeom>
          <a:noFill/>
        </p:spPr>
        <p:txBody>
          <a:bodyPr wrap="square" lIns="0" tIns="0" rIns="0" bIns="0" anchor="t">
            <a:noAutofit/>
          </a:bodyPr>
          <a:lstStyle/>
          <a:p>
            <a:pPr algn="l"/>
            <a:r>
              <a:rPr lang="en-US" sz="1400" b="0" dirty="0">
                <a:solidFill>
                  <a:srgbClr val="E2E8F0"/>
                </a:solidFill>
                <a:latin typeface="Segoe UI"/>
              </a:rPr>
              <a:t>Retrieval over a knowledge graph of entities and relationships — structured, multi-hop retrieval.</a:t>
            </a:r>
          </a:p>
        </p:txBody>
      </p:sp>
      <p:sp>
        <p:nvSpPr>
          <p:cNvPr id="618" name="Future 618"/>
          <p:cNvSpPr/>
          <p:nvPr/>
        </p:nvSpPr>
        <p:spPr>
          <a:xfrm>
            <a:off x="838200" y="5080000"/>
            <a:ext cx="3111500" cy="12700"/>
          </a:xfrm>
          <a:prstGeom prst="rect">
            <a:avLst/>
          </a:prstGeom>
          <a:solidFill>
            <a:srgbClr val="2A3650"/>
          </a:solidFill>
          <a:ln>
            <a:noFill/>
          </a:ln>
        </p:spPr>
        <p:txBody>
          <a:bodyPr wrap="square" lIns="0" tIns="0" rIns="0" bIns="0" anchor="t">
            <a:noAutofit/>
          </a:bodyPr>
          <a:lstStyle/>
          <a:p>
            <a:endParaRPr lang="en-US"/>
          </a:p>
        </p:txBody>
      </p:sp>
      <p:sp>
        <p:nvSpPr>
          <p:cNvPr id="619" name="Future 619"/>
          <p:cNvSpPr txBox="1"/>
          <p:nvPr/>
        </p:nvSpPr>
        <p:spPr>
          <a:xfrm>
            <a:off x="838200" y="5207000"/>
            <a:ext cx="3111500" cy="177800"/>
          </a:xfrm>
          <a:prstGeom prst="rect">
            <a:avLst/>
          </a:prstGeom>
          <a:noFill/>
        </p:spPr>
        <p:txBody>
          <a:bodyPr wrap="square" lIns="0" tIns="0" rIns="0" bIns="0" anchor="t">
            <a:noAutofit/>
          </a:bodyPr>
          <a:lstStyle/>
          <a:p>
            <a:pPr algn="l"/>
            <a:r>
              <a:rPr lang="en-US" sz="1000" b="1" dirty="0">
                <a:solidFill>
                  <a:srgbClr val="2DD4BF"/>
                </a:solidFill>
                <a:latin typeface="Segoe UI"/>
              </a:rPr>
              <a:t>EXAMPLE QUESTION</a:t>
            </a:r>
          </a:p>
        </p:txBody>
      </p:sp>
      <p:sp>
        <p:nvSpPr>
          <p:cNvPr id="620" name="Future 620"/>
          <p:cNvSpPr txBox="1"/>
          <p:nvPr/>
        </p:nvSpPr>
        <p:spPr>
          <a:xfrm>
            <a:off x="838200" y="5435600"/>
            <a:ext cx="3111500" cy="762000"/>
          </a:xfrm>
          <a:prstGeom prst="rect">
            <a:avLst/>
          </a:prstGeom>
          <a:noFill/>
        </p:spPr>
        <p:txBody>
          <a:bodyPr wrap="square" lIns="0" tIns="0" rIns="0" bIns="0" anchor="t">
            <a:noAutofit/>
          </a:bodyPr>
          <a:lstStyle/>
          <a:p>
            <a:pPr algn="l"/>
            <a:r>
              <a:rPr lang="en-US" sz="1400" b="0" i="1" dirty="0">
                <a:solidFill>
                  <a:srgbClr val="B8C2D3"/>
                </a:solidFill>
                <a:latin typeface="Segoe UI"/>
              </a:rPr>
              <a:t>“Which suppliers are linked to projects that missed their deadlines?”</a:t>
            </a:r>
          </a:p>
        </p:txBody>
      </p:sp>
      <p:sp>
        <p:nvSpPr>
          <p:cNvPr id="621" name="Future 621"/>
          <p:cNvSpPr/>
          <p:nvPr/>
        </p:nvSpPr>
        <p:spPr>
          <a:xfrm>
            <a:off x="4330700" y="1397000"/>
            <a:ext cx="3517900" cy="4978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22" name="Future 622"/>
          <p:cNvSpPr/>
          <p:nvPr/>
        </p:nvSpPr>
        <p:spPr>
          <a:xfrm>
            <a:off x="4533900" y="1600200"/>
            <a:ext cx="3111500" cy="14986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623" name="Future 623"/>
          <p:cNvSpPr/>
          <p:nvPr/>
        </p:nvSpPr>
        <p:spPr>
          <a:xfrm>
            <a:off x="4686300" y="1930400"/>
            <a:ext cx="812800" cy="3302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Reason</a:t>
            </a:r>
          </a:p>
        </p:txBody>
      </p:sp>
      <p:sp>
        <p:nvSpPr>
          <p:cNvPr id="624" name="Future 624"/>
          <p:cNvSpPr/>
          <p:nvPr/>
        </p:nvSpPr>
        <p:spPr>
          <a:xfrm>
            <a:off x="5683250" y="1930400"/>
            <a:ext cx="812800" cy="330200"/>
          </a:xfrm>
          <a:prstGeom prst="roundRect">
            <a:avLst>
              <a:gd name="adj" fmla="val 50000"/>
            </a:avLst>
          </a:prstGeom>
          <a:solidFill>
            <a:srgbClr val="2DD4BF"/>
          </a:solidFill>
          <a:ln>
            <a:noFill/>
          </a:ln>
        </p:spPr>
        <p:txBody>
          <a:bodyPr wrap="square" lIns="0" tIns="0" rIns="0" bIns="0" anchor="ctr">
            <a:noAutofit/>
          </a:bodyPr>
          <a:lstStyle/>
          <a:p>
            <a:pPr algn="ctr"/>
            <a:r>
              <a:rPr lang="en-US" sz="1050" b="1" dirty="0">
                <a:solidFill>
                  <a:srgbClr val="0A0F1E"/>
                </a:solidFill>
                <a:latin typeface="Segoe UI"/>
              </a:rPr>
              <a:t>Retrieve</a:t>
            </a:r>
          </a:p>
        </p:txBody>
      </p:sp>
      <p:sp>
        <p:nvSpPr>
          <p:cNvPr id="625" name="Future 625"/>
          <p:cNvSpPr/>
          <p:nvPr/>
        </p:nvSpPr>
        <p:spPr>
          <a:xfrm>
            <a:off x="6680200" y="1930400"/>
            <a:ext cx="812800" cy="3302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Check</a:t>
            </a:r>
          </a:p>
        </p:txBody>
      </p:sp>
      <p:sp>
        <p:nvSpPr>
          <p:cNvPr id="626" name="Future 626"/>
          <p:cNvSpPr/>
          <p:nvPr/>
        </p:nvSpPr>
        <p:spPr>
          <a:xfrm>
            <a:off x="5524500" y="2095500"/>
            <a:ext cx="133350" cy="127"/>
          </a:xfrm>
          <a:prstGeom prst="line">
            <a:avLst/>
          </a:prstGeom>
          <a:noFill/>
          <a:ln w="15875">
            <a:solidFill>
              <a:srgbClr val="475569"/>
            </a:solidFill>
            <a:tailEnd type="triangle" w="med" len="med"/>
          </a:ln>
        </p:spPr>
        <p:txBody>
          <a:bodyPr wrap="square" lIns="0" tIns="0" rIns="0" bIns="0" anchor="t">
            <a:noAutofit/>
          </a:bodyPr>
          <a:lstStyle/>
          <a:p>
            <a:endParaRPr lang="en-US"/>
          </a:p>
        </p:txBody>
      </p:sp>
      <p:sp>
        <p:nvSpPr>
          <p:cNvPr id="627" name="Future 627"/>
          <p:cNvSpPr/>
          <p:nvPr/>
        </p:nvSpPr>
        <p:spPr>
          <a:xfrm>
            <a:off x="6521450" y="2095500"/>
            <a:ext cx="133350" cy="127"/>
          </a:xfrm>
          <a:prstGeom prst="line">
            <a:avLst/>
          </a:prstGeom>
          <a:noFill/>
          <a:ln w="15875">
            <a:solidFill>
              <a:srgbClr val="475569"/>
            </a:solidFill>
            <a:tailEnd type="triangle" w="med" len="med"/>
          </a:ln>
        </p:spPr>
        <p:txBody>
          <a:bodyPr wrap="square" lIns="0" tIns="0" rIns="0" bIns="0" anchor="t">
            <a:noAutofit/>
          </a:bodyPr>
          <a:lstStyle/>
          <a:p>
            <a:endParaRPr lang="en-US"/>
          </a:p>
        </p:txBody>
      </p:sp>
      <p:sp>
        <p:nvSpPr>
          <p:cNvPr id="628" name="Future 628"/>
          <p:cNvSpPr/>
          <p:nvPr/>
        </p:nvSpPr>
        <p:spPr>
          <a:xfrm>
            <a:off x="7086600" y="2260600"/>
            <a:ext cx="127" cy="279400"/>
          </a:xfrm>
          <a:prstGeom prst="line">
            <a:avLst/>
          </a:prstGeom>
          <a:noFill/>
          <a:ln w="15875">
            <a:solidFill>
              <a:srgbClr val="2DD4BF"/>
            </a:solidFill>
          </a:ln>
        </p:spPr>
        <p:txBody>
          <a:bodyPr wrap="square" lIns="0" tIns="0" rIns="0" bIns="0" anchor="t">
            <a:noAutofit/>
          </a:bodyPr>
          <a:lstStyle/>
          <a:p>
            <a:endParaRPr lang="en-US"/>
          </a:p>
        </p:txBody>
      </p:sp>
      <p:sp>
        <p:nvSpPr>
          <p:cNvPr id="629" name="Future 629"/>
          <p:cNvSpPr/>
          <p:nvPr/>
        </p:nvSpPr>
        <p:spPr>
          <a:xfrm>
            <a:off x="5092700" y="2540000"/>
            <a:ext cx="1993900" cy="127"/>
          </a:xfrm>
          <a:prstGeom prst="line">
            <a:avLst/>
          </a:prstGeom>
          <a:noFill/>
          <a:ln w="15875">
            <a:solidFill>
              <a:srgbClr val="2DD4BF"/>
            </a:solidFill>
          </a:ln>
        </p:spPr>
        <p:txBody>
          <a:bodyPr wrap="square" lIns="0" tIns="0" rIns="0" bIns="0" anchor="t">
            <a:noAutofit/>
          </a:bodyPr>
          <a:lstStyle/>
          <a:p>
            <a:endParaRPr lang="en-US"/>
          </a:p>
        </p:txBody>
      </p:sp>
      <p:sp>
        <p:nvSpPr>
          <p:cNvPr id="630" name="Future 630"/>
          <p:cNvSpPr/>
          <p:nvPr/>
        </p:nvSpPr>
        <p:spPr>
          <a:xfrm>
            <a:off x="5092700" y="2286000"/>
            <a:ext cx="127" cy="254000"/>
          </a:xfrm>
          <a:prstGeom prst="line">
            <a:avLst/>
          </a:prstGeom>
          <a:noFill/>
          <a:ln w="15875">
            <a:solidFill>
              <a:srgbClr val="2DD4BF"/>
            </a:solidFill>
            <a:tailEnd type="triangle" w="med" len="med"/>
          </a:ln>
        </p:spPr>
        <p:txBody>
          <a:bodyPr wrap="square" lIns="0" tIns="0" rIns="0" bIns="0" anchor="t">
            <a:noAutofit/>
          </a:bodyPr>
          <a:lstStyle/>
          <a:p>
            <a:endParaRPr lang="en-US"/>
          </a:p>
        </p:txBody>
      </p:sp>
      <p:sp>
        <p:nvSpPr>
          <p:cNvPr id="631" name="Future 631"/>
          <p:cNvSpPr txBox="1"/>
          <p:nvPr/>
        </p:nvSpPr>
        <p:spPr>
          <a:xfrm>
            <a:off x="4533900" y="2616200"/>
            <a:ext cx="3111500" cy="177800"/>
          </a:xfrm>
          <a:prstGeom prst="rect">
            <a:avLst/>
          </a:prstGeom>
          <a:noFill/>
        </p:spPr>
        <p:txBody>
          <a:bodyPr wrap="square" lIns="0" tIns="0" rIns="0" bIns="0" anchor="t">
            <a:noAutofit/>
          </a:bodyPr>
          <a:lstStyle/>
          <a:p>
            <a:pPr algn="ctr"/>
            <a:r>
              <a:rPr lang="en-US" sz="1100" b="0" dirty="0">
                <a:solidFill>
                  <a:srgbClr val="B8C2D3"/>
                </a:solidFill>
                <a:latin typeface="Segoe UI"/>
              </a:rPr>
              <a:t>loops until the answer is supported</a:t>
            </a:r>
          </a:p>
        </p:txBody>
      </p:sp>
      <p:sp>
        <p:nvSpPr>
          <p:cNvPr id="632" name="Future 632"/>
          <p:cNvSpPr txBox="1"/>
          <p:nvPr/>
        </p:nvSpPr>
        <p:spPr>
          <a:xfrm>
            <a:off x="4533900" y="3302000"/>
            <a:ext cx="3111500" cy="177800"/>
          </a:xfrm>
          <a:prstGeom prst="rect">
            <a:avLst/>
          </a:prstGeom>
          <a:noFill/>
        </p:spPr>
        <p:txBody>
          <a:bodyPr wrap="square" lIns="0" tIns="0" rIns="0" bIns="0" anchor="t">
            <a:noAutofit/>
          </a:bodyPr>
          <a:lstStyle/>
          <a:p>
            <a:pPr algn="l"/>
            <a:r>
              <a:rPr lang="en-US" sz="1100" b="1" dirty="0">
                <a:solidFill>
                  <a:srgbClr val="2DD4BF"/>
                </a:solidFill>
                <a:latin typeface="Segoe UI"/>
              </a:rPr>
              <a:t>02</a:t>
            </a:r>
          </a:p>
        </p:txBody>
      </p:sp>
      <p:sp>
        <p:nvSpPr>
          <p:cNvPr id="633" name="Future 633"/>
          <p:cNvSpPr txBox="1"/>
          <p:nvPr/>
        </p:nvSpPr>
        <p:spPr>
          <a:xfrm>
            <a:off x="4533900" y="3530600"/>
            <a:ext cx="3111500" cy="330200"/>
          </a:xfrm>
          <a:prstGeom prst="rect">
            <a:avLst/>
          </a:prstGeom>
          <a:noFill/>
        </p:spPr>
        <p:txBody>
          <a:bodyPr wrap="square" lIns="0" tIns="0" rIns="0" bIns="0" anchor="t">
            <a:noAutofit/>
          </a:bodyPr>
          <a:lstStyle/>
          <a:p>
            <a:pPr algn="l"/>
            <a:r>
              <a:rPr lang="en-US" sz="1800" b="1" dirty="0">
                <a:solidFill>
                  <a:srgbClr val="F1F5F9"/>
                </a:solidFill>
                <a:latin typeface="Segoe UI"/>
              </a:rPr>
              <a:t>Agentic RAG</a:t>
            </a:r>
          </a:p>
        </p:txBody>
      </p:sp>
      <p:sp>
        <p:nvSpPr>
          <p:cNvPr id="634" name="Future 634"/>
          <p:cNvSpPr txBox="1"/>
          <p:nvPr/>
        </p:nvSpPr>
        <p:spPr>
          <a:xfrm>
            <a:off x="4533900" y="3937000"/>
            <a:ext cx="3111500" cy="1092200"/>
          </a:xfrm>
          <a:prstGeom prst="rect">
            <a:avLst/>
          </a:prstGeom>
          <a:noFill/>
        </p:spPr>
        <p:txBody>
          <a:bodyPr wrap="square" lIns="0" tIns="0" rIns="0" bIns="0" anchor="t">
            <a:noAutofit/>
          </a:bodyPr>
          <a:lstStyle/>
          <a:p>
            <a:pPr algn="l"/>
            <a:r>
              <a:rPr lang="en-US" sz="1400" b="0" dirty="0">
                <a:solidFill>
                  <a:srgbClr val="E2E8F0"/>
                </a:solidFill>
                <a:latin typeface="Segoe UI"/>
              </a:rPr>
              <a:t>Iterative retrieval with query reformulation and tool use — the system decides when to retrieve.</a:t>
            </a:r>
          </a:p>
        </p:txBody>
      </p:sp>
      <p:sp>
        <p:nvSpPr>
          <p:cNvPr id="635" name="Future 635"/>
          <p:cNvSpPr/>
          <p:nvPr/>
        </p:nvSpPr>
        <p:spPr>
          <a:xfrm>
            <a:off x="4533900" y="5080000"/>
            <a:ext cx="3111500" cy="12700"/>
          </a:xfrm>
          <a:prstGeom prst="rect">
            <a:avLst/>
          </a:prstGeom>
          <a:solidFill>
            <a:srgbClr val="2A3650"/>
          </a:solidFill>
          <a:ln>
            <a:noFill/>
          </a:ln>
        </p:spPr>
        <p:txBody>
          <a:bodyPr wrap="square" lIns="0" tIns="0" rIns="0" bIns="0" anchor="t">
            <a:noAutofit/>
          </a:bodyPr>
          <a:lstStyle/>
          <a:p>
            <a:endParaRPr lang="en-US"/>
          </a:p>
        </p:txBody>
      </p:sp>
      <p:sp>
        <p:nvSpPr>
          <p:cNvPr id="636" name="Future 636"/>
          <p:cNvSpPr txBox="1"/>
          <p:nvPr/>
        </p:nvSpPr>
        <p:spPr>
          <a:xfrm>
            <a:off x="4533900" y="5207000"/>
            <a:ext cx="3111500" cy="177800"/>
          </a:xfrm>
          <a:prstGeom prst="rect">
            <a:avLst/>
          </a:prstGeom>
          <a:noFill/>
        </p:spPr>
        <p:txBody>
          <a:bodyPr wrap="square" lIns="0" tIns="0" rIns="0" bIns="0" anchor="t">
            <a:noAutofit/>
          </a:bodyPr>
          <a:lstStyle/>
          <a:p>
            <a:pPr algn="l"/>
            <a:r>
              <a:rPr lang="en-US" sz="1000" b="1" dirty="0">
                <a:solidFill>
                  <a:srgbClr val="2DD4BF"/>
                </a:solidFill>
                <a:latin typeface="Segoe UI"/>
              </a:rPr>
              <a:t>EXAMPLE QUESTION</a:t>
            </a:r>
          </a:p>
        </p:txBody>
      </p:sp>
      <p:sp>
        <p:nvSpPr>
          <p:cNvPr id="637" name="Future 637"/>
          <p:cNvSpPr txBox="1"/>
          <p:nvPr/>
        </p:nvSpPr>
        <p:spPr>
          <a:xfrm>
            <a:off x="4533900" y="5435600"/>
            <a:ext cx="3111500" cy="762000"/>
          </a:xfrm>
          <a:prstGeom prst="rect">
            <a:avLst/>
          </a:prstGeom>
          <a:noFill/>
        </p:spPr>
        <p:txBody>
          <a:bodyPr wrap="square" lIns="0" tIns="0" rIns="0" bIns="0" anchor="t">
            <a:noAutofit/>
          </a:bodyPr>
          <a:lstStyle/>
          <a:p>
            <a:pPr algn="l"/>
            <a:r>
              <a:rPr lang="en-US" sz="1400" b="0" i="1" dirty="0">
                <a:solidFill>
                  <a:srgbClr val="B8C2D3"/>
                </a:solidFill>
                <a:latin typeface="Segoe UI"/>
              </a:rPr>
              <a:t>“Compare our leave policy with the 2026 update and flag any conflicts.”</a:t>
            </a:r>
          </a:p>
        </p:txBody>
      </p:sp>
      <p:sp>
        <p:nvSpPr>
          <p:cNvPr id="638" name="Future 638"/>
          <p:cNvSpPr/>
          <p:nvPr/>
        </p:nvSpPr>
        <p:spPr>
          <a:xfrm>
            <a:off x="8026400" y="1397000"/>
            <a:ext cx="3517900" cy="4978400"/>
          </a:xfrm>
          <a:prstGeom prst="roundRect">
            <a:avLst>
              <a:gd name="adj" fmla="val 5000"/>
            </a:avLst>
          </a:prstGeom>
          <a:solidFill>
            <a:srgbClr val="131C31"/>
          </a:solidFill>
          <a:ln w="12700">
            <a:solidFill>
              <a:srgbClr val="243049"/>
            </a:solidFill>
          </a:ln>
        </p:spPr>
        <p:txBody>
          <a:bodyPr wrap="square" lIns="0" tIns="0" rIns="0" bIns="0" anchor="t">
            <a:noAutofit/>
          </a:bodyPr>
          <a:lstStyle/>
          <a:p>
            <a:endParaRPr lang="en-US"/>
          </a:p>
        </p:txBody>
      </p:sp>
      <p:sp>
        <p:nvSpPr>
          <p:cNvPr id="639" name="Future 639"/>
          <p:cNvSpPr/>
          <p:nvPr/>
        </p:nvSpPr>
        <p:spPr>
          <a:xfrm>
            <a:off x="8229600" y="1600200"/>
            <a:ext cx="3111500" cy="1498600"/>
          </a:xfrm>
          <a:prstGeom prst="roundRect">
            <a:avLst>
              <a:gd name="adj" fmla="val 8000"/>
            </a:avLst>
          </a:prstGeom>
          <a:solidFill>
            <a:srgbClr val="0B1222"/>
          </a:solidFill>
          <a:ln w="12700">
            <a:solidFill>
              <a:srgbClr val="1E293B"/>
            </a:solidFill>
          </a:ln>
        </p:spPr>
        <p:txBody>
          <a:bodyPr wrap="square" lIns="0" tIns="0" rIns="0" bIns="0" anchor="t">
            <a:noAutofit/>
          </a:bodyPr>
          <a:lstStyle/>
          <a:p>
            <a:endParaRPr lang="en-US"/>
          </a:p>
        </p:txBody>
      </p:sp>
      <p:sp>
        <p:nvSpPr>
          <p:cNvPr id="640" name="Future 640"/>
          <p:cNvSpPr/>
          <p:nvPr/>
        </p:nvSpPr>
        <p:spPr>
          <a:xfrm>
            <a:off x="8382000" y="1828800"/>
            <a:ext cx="609600" cy="2794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Text</a:t>
            </a:r>
          </a:p>
        </p:txBody>
      </p:sp>
      <p:sp>
        <p:nvSpPr>
          <p:cNvPr id="641" name="Future 641"/>
          <p:cNvSpPr/>
          <p:nvPr/>
        </p:nvSpPr>
        <p:spPr>
          <a:xfrm>
            <a:off x="8686800" y="2108200"/>
            <a:ext cx="1098550" cy="406400"/>
          </a:xfrm>
          <a:prstGeom prst="line">
            <a:avLst/>
          </a:prstGeom>
          <a:noFill/>
          <a:ln w="15875">
            <a:solidFill>
              <a:srgbClr val="334155"/>
            </a:solidFill>
          </a:ln>
        </p:spPr>
        <p:txBody>
          <a:bodyPr wrap="square" lIns="0" tIns="0" rIns="0" bIns="0" anchor="t">
            <a:noAutofit/>
          </a:bodyPr>
          <a:lstStyle/>
          <a:p>
            <a:endParaRPr lang="en-US"/>
          </a:p>
        </p:txBody>
      </p:sp>
      <p:sp>
        <p:nvSpPr>
          <p:cNvPr id="642" name="Future 642"/>
          <p:cNvSpPr/>
          <p:nvPr/>
        </p:nvSpPr>
        <p:spPr>
          <a:xfrm>
            <a:off x="9114367" y="1828800"/>
            <a:ext cx="609600" cy="2794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Image</a:t>
            </a:r>
          </a:p>
        </p:txBody>
      </p:sp>
      <p:sp>
        <p:nvSpPr>
          <p:cNvPr id="643" name="Future 643"/>
          <p:cNvSpPr/>
          <p:nvPr/>
        </p:nvSpPr>
        <p:spPr>
          <a:xfrm>
            <a:off x="9419167" y="2108200"/>
            <a:ext cx="366183" cy="406400"/>
          </a:xfrm>
          <a:prstGeom prst="line">
            <a:avLst/>
          </a:prstGeom>
          <a:noFill/>
          <a:ln w="15875">
            <a:solidFill>
              <a:srgbClr val="334155"/>
            </a:solidFill>
          </a:ln>
        </p:spPr>
        <p:txBody>
          <a:bodyPr wrap="square" lIns="0" tIns="0" rIns="0" bIns="0" anchor="t">
            <a:noAutofit/>
          </a:bodyPr>
          <a:lstStyle/>
          <a:p>
            <a:endParaRPr lang="en-US"/>
          </a:p>
        </p:txBody>
      </p:sp>
      <p:sp>
        <p:nvSpPr>
          <p:cNvPr id="644" name="Future 644"/>
          <p:cNvSpPr/>
          <p:nvPr/>
        </p:nvSpPr>
        <p:spPr>
          <a:xfrm>
            <a:off x="9846733" y="1828800"/>
            <a:ext cx="609600" cy="2794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Audio</a:t>
            </a:r>
          </a:p>
        </p:txBody>
      </p:sp>
      <p:sp>
        <p:nvSpPr>
          <p:cNvPr id="645" name="Future 645"/>
          <p:cNvSpPr/>
          <p:nvPr/>
        </p:nvSpPr>
        <p:spPr>
          <a:xfrm flipV="1">
            <a:off x="9785350" y="2108200"/>
            <a:ext cx="366183" cy="406400"/>
          </a:xfrm>
          <a:prstGeom prst="line">
            <a:avLst/>
          </a:prstGeom>
          <a:noFill/>
          <a:ln w="15875">
            <a:solidFill>
              <a:srgbClr val="334155"/>
            </a:solidFill>
          </a:ln>
        </p:spPr>
        <p:txBody>
          <a:bodyPr wrap="square" lIns="0" tIns="0" rIns="0" bIns="0" anchor="t">
            <a:noAutofit/>
          </a:bodyPr>
          <a:lstStyle/>
          <a:p>
            <a:endParaRPr lang="en-US"/>
          </a:p>
        </p:txBody>
      </p:sp>
      <p:sp>
        <p:nvSpPr>
          <p:cNvPr id="646" name="Future 646"/>
          <p:cNvSpPr/>
          <p:nvPr/>
        </p:nvSpPr>
        <p:spPr>
          <a:xfrm>
            <a:off x="10579100" y="1828800"/>
            <a:ext cx="609600" cy="279400"/>
          </a:xfrm>
          <a:prstGeom prst="roundRect">
            <a:avLst>
              <a:gd name="adj" fmla="val 50000"/>
            </a:avLst>
          </a:prstGeom>
          <a:solidFill>
            <a:srgbClr val="1E293B"/>
          </a:solidFill>
          <a:ln>
            <a:noFill/>
          </a:ln>
        </p:spPr>
        <p:txBody>
          <a:bodyPr wrap="square" lIns="0" tIns="0" rIns="0" bIns="0" anchor="ctr">
            <a:noAutofit/>
          </a:bodyPr>
          <a:lstStyle/>
          <a:p>
            <a:pPr algn="ctr"/>
            <a:r>
              <a:rPr lang="en-US" sz="1050" b="1" dirty="0">
                <a:solidFill>
                  <a:srgbClr val="E2E8F0"/>
                </a:solidFill>
                <a:latin typeface="Segoe UI"/>
              </a:rPr>
              <a:t>Video</a:t>
            </a:r>
          </a:p>
        </p:txBody>
      </p:sp>
      <p:sp>
        <p:nvSpPr>
          <p:cNvPr id="647" name="Future 647"/>
          <p:cNvSpPr/>
          <p:nvPr/>
        </p:nvSpPr>
        <p:spPr>
          <a:xfrm flipV="1">
            <a:off x="9785350" y="2108200"/>
            <a:ext cx="1098550" cy="406400"/>
          </a:xfrm>
          <a:prstGeom prst="line">
            <a:avLst/>
          </a:prstGeom>
          <a:noFill/>
          <a:ln w="15875">
            <a:solidFill>
              <a:srgbClr val="334155"/>
            </a:solidFill>
          </a:ln>
        </p:spPr>
        <p:txBody>
          <a:bodyPr wrap="square" lIns="0" tIns="0" rIns="0" bIns="0" anchor="t">
            <a:noAutofit/>
          </a:bodyPr>
          <a:lstStyle/>
          <a:p>
            <a:endParaRPr lang="en-US"/>
          </a:p>
        </p:txBody>
      </p:sp>
      <p:sp>
        <p:nvSpPr>
          <p:cNvPr id="648" name="Future 648"/>
          <p:cNvSpPr/>
          <p:nvPr/>
        </p:nvSpPr>
        <p:spPr>
          <a:xfrm>
            <a:off x="9048750" y="2540000"/>
            <a:ext cx="1473200" cy="279400"/>
          </a:xfrm>
          <a:prstGeom prst="roundRect">
            <a:avLst>
              <a:gd name="adj" fmla="val 50000"/>
            </a:avLst>
          </a:prstGeom>
          <a:solidFill>
            <a:srgbClr val="2DD4BF"/>
          </a:solidFill>
          <a:ln>
            <a:noFill/>
          </a:ln>
        </p:spPr>
        <p:txBody>
          <a:bodyPr wrap="square" lIns="0" tIns="0" rIns="0" bIns="0" anchor="ctr">
            <a:noAutofit/>
          </a:bodyPr>
          <a:lstStyle/>
          <a:p>
            <a:pPr algn="ctr"/>
            <a:r>
              <a:rPr lang="en-US" sz="1050" b="1" dirty="0">
                <a:solidFill>
                  <a:srgbClr val="0A0F1E"/>
                </a:solidFill>
                <a:latin typeface="Segoe UI"/>
              </a:rPr>
              <a:t>One shared index</a:t>
            </a:r>
          </a:p>
        </p:txBody>
      </p:sp>
      <p:sp>
        <p:nvSpPr>
          <p:cNvPr id="649" name="Future 649"/>
          <p:cNvSpPr txBox="1"/>
          <p:nvPr/>
        </p:nvSpPr>
        <p:spPr>
          <a:xfrm>
            <a:off x="8229600" y="2870200"/>
            <a:ext cx="3111500" cy="177800"/>
          </a:xfrm>
          <a:prstGeom prst="rect">
            <a:avLst/>
          </a:prstGeom>
          <a:noFill/>
        </p:spPr>
        <p:txBody>
          <a:bodyPr wrap="square" lIns="0" tIns="0" rIns="0" bIns="0" anchor="t">
            <a:noAutofit/>
          </a:bodyPr>
          <a:lstStyle/>
          <a:p>
            <a:pPr algn="ctr"/>
            <a:r>
              <a:rPr lang="en-US" sz="1100" b="0" dirty="0">
                <a:solidFill>
                  <a:srgbClr val="B8C2D3"/>
                </a:solidFill>
                <a:latin typeface="Segoe UI"/>
              </a:rPr>
              <a:t>every format searchable together</a:t>
            </a:r>
          </a:p>
        </p:txBody>
      </p:sp>
      <p:sp>
        <p:nvSpPr>
          <p:cNvPr id="650" name="Future 650"/>
          <p:cNvSpPr txBox="1"/>
          <p:nvPr/>
        </p:nvSpPr>
        <p:spPr>
          <a:xfrm>
            <a:off x="8229600" y="3302000"/>
            <a:ext cx="3111500" cy="177800"/>
          </a:xfrm>
          <a:prstGeom prst="rect">
            <a:avLst/>
          </a:prstGeom>
          <a:noFill/>
        </p:spPr>
        <p:txBody>
          <a:bodyPr wrap="square" lIns="0" tIns="0" rIns="0" bIns="0" anchor="t">
            <a:noAutofit/>
          </a:bodyPr>
          <a:lstStyle/>
          <a:p>
            <a:pPr algn="l"/>
            <a:r>
              <a:rPr lang="en-US" sz="1100" b="1" dirty="0">
                <a:solidFill>
                  <a:srgbClr val="2DD4BF"/>
                </a:solidFill>
                <a:latin typeface="Segoe UI"/>
              </a:rPr>
              <a:t>03</a:t>
            </a:r>
          </a:p>
        </p:txBody>
      </p:sp>
      <p:sp>
        <p:nvSpPr>
          <p:cNvPr id="651" name="Future 651"/>
          <p:cNvSpPr txBox="1"/>
          <p:nvPr/>
        </p:nvSpPr>
        <p:spPr>
          <a:xfrm>
            <a:off x="8229600" y="3530600"/>
            <a:ext cx="3111500" cy="330200"/>
          </a:xfrm>
          <a:prstGeom prst="rect">
            <a:avLst/>
          </a:prstGeom>
          <a:noFill/>
        </p:spPr>
        <p:txBody>
          <a:bodyPr wrap="square" lIns="0" tIns="0" rIns="0" bIns="0" anchor="t">
            <a:noAutofit/>
          </a:bodyPr>
          <a:lstStyle/>
          <a:p>
            <a:pPr algn="l"/>
            <a:r>
              <a:rPr lang="en-US" sz="1800" b="1" dirty="0">
                <a:solidFill>
                  <a:srgbClr val="F1F5F9"/>
                </a:solidFill>
                <a:latin typeface="Segoe UI"/>
              </a:rPr>
              <a:t>Multimodal RAG</a:t>
            </a:r>
          </a:p>
        </p:txBody>
      </p:sp>
      <p:sp>
        <p:nvSpPr>
          <p:cNvPr id="652" name="Future 652"/>
          <p:cNvSpPr txBox="1"/>
          <p:nvPr/>
        </p:nvSpPr>
        <p:spPr>
          <a:xfrm>
            <a:off x="8229600" y="3937000"/>
            <a:ext cx="3111500" cy="1092200"/>
          </a:xfrm>
          <a:prstGeom prst="rect">
            <a:avLst/>
          </a:prstGeom>
          <a:noFill/>
        </p:spPr>
        <p:txBody>
          <a:bodyPr wrap="square" lIns="0" tIns="0" rIns="0" bIns="0" anchor="t">
            <a:noAutofit/>
          </a:bodyPr>
          <a:lstStyle/>
          <a:p>
            <a:pPr algn="l"/>
            <a:r>
              <a:rPr lang="en-US" sz="1400" b="0" dirty="0">
                <a:solidFill>
                  <a:srgbClr val="E2E8F0"/>
                </a:solidFill>
                <a:latin typeface="Segoe UI"/>
              </a:rPr>
              <a:t>Retrieval and generation across text, images, audio and video — not just text.</a:t>
            </a:r>
          </a:p>
        </p:txBody>
      </p:sp>
      <p:sp>
        <p:nvSpPr>
          <p:cNvPr id="653" name="Future 653"/>
          <p:cNvSpPr/>
          <p:nvPr/>
        </p:nvSpPr>
        <p:spPr>
          <a:xfrm>
            <a:off x="8229600" y="5080000"/>
            <a:ext cx="3111500" cy="12700"/>
          </a:xfrm>
          <a:prstGeom prst="rect">
            <a:avLst/>
          </a:prstGeom>
          <a:solidFill>
            <a:srgbClr val="2A3650"/>
          </a:solidFill>
          <a:ln>
            <a:noFill/>
          </a:ln>
        </p:spPr>
        <p:txBody>
          <a:bodyPr wrap="square" lIns="0" tIns="0" rIns="0" bIns="0" anchor="t">
            <a:noAutofit/>
          </a:bodyPr>
          <a:lstStyle/>
          <a:p>
            <a:endParaRPr lang="en-US"/>
          </a:p>
        </p:txBody>
      </p:sp>
      <p:sp>
        <p:nvSpPr>
          <p:cNvPr id="654" name="Future 654"/>
          <p:cNvSpPr txBox="1"/>
          <p:nvPr/>
        </p:nvSpPr>
        <p:spPr>
          <a:xfrm>
            <a:off x="8229600" y="5207000"/>
            <a:ext cx="3111500" cy="177800"/>
          </a:xfrm>
          <a:prstGeom prst="rect">
            <a:avLst/>
          </a:prstGeom>
          <a:noFill/>
        </p:spPr>
        <p:txBody>
          <a:bodyPr wrap="square" lIns="0" tIns="0" rIns="0" bIns="0" anchor="t">
            <a:noAutofit/>
          </a:bodyPr>
          <a:lstStyle/>
          <a:p>
            <a:pPr algn="l"/>
            <a:r>
              <a:rPr lang="en-US" sz="1000" b="1" dirty="0">
                <a:solidFill>
                  <a:srgbClr val="2DD4BF"/>
                </a:solidFill>
                <a:latin typeface="Segoe UI"/>
              </a:rPr>
              <a:t>EXAMPLE QUESTION</a:t>
            </a:r>
          </a:p>
        </p:txBody>
      </p:sp>
      <p:sp>
        <p:nvSpPr>
          <p:cNvPr id="655" name="Future 655"/>
          <p:cNvSpPr txBox="1"/>
          <p:nvPr/>
        </p:nvSpPr>
        <p:spPr>
          <a:xfrm>
            <a:off x="8229600" y="5435600"/>
            <a:ext cx="3111500" cy="762000"/>
          </a:xfrm>
          <a:prstGeom prst="rect">
            <a:avLst/>
          </a:prstGeom>
          <a:noFill/>
        </p:spPr>
        <p:txBody>
          <a:bodyPr wrap="square" lIns="0" tIns="0" rIns="0" bIns="0" anchor="t">
            <a:noAutofit/>
          </a:bodyPr>
          <a:lstStyle/>
          <a:p>
            <a:pPr algn="l"/>
            <a:r>
              <a:rPr lang="en-US" sz="1400" b="0" i="1" dirty="0">
                <a:solidFill>
                  <a:srgbClr val="B8C2D3"/>
                </a:solidFill>
                <a:latin typeface="Segoe UI"/>
              </a:rPr>
              <a:t>“What does the architecture diagram in the design doc show?”</a:t>
            </a:r>
          </a:p>
        </p:txBody>
      </p:sp>
      <p:sp>
        <p:nvSpPr>
          <p:cNvPr id="21" name="TextBox 20"/>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22" name="TextBox 21"/>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51</a:t>
            </a:r>
          </a:p>
        </p:txBody>
      </p:sp>
    </p:spTree>
    <p:extLst>
      <p:ext uri="{BB962C8B-B14F-4D97-AF65-F5344CB8AC3E}">
        <p14:creationId xmlns:p14="http://schemas.microsoft.com/office/powerpoint/2010/main" val="34115326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A1458"/>
            </a:gs>
            <a:gs pos="50000">
              <a:srgbClr val="1C1034"/>
            </a:gs>
            <a:gs pos="100000">
              <a:srgbClr val="3A1240"/>
            </a:gs>
          </a:gsLst>
          <a:lin ang="1800000" scaled="0"/>
        </a:gradFill>
        <a:effectLst/>
      </p:bgPr>
    </p:bg>
    <p:spTree>
      <p:nvGrpSpPr>
        <p:cNvPr id="1" name=""/>
        <p:cNvGrpSpPr/>
        <p:nvPr/>
      </p:nvGrpSpPr>
      <p:grpSpPr>
        <a:xfrm>
          <a:off x="0" y="0"/>
          <a:ext cx="0" cy="0"/>
          <a:chOff x="0" y="0"/>
          <a:chExt cx="0" cy="0"/>
        </a:xfrm>
      </p:grpSpPr>
      <p:sp>
        <p:nvSpPr>
          <p:cNvPr id="700" name="Glow 700"/>
          <p:cNvSpPr/>
          <p:nvPr/>
        </p:nvSpPr>
        <p:spPr>
          <a:xfrm>
            <a:off x="-2794000" y="3048000"/>
            <a:ext cx="7112000" cy="5842000"/>
          </a:xfrm>
          <a:prstGeom prst="ellipse">
            <a:avLst/>
          </a:prstGeom>
          <a:gradFill>
            <a:gsLst>
              <a:gs pos="0">
                <a:srgbClr val="1E6A9A">
                  <a:alpha val="70000"/>
                </a:srgbClr>
              </a:gs>
              <a:gs pos="100000">
                <a:srgbClr val="1E6A9A">
                  <a:alpha val="0"/>
                </a:srgbClr>
              </a:gs>
            </a:gsLst>
            <a:path path="circle">
              <a:fillToRect l="50000" t="50000" r="50000" b="50000"/>
            </a:path>
          </a:gradFill>
          <a:ln>
            <a:noFill/>
          </a:ln>
          <a:effectLst>
            <a:softEdge rad="1524000"/>
          </a:effectLst>
        </p:spPr>
        <p:txBody>
          <a:bodyPr/>
          <a:lstStyle/>
          <a:p>
            <a:endParaRPr lang="en-US"/>
          </a:p>
        </p:txBody>
      </p:sp>
      <p:sp>
        <p:nvSpPr>
          <p:cNvPr id="701" name="Glow 701"/>
          <p:cNvSpPr/>
          <p:nvPr/>
        </p:nvSpPr>
        <p:spPr>
          <a:xfrm>
            <a:off x="7874000" y="-2032000"/>
            <a:ext cx="6604000" cy="5334000"/>
          </a:xfrm>
          <a:prstGeom prst="ellipse">
            <a:avLst/>
          </a:prstGeom>
          <a:gradFill>
            <a:gsLst>
              <a:gs pos="0">
                <a:srgbClr val="7A1F6A">
                  <a:alpha val="60000"/>
                </a:srgbClr>
              </a:gs>
              <a:gs pos="100000">
                <a:srgbClr val="7A1F6A">
                  <a:alpha val="0"/>
                </a:srgbClr>
              </a:gs>
            </a:gsLst>
            <a:path path="circle">
              <a:fillToRect l="50000" t="50000" r="50000" b="50000"/>
            </a:path>
          </a:gradFill>
          <a:ln>
            <a:noFill/>
          </a:ln>
          <a:effectLst>
            <a:softEdge rad="1524000"/>
          </a:effectLst>
        </p:spPr>
        <p:txBody>
          <a:bodyPr/>
          <a:lstStyle/>
          <a:p>
            <a:endParaRPr lang="en-US"/>
          </a:p>
        </p:txBody>
      </p:sp>
      <p:sp>
        <p:nvSpPr>
          <p:cNvPr id="702" name="Glow 702"/>
          <p:cNvSpPr/>
          <p:nvPr/>
        </p:nvSpPr>
        <p:spPr>
          <a:xfrm>
            <a:off x="2921000" y="1143000"/>
            <a:ext cx="6350000" cy="3810000"/>
          </a:xfrm>
          <a:prstGeom prst="ellipse">
            <a:avLst/>
          </a:prstGeom>
          <a:gradFill>
            <a:gsLst>
              <a:gs pos="0">
                <a:srgbClr val="5B2A9E">
                  <a:alpha val="45000"/>
                </a:srgbClr>
              </a:gs>
              <a:gs pos="100000">
                <a:srgbClr val="5B2A9E">
                  <a:alpha val="0"/>
                </a:srgbClr>
              </a:gs>
            </a:gsLst>
            <a:path path="circle">
              <a:fillToRect l="50000" t="50000" r="50000" b="50000"/>
            </a:path>
          </a:gradFill>
          <a:ln>
            <a:noFill/>
          </a:ln>
          <a:effectLst>
            <a:softEdge rad="1524000"/>
          </a:effectLst>
        </p:spPr>
        <p:txBody>
          <a:bodyPr/>
          <a:lstStyle/>
          <a:p>
            <a:endParaRPr lang="en-US"/>
          </a:p>
        </p:txBody>
      </p:sp>
      <p:sp>
        <p:nvSpPr>
          <p:cNvPr id="703" name="Game 703"/>
          <p:cNvSpPr txBox="1"/>
          <p:nvPr/>
        </p:nvSpPr>
        <p:spPr>
          <a:xfrm>
            <a:off x="1016000" y="1168400"/>
            <a:ext cx="10160000" cy="304800"/>
          </a:xfrm>
          <a:prstGeom prst="rect">
            <a:avLst/>
          </a:prstGeom>
          <a:noFill/>
        </p:spPr>
        <p:txBody>
          <a:bodyPr wrap="square" lIns="0" tIns="0" rIns="0" bIns="0" anchor="ctr">
            <a:noAutofit/>
          </a:bodyPr>
          <a:lstStyle/>
          <a:p>
            <a:pPr algn="ctr"/>
            <a:r>
              <a:rPr lang="en-US" sz="1400" b="1" spc="500" dirty="0">
                <a:solidFill>
                  <a:srgbClr val="FBBF24"/>
                </a:solidFill>
                <a:latin typeface="Segoe UI"/>
              </a:rPr>
              <a:t>TAAZAA X TALK · LIVE AUDIENCE GAME</a:t>
            </a:r>
          </a:p>
        </p:txBody>
      </p:sp>
      <p:sp>
        <p:nvSpPr>
          <p:cNvPr id="704" name="Game 704"/>
          <p:cNvSpPr txBox="1"/>
          <p:nvPr/>
        </p:nvSpPr>
        <p:spPr>
          <a:xfrm>
            <a:off x="762000" y="1574800"/>
            <a:ext cx="10668000" cy="2489200"/>
          </a:xfrm>
          <a:prstGeom prst="rect">
            <a:avLst/>
          </a:prstGeom>
          <a:noFill/>
        </p:spPr>
        <p:txBody>
          <a:bodyPr wrap="square" lIns="0" tIns="0" rIns="0" bIns="0" anchor="ctr">
            <a:noAutofit/>
          </a:bodyPr>
          <a:lstStyle/>
          <a:p>
            <a:pPr algn="ctr">
              <a:lnSpc>
                <a:spcPct val="85000"/>
              </a:lnSpc>
            </a:pPr>
            <a:r>
              <a:rPr lang="en-US" sz="8000" b="1" dirty="0">
                <a:gradFill>
                  <a:gsLst>
                    <a:gs pos="0">
                      <a:srgbClr val="F5B731"/>
                    </a:gs>
                    <a:gs pos="55000">
                      <a:srgbClr val="EC4899"/>
                    </a:gs>
                    <a:gs pos="100000">
                      <a:srgbClr val="8B5CF6"/>
                    </a:gs>
                  </a:gsLst>
                  <a:lin ang="0" scaled="0"/>
                </a:gradFill>
                <a:latin typeface="Segoe UI Black"/>
              </a:rPr>
              <a:t>RAG QUIZ</a:t>
            </a:r>
          </a:p>
          <a:p>
            <a:pPr algn="ctr">
              <a:lnSpc>
                <a:spcPct val="85000"/>
              </a:lnSpc>
            </a:pPr>
            <a:r>
              <a:rPr lang="en-US" sz="8000" b="1" dirty="0">
                <a:gradFill>
                  <a:gsLst>
                    <a:gs pos="0">
                      <a:srgbClr val="F5B731"/>
                    </a:gs>
                    <a:gs pos="55000">
                      <a:srgbClr val="EC4899"/>
                    </a:gs>
                    <a:gs pos="100000">
                      <a:srgbClr val="8B5CF6"/>
                    </a:gs>
                  </a:gsLst>
                  <a:lin ang="0" scaled="0"/>
                </a:gradFill>
                <a:latin typeface="Segoe UI Black"/>
              </a:rPr>
              <a:t>CHALLENGE</a:t>
            </a:r>
          </a:p>
        </p:txBody>
      </p:sp>
      <p:sp>
        <p:nvSpPr>
          <p:cNvPr id="705" name="Game 705"/>
          <p:cNvSpPr txBox="1"/>
          <p:nvPr/>
        </p:nvSpPr>
        <p:spPr>
          <a:xfrm>
            <a:off x="1016000" y="4191000"/>
            <a:ext cx="10160000" cy="381000"/>
          </a:xfrm>
          <a:prstGeom prst="rect">
            <a:avLst/>
          </a:prstGeom>
          <a:noFill/>
        </p:spPr>
        <p:txBody>
          <a:bodyPr wrap="square" lIns="0" tIns="0" rIns="0" bIns="0" anchor="ctr">
            <a:noAutofit/>
          </a:bodyPr>
          <a:lstStyle/>
          <a:p>
            <a:pPr algn="ctr"/>
            <a:r>
              <a:rPr lang="en-US" sz="2000" dirty="0">
                <a:solidFill>
                  <a:srgbClr val="E4DCF5"/>
                </a:solidFill>
                <a:latin typeface="Segoe UI"/>
              </a:rPr>
              <a:t>Let's see who was actually paying attention</a:t>
            </a:r>
          </a:p>
        </p:txBody>
      </p:sp>
      <p:sp>
        <p:nvSpPr>
          <p:cNvPr id="706" name="Game 706"/>
          <p:cNvSpPr txBox="1"/>
          <p:nvPr/>
        </p:nvSpPr>
        <p:spPr>
          <a:xfrm>
            <a:off x="1016000" y="4673600"/>
            <a:ext cx="10160000" cy="457200"/>
          </a:xfrm>
          <a:prstGeom prst="rect">
            <a:avLst/>
          </a:prstGeom>
          <a:noFill/>
        </p:spPr>
        <p:txBody>
          <a:bodyPr wrap="square" lIns="0" tIns="0" rIns="0" bIns="0" anchor="ctr">
            <a:noAutofit/>
          </a:bodyPr>
          <a:lstStyle/>
          <a:p>
            <a:pPr algn="ctr"/>
            <a:r>
              <a:rPr lang="en-US" sz="2400" b="1" dirty="0">
                <a:solidFill>
                  <a:srgbClr val="FFFFFF"/>
                </a:solidFill>
                <a:latin typeface="Segoe UI"/>
              </a:rPr>
              <a:t>Answer right, walk away with a protein bar!</a:t>
            </a:r>
          </a:p>
        </p:txBody>
      </p:sp>
      <p:sp>
        <p:nvSpPr>
          <p:cNvPr id="707" name="Game 707"/>
          <p:cNvSpPr/>
          <p:nvPr/>
        </p:nvSpPr>
        <p:spPr>
          <a:xfrm>
            <a:off x="4635500" y="5384800"/>
            <a:ext cx="2921000" cy="736600"/>
          </a:xfrm>
          <a:prstGeom prst="roundRect">
            <a:avLst>
              <a:gd name="adj" fmla="val 22000"/>
            </a:avLst>
          </a:prstGeom>
          <a:gradFill>
            <a:gsLst>
              <a:gs pos="0">
                <a:srgbClr val="FBBF24"/>
              </a:gs>
              <a:gs pos="100000">
                <a:srgbClr val="FB923C"/>
              </a:gs>
            </a:gsLst>
            <a:lin ang="0" scaled="0"/>
          </a:gradFill>
          <a:ln>
            <a:noFill/>
          </a:ln>
          <a:effectLst>
            <a:outerShdw blurRad="304800" dist="38100" dir="5400000" algn="t" rotWithShape="0">
              <a:srgbClr val="FBBF24">
                <a:alpha val="45000"/>
              </a:srgbClr>
            </a:outerShdw>
          </a:effectLst>
        </p:spPr>
        <p:txBody>
          <a:bodyPr wrap="square" lIns="0" tIns="0" rIns="0" bIns="0" anchor="ctr">
            <a:noAutofit/>
          </a:bodyPr>
          <a:lstStyle/>
          <a:p>
            <a:pPr algn="ctr"/>
            <a:r>
              <a:rPr lang="en-US" sz="2200" b="1" spc="200" dirty="0">
                <a:solidFill>
                  <a:srgbClr val="0A0F1E"/>
                </a:solidFill>
                <a:latin typeface="Segoe UI Black"/>
              </a:rPr>
              <a:t>START GAME</a:t>
            </a:r>
          </a:p>
        </p:txBody>
      </p:sp>
      <p:sp>
        <p:nvSpPr>
          <p:cNvPr id="6" name="TextBox 5"/>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7" name="TextBox 6"/>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54</a:t>
            </a:r>
          </a:p>
        </p:txBody>
      </p:sp>
    </p:spTree>
    <p:extLst>
      <p:ext uri="{BB962C8B-B14F-4D97-AF65-F5344CB8AC3E}">
        <p14:creationId xmlns:p14="http://schemas.microsoft.com/office/powerpoint/2010/main" val="3663222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8FF36EDB-2F7A-8D02-C1D9-C052852CC62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837AB8FA-5397-D437-E2F3-4EC9CCC2A29E}"/>
              </a:ext>
            </a:extLst>
          </p:cNvPr>
          <p:cNvSpPr/>
          <p:nvPr/>
        </p:nvSpPr>
        <p:spPr>
          <a:xfrm>
            <a:off x="-1371600" y="-1828800"/>
            <a:ext cx="15544800" cy="4114800"/>
          </a:xfrm>
          <a:prstGeom prst="ellipse">
            <a:avLst/>
          </a:prstGeom>
          <a:solidFill>
            <a:srgbClr val="131C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08EEB67-D7EC-F475-BCED-1F865BD7621B}"/>
              </a:ext>
            </a:extLst>
          </p:cNvPr>
          <p:cNvSpPr txBox="1"/>
          <p:nvPr/>
        </p:nvSpPr>
        <p:spPr>
          <a:xfrm>
            <a:off x="822960" y="2743200"/>
            <a:ext cx="10058400" cy="914400"/>
          </a:xfrm>
          <a:prstGeom prst="rect">
            <a:avLst/>
          </a:prstGeom>
          <a:noFill/>
        </p:spPr>
        <p:txBody>
          <a:bodyPr wrap="square" lIns="0" tIns="0" rIns="0" bIns="0" anchor="t">
            <a:spAutoFit/>
          </a:bodyPr>
          <a:lstStyle/>
          <a:p>
            <a:pPr algn="l"/>
            <a:r>
              <a:rPr sz="4600" b="1" i="0">
                <a:solidFill>
                  <a:srgbClr val="F1F5F9"/>
                </a:solidFill>
                <a:latin typeface="Segoe UI"/>
              </a:rPr>
              <a:t>Thank You</a:t>
            </a:r>
          </a:p>
        </p:txBody>
      </p:sp>
      <p:sp>
        <p:nvSpPr>
          <p:cNvPr id="4" name="TextBox 3">
            <a:extLst>
              <a:ext uri="{FF2B5EF4-FFF2-40B4-BE49-F238E27FC236}">
                <a16:creationId xmlns:a16="http://schemas.microsoft.com/office/drawing/2014/main" id="{C5FF04F8-A556-5CDB-8F73-75684D821BC2}"/>
              </a:ext>
            </a:extLst>
          </p:cNvPr>
          <p:cNvSpPr txBox="1"/>
          <p:nvPr/>
        </p:nvSpPr>
        <p:spPr>
          <a:xfrm>
            <a:off x="822960" y="3611880"/>
            <a:ext cx="9601200" cy="548640"/>
          </a:xfrm>
          <a:prstGeom prst="rect">
            <a:avLst/>
          </a:prstGeom>
          <a:noFill/>
        </p:spPr>
        <p:txBody>
          <a:bodyPr wrap="square" lIns="0" tIns="0" rIns="0" bIns="0" anchor="t">
            <a:spAutoFit/>
          </a:bodyPr>
          <a:lstStyle/>
          <a:p>
            <a:pPr algn="l"/>
            <a:r>
              <a:rPr sz="2200" b="0" i="0">
                <a:solidFill>
                  <a:srgbClr val="2DD4BF"/>
                </a:solidFill>
                <a:latin typeface="Segoe UI"/>
              </a:rPr>
              <a:t>Questions?</a:t>
            </a:r>
          </a:p>
        </p:txBody>
      </p:sp>
      <p:sp>
        <p:nvSpPr>
          <p:cNvPr id="5" name="TextBox 4">
            <a:extLst>
              <a:ext uri="{FF2B5EF4-FFF2-40B4-BE49-F238E27FC236}">
                <a16:creationId xmlns:a16="http://schemas.microsoft.com/office/drawing/2014/main" id="{09073D93-275A-E46A-5650-CF23175E949B}"/>
              </a:ext>
            </a:extLst>
          </p:cNvPr>
          <p:cNvSpPr txBox="1"/>
          <p:nvPr/>
        </p:nvSpPr>
        <p:spPr>
          <a:xfrm>
            <a:off x="822960" y="4251960"/>
            <a:ext cx="9601200" cy="457200"/>
          </a:xfrm>
          <a:prstGeom prst="rect">
            <a:avLst/>
          </a:prstGeom>
          <a:noFill/>
        </p:spPr>
        <p:txBody>
          <a:bodyPr wrap="square" lIns="0" tIns="0" rIns="0" bIns="0" anchor="t">
            <a:spAutoFit/>
          </a:bodyPr>
          <a:lstStyle/>
          <a:p>
            <a:pPr algn="l"/>
            <a:r>
              <a:rPr sz="1300" b="0" i="0">
                <a:solidFill>
                  <a:srgbClr val="94A3B8"/>
                </a:solidFill>
                <a:latin typeface="Segoe UI"/>
              </a:rPr>
              <a:t>Building Enterprise RAG Applications with .NET</a:t>
            </a:r>
          </a:p>
        </p:txBody>
      </p:sp>
      <p:sp>
        <p:nvSpPr>
          <p:cNvPr id="6" name="TextBox 5">
            <a:extLst>
              <a:ext uri="{FF2B5EF4-FFF2-40B4-BE49-F238E27FC236}">
                <a16:creationId xmlns:a16="http://schemas.microsoft.com/office/drawing/2014/main" id="{1C55E920-752E-B414-5DD3-046CF4ECC9C7}"/>
              </a:ext>
            </a:extLst>
          </p:cNvPr>
          <p:cNvSpPr txBox="1"/>
          <p:nvPr/>
        </p:nvSpPr>
        <p:spPr>
          <a:xfrm>
            <a:off x="640080" y="6528816"/>
            <a:ext cx="7315200" cy="274320"/>
          </a:xfrm>
          <a:prstGeom prst="rect">
            <a:avLst/>
          </a:prstGeom>
          <a:noFill/>
        </p:spPr>
        <p:txBody>
          <a:bodyPr wrap="square" lIns="0" tIns="0" rIns="0" bIns="0" anchor="t">
            <a:spAutoFit/>
          </a:bodyPr>
          <a:lstStyle/>
          <a:p>
            <a:pPr algn="l"/>
            <a:r>
              <a:rPr sz="850" b="0" i="0">
                <a:solidFill>
                  <a:srgbClr val="94A3B8"/>
                </a:solidFill>
                <a:latin typeface="Segoe UI"/>
              </a:rPr>
              <a:t>Building Enterprise RAG Applications with .NET  |  Taazaa X Talk</a:t>
            </a:r>
          </a:p>
        </p:txBody>
      </p:sp>
      <p:sp>
        <p:nvSpPr>
          <p:cNvPr id="7" name="TextBox 6">
            <a:extLst>
              <a:ext uri="{FF2B5EF4-FFF2-40B4-BE49-F238E27FC236}">
                <a16:creationId xmlns:a16="http://schemas.microsoft.com/office/drawing/2014/main" id="{B5EA28F6-35DB-8CE6-32BB-1FE5DAD50989}"/>
              </a:ext>
            </a:extLst>
          </p:cNvPr>
          <p:cNvSpPr txBox="1"/>
          <p:nvPr/>
        </p:nvSpPr>
        <p:spPr>
          <a:xfrm>
            <a:off x="11247120" y="6528816"/>
            <a:ext cx="548640" cy="274320"/>
          </a:xfrm>
          <a:prstGeom prst="rect">
            <a:avLst/>
          </a:prstGeom>
          <a:noFill/>
        </p:spPr>
        <p:txBody>
          <a:bodyPr wrap="square" lIns="0" tIns="0" rIns="0" bIns="0" anchor="t">
            <a:spAutoFit/>
          </a:bodyPr>
          <a:lstStyle/>
          <a:p>
            <a:pPr algn="r"/>
            <a:r>
              <a:rPr sz="850" b="0" i="0">
                <a:solidFill>
                  <a:srgbClr val="94A3B8"/>
                </a:solidFill>
                <a:latin typeface="Segoe UI"/>
              </a:rPr>
              <a:t>54</a:t>
            </a:r>
          </a:p>
        </p:txBody>
      </p:sp>
    </p:spTree>
    <p:extLst>
      <p:ext uri="{BB962C8B-B14F-4D97-AF65-F5344CB8AC3E}">
        <p14:creationId xmlns:p14="http://schemas.microsoft.com/office/powerpoint/2010/main" val="596320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A655EEE-9E06-420A-ADDF-E760CC28529A}">
  <we:reference id="wa200010001" version="1.0.0.1" store="en-US" storeType="OMEX"/>
  <we:alternateReferences>
    <we:reference id="WA200010001" version="1.0.0.1" store="WA200010001" storeType="OMEX"/>
  </we:alternateReferences>
  <we:properties>
    <we:property name="claude.fileId" value="&quot;643cb161-6e37-4139-8920-e34f5136a22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618</TotalTime>
  <Words>8140</Words>
  <Application>Microsoft Office PowerPoint</Application>
  <PresentationFormat>Widescreen</PresentationFormat>
  <Paragraphs>1122</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Consolas</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Rohit Kumar Pandit</cp:lastModifiedBy>
  <cp:revision>23</cp:revision>
  <dcterms:created xsi:type="dcterms:W3CDTF">2013-01-27T09:14:16Z</dcterms:created>
  <dcterms:modified xsi:type="dcterms:W3CDTF">2026-09-26T09:34:55Z</dcterms:modified>
  <cp:category/>
</cp:coreProperties>
</file>